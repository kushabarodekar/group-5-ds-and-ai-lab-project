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029200"/>
            <a:ext cx="2194560" cy="2194560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DATASET PREPARATION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Driver Wellness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Safety Monitoring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Identifying, cleaning, and structuring model-ready datasets across five driver-monitoring modules ahead of Milestone 3.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   ·   Shiwani   ·   Shubham   ·   Sohini   ·   Ravina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Drowsiness Detection to Driver Wellness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Milestone 1, project scope widened from a narrow drowsiness detector into a full driver wellness and safety monitoring system.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turns that direction into practice: it prepares the datasets each module needs so Milestone 3 can begin model development without delay.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here is not training — it's proof that every dataset is available, understood, cleaned, split without leakage, and structured for direct use next milestone.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600200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14032" y="181965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114032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26680" y="17099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Video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26680" y="20391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detection over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2651760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14032" y="2871216"/>
            <a:ext cx="457200" cy="457200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114032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26680" y="27614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Landmarks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26680" y="30906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head-pose &amp; eye features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3703320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14032" y="3922776"/>
            <a:ext cx="457200" cy="457200"/>
          </a:xfrm>
          <a:prstGeom prst="ellipse">
            <a:avLst/>
          </a:prstGeom>
          <a:solidFill>
            <a:srgbClr val="3FA76B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3813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Images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26680" y="4142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classification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4754880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4974336"/>
            <a:ext cx="457200" cy="457200"/>
          </a:xfrm>
          <a:prstGeom prst="ellipse">
            <a:avLst/>
          </a:prstGeom>
          <a:solidFill>
            <a:srgbClr val="5C7599"/>
          </a:solidFill>
          <a:ln/>
        </p:spPr>
      </p:sp>
      <p:sp>
        <p:nvSpPr>
          <p:cNvPr id="23" name="Text 21"/>
          <p:cNvSpPr/>
          <p:nvPr/>
        </p:nvSpPr>
        <p:spPr>
          <a:xfrm>
            <a:off x="7114032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4864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Annotated Frames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26680" y="5193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object detection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11096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74650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verify dataset sources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911096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85432" y="174650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ownership, format, classes &amp; usage constraints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07208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64261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size, class distribution &amp; metadata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587752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807208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5432" y="264261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and quality checks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03320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538728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corrupted, duplicate or invalid samples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483864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3703320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3538728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train / validation / test splits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379976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599432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99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70432" y="443484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leakage across splits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4379976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46520" y="4599432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599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5432" y="443484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processed folders for direct reuse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27608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" y="5495544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495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70432" y="533095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preprocessing for reproducibility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63640" y="527608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46520" y="5495544"/>
            <a:ext cx="292608" cy="292608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5495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85432" y="533095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readiness for Milestone 3 experiments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Five Owners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1148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651760"/>
                <a:gridCol w="3410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Shiwani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Landmark-Based Temporal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EAR, MAR &amp; head-pose sequence 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Kushagra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Video-Based Fatigue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UTA-RLDD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/ Caution / High-Risk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Shubham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Activity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Distracted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Distraction image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Belt &amp; Phone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object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&amp; Drinking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smoking/drinking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139696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23042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YawDD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 &amp; face videos → EAR, MAR, pitch, yaw, roll. Output: 30-frame windows, 5 features/frame.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52928" y="173736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52928" y="1737360"/>
            <a:ext cx="2139696" cy="109728"/>
          </a:xfrm>
          <a:prstGeom prst="rect">
            <a:avLst/>
          </a:prstGeom>
          <a:solidFill>
            <a:srgbClr val="E8993B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3042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UTA-RLDD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Fold1_part1 &amp; part2 — 12 subjects, 36 videos. Labels mapped to Safe / Caution / High-Risk.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173736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57216" y="1737360"/>
            <a:ext cx="2139696" cy="109728"/>
          </a:xfrm>
          <a:prstGeom prst="rect">
            <a:avLst/>
          </a:prstGeom>
          <a:solidFill>
            <a:srgbClr val="3FA76B"/>
          </a:solidFill>
          <a:ln/>
        </p:spPr>
      </p:sp>
      <p:sp>
        <p:nvSpPr>
          <p:cNvPr id="16" name="Text 14"/>
          <p:cNvSpPr/>
          <p:nvPr/>
        </p:nvSpPr>
        <p:spPr>
          <a:xfrm>
            <a:off x="5321808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A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21808" y="23042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Distracted Driver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1808" y="30175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activity classes incl. texting, talking on phone, turning, safe driving.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61504" y="173736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61504" y="1737360"/>
            <a:ext cx="2139696" cy="109728"/>
          </a:xfrm>
          <a:prstGeom prst="rect">
            <a:avLst/>
          </a:prstGeom>
          <a:solidFill>
            <a:srgbClr val="5C7599"/>
          </a:solidFill>
          <a:ln/>
        </p:spPr>
      </p:sp>
      <p:sp>
        <p:nvSpPr>
          <p:cNvPr id="21" name="Text 19"/>
          <p:cNvSpPr/>
          <p:nvPr/>
        </p:nvSpPr>
        <p:spPr>
          <a:xfrm>
            <a:off x="7626096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SOHINI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26096" y="23042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DMS Dataset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26096" y="30175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a clean 2-class YOLO set: Phone, Seatbelt.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65792" y="173736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65792" y="1737360"/>
            <a:ext cx="2139696" cy="109728"/>
          </a:xfrm>
          <a:prstGeom prst="rect">
            <a:avLst/>
          </a:prstGeom>
          <a:solidFill>
            <a:srgbClr val="C85A52"/>
          </a:solidFill>
          <a:ln/>
        </p:spPr>
      </p:sp>
      <p:sp>
        <p:nvSpPr>
          <p:cNvPr id="26" name="Text 24"/>
          <p:cNvSpPr/>
          <p:nvPr/>
        </p:nvSpPr>
        <p:spPr>
          <a:xfrm>
            <a:off x="9930384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30384" y="230428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Smoking / Drinking Set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30384" y="30175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YOLO-format images, labels &amp; data.yaml, standard train/val/test layout.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Inspection Process, Every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preprocessing began, all five datasets passed through the same verification pipeline — so quality issues were caught early and consistently.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871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folder structure &amp; class labels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24871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samples per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7648" y="24871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or unreadable files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2286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16568" y="24871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class-distribution charts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361688"/>
            <a:ext cx="457200" cy="457200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sample images / frames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38728" y="4361688"/>
            <a:ext cx="457200" cy="457200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4937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resolution, FPS, duration, brightness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27648" y="4361688"/>
            <a:ext cx="457200" cy="457200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4937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duplicates, corrupt files, bad annotations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1540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4361688"/>
            <a:ext cx="457200" cy="457200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35" name="Text 33"/>
          <p:cNvSpPr/>
          <p:nvPr/>
        </p:nvSpPr>
        <p:spPr>
          <a:xfrm>
            <a:off x="9116568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98280" y="4937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train / validation / test splits are feasible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Quality, 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extraction success across 349 videos / 288,174 frames (YawDD)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9856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8" name="Text 6"/>
          <p:cNvSpPr/>
          <p:nvPr/>
        </p:nvSpPr>
        <p:spPr>
          <a:xfrm>
            <a:off x="3557016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FA7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36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57016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UTA-RLDD videos verified present &amp; readable — zero corrupt 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4,307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82512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activity images retained after removing 2,969 duplicates + 10 corrupt files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0848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</p:spPr>
      </p:sp>
      <p:sp>
        <p:nvSpPr>
          <p:cNvPr id="14" name="Text 12"/>
          <p:cNvSpPr/>
          <p:nvPr/>
        </p:nvSpPr>
        <p:spPr>
          <a:xfrm>
            <a:off x="9208008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A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6,701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08008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validated across 6,140 seat-belt / phone images &amp; labels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used perceptual hashing; corruption checks used OpenCV load tests; blur was scored via Laplacian variance — blurry-but-valid frames were kept to preserve realistic driving conditions.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to Each Dataset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Preprocessing Steps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Activity (images)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 to 224×224 · normalize · augment with flip, brightness/contrast, rotation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Fatigue (UTA-RLDD)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5 frames/video at 10/30/50/70/90% timeline → 180 processed frames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 Features (YawDD)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EAR, MAR, pitch, yaw, roll · drop invalid frames · 30-frame windows, stride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Belt / Phone (YOLO)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 to 640×640 · validate boxes · remap classes to Phone / Seatbelt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/ Drinking (YOLO)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harmonization · deduplication · augmentation · split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Validation / Test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method follows the leakage risk of the data type — subject-wise where identity could leak, ratio-based where samples are independent.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split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2185416"/>
            <a:ext cx="4937760" cy="310896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21854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identity kept whole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Fatigue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807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split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2843784"/>
            <a:ext cx="4937760" cy="310896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8437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identity kept whole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655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Activity Classification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34655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3502152"/>
            <a:ext cx="3456432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445752" y="3502152"/>
            <a:ext cx="740664" cy="310896"/>
          </a:xfrm>
          <a:prstGeom prst="rect">
            <a:avLst/>
          </a:prstGeom>
          <a:solidFill>
            <a:srgbClr val="E89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86416" y="3502152"/>
            <a:ext cx="740664" cy="310896"/>
          </a:xfrm>
          <a:prstGeom prst="rect">
            <a:avLst/>
          </a:prstGeom>
          <a:solidFill>
            <a:srgbClr val="5C759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23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Belt &amp; Phone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123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20 / 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4160520"/>
            <a:ext cx="3456432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445752" y="4160520"/>
            <a:ext cx="987552" cy="310896"/>
          </a:xfrm>
          <a:prstGeom prst="rect">
            <a:avLst/>
          </a:prstGeom>
          <a:solidFill>
            <a:srgbClr val="E89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33304" y="4160520"/>
            <a:ext cx="493776" cy="310896"/>
          </a:xfrm>
          <a:prstGeom prst="rect">
            <a:avLst/>
          </a:prstGeom>
          <a:solidFill>
            <a:srgbClr val="5C759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82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&amp; Drinking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77640" y="4782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 / 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4818888"/>
            <a:ext cx="3950208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939528" y="4818888"/>
            <a:ext cx="493776" cy="310896"/>
          </a:xfrm>
          <a:prstGeom prst="rect">
            <a:avLst/>
          </a:prstGeom>
          <a:solidFill>
            <a:srgbClr val="E89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33304" y="4818888"/>
            <a:ext cx="493776" cy="310896"/>
          </a:xfrm>
          <a:prstGeom prst="rect">
            <a:avLst/>
          </a:prstGeom>
          <a:solidFill>
            <a:srgbClr val="5C7599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5989320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5943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0" y="5989320"/>
            <a:ext cx="201168" cy="201168"/>
          </a:xfrm>
          <a:prstGeom prst="rect">
            <a:avLst/>
          </a:prstGeom>
          <a:solidFill>
            <a:srgbClr val="E89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5943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23960" y="5989320"/>
            <a:ext cx="201168" cy="201168"/>
          </a:xfrm>
          <a:prstGeom prst="rect">
            <a:avLst/>
          </a:prstGeom>
          <a:solidFill>
            <a:srgbClr val="5C7599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5943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Leakage Across Splits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5623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Landmark Module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videos from one subject stay in a single split; 30-frame windows never cross splits; normalization stats come from training data only.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691640"/>
            <a:ext cx="352958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5424" y="185623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Detection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5424" y="225856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subject-level split (01–08 train, 09–10 val, 11–12 test) — frames extracted only after the split was finalized.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2958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85623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Activity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0" y="225856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 pre-split; a post-split hash check flagged near-duplicate frames for future sequence-wise splitting.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958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41879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Belt &amp; Phone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" y="459028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split boundaries preserved — no random frame migration between near-identical consecutive frames.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4256" y="4023360"/>
            <a:ext cx="352958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41879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Smoking &amp; Drinking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35424" y="459028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before splitting; augmentation applied to the training set only, so augmented copies never leak into val/test.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 Datasets, Ready to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4114800"/>
          </a:xfrm>
          <a:prstGeom prst="roundRect">
            <a:avLst>
              <a:gd name="adj" fmla="val 1813"/>
            </a:avLst>
          </a:prstGeom>
          <a:solidFill>
            <a:srgbClr val="121B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013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Features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112264"/>
            <a:ext cx="31638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processed_dataset/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raw_features_all_videos.csv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normalized_features_all_videos.csv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train_windows.npy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val_windows.npy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test_windows.npy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train_meta.csv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val_meta.csv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test_meta.csv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34256" y="1691640"/>
            <a:ext cx="3529584" cy="4114800"/>
          </a:xfrm>
          <a:prstGeom prst="roundRect">
            <a:avLst>
              <a:gd name="adj" fmla="val 1813"/>
            </a:avLst>
          </a:prstGeom>
          <a:solidFill>
            <a:srgbClr val="121B30"/>
          </a:solidFill>
          <a:ln/>
        </p:spPr>
      </p:sp>
      <p:sp>
        <p:nvSpPr>
          <p:cNvPr id="8" name="Text 6"/>
          <p:cNvSpPr/>
          <p:nvPr/>
        </p:nvSpPr>
        <p:spPr>
          <a:xfrm>
            <a:off x="4517136" y="18013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Fatigue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17136" y="2112264"/>
            <a:ext cx="31638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data/processed/fatigue_detection/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Safe/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Caution/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High_Risk/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val/  (same 3 classes)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test/ (same 3 classes)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29584" cy="4114800"/>
          </a:xfrm>
          <a:prstGeom prst="roundRect">
            <a:avLst>
              <a:gd name="adj" fmla="val 1813"/>
            </a:avLst>
          </a:prstGeom>
          <a:solidFill>
            <a:srgbClr val="121B30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18013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 Sets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02752" y="2112264"/>
            <a:ext cx="31638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&lt;task&gt;_yolo/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data.yaml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images/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labels/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valid|val/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images/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labels/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images/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labels/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Seat-belt/phone and smoking/drinking detection share this layout; activity classification mirrors it with class-named folders instead of images/labels.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Processed Dataset Summary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194560"/>
                <a:gridCol w="1508760"/>
                <a:gridCol w="3730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Shiwani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.npy + 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windows; train-only normalization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Kushagra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fatigue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Class-wise folders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split before frame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Shubham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folders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removed before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belt &amp; 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+ data.yaml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70/20/10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Sequence-based stratified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&amp; drinking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+ data.yaml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80/10/10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+ train-only augmentation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HANDOFF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Input Readiness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2862072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Model(s)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Shape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ResNet50, MobileNetV3, EfficientNet-B0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224, 224) RGB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A7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Fatigue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CNN-LSTM, CNN-GRU, TCN, 3D CNN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(16, 224, 224, 3)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A7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sequencing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(30, 5)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A7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Belt / 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YOLOv8n, YOLO11n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(640, 640, 3) + labels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A7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/ Drinking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(640, 640, 3) + labels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A7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REPEATABILITY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and Hosted Datasets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9293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raw dataset from documented source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386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dataset inventory script / notebook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8437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missing files, corrupt files, annotations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33009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metadata and EDA charts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7581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cleaning (dedup, invalid-frame removal)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2153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train / validation / test splits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" y="4672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processed files into final folder structure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166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51297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hosted processed dataset where available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936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DATASET STATUS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196596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965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1965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Features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561320" y="208483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FA76B"/>
          </a:solidFill>
          <a:ln/>
        </p:spPr>
      </p:sp>
      <p:sp>
        <p:nvSpPr>
          <p:cNvPr id="34" name="Text 32"/>
          <p:cNvSpPr/>
          <p:nvPr/>
        </p:nvSpPr>
        <p:spPr>
          <a:xfrm>
            <a:off x="10561320" y="2084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264261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2642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26426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Fatigue Detection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561320" y="27614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FA76B"/>
          </a:solidFill>
          <a:ln/>
        </p:spPr>
      </p:sp>
      <p:sp>
        <p:nvSpPr>
          <p:cNvPr id="39" name="Text 37"/>
          <p:cNvSpPr/>
          <p:nvPr/>
        </p:nvSpPr>
        <p:spPr>
          <a:xfrm>
            <a:off x="10561320" y="2761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331927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33192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63840" y="33192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Classification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561320" y="3438144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8993B"/>
          </a:solidFill>
          <a:ln/>
        </p:spPr>
      </p:sp>
      <p:sp>
        <p:nvSpPr>
          <p:cNvPr id="44" name="Text 42"/>
          <p:cNvSpPr/>
          <p:nvPr/>
        </p:nvSpPr>
        <p:spPr>
          <a:xfrm>
            <a:off x="10561320" y="34381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399592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92240" y="39959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Sohini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863840" y="3995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Belt &amp; Phone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561320" y="4114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FA76B"/>
          </a:solidFill>
          <a:ln/>
        </p:spPr>
      </p:sp>
      <p:sp>
        <p:nvSpPr>
          <p:cNvPr id="49" name="Text 47"/>
          <p:cNvSpPr/>
          <p:nvPr/>
        </p:nvSpPr>
        <p:spPr>
          <a:xfrm>
            <a:off x="10561320" y="4114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4672584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92240" y="46725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863840" y="4672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&amp; Drinking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0561320" y="4791456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FA76B"/>
          </a:solidFill>
          <a:ln/>
        </p:spPr>
      </p:sp>
      <p:sp>
        <p:nvSpPr>
          <p:cNvPr id="54" name="Text 52"/>
          <p:cNvSpPr/>
          <p:nvPr/>
        </p:nvSpPr>
        <p:spPr>
          <a:xfrm>
            <a:off x="10561320" y="4791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54864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hosted link isn't ready yet, the dataset can be regenerated from the documented preprocessing scripts.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Adequacy and Known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are adequate for Milestone 3 — every planned model has a matching processed dataset. A few constraints remain to keep in mind during training and evaluation: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0370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datasets reflect controlled, not real-world, environments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386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8" name="Text 6"/>
          <p:cNvSpPr/>
          <p:nvPr/>
        </p:nvSpPr>
        <p:spPr>
          <a:xfrm>
            <a:off x="6556248" y="220370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rain, glare and occlusion cases may be underrepresented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07238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detection uses a subset of UTA-RLDD (full set is large)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255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307238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data may contain near-duplicate consecutive frames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94106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datasets lack subject IDs, limiting perfect leakage control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56248" y="394106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links still need verification before final submission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5A52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80974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Smoking/drinking stats should expand as more data is analyzed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Milestone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93392"/>
            <a:ext cx="420624" cy="420624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 classifiers for driver distraction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24365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88920"/>
            <a:ext cx="420624" cy="420624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700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fine-tune YOLO for seat-belt, phone, smoking &amp; drinking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24365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584448"/>
            <a:ext cx="420624" cy="420624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6557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LSTM models on landmark temporal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2436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379976"/>
            <a:ext cx="420624" cy="420624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26110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fatigue frames; test CNN-LSTM, CNN-GRU, TCN, 3D CNN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24365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175504"/>
            <a:ext cx="420624" cy="420624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175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05663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accuracy, precision, recall, F1, mAP, FPS &amp; false alarms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2436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971032"/>
            <a:ext cx="420624" cy="420624"/>
          </a:xfrm>
          <a:prstGeom prst="ellipse">
            <a:avLst/>
          </a:prstGeom>
          <a:solidFill>
            <a:srgbClr val="E89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971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8521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module outputs into one driver wellness score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 &amp; Conclusion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3246120"/>
        </p:xfrm>
        <a:graphic>
          <a:graphicData uri="http://schemas.openxmlformats.org/drawingml/2006/table">
            <a:tbl>
              <a:tblPr/>
              <a:tblGrid>
                <a:gridCol w="1828800"/>
                <a:gridCol w="92628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2 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Kushagra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UTA-RLDD dataset, EDA, split strategy, processed frames, report &amp; GitHub organization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Shiwani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 feature dataset, processed sequence files, dataset hosting summary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Shubham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activity preprocessing, model-readiness summary, input format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belt / phone processing, quality checks, leakage prevention, YOLO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/ drinking dataset structure, hosting details, presentation &amp; final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9144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663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sets the dataset foundation for the AI-Powered Driver Wellness and Safety Monitoring System — five modules, all EDA-checked, cleaned, split without leakage, and structured for direct use in Milestone 3 model training.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— Milestone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2026-07-09T19:34:55Z</dcterms:created>
  <dcterms:modified xsi:type="dcterms:W3CDTF">2026-07-09T19:34:55Z</dcterms:modified>
</cp:coreProperties>
</file>