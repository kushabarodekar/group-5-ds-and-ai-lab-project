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1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drawingml.chart+xml" PartName="/ppt/charts/chart1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6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y="6858000" cx="12192000"/>
  <p:notesSz cx="6858000" cy="9144000"/>
  <p:embeddedFontLst>
    <p:embeddedFont>
      <p:font typeface="Plus Jakarta Sans"/>
      <p:regular r:id="rId35"/>
      <p:bold r:id="rId36"/>
      <p:italic r:id="rId37"/>
      <p:boldItalic r:id="rId38"/>
    </p:embeddedFont>
    <p:embeddedFont>
      <p:font typeface="JetBrains Mono Medium"/>
      <p:regular r:id="rId39"/>
      <p:bold r:id="rId40"/>
      <p:italic r:id="rId41"/>
      <p:boldItalic r:id="rId42"/>
    </p:embeddedFont>
    <p:embeddedFont>
      <p:font typeface="JetBrains Mono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FNrN01jug5n81QgHiW71nVRhS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D4CF7E-CC90-4F2E-A55D-E91699A85FAA}">
  <a:tblStyle styleId="{94D4CF7E-CC90-4F2E-A55D-E91699A85FA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  <a:tblStyle styleId="{EBEDF552-9A16-4EDE-90C8-7844649D4FD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Medium-bold.fntdata"/><Relationship Id="rId20" Type="http://schemas.openxmlformats.org/officeDocument/2006/relationships/slide" Target="slides/slide12.xml"/><Relationship Id="rId42" Type="http://schemas.openxmlformats.org/officeDocument/2006/relationships/font" Target="fonts/JetBrainsMonoMedium-boldItalic.fntdata"/><Relationship Id="rId41" Type="http://schemas.openxmlformats.org/officeDocument/2006/relationships/font" Target="fonts/JetBrainsMonoMedium-italic.fntdata"/><Relationship Id="rId22" Type="http://schemas.openxmlformats.org/officeDocument/2006/relationships/slide" Target="slides/slide14.xml"/><Relationship Id="rId44" Type="http://schemas.openxmlformats.org/officeDocument/2006/relationships/font" Target="fonts/JetBrainsMonoSemiBold-bold.fntdata"/><Relationship Id="rId21" Type="http://schemas.openxmlformats.org/officeDocument/2006/relationships/slide" Target="slides/slide13.xml"/><Relationship Id="rId43" Type="http://schemas.openxmlformats.org/officeDocument/2006/relationships/font" Target="fonts/JetBrainsMonoSemiBold-regular.fntdata"/><Relationship Id="rId24" Type="http://schemas.openxmlformats.org/officeDocument/2006/relationships/slide" Target="slides/slide16.xml"/><Relationship Id="rId46" Type="http://schemas.openxmlformats.org/officeDocument/2006/relationships/font" Target="fonts/JetBrainsMonoSemiBold-boldItalic.fntdata"/><Relationship Id="rId23" Type="http://schemas.openxmlformats.org/officeDocument/2006/relationships/slide" Target="slides/slide15.xml"/><Relationship Id="rId45" Type="http://schemas.openxmlformats.org/officeDocument/2006/relationships/font" Target="fonts/JetBrainsMon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47" Type="http://customschemas.google.com/relationships/presentationmetadata" Target="meta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PlusJakartaSans-regular.fntdata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PlusJakartaSans-italic.fntdata"/><Relationship Id="rId14" Type="http://schemas.openxmlformats.org/officeDocument/2006/relationships/slide" Target="slides/slide6.xml"/><Relationship Id="rId36" Type="http://schemas.openxmlformats.org/officeDocument/2006/relationships/font" Target="fonts/PlusJakartaSans-bold.fntdata"/><Relationship Id="rId17" Type="http://schemas.openxmlformats.org/officeDocument/2006/relationships/slide" Target="slides/slide9.xml"/><Relationship Id="rId39" Type="http://schemas.openxmlformats.org/officeDocument/2006/relationships/font" Target="fonts/JetBrainsMonoMedium-regular.fntdata"/><Relationship Id="rId16" Type="http://schemas.openxmlformats.org/officeDocument/2006/relationships/slide" Target="slides/slide8.xml"/><Relationship Id="rId38" Type="http://schemas.openxmlformats.org/officeDocument/2006/relationships/font" Target="fonts/PlusJakartaSans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B3D5C"/>
                </a:solidFill>
                <a:latin typeface="Arial"/>
              </a:rPr>
              <a:t>Before vs. After Fix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 F1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40.8</c:v>
                </c:pt>
                <c:pt idx="1">
                  <c:v>38.4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 F1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64.1</c:v>
                </c:pt>
                <c:pt idx="1">
                  <c:v>61.8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Talking→Yawning</c:v>
                  </c:pt>
                  <c:pt idx="1">
                    <c:v>Yawning→Normal</c:v>
                  </c:pt>
                  <c:pt idx="2">
                    <c:v>Normal→Yawning</c:v>
                  </c:pt>
                  <c:pt idx="3">
                    <c:v>Yawning→Talking</c:v>
                  </c:pt>
                  <c:pt idx="4">
                    <c:v>Normal→Talking</c:v>
                  </c:pt>
                  <c:pt idx="5">
                    <c:v>Talking→Normal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26</c:v>
                </c:pt>
                <c:pt idx="2">
                  <c:v>35</c:v>
                </c:pt>
                <c:pt idx="3">
                  <c:v>45</c:v>
                </c:pt>
                <c:pt idx="4">
                  <c:v>109</c:v>
                </c:pt>
                <c:pt idx="5">
                  <c:v>266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733"/>
                </a:solidFill>
                <a:latin typeface="Arial"/>
              </a:rPr>
              <a:t>Per-Class Test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Other
Activities</c:v>
                </c:pt>
                <c:pt idx="1">
                  <c:v>Safe
Driving</c:v>
                </c:pt>
                <c:pt idx="2">
                  <c:v>Talking
Phone</c:v>
                </c:pt>
                <c:pt idx="3">
                  <c:v>Texting
Phone</c:v>
                </c:pt>
                <c:pt idx="4">
                  <c:v>Turning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89.89</c:v>
                </c:pt>
                <c:pt idx="1">
                  <c:v>92.86</c:v>
                </c:pt>
                <c:pt idx="2">
                  <c:v>92.51</c:v>
                </c:pt>
                <c:pt idx="3">
                  <c:v>96.6</c:v>
                </c:pt>
                <c:pt idx="4">
                  <c:v>93.03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0-40A8-ABCB-09AAF0E7A5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MobileNetV3
4.2M · 12.5ms</c:v>
                </c:pt>
                <c:pt idx="1">
                  <c:v>ResNet50
25.5M · 45.2ms</c:v>
                </c:pt>
                <c:pt idx="2">
                  <c:v>EfficientNet-B0
5.3M · 28.7ms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93.14</c:v>
                </c:pt>
                <c:pt idx="1">
                  <c:v>92.13</c:v>
                </c:pt>
                <c:pt idx="2">
                  <c:v>93.98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9-4E6D-B626-5CBF8A4740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9525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Metrics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mAP@50</c:v>
                </c:pt>
                <c:pt idx="1">
                  <c:v>mAP@50-95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0.95299999999999996</c:v>
                </c:pt>
                <c:pt idx="1">
                  <c:v>0.71399999999999997</c:v>
                </c:pt>
                <c:pt idx="2">
                  <c:v>0.93700000000000006</c:v>
                </c:pt>
                <c:pt idx="3">
                  <c:v>0.90700000000000003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B-4820-AA45-54ADEC2C9F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13-4BF4-B228-D56B776C2DEE}"/>
              </c:ext>
            </c:extLst>
          </c:dPt>
          <c:dPt>
            <c:idx val="1"/>
            <c:invertIfNegative val="0"/>
            <c:bubble3D val="0"/>
            <c:spPr>
              <a:solidFill>
                <a:srgbClr val="F0A20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13-4BF4-B228-D56B776C2D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E2A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Smoking</c:v>
                </c:pt>
                <c:pt idx="1">
                  <c:v>Drinking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2149</c:v>
                </c:pt>
                <c:pt idx="1">
                  <c:v>2660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13-4BF4-B228-D56B776C2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Smoking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Tiny</c:v>
                </c:pt>
                <c:pt idx="1">
                  <c:v>Small</c:v>
                </c:pt>
                <c:pt idx="2">
                  <c:v>Medium</c:v>
                </c:pt>
                <c:pt idx="3">
                  <c:v>Large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738</c:v>
                </c:pt>
                <c:pt idx="1">
                  <c:v>1242</c:v>
                </c:pt>
                <c:pt idx="2">
                  <c:v>163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2D-4E4B-81EF-D7A3BC7463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Drinking</c:v>
                </c:pt>
              </c:strCache>
            </c:strRef>
          </c:tx>
          <c:spPr>
            <a:solidFill>
              <a:srgbClr val="F0A20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Tiny</c:v>
                </c:pt>
                <c:pt idx="1">
                  <c:v>Small</c:v>
                </c:pt>
                <c:pt idx="2">
                  <c:v>Medium</c:v>
                </c:pt>
                <c:pt idx="3">
                  <c:v>Large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339</c:v>
                </c:pt>
                <c:pt idx="1">
                  <c:v>1508</c:v>
                </c:pt>
                <c:pt idx="2">
                  <c:v>656</c:v>
                </c:pt>
                <c:pt idx="3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2D-4E4B-81EF-D7A3BC746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A6E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YOLOv8n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mAP@50</c:v>
                </c:pt>
                <c:pt idx="3">
                  <c:v>mAP@50-95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0.76780000000000004</c:v>
                </c:pt>
                <c:pt idx="1">
                  <c:v>0.71289999999999998</c:v>
                </c:pt>
                <c:pt idx="2">
                  <c:v>0.74760000000000004</c:v>
                </c:pt>
                <c:pt idx="3">
                  <c:v>0.34410000000000002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8-4B0F-973E-6A368C2BA4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YOLO11n</c:v>
                </c:pt>
              </c:strCache>
            </c:strRef>
          </c:tx>
          <c:spPr>
            <a:solidFill>
              <a:srgbClr val="9DC3D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mAP@50</c:v>
                </c:pt>
                <c:pt idx="3">
                  <c:v>mAP@50-95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0.7208</c:v>
                </c:pt>
                <c:pt idx="1">
                  <c:v>0.71430000000000005</c:v>
                </c:pt>
                <c:pt idx="2">
                  <c:v>0.76060000000000005</c:v>
                </c:pt>
                <c:pt idx="3">
                  <c:v>0.33400000000000002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88-4B0F-973E-6A368C2BA4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YOLOv8s</c:v>
                </c:pt>
              </c:strCache>
            </c:strRef>
          </c:tx>
          <c:spPr>
            <a:solidFill>
              <a:srgbClr val="0E2A3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mAP@50</c:v>
                </c:pt>
                <c:pt idx="3">
                  <c:v>mAP@50-95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0.73929999999999996</c:v>
                </c:pt>
                <c:pt idx="1">
                  <c:v>0.71179999999999999</c:v>
                </c:pt>
                <c:pt idx="2">
                  <c:v>0.74029999999999996</c:v>
                </c:pt>
                <c:pt idx="3">
                  <c:v>0.33460000000000001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88-4B0F-973E-6A368C2BA4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A6E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8090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C04-4AB9-996D-58A0710591B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C04-4AB9-996D-58A0710591B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C04-4AB9-996D-58A0710591BF}"/>
              </c:ext>
            </c:extLst>
          </c:dPt>
          <c:dPt>
            <c:idx val="3"/>
            <c:invertIfNegative val="0"/>
            <c:bubble3D val="0"/>
            <c:spPr>
              <a:solidFill>
                <a:srgbClr val="F0A20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04-4AB9-996D-58A0710591BF}"/>
              </c:ext>
            </c:extLst>
          </c:dPt>
          <c:dPt>
            <c:idx val="4"/>
            <c:invertIfNegative val="0"/>
            <c:bubble3D val="0"/>
            <c:spPr>
              <a:solidFill>
                <a:srgbClr val="C2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04-4AB9-996D-58A0710591B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C04-4AB9-996D-58A0710591B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C04-4AB9-996D-58A0710591B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0E2A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t1</c:v>
                </c:pt>
                <c:pt idx="2">
                  <c:v>t2</c:v>
                </c:pt>
                <c:pt idx="3">
                  <c:v>t3★</c:v>
                </c:pt>
                <c:pt idx="4">
                  <c:v>t4</c:v>
                </c:pt>
                <c:pt idx="5">
                  <c:v>t5</c:v>
                </c:pt>
                <c:pt idx="6">
                  <c:v>t6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0.41539999999999999</c:v>
                </c:pt>
                <c:pt idx="1">
                  <c:v>0.40560000000000002</c:v>
                </c:pt>
                <c:pt idx="2">
                  <c:v>0.41160000000000002</c:v>
                </c:pt>
                <c:pt idx="3">
                  <c:v>0.42449999999999999</c:v>
                </c:pt>
                <c:pt idx="4">
                  <c:v>0.3775</c:v>
                </c:pt>
                <c:pt idx="5">
                  <c:v>0.4032</c:v>
                </c:pt>
                <c:pt idx="6">
                  <c:v>0.41439999999999999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C04-4AB9-996D-58A0710591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4"/>
          <c:min val="0.36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Smoking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mAP@50</c:v>
                </c:pt>
                <c:pt idx="3">
                  <c:v>mAP@50-95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0.95140000000000002</c:v>
                </c:pt>
                <c:pt idx="1">
                  <c:v>0.92989999999999995</c:v>
                </c:pt>
                <c:pt idx="2">
                  <c:v>0.92549999999999999</c:v>
                </c:pt>
                <c:pt idx="3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3-4218-BA93-1DC2E75069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Drinking</c:v>
                </c:pt>
              </c:strCache>
            </c:strRef>
          </c:tx>
          <c:spPr>
            <a:solidFill>
              <a:srgbClr val="F0A20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mAP@50</c:v>
                </c:pt>
                <c:pt idx="3">
                  <c:v>mAP@50-95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0.74150000000000005</c:v>
                </c:pt>
                <c:pt idx="1">
                  <c:v>0.67069999999999996</c:v>
                </c:pt>
                <c:pt idx="2">
                  <c:v>0.71389999999999998</c:v>
                </c:pt>
                <c:pt idx="3">
                  <c:v>0.36359999999999998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73-4218-BA93-1DC2E7506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A6E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E2A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Missed</c:v>
                </c:pt>
                <c:pt idx="1">
                  <c:v>Low-conf drink</c:v>
                </c:pt>
                <c:pt idx="2">
                  <c:v>Low-conf smoke</c:v>
                </c:pt>
                <c:pt idx="3">
                  <c:v>Misclass s→d</c:v>
                </c:pt>
                <c:pt idx="4">
                  <c:v>Misclass d→s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16</c:v>
                </c:pt>
                <c:pt idx="2">
                  <c:v>7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94-4081-A8F6-FEEFE9E1A1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</c:numCache>
            </c:numRef>
          </c:xVal>
          <c:y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9.51625819640405</c:v>
                </c:pt>
                <c:pt idx="2">
                  <c:v>18.12692469220182</c:v>
                </c:pt>
                <c:pt idx="3">
                  <c:v>25.918177931828225</c:v>
                </c:pt>
                <c:pt idx="4">
                  <c:v>32.967995396436066</c:v>
                </c:pt>
                <c:pt idx="5">
                  <c:v>39.346934028736655</c:v>
                </c:pt>
                <c:pt idx="6">
                  <c:v>45.11883639059736</c:v>
                </c:pt>
                <c:pt idx="7">
                  <c:v>50.34146962085906</c:v>
                </c:pt>
                <c:pt idx="8">
                  <c:v>55.067103588277845</c:v>
                </c:pt>
                <c:pt idx="9">
                  <c:v>59.34303402594009</c:v>
                </c:pt>
                <c:pt idx="10">
                  <c:v>63.212055882855765</c:v>
                </c:pt>
                <c:pt idx="11">
                  <c:v>66.71289163019205</c:v>
                </c:pt>
                <c:pt idx="12">
                  <c:v>69.8805788087798</c:v>
                </c:pt>
                <c:pt idx="13">
                  <c:v>72.74682069659875</c:v>
                </c:pt>
                <c:pt idx="14">
                  <c:v>75.34030360583935</c:v>
                </c:pt>
                <c:pt idx="15">
                  <c:v>77.68698398515703</c:v>
                </c:pt>
                <c:pt idx="16">
                  <c:v>79.81034820053446</c:v>
                </c:pt>
                <c:pt idx="17">
                  <c:v>81.73164759472652</c:v>
                </c:pt>
                <c:pt idx="18">
                  <c:v>83.47011117784135</c:v>
                </c:pt>
                <c:pt idx="19">
                  <c:v>85.04313807773649</c:v>
                </c:pt>
                <c:pt idx="20">
                  <c:v>86.46647167633873</c:v>
                </c:pt>
                <c:pt idx="21">
                  <c:v>87.75435717470181</c:v>
                </c:pt>
                <c:pt idx="22">
                  <c:v>88.9196841637666</c:v>
                </c:pt>
                <c:pt idx="23">
                  <c:v>89.97411562771963</c:v>
                </c:pt>
                <c:pt idx="24">
                  <c:v>90.92820467105875</c:v>
                </c:pt>
                <c:pt idx="25">
                  <c:v>91.79150013761011</c:v>
                </c:pt>
                <c:pt idx="26">
                  <c:v>92.57264217856661</c:v>
                </c:pt>
                <c:pt idx="27">
                  <c:v>93.27944872602502</c:v>
                </c:pt>
                <c:pt idx="28">
                  <c:v>93.9189937374782</c:v>
                </c:pt>
                <c:pt idx="29">
                  <c:v>94.49767799435928</c:v>
                </c:pt>
                <c:pt idx="30">
                  <c:v>95.0212931632136</c:v>
                </c:pt>
                <c:pt idx="31">
                  <c:v>95.49507976064422</c:v>
                </c:pt>
                <c:pt idx="32">
                  <c:v>95.92377960216338</c:v>
                </c:pt>
                <c:pt idx="33">
                  <c:v>96.311683259876</c:v>
                </c:pt>
                <c:pt idx="34">
                  <c:v>96.6626730039674</c:v>
                </c:pt>
                <c:pt idx="35">
                  <c:v>96.98026165776815</c:v>
                </c:pt>
                <c:pt idx="36">
                  <c:v>97.26762775527075</c:v>
                </c:pt>
                <c:pt idx="37">
                  <c:v>97.52764735296606</c:v>
                </c:pt>
                <c:pt idx="38">
                  <c:v>97.76292281438344</c:v>
                </c:pt>
                <c:pt idx="39">
                  <c:v>97.97580885541957</c:v>
                </c:pt>
                <c:pt idx="40">
                  <c:v>98.16843611112658</c:v>
                </c:pt>
              </c:numCache>
            </c:numRef>
          </c:yVal>
          <c:smooth val="1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2940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6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2384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2940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6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d3833f70_1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ad3833f70_1_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fad3833f70_1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d3833f70_1_2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ad3833f70_1_2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fad3833f70_1_2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d3833f70_1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ad3833f70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162" name="Google Shape;162;g3fad3833f70_1_2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d3833f70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fad3833f70_1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Good [morning/afternoon] everyone. My name is Shiwani Tiwari, and I own the Landmark-Based Fatigue Detection module on our AI-Powered Driver Wellness and Safety Monitoring System.</a:t>
            </a:r>
            <a:br>
              <a:rPr lang="en-US"/>
            </a:br>
            <a:br>
              <a:rPr lang="en-US"/>
            </a:br>
            <a:r>
              <a:rPr lang="en-US"/>
              <a:t>My role has been to design, train, and validate the module that detects driver fatigue using facial landmarks rather than raw video frames — including closing a discrepancy the TA flagged in Milestone 3: our dataset only labels physical actions, not fatigue severity, so I built and empirically validated the rule-based layer that bridges from model prediction to an actual fatigue state.</a:t>
            </a:r>
            <a:br>
              <a:rPr lang="en-US"/>
            </a:br>
            <a:br>
              <a:rPr lang="en-US"/>
            </a:br>
            <a:r>
              <a:rPr lang="en-US"/>
              <a:t>In the next four slides I'll cover: who I am and where this module fits in the system; the problem, pipeline, and starting baseline; the three experiments I ran and the final results against that baseline; and finally the error analysis, limitations, and where this module stands for Milestone 6 integration.</a:t>
            </a:r>
            <a:endParaRPr/>
          </a:p>
        </p:txBody>
      </p:sp>
      <p:sp>
        <p:nvSpPr>
          <p:cNvPr id="378" name="Google Shape;37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420" name="Google Shape;42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470" name="Google Shape;47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499" name="Google Shape;49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9" name="Google Shape;52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0" name="Google Shape;62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9" name="Google Shape;65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1" name="Google Shape;681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2" name="Google Shape;782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9" name="Google Shape;80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6" name="Google Shape;916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949" name="Google Shape;94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1012" name="Google Shape;1012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fad3833f70_1_40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g3fad3833f70_1_40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3" name="Google Shape;1083;g3fad3833f70_1_40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fad3833f70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7" name="Google Shape;1117;g3fad3833f70_1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d3833f70_1_40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fad3833f70_1_40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ad3833f70_1_4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3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5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12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d3833f70_1_0"/>
          <p:cNvSpPr/>
          <p:nvPr/>
        </p:nvSpPr>
        <p:spPr>
          <a:xfrm>
            <a:off x="548655" y="1371600"/>
            <a:ext cx="1051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FINAL SYSTEM, INTEGRATION &amp;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ad3833f70_1_0"/>
          <p:cNvSpPr/>
          <p:nvPr/>
        </p:nvSpPr>
        <p:spPr>
          <a:xfrm>
            <a:off x="502933" y="1783080"/>
            <a:ext cx="10607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5000"/>
              <a:buFont typeface="Bookman Old Style"/>
              <a:buNone/>
            </a:pPr>
            <a:r>
              <a:rPr b="1" i="0" lang="en-US" sz="5000" u="none" cap="none" strike="noStrik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AI-Powered Driver Wellness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5000"/>
              <a:buFont typeface="Bookman Old Style"/>
              <a:buNone/>
            </a:pPr>
            <a:r>
              <a:rPr b="1" i="0" lang="en-US" sz="5000" u="none" cap="none" strike="noStrik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&amp; Safety Monitoring System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ad3833f70_1_0"/>
          <p:cNvSpPr/>
          <p:nvPr/>
        </p:nvSpPr>
        <p:spPr>
          <a:xfrm>
            <a:off x="530366" y="3657600"/>
            <a:ext cx="9875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trained models unified behind one standardized contract, fused into a live 0–100 wellness score, and deployed as a hosted real-time driver-monitoring application.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ad3833f70_1_0"/>
          <p:cNvSpPr/>
          <p:nvPr/>
        </p:nvSpPr>
        <p:spPr>
          <a:xfrm>
            <a:off x="502933" y="4709160"/>
            <a:ext cx="2084700" cy="567000"/>
          </a:xfrm>
          <a:prstGeom prst="roundRect">
            <a:avLst>
              <a:gd fmla="val 50000" name="adj"/>
            </a:avLst>
          </a:prstGeom>
          <a:solidFill>
            <a:srgbClr val="172A40"/>
          </a:solidFill>
          <a:ln cap="flat" cmpd="sng" w="17775">
            <a:solidFill>
              <a:srgbClr val="E85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ad3833f70_1_0"/>
          <p:cNvSpPr/>
          <p:nvPr/>
        </p:nvSpPr>
        <p:spPr>
          <a:xfrm>
            <a:off x="704107" y="4846320"/>
            <a:ext cx="292500" cy="292500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ad3833f70_1_0"/>
          <p:cNvSpPr/>
          <p:nvPr/>
        </p:nvSpPr>
        <p:spPr>
          <a:xfrm>
            <a:off x="1069877" y="4709160"/>
            <a:ext cx="144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ad3833f70_1_0"/>
          <p:cNvSpPr/>
          <p:nvPr/>
        </p:nvSpPr>
        <p:spPr>
          <a:xfrm>
            <a:off x="2734129" y="4709160"/>
            <a:ext cx="2084700" cy="567000"/>
          </a:xfrm>
          <a:prstGeom prst="roundRect">
            <a:avLst>
              <a:gd fmla="val 50000" name="adj"/>
            </a:avLst>
          </a:prstGeom>
          <a:solidFill>
            <a:srgbClr val="172A40"/>
          </a:solidFill>
          <a:ln cap="flat" cmpd="sng" w="17775">
            <a:solidFill>
              <a:srgbClr val="2FB8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ad3833f70_1_0"/>
          <p:cNvSpPr/>
          <p:nvPr/>
        </p:nvSpPr>
        <p:spPr>
          <a:xfrm>
            <a:off x="2935302" y="4846320"/>
            <a:ext cx="292500" cy="292500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ad3833f70_1_0"/>
          <p:cNvSpPr/>
          <p:nvPr/>
        </p:nvSpPr>
        <p:spPr>
          <a:xfrm>
            <a:off x="3301072" y="4709160"/>
            <a:ext cx="144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ad3833f70_1_0"/>
          <p:cNvSpPr/>
          <p:nvPr/>
        </p:nvSpPr>
        <p:spPr>
          <a:xfrm>
            <a:off x="4965324" y="4709160"/>
            <a:ext cx="2084700" cy="567000"/>
          </a:xfrm>
          <a:prstGeom prst="roundRect">
            <a:avLst>
              <a:gd fmla="val 50000" name="adj"/>
            </a:avLst>
          </a:prstGeom>
          <a:solidFill>
            <a:srgbClr val="172A40"/>
          </a:solidFill>
          <a:ln cap="flat" cmpd="sng" w="17775">
            <a:solidFill>
              <a:srgbClr val="7C8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ad3833f70_1_0"/>
          <p:cNvSpPr/>
          <p:nvPr/>
        </p:nvSpPr>
        <p:spPr>
          <a:xfrm>
            <a:off x="5166498" y="4846320"/>
            <a:ext cx="292500" cy="292500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ad3833f70_1_0"/>
          <p:cNvSpPr/>
          <p:nvPr/>
        </p:nvSpPr>
        <p:spPr>
          <a:xfrm>
            <a:off x="5532267" y="4709160"/>
            <a:ext cx="144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ad3833f70_1_0"/>
          <p:cNvSpPr/>
          <p:nvPr/>
        </p:nvSpPr>
        <p:spPr>
          <a:xfrm>
            <a:off x="7196520" y="4709160"/>
            <a:ext cx="2084700" cy="567000"/>
          </a:xfrm>
          <a:prstGeom prst="roundRect">
            <a:avLst>
              <a:gd fmla="val 50000" name="adj"/>
            </a:avLst>
          </a:prstGeom>
          <a:solidFill>
            <a:srgbClr val="172A40"/>
          </a:solidFill>
          <a:ln cap="flat" cmpd="sng" w="17775">
            <a:solidFill>
              <a:srgbClr val="C9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ad3833f70_1_0"/>
          <p:cNvSpPr/>
          <p:nvPr/>
        </p:nvSpPr>
        <p:spPr>
          <a:xfrm>
            <a:off x="7397693" y="4846320"/>
            <a:ext cx="292500" cy="292500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ad3833f70_1_0"/>
          <p:cNvSpPr/>
          <p:nvPr/>
        </p:nvSpPr>
        <p:spPr>
          <a:xfrm>
            <a:off x="7763463" y="4709160"/>
            <a:ext cx="144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ad3833f70_1_0"/>
          <p:cNvSpPr/>
          <p:nvPr/>
        </p:nvSpPr>
        <p:spPr>
          <a:xfrm>
            <a:off x="9427715" y="4709160"/>
            <a:ext cx="2084700" cy="567000"/>
          </a:xfrm>
          <a:prstGeom prst="roundRect">
            <a:avLst>
              <a:gd fmla="val 50000" name="adj"/>
            </a:avLst>
          </a:prstGeom>
          <a:solidFill>
            <a:srgbClr val="172A40"/>
          </a:solidFill>
          <a:ln cap="flat" cmpd="sng" w="17775">
            <a:solidFill>
              <a:srgbClr val="B44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ad3833f70_1_0"/>
          <p:cNvSpPr/>
          <p:nvPr/>
        </p:nvSpPr>
        <p:spPr>
          <a:xfrm>
            <a:off x="9628889" y="4846320"/>
            <a:ext cx="292500" cy="292500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ad3833f70_1_0"/>
          <p:cNvSpPr/>
          <p:nvPr/>
        </p:nvSpPr>
        <p:spPr>
          <a:xfrm>
            <a:off x="9994658" y="4709160"/>
            <a:ext cx="144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ad3833f70_1_0"/>
          <p:cNvSpPr/>
          <p:nvPr/>
        </p:nvSpPr>
        <p:spPr>
          <a:xfrm>
            <a:off x="530366" y="5532120"/>
            <a:ext cx="822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BSDA4001  ·  DS/AI Lab Course  ·  Final Project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ad3833f70_1_0"/>
          <p:cNvSpPr/>
          <p:nvPr/>
        </p:nvSpPr>
        <p:spPr>
          <a:xfrm>
            <a:off x="502933" y="6510528"/>
            <a:ext cx="822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ad3833f70_1_0"/>
          <p:cNvSpPr/>
          <p:nvPr/>
        </p:nvSpPr>
        <p:spPr>
          <a:xfrm>
            <a:off x="11155977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g3fad3833f7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3350" y="10570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d3833f70_1_28"/>
          <p:cNvSpPr/>
          <p:nvPr/>
        </p:nvSpPr>
        <p:spPr>
          <a:xfrm>
            <a:off x="502933" y="384048"/>
            <a:ext cx="109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THE FULL ARC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ad3833f70_1_28"/>
          <p:cNvSpPr/>
          <p:nvPr/>
        </p:nvSpPr>
        <p:spPr>
          <a:xfrm>
            <a:off x="475500" y="713224"/>
            <a:ext cx="112473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b="1" i="0" lang="en-US" sz="3600" u="none" cap="none" strike="noStrik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Six Milestones, One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ad3833f70_1_28"/>
          <p:cNvSpPr/>
          <p:nvPr/>
        </p:nvSpPr>
        <p:spPr>
          <a:xfrm>
            <a:off x="493789" y="1417320"/>
            <a:ext cx="1097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From a revised scope to a fully fused, deployed real-time wellness engine — each milestone built directly on the last.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fad3833f70_1_28"/>
          <p:cNvCxnSpPr/>
          <p:nvPr/>
        </p:nvCxnSpPr>
        <p:spPr>
          <a:xfrm>
            <a:off x="1399069" y="2313432"/>
            <a:ext cx="9391200" cy="0"/>
          </a:xfrm>
          <a:prstGeom prst="straightConnector1">
            <a:avLst/>
          </a:prstGeom>
          <a:noFill/>
          <a:ln cap="flat" cmpd="sng" w="1905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fad3833f70_1_28"/>
          <p:cNvSpPr/>
          <p:nvPr/>
        </p:nvSpPr>
        <p:spPr>
          <a:xfrm>
            <a:off x="1143030" y="2057400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ad3833f70_1_28"/>
          <p:cNvSpPr/>
          <p:nvPr/>
        </p:nvSpPr>
        <p:spPr>
          <a:xfrm>
            <a:off x="1143030" y="204825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ad3833f70_1_28"/>
          <p:cNvSpPr/>
          <p:nvPr/>
        </p:nvSpPr>
        <p:spPr>
          <a:xfrm>
            <a:off x="548655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ad3833f70_1_28"/>
          <p:cNvSpPr/>
          <p:nvPr/>
        </p:nvSpPr>
        <p:spPr>
          <a:xfrm>
            <a:off x="676674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Scope &amp; Framing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ad3833f70_1_28"/>
          <p:cNvSpPr/>
          <p:nvPr/>
        </p:nvSpPr>
        <p:spPr>
          <a:xfrm>
            <a:off x="676674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Reframed beyond drowsiness → full driver-wellness; multi-branch pipeline proposed.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ad3833f70_1_28"/>
          <p:cNvSpPr/>
          <p:nvPr/>
        </p:nvSpPr>
        <p:spPr>
          <a:xfrm>
            <a:off x="3021259" y="2057400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ad3833f70_1_28"/>
          <p:cNvSpPr/>
          <p:nvPr/>
        </p:nvSpPr>
        <p:spPr>
          <a:xfrm>
            <a:off x="3021259" y="204825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ad3833f70_1_28"/>
          <p:cNvSpPr/>
          <p:nvPr/>
        </p:nvSpPr>
        <p:spPr>
          <a:xfrm>
            <a:off x="2426883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ad3833f70_1_28"/>
          <p:cNvSpPr/>
          <p:nvPr/>
        </p:nvSpPr>
        <p:spPr>
          <a:xfrm>
            <a:off x="2554902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Dataset Prep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d3833f70_1_28"/>
          <p:cNvSpPr/>
          <p:nvPr/>
        </p:nvSpPr>
        <p:spPr>
          <a:xfrm>
            <a:off x="2554902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datasets cleaned &amp; split leakage-free — subject / sequence-wise.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ad3833f70_1_28"/>
          <p:cNvSpPr/>
          <p:nvPr/>
        </p:nvSpPr>
        <p:spPr>
          <a:xfrm>
            <a:off x="4899486" y="2057400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ad3833f70_1_28"/>
          <p:cNvSpPr/>
          <p:nvPr/>
        </p:nvSpPr>
        <p:spPr>
          <a:xfrm>
            <a:off x="4899486" y="204825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ad3833f70_1_28"/>
          <p:cNvSpPr/>
          <p:nvPr/>
        </p:nvSpPr>
        <p:spPr>
          <a:xfrm>
            <a:off x="4305110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ad3833f70_1_28"/>
          <p:cNvSpPr/>
          <p:nvPr/>
        </p:nvSpPr>
        <p:spPr>
          <a:xfrm>
            <a:off x="4433129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ad3833f70_1_28"/>
          <p:cNvSpPr/>
          <p:nvPr/>
        </p:nvSpPr>
        <p:spPr>
          <a:xfrm>
            <a:off x="4433129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One model per module selected, justified &amp; fully specified; fusion designed.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ad3833f70_1_28"/>
          <p:cNvSpPr/>
          <p:nvPr/>
        </p:nvSpPr>
        <p:spPr>
          <a:xfrm>
            <a:off x="6777714" y="2057400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ad3833f70_1_28"/>
          <p:cNvSpPr/>
          <p:nvPr/>
        </p:nvSpPr>
        <p:spPr>
          <a:xfrm>
            <a:off x="6777714" y="2048256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ad3833f70_1_28"/>
          <p:cNvSpPr/>
          <p:nvPr/>
        </p:nvSpPr>
        <p:spPr>
          <a:xfrm>
            <a:off x="6183338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ad3833f70_1_28"/>
          <p:cNvSpPr/>
          <p:nvPr/>
        </p:nvSpPr>
        <p:spPr>
          <a:xfrm>
            <a:off x="6311357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Train &amp; Tune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ad3833f70_1_28"/>
          <p:cNvSpPr/>
          <p:nvPr/>
        </p:nvSpPr>
        <p:spPr>
          <a:xfrm>
            <a:off x="6311357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checkpoints trained; hyperparameters swept per module.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ad3833f70_1_28"/>
          <p:cNvSpPr/>
          <p:nvPr/>
        </p:nvSpPr>
        <p:spPr>
          <a:xfrm>
            <a:off x="8655941" y="2057400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d3833f70_1_28"/>
          <p:cNvSpPr/>
          <p:nvPr/>
        </p:nvSpPr>
        <p:spPr>
          <a:xfrm>
            <a:off x="8655966" y="2061994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ad3833f70_1_28"/>
          <p:cNvSpPr/>
          <p:nvPr/>
        </p:nvSpPr>
        <p:spPr>
          <a:xfrm>
            <a:off x="8061565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ad3833f70_1_28"/>
          <p:cNvSpPr/>
          <p:nvPr/>
        </p:nvSpPr>
        <p:spPr>
          <a:xfrm>
            <a:off x="8189584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Held-Out Eval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ad3833f70_1_28"/>
          <p:cNvSpPr/>
          <p:nvPr/>
        </p:nvSpPr>
        <p:spPr>
          <a:xfrm>
            <a:off x="8189584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Benchmarked, error-diagnosed &amp; efficiency-measured on unseen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ad3833f70_1_28"/>
          <p:cNvSpPr/>
          <p:nvPr/>
        </p:nvSpPr>
        <p:spPr>
          <a:xfrm>
            <a:off x="9939793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D2C44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ad3833f70_1_28"/>
          <p:cNvSpPr/>
          <p:nvPr/>
        </p:nvSpPr>
        <p:spPr>
          <a:xfrm>
            <a:off x="9939793" y="2743200"/>
            <a:ext cx="1700700" cy="2651700"/>
          </a:xfrm>
          <a:prstGeom prst="roundRect">
            <a:avLst>
              <a:gd fmla="val 5376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2" name="Google Shape;152;g3fad3833f70_1_28"/>
          <p:cNvSpPr/>
          <p:nvPr/>
        </p:nvSpPr>
        <p:spPr>
          <a:xfrm>
            <a:off x="10067812" y="2898648"/>
            <a:ext cx="1444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Integrate &amp; Deploy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ad3833f70_1_28"/>
          <p:cNvSpPr/>
          <p:nvPr/>
        </p:nvSpPr>
        <p:spPr>
          <a:xfrm>
            <a:off x="10067812" y="3566160"/>
            <a:ext cx="1444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Standardized adapters, fused 0–100 score, hosted Gradio app.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ad3833f70_1_28"/>
          <p:cNvSpPr/>
          <p:nvPr/>
        </p:nvSpPr>
        <p:spPr>
          <a:xfrm>
            <a:off x="548655" y="5806440"/>
            <a:ext cx="109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You are here  →  Milestone 6 turns five evaluated models into one live, deployed safety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ad3833f70_1_28"/>
          <p:cNvSpPr/>
          <p:nvPr/>
        </p:nvSpPr>
        <p:spPr>
          <a:xfrm>
            <a:off x="502933" y="6510528"/>
            <a:ext cx="822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ad3833f70_1_28"/>
          <p:cNvSpPr/>
          <p:nvPr/>
        </p:nvSpPr>
        <p:spPr>
          <a:xfrm>
            <a:off x="11155977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ad3833f70_1_28"/>
          <p:cNvSpPr/>
          <p:nvPr/>
        </p:nvSpPr>
        <p:spPr>
          <a:xfrm>
            <a:off x="10790266" y="2061988"/>
            <a:ext cx="512100" cy="51210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ad3833f70_1_28"/>
          <p:cNvSpPr/>
          <p:nvPr/>
        </p:nvSpPr>
        <p:spPr>
          <a:xfrm>
            <a:off x="10790266" y="2061981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d3833f70_1_240"/>
          <p:cNvSpPr/>
          <p:nvPr/>
        </p:nvSpPr>
        <p:spPr>
          <a:xfrm>
            <a:off x="457200" y="310896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ad3833f70_1_240"/>
          <p:cNvSpPr/>
          <p:nvPr/>
        </p:nvSpPr>
        <p:spPr>
          <a:xfrm>
            <a:off x="457200" y="566928"/>
            <a:ext cx="11247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Models, One Wellness Score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ad3833f70_1_240"/>
          <p:cNvSpPr/>
          <p:nvPr/>
        </p:nvSpPr>
        <p:spPr>
          <a:xfrm>
            <a:off x="4480560" y="1536192"/>
            <a:ext cx="3200400" cy="502800"/>
          </a:xfrm>
          <a:prstGeom prst="roundRect">
            <a:avLst>
              <a:gd fmla="val 12727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ad3833f70_1_240"/>
          <p:cNvSpPr/>
          <p:nvPr/>
        </p:nvSpPr>
        <p:spPr>
          <a:xfrm>
            <a:off x="4480560" y="153619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Driver Camera  →  Video 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fad3833f70_1_240"/>
          <p:cNvCxnSpPr/>
          <p:nvPr/>
        </p:nvCxnSpPr>
        <p:spPr>
          <a:xfrm>
            <a:off x="6080760" y="2084832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g3fad3833f70_1_240"/>
          <p:cNvSpPr/>
          <p:nvPr/>
        </p:nvSpPr>
        <p:spPr>
          <a:xfrm>
            <a:off x="548640" y="2395728"/>
            <a:ext cx="2103000" cy="1371600"/>
          </a:xfrm>
          <a:prstGeom prst="roundRect">
            <a:avLst>
              <a:gd fmla="val 533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ad3833f70_1_240"/>
          <p:cNvSpPr/>
          <p:nvPr/>
        </p:nvSpPr>
        <p:spPr>
          <a:xfrm>
            <a:off x="1444752" y="2624328"/>
            <a:ext cx="310800" cy="310800"/>
          </a:xfrm>
          <a:prstGeom prst="ellipse">
            <a:avLst/>
          </a:prstGeom>
          <a:solidFill>
            <a:srgbClr val="F26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ad3833f70_1_240"/>
          <p:cNvSpPr/>
          <p:nvPr/>
        </p:nvSpPr>
        <p:spPr>
          <a:xfrm>
            <a:off x="548640" y="30175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ad3833f70_1_240"/>
          <p:cNvSpPr/>
          <p:nvPr/>
        </p:nvSpPr>
        <p:spPr>
          <a:xfrm>
            <a:off x="640080" y="3328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fad3833f70_1_240"/>
          <p:cNvCxnSpPr/>
          <p:nvPr/>
        </p:nvCxnSpPr>
        <p:spPr>
          <a:xfrm>
            <a:off x="1600200" y="3803904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g3fad3833f70_1_240"/>
          <p:cNvSpPr/>
          <p:nvPr/>
        </p:nvSpPr>
        <p:spPr>
          <a:xfrm>
            <a:off x="2788920" y="2395728"/>
            <a:ext cx="2103000" cy="1371600"/>
          </a:xfrm>
          <a:prstGeom prst="roundRect">
            <a:avLst>
              <a:gd fmla="val 533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ad3833f70_1_240"/>
          <p:cNvSpPr/>
          <p:nvPr/>
        </p:nvSpPr>
        <p:spPr>
          <a:xfrm>
            <a:off x="3685032" y="2624328"/>
            <a:ext cx="310800" cy="310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ad3833f70_1_240"/>
          <p:cNvSpPr/>
          <p:nvPr/>
        </p:nvSpPr>
        <p:spPr>
          <a:xfrm>
            <a:off x="2788920" y="30175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ad3833f70_1_240"/>
          <p:cNvSpPr/>
          <p:nvPr/>
        </p:nvSpPr>
        <p:spPr>
          <a:xfrm>
            <a:off x="2880360" y="3328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fad3833f70_1_240"/>
          <p:cNvCxnSpPr/>
          <p:nvPr/>
        </p:nvCxnSpPr>
        <p:spPr>
          <a:xfrm>
            <a:off x="3840480" y="3803904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g3fad3833f70_1_240"/>
          <p:cNvSpPr/>
          <p:nvPr/>
        </p:nvSpPr>
        <p:spPr>
          <a:xfrm>
            <a:off x="5029200" y="2395728"/>
            <a:ext cx="2103000" cy="1371600"/>
          </a:xfrm>
          <a:prstGeom prst="roundRect">
            <a:avLst>
              <a:gd fmla="val 533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ad3833f70_1_240"/>
          <p:cNvSpPr/>
          <p:nvPr/>
        </p:nvSpPr>
        <p:spPr>
          <a:xfrm>
            <a:off x="5925312" y="2624328"/>
            <a:ext cx="310800" cy="310800"/>
          </a:xfrm>
          <a:prstGeom prst="ellipse">
            <a:avLst/>
          </a:prstGeom>
          <a:solidFill>
            <a:srgbClr val="9B8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ad3833f70_1_240"/>
          <p:cNvSpPr/>
          <p:nvPr/>
        </p:nvSpPr>
        <p:spPr>
          <a:xfrm>
            <a:off x="5029200" y="30175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ad3833f70_1_240"/>
          <p:cNvSpPr/>
          <p:nvPr/>
        </p:nvSpPr>
        <p:spPr>
          <a:xfrm>
            <a:off x="5120640" y="3328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g3fad3833f70_1_240"/>
          <p:cNvCxnSpPr/>
          <p:nvPr/>
        </p:nvCxnSpPr>
        <p:spPr>
          <a:xfrm>
            <a:off x="6080760" y="3803904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g3fad3833f70_1_240"/>
          <p:cNvSpPr/>
          <p:nvPr/>
        </p:nvSpPr>
        <p:spPr>
          <a:xfrm>
            <a:off x="7269480" y="2395728"/>
            <a:ext cx="2103000" cy="1371600"/>
          </a:xfrm>
          <a:prstGeom prst="roundRect">
            <a:avLst>
              <a:gd fmla="val 533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ad3833f70_1_240"/>
          <p:cNvSpPr/>
          <p:nvPr/>
        </p:nvSpPr>
        <p:spPr>
          <a:xfrm>
            <a:off x="8165592" y="2624328"/>
            <a:ext cx="310800" cy="310800"/>
          </a:xfrm>
          <a:prstGeom prst="ellipse">
            <a:avLst/>
          </a:prstGeom>
          <a:solidFill>
            <a:srgbClr val="E0B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ad3833f70_1_240"/>
          <p:cNvSpPr/>
          <p:nvPr/>
        </p:nvSpPr>
        <p:spPr>
          <a:xfrm>
            <a:off x="7269480" y="30175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ad3833f70_1_240"/>
          <p:cNvSpPr/>
          <p:nvPr/>
        </p:nvSpPr>
        <p:spPr>
          <a:xfrm>
            <a:off x="7360920" y="3328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3fad3833f70_1_240"/>
          <p:cNvCxnSpPr/>
          <p:nvPr/>
        </p:nvCxnSpPr>
        <p:spPr>
          <a:xfrm>
            <a:off x="8321040" y="3803904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g3fad3833f70_1_240"/>
          <p:cNvSpPr/>
          <p:nvPr/>
        </p:nvSpPr>
        <p:spPr>
          <a:xfrm>
            <a:off x="9509760" y="2395728"/>
            <a:ext cx="2103000" cy="1371600"/>
          </a:xfrm>
          <a:prstGeom prst="roundRect">
            <a:avLst>
              <a:gd fmla="val 533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ad3833f70_1_240"/>
          <p:cNvSpPr/>
          <p:nvPr/>
        </p:nvSpPr>
        <p:spPr>
          <a:xfrm>
            <a:off x="10405872" y="2624328"/>
            <a:ext cx="310800" cy="310800"/>
          </a:xfrm>
          <a:prstGeom prst="ellipse">
            <a:avLst/>
          </a:prstGeom>
          <a:solidFill>
            <a:srgbClr val="CE54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ad3833f70_1_240"/>
          <p:cNvSpPr/>
          <p:nvPr/>
        </p:nvSpPr>
        <p:spPr>
          <a:xfrm>
            <a:off x="9509760" y="30175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ad3833f70_1_240"/>
          <p:cNvSpPr/>
          <p:nvPr/>
        </p:nvSpPr>
        <p:spPr>
          <a:xfrm>
            <a:off x="9601200" y="3328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g3fad3833f70_1_240"/>
          <p:cNvCxnSpPr/>
          <p:nvPr/>
        </p:nvCxnSpPr>
        <p:spPr>
          <a:xfrm>
            <a:off x="10561320" y="3803904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g3fad3833f70_1_240"/>
          <p:cNvSpPr/>
          <p:nvPr/>
        </p:nvSpPr>
        <p:spPr>
          <a:xfrm>
            <a:off x="548640" y="4151376"/>
            <a:ext cx="11064300" cy="685800"/>
          </a:xfrm>
          <a:prstGeom prst="roundRect">
            <a:avLst>
              <a:gd fmla="val 10667" name="adj"/>
            </a:avLst>
          </a:prstGeom>
          <a:solidFill>
            <a:srgbClr val="0F2A32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ad3833f70_1_240"/>
          <p:cNvSpPr/>
          <p:nvPr/>
        </p:nvSpPr>
        <p:spPr>
          <a:xfrm>
            <a:off x="548640" y="4151376"/>
            <a:ext cx="1106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EEAD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Driver Risk Fusion Engine</a:t>
            </a:r>
            <a:r>
              <a:rPr b="0" i="0" lang="en-US" sz="2000" u="none" cap="none" strike="noStrike">
                <a:solidFill>
                  <a:srgbClr val="6E8098"/>
                </a:solidFill>
                <a:latin typeface="Arial"/>
                <a:ea typeface="Arial"/>
                <a:cs typeface="Arial"/>
                <a:sym typeface="Arial"/>
              </a:rPr>
              <a:t>     ·     </a:t>
            </a:r>
            <a:r>
              <a:rPr b="1" i="0" lang="en-US" sz="2000" u="none" cap="none" strike="noStrike">
                <a:solidFill>
                  <a:srgbClr val="5EEAD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weighted, confidence-scaled scoring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g3fad3833f70_1_240"/>
          <p:cNvCxnSpPr/>
          <p:nvPr/>
        </p:nvCxnSpPr>
        <p:spPr>
          <a:xfrm>
            <a:off x="6080760" y="4882896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g3fad3833f70_1_240"/>
          <p:cNvSpPr/>
          <p:nvPr/>
        </p:nvSpPr>
        <p:spPr>
          <a:xfrm>
            <a:off x="3977640" y="5212080"/>
            <a:ext cx="4206300" cy="548700"/>
          </a:xfrm>
          <a:prstGeom prst="roundRect">
            <a:avLst>
              <a:gd fmla="val 11667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ad3833f70_1_240"/>
          <p:cNvSpPr/>
          <p:nvPr/>
        </p:nvSpPr>
        <p:spPr>
          <a:xfrm>
            <a:off x="3977640" y="5212080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Driver Wellness Assessment  (0–100)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g3fad3833f70_1_240"/>
          <p:cNvCxnSpPr/>
          <p:nvPr/>
        </p:nvCxnSpPr>
        <p:spPr>
          <a:xfrm>
            <a:off x="6080760" y="580644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E80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g3fad3833f70_1_240"/>
          <p:cNvSpPr/>
          <p:nvPr/>
        </p:nvSpPr>
        <p:spPr>
          <a:xfrm>
            <a:off x="3337560" y="60350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Alert Generation  →  Fleet Monitoring Dashboard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EfficientNet-B0 + BiLSTM  ·  UTA-RLDD  ·  Subject-Disjoint Evaluation  —  Milestone 6 Final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548640" y="1965960"/>
            <a:ext cx="5120640" cy="1417320"/>
          </a:xfrm>
          <a:prstGeom prst="rect">
            <a:avLst/>
          </a:prstGeom>
          <a:solidFill>
            <a:srgbClr val="0F4A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822960" y="2240280"/>
            <a:ext cx="822960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 txBox="1"/>
          <p:nvPr/>
        </p:nvSpPr>
        <p:spPr>
          <a:xfrm>
            <a:off x="822960" y="2359152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"/>
          <p:cNvSpPr txBox="1"/>
          <p:nvPr/>
        </p:nvSpPr>
        <p:spPr>
          <a:xfrm>
            <a:off x="1828800" y="22128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 Barodekar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 txBox="1"/>
          <p:nvPr/>
        </p:nvSpPr>
        <p:spPr>
          <a:xfrm>
            <a:off x="1828800" y="251460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Video Fatigue — Module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566928" y="3575304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 txBox="1"/>
          <p:nvPr/>
        </p:nvSpPr>
        <p:spPr>
          <a:xfrm>
            <a:off x="777240" y="3520440"/>
            <a:ext cx="46817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EfficientNet-B0 + BiLSTM temporal pipeline on UTA-RLDD with subject-disjoint splits.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566928" y="4142231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"/>
          <p:cNvSpPr txBox="1"/>
          <p:nvPr/>
        </p:nvSpPr>
        <p:spPr>
          <a:xfrm>
            <a:off x="777240" y="4087368"/>
            <a:ext cx="46817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Locked one-time test evaluation and integrated adapter into Risk Fusion Engine.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566928" y="4709159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"/>
          <p:cNvSpPr txBox="1"/>
          <p:nvPr/>
        </p:nvSpPr>
        <p:spPr>
          <a:xfrm>
            <a:off x="777240" y="4654296"/>
            <a:ext cx="46817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Down-weighted module in fusion (~33.6% test acc ≈ random 3-class baseline).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 txBox="1"/>
          <p:nvPr/>
        </p:nvSpPr>
        <p:spPr>
          <a:xfrm>
            <a:off x="5989320" y="196596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This Module Sits in the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5989320" y="2423160"/>
            <a:ext cx="1005840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5989320" y="25420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b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7123176" y="2423160"/>
            <a:ext cx="1005840" cy="86868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"/>
          <p:cNvSpPr txBox="1"/>
          <p:nvPr/>
        </p:nvSpPr>
        <p:spPr>
          <a:xfrm>
            <a:off x="7123176" y="25420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8257031" y="2423160"/>
            <a:ext cx="1005840" cy="86868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 txBox="1"/>
          <p:nvPr/>
        </p:nvSpPr>
        <p:spPr>
          <a:xfrm>
            <a:off x="8257031" y="25420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9390888" y="2423160"/>
            <a:ext cx="1005840" cy="86868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9390888" y="25420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Phone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10524744" y="2423160"/>
            <a:ext cx="1005840" cy="86868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10524744" y="254203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 txBox="1"/>
          <p:nvPr/>
        </p:nvSpPr>
        <p:spPr>
          <a:xfrm>
            <a:off x="5989320" y="334670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"/>
          <p:cNvSpPr txBox="1"/>
          <p:nvPr/>
        </p:nvSpPr>
        <p:spPr>
          <a:xfrm>
            <a:off x="5989320" y="3602736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↓  risk-weighted 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5989320" y="4023360"/>
            <a:ext cx="5669280" cy="91440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6172200" y="422452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Fusion Engine  →  Driver Wellness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3264400" y="5705849"/>
            <a:ext cx="1326000" cy="72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3264408" y="5705856"/>
            <a:ext cx="54864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 txBox="1"/>
          <p:nvPr/>
        </p:nvSpPr>
        <p:spPr>
          <a:xfrm>
            <a:off x="3410712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45.37%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"/>
          <p:cNvSpPr txBox="1"/>
          <p:nvPr/>
        </p:nvSpPr>
        <p:spPr>
          <a:xfrm>
            <a:off x="3410712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Val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4654300" y="5705849"/>
            <a:ext cx="1326000" cy="72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4654296" y="5705856"/>
            <a:ext cx="54864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"/>
          <p:cNvSpPr txBox="1"/>
          <p:nvPr/>
        </p:nvSpPr>
        <p:spPr>
          <a:xfrm>
            <a:off x="4800600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33.6%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"/>
          <p:cNvSpPr txBox="1"/>
          <p:nvPr/>
        </p:nvSpPr>
        <p:spPr>
          <a:xfrm>
            <a:off x="4800600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Locked Test Acc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6044175" y="5705849"/>
            <a:ext cx="1326000" cy="72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6044183" y="5705856"/>
            <a:ext cx="54864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"/>
          <p:cNvSpPr txBox="1"/>
          <p:nvPr/>
        </p:nvSpPr>
        <p:spPr>
          <a:xfrm>
            <a:off x="6190488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33.8%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"/>
          <p:cNvSpPr txBox="1"/>
          <p:nvPr/>
        </p:nvSpPr>
        <p:spPr>
          <a:xfrm>
            <a:off x="6190488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Test Macro 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7434075" y="5705849"/>
            <a:ext cx="1326000" cy="72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7434071" y="5705856"/>
            <a:ext cx="54864" cy="603504"/>
          </a:xfrm>
          <a:prstGeom prst="rect">
            <a:avLst/>
          </a:prstGeom>
          <a:solidFill>
            <a:srgbClr val="EB97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 txBox="1"/>
          <p:nvPr/>
        </p:nvSpPr>
        <p:spPr>
          <a:xfrm>
            <a:off x="7580375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~19.7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 txBox="1"/>
          <p:nvPr/>
        </p:nvSpPr>
        <p:spPr>
          <a:xfrm>
            <a:off x="7580375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Window Latency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  |  Milestone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Problem Statement, Dataset &amp;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548640" y="1051560"/>
            <a:ext cx="5349240" cy="16002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"/>
          <p:cNvSpPr txBox="1"/>
          <p:nvPr/>
        </p:nvSpPr>
        <p:spPr>
          <a:xfrm>
            <a:off x="777240" y="118872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"/>
          <p:cNvSpPr txBox="1"/>
          <p:nvPr/>
        </p:nvSpPr>
        <p:spPr>
          <a:xfrm>
            <a:off x="777240" y="1508760"/>
            <a:ext cx="48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Detect fatigue from short in-cabin video while generalizing to unseen drivers. Session labels (Safe / Caution / High_Risk) may not appear in every 3.2s clip.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6080760" y="1051560"/>
            <a:ext cx="5349240" cy="1600200"/>
          </a:xfrm>
          <a:prstGeom prst="rect">
            <a:avLst/>
          </a:prstGeom>
          <a:solidFill>
            <a:srgbClr val="0F4A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"/>
          <p:cNvSpPr txBox="1"/>
          <p:nvPr/>
        </p:nvSpPr>
        <p:spPr>
          <a:xfrm>
            <a:off x="6309360" y="118872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6309360" y="1508760"/>
            <a:ext cx="48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 frame features + BiLSTM temporal modeling on 16-frame windows (~5 FPS). Production adapter maps to Low / Medium / High Risk for fusion.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"/>
          <p:cNvSpPr txBox="1"/>
          <p:nvPr/>
        </p:nvSpPr>
        <p:spPr>
          <a:xfrm>
            <a:off x="3943869" y="2795213"/>
            <a:ext cx="417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Architecture Pipeline  —  Current Integration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1551265" y="3261765"/>
            <a:ext cx="1371600" cy="77730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 txBox="1"/>
          <p:nvPr/>
        </p:nvSpPr>
        <p:spPr>
          <a:xfrm>
            <a:off x="1551265" y="3426357"/>
            <a:ext cx="137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16-Frame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"/>
          <p:cNvSpPr txBox="1"/>
          <p:nvPr/>
        </p:nvSpPr>
        <p:spPr>
          <a:xfrm>
            <a:off x="1551265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Raw window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"/>
          <p:cNvSpPr txBox="1"/>
          <p:nvPr/>
        </p:nvSpPr>
        <p:spPr>
          <a:xfrm>
            <a:off x="2922865" y="3426357"/>
            <a:ext cx="14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3069168" y="3261765"/>
            <a:ext cx="1371600" cy="77730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 txBox="1"/>
          <p:nvPr/>
        </p:nvSpPr>
        <p:spPr>
          <a:xfrm>
            <a:off x="3069168" y="3426357"/>
            <a:ext cx="1371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 txBox="1"/>
          <p:nvPr/>
        </p:nvSpPr>
        <p:spPr>
          <a:xfrm>
            <a:off x="3069168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1280-d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 txBox="1"/>
          <p:nvPr/>
        </p:nvSpPr>
        <p:spPr>
          <a:xfrm>
            <a:off x="4440769" y="3426357"/>
            <a:ext cx="14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4587073" y="3261765"/>
            <a:ext cx="1371600" cy="77730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 txBox="1"/>
          <p:nvPr/>
        </p:nvSpPr>
        <p:spPr>
          <a:xfrm>
            <a:off x="4587073" y="3426357"/>
            <a:ext cx="1371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BiLSTM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 txBox="1"/>
          <p:nvPr/>
        </p:nvSpPr>
        <p:spPr>
          <a:xfrm>
            <a:off x="4587073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Temporal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"/>
          <p:cNvSpPr txBox="1"/>
          <p:nvPr/>
        </p:nvSpPr>
        <p:spPr>
          <a:xfrm>
            <a:off x="5958673" y="3426357"/>
            <a:ext cx="14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6104977" y="3261765"/>
            <a:ext cx="1371600" cy="77730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"/>
          <p:cNvSpPr txBox="1"/>
          <p:nvPr/>
        </p:nvSpPr>
        <p:spPr>
          <a:xfrm>
            <a:off x="6104977" y="3426357"/>
            <a:ext cx="137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3-Class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6104977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Low / Med / High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7476577" y="3426357"/>
            <a:ext cx="14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/>
          <p:cNvSpPr/>
          <p:nvPr/>
        </p:nvSpPr>
        <p:spPr>
          <a:xfrm>
            <a:off x="7622881" y="3261765"/>
            <a:ext cx="1371600" cy="77730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"/>
          <p:cNvSpPr txBox="1"/>
          <p:nvPr/>
        </p:nvSpPr>
        <p:spPr>
          <a:xfrm>
            <a:off x="7622881" y="3426357"/>
            <a:ext cx="1371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 txBox="1"/>
          <p:nvPr/>
        </p:nvSpPr>
        <p:spPr>
          <a:xfrm>
            <a:off x="7622881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PredictionResult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8994481" y="3426357"/>
            <a:ext cx="14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/>
          <p:nvPr/>
        </p:nvSpPr>
        <p:spPr>
          <a:xfrm>
            <a:off x="9140785" y="3261765"/>
            <a:ext cx="1371600" cy="777300"/>
          </a:xfrm>
          <a:prstGeom prst="rect">
            <a:avLst/>
          </a:prstGeom>
          <a:solidFill>
            <a:srgbClr val="1353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"/>
          <p:cNvSpPr txBox="1"/>
          <p:nvPr/>
        </p:nvSpPr>
        <p:spPr>
          <a:xfrm>
            <a:off x="9140785" y="3426357"/>
            <a:ext cx="137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b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 txBox="1"/>
          <p:nvPr/>
        </p:nvSpPr>
        <p:spPr>
          <a:xfrm>
            <a:off x="9140785" y="4221885"/>
            <a:ext cx="1371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Wellness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"/>
          <p:cNvSpPr/>
          <p:nvPr/>
        </p:nvSpPr>
        <p:spPr>
          <a:xfrm>
            <a:off x="548640" y="4709160"/>
            <a:ext cx="10881360" cy="1188720"/>
          </a:xfrm>
          <a:prstGeom prst="rect">
            <a:avLst/>
          </a:prstGeom>
          <a:solidFill>
            <a:srgbClr val="E3E9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"/>
          <p:cNvSpPr txBox="1"/>
          <p:nvPr/>
        </p:nvSpPr>
        <p:spPr>
          <a:xfrm>
            <a:off x="777265" y="5007895"/>
            <a:ext cx="10424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UTA-RLDD: Train 46,085 · Val 7,042 · Test 7,117 · 60 subjects · subject-disjoint splits · 7.16M params.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"/>
          <p:cNvSpPr/>
          <p:nvPr/>
        </p:nvSpPr>
        <p:spPr>
          <a:xfrm>
            <a:off x="1920240" y="5486400"/>
            <a:ext cx="8010144" cy="320040"/>
          </a:xfrm>
          <a:prstGeom prst="roundRect">
            <a:avLst>
              <a:gd fmla="val 16667" name="adj"/>
            </a:avLst>
          </a:prstGeom>
          <a:solidFill>
            <a:srgbClr val="E5F8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"/>
          <p:cNvSpPr txBox="1"/>
          <p:nvPr/>
        </p:nvSpPr>
        <p:spPr>
          <a:xfrm>
            <a:off x="2084831" y="55046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M6 DESIGN PRINCIPLE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"/>
          <p:cNvSpPr txBox="1"/>
          <p:nvPr/>
        </p:nvSpPr>
        <p:spPr>
          <a:xfrm>
            <a:off x="3538728" y="5477256"/>
            <a:ext cx="62727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Don't trust aggregate accuracy alone — inspect per-class recall and cross-driver transfer.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  |  Milestone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ad3833f70_1_118"/>
          <p:cNvSpPr/>
          <p:nvPr/>
        </p:nvSpPr>
        <p:spPr>
          <a:xfrm>
            <a:off x="6025025" y="1234475"/>
            <a:ext cx="5349300" cy="23043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ad3833f70_1_118"/>
          <p:cNvSpPr/>
          <p:nvPr/>
        </p:nvSpPr>
        <p:spPr>
          <a:xfrm>
            <a:off x="9784080" y="310896"/>
            <a:ext cx="960000" cy="27420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ad3833f70_1_118"/>
          <p:cNvSpPr txBox="1"/>
          <p:nvPr/>
        </p:nvSpPr>
        <p:spPr>
          <a:xfrm>
            <a:off x="9820656" y="320040"/>
            <a:ext cx="88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ad3833f70_1_118"/>
          <p:cNvSpPr txBox="1"/>
          <p:nvPr/>
        </p:nvSpPr>
        <p:spPr>
          <a:xfrm>
            <a:off x="548640" y="365760"/>
            <a:ext cx="1051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Experiments &amp; Final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ad3833f70_1_118"/>
          <p:cNvSpPr txBox="1"/>
          <p:nvPr/>
        </p:nvSpPr>
        <p:spPr>
          <a:xfrm>
            <a:off x="548640" y="822960"/>
            <a:ext cx="10515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E1–E5 model selection → E5 (EfficientNet-B0 + BiLSTM) locked for full-data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ad3833f70_1_118"/>
          <p:cNvSpPr/>
          <p:nvPr/>
        </p:nvSpPr>
        <p:spPr>
          <a:xfrm>
            <a:off x="548640" y="1234440"/>
            <a:ext cx="5349300" cy="44805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ad3833f70_1_118"/>
          <p:cNvSpPr txBox="1"/>
          <p:nvPr/>
        </p:nvSpPr>
        <p:spPr>
          <a:xfrm>
            <a:off x="777240" y="1371600"/>
            <a:ext cx="489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Experiment Journey (E1–E5)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ad3833f70_1_118"/>
          <p:cNvSpPr txBox="1"/>
          <p:nvPr/>
        </p:nvSpPr>
        <p:spPr>
          <a:xfrm>
            <a:off x="777240" y="1783080"/>
            <a:ext cx="489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E1 — Partial EfficientNet unfreeze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ad3833f70_1_118"/>
          <p:cNvSpPr txBox="1"/>
          <p:nvPr/>
        </p:nvSpPr>
        <p:spPr>
          <a:xfrm>
            <a:off x="777240" y="2039112"/>
            <a:ext cx="489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Acc 50.07% · High_Risk recall → 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ad3833f70_1_118"/>
          <p:cNvSpPr txBox="1"/>
          <p:nvPr/>
        </p:nvSpPr>
        <p:spPr>
          <a:xfrm>
            <a:off x="777240" y="2532888"/>
            <a:ext cx="489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E2 — Weighted CrossEntropy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ad3833f70_1_118"/>
          <p:cNvSpPr txBox="1"/>
          <p:nvPr/>
        </p:nvSpPr>
        <p:spPr>
          <a:xfrm>
            <a:off x="777240" y="2788920"/>
            <a:ext cx="489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Minimal gain · imbalance not root cause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ad3833f70_1_118"/>
          <p:cNvSpPr txBox="1"/>
          <p:nvPr/>
        </p:nvSpPr>
        <p:spPr>
          <a:xfrm>
            <a:off x="777240" y="3282696"/>
            <a:ext cx="489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E3 — Landmark feature 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ad3833f70_1_118"/>
          <p:cNvSpPr txBox="1"/>
          <p:nvPr/>
        </p:nvSpPr>
        <p:spPr>
          <a:xfrm>
            <a:off x="777240" y="3538728"/>
            <a:ext cx="489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Macro F1 49.80% · High_Risk recall → 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ad3833f70_1_118"/>
          <p:cNvSpPr txBox="1"/>
          <p:nvPr/>
        </p:nvSpPr>
        <p:spPr>
          <a:xfrm>
            <a:off x="777240" y="4032504"/>
            <a:ext cx="489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E4 — Landmarks + unfreeze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ad3833f70_1_118"/>
          <p:cNvSpPr txBox="1"/>
          <p:nvPr/>
        </p:nvSpPr>
        <p:spPr>
          <a:xfrm>
            <a:off x="777240" y="4288536"/>
            <a:ext cx="489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Best mini Macro F1 51.12% · recall still 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ad3833f70_1_118"/>
          <p:cNvSpPr txBox="1"/>
          <p:nvPr/>
        </p:nvSpPr>
        <p:spPr>
          <a:xfrm>
            <a:off x="777240" y="4782312"/>
            <a:ext cx="4892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E5 — EfficientNet-B0 + BiLSTM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ad3833f70_1_118"/>
          <p:cNvSpPr txBox="1"/>
          <p:nvPr/>
        </p:nvSpPr>
        <p:spPr>
          <a:xfrm>
            <a:off x="777240" y="5038344"/>
            <a:ext cx="4892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Stable full-data path · non-zero class coverage · SELECTED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ad3833f70_1_118"/>
          <p:cNvSpPr/>
          <p:nvPr/>
        </p:nvSpPr>
        <p:spPr>
          <a:xfrm>
            <a:off x="3288175" y="1431050"/>
            <a:ext cx="2381100" cy="176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ad3833f70_1_118"/>
          <p:cNvSpPr txBox="1"/>
          <p:nvPr/>
        </p:nvSpPr>
        <p:spPr>
          <a:xfrm>
            <a:off x="3377185" y="1572961"/>
            <a:ext cx="22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Selection rule for safety-critical fatigue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ad3833f70_1_118"/>
          <p:cNvSpPr txBox="1"/>
          <p:nvPr/>
        </p:nvSpPr>
        <p:spPr>
          <a:xfrm>
            <a:off x="3377185" y="1998694"/>
            <a:ext cx="220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Higher accuracy alone was not enough if High_Risk recall collapsed to 0%. E5 was chosen for stable full-data behavior and non-zero class coverage.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ad3833f70_1_118"/>
          <p:cNvSpPr txBox="1"/>
          <p:nvPr/>
        </p:nvSpPr>
        <p:spPr>
          <a:xfrm>
            <a:off x="6080760" y="3703320"/>
            <a:ext cx="534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Controlled Fusion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ad3833f70_1_118"/>
          <p:cNvSpPr/>
          <p:nvPr/>
        </p:nvSpPr>
        <p:spPr>
          <a:xfrm>
            <a:off x="6080760" y="4023360"/>
            <a:ext cx="5349300" cy="1691700"/>
          </a:xfrm>
          <a:prstGeom prst="rect">
            <a:avLst/>
          </a:prstGeom>
          <a:solidFill>
            <a:srgbClr val="0F4A6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ad3833f70_1_118"/>
          <p:cNvSpPr/>
          <p:nvPr/>
        </p:nvSpPr>
        <p:spPr>
          <a:xfrm>
            <a:off x="6327648" y="4215383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ad3833f70_1_118"/>
          <p:cNvSpPr txBox="1"/>
          <p:nvPr/>
        </p:nvSpPr>
        <p:spPr>
          <a:xfrm>
            <a:off x="6537950" y="4160523"/>
            <a:ext cx="44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RISK_FUSION_WEIGHTS: video_fatigue 0.20 → 0.10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ad3833f70_1_118"/>
          <p:cNvSpPr/>
          <p:nvPr/>
        </p:nvSpPr>
        <p:spPr>
          <a:xfrm>
            <a:off x="6327648" y="4551707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ad3833f70_1_118"/>
          <p:cNvSpPr txBox="1"/>
          <p:nvPr/>
        </p:nvSpPr>
        <p:spPr>
          <a:xfrm>
            <a:off x="6537960" y="4462261"/>
            <a:ext cx="44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VIDEO_FATIGUE_TRUST_FACTOR: 0.50 on R_i (severity × confidence)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ad3833f70_1_118"/>
          <p:cNvSpPr/>
          <p:nvPr/>
        </p:nvSpPr>
        <p:spPr>
          <a:xfrm>
            <a:off x="6327648" y="4837898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ad3833f70_1_118"/>
          <p:cNvSpPr txBox="1"/>
          <p:nvPr/>
        </p:nvSpPr>
        <p:spPr>
          <a:xfrm>
            <a:off x="6537960" y="4764014"/>
            <a:ext cx="44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remains enabled — complementary signal, not dominant.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ad3833f70_1_118"/>
          <p:cNvSpPr/>
          <p:nvPr/>
        </p:nvSpPr>
        <p:spPr>
          <a:xfrm>
            <a:off x="6327648" y="5144142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ad3833f70_1_118"/>
          <p:cNvSpPr txBox="1"/>
          <p:nvPr/>
        </p:nvSpPr>
        <p:spPr>
          <a:xfrm>
            <a:off x="6537935" y="5065804"/>
            <a:ext cx="449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Integration rule: Low Risk = 0 · unavailable modules excluded.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ad3833f70_1_118"/>
          <p:cNvSpPr txBox="1"/>
          <p:nvPr/>
        </p:nvSpPr>
        <p:spPr>
          <a:xfrm>
            <a:off x="457200" y="6473952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  |  Milestone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ad3833f70_1_118"/>
          <p:cNvSpPr txBox="1"/>
          <p:nvPr/>
        </p:nvSpPr>
        <p:spPr>
          <a:xfrm>
            <a:off x="11274552" y="6473952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ad3833f70_1_118"/>
          <p:cNvSpPr txBox="1"/>
          <p:nvPr/>
        </p:nvSpPr>
        <p:spPr>
          <a:xfrm>
            <a:off x="6337869" y="1240250"/>
            <a:ext cx="509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CONFUSION</a:t>
            </a: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MATRIX EVIDENCE</a:t>
            </a:r>
            <a:endParaRPr/>
          </a:p>
        </p:txBody>
      </p:sp>
      <p:sp>
        <p:nvSpPr>
          <p:cNvPr id="335" name="Google Shape;335;g3fad3833f70_1_118"/>
          <p:cNvSpPr txBox="1"/>
          <p:nvPr/>
        </p:nvSpPr>
        <p:spPr>
          <a:xfrm>
            <a:off x="6133100" y="1468850"/>
            <a:ext cx="5296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showed all classes were learnable; locked test set exposed stronger cross-driver variation.</a:t>
            </a:r>
            <a:endParaRPr/>
          </a:p>
        </p:txBody>
      </p:sp>
      <p:sp>
        <p:nvSpPr>
          <p:cNvPr id="336" name="Google Shape;336;g3fad3833f70_1_118"/>
          <p:cNvSpPr txBox="1"/>
          <p:nvPr/>
        </p:nvSpPr>
        <p:spPr>
          <a:xfrm>
            <a:off x="6080750" y="3601062"/>
            <a:ext cx="48921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ROWS: ACTUAL | COLUMNS: PREDICTED</a:t>
            </a:r>
            <a:endParaRPr/>
          </a:p>
        </p:txBody>
      </p:sp>
      <p:sp>
        <p:nvSpPr>
          <p:cNvPr id="337" name="Google Shape;337;g3fad3833f70_1_118"/>
          <p:cNvSpPr txBox="1"/>
          <p:nvPr/>
        </p:nvSpPr>
        <p:spPr>
          <a:xfrm>
            <a:off x="6660000" y="1699991"/>
            <a:ext cx="1571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r>
              <a:rPr b="1" i="0" lang="en-US" sz="8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/>
          </a:p>
        </p:txBody>
      </p:sp>
      <p:graphicFrame>
        <p:nvGraphicFramePr>
          <p:cNvPr id="338" name="Google Shape;338;g3fad3833f70_1_118"/>
          <p:cNvGraphicFramePr/>
          <p:nvPr/>
        </p:nvGraphicFramePr>
        <p:xfrm>
          <a:off x="6327625" y="1846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{94D4CF7E-CC90-4F2E-A55D-E91699A85FAA}</a:tableStyleId>
              </a:tblPr>
              <a:tblGrid>
                <a:gridCol w="560725"/>
                <a:gridCol w="464175"/>
                <a:gridCol w="464175"/>
                <a:gridCol w="580375"/>
              </a:tblGrid>
              <a:tr h="363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A \ 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Ctn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4ADE80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37.0%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27.4%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35.6%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FBBF24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Ctn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40.2%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32.4%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27.4%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F87171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19.9%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13.7%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66.4%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g3fad3833f70_1_118"/>
          <p:cNvSpPr txBox="1"/>
          <p:nvPr/>
        </p:nvSpPr>
        <p:spPr>
          <a:xfrm>
            <a:off x="8951925" y="1690641"/>
            <a:ext cx="1571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b="1" i="0" lang="en-US" sz="82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/>
          </a:p>
        </p:txBody>
      </p:sp>
      <p:graphicFrame>
        <p:nvGraphicFramePr>
          <p:cNvPr id="340" name="Google Shape;340;g3fad3833f70_1_118"/>
          <p:cNvGraphicFramePr/>
          <p:nvPr/>
        </p:nvGraphicFramePr>
        <p:xfrm>
          <a:off x="8831625" y="1846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{94D4CF7E-CC90-4F2E-A55D-E91699A85FAA}</a:tableStyleId>
              </a:tblPr>
              <a:tblGrid>
                <a:gridCol w="580200"/>
                <a:gridCol w="480250"/>
                <a:gridCol w="480250"/>
                <a:gridCol w="600500"/>
              </a:tblGrid>
              <a:tr h="36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A \ 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Ctn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94A3B8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4ADE80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39.8%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2.8%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57.4%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/>
                    </a:solidFill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FBBF24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Ctn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33.9%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34.0%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75" u="none" cap="none" strike="noStrike">
                          <a:solidFill>
                            <a:srgbClr val="F87171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51.8%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22.4%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FFFFFF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25.8%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C5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Integration, Limitations &amp;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"/>
          <p:cNvSpPr/>
          <p:nvPr/>
        </p:nvSpPr>
        <p:spPr>
          <a:xfrm>
            <a:off x="548640" y="1051560"/>
            <a:ext cx="5349240" cy="2331720"/>
          </a:xfrm>
          <a:prstGeom prst="rect">
            <a:avLst/>
          </a:prstGeom>
          <a:solidFill>
            <a:srgbClr val="FDEC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"/>
          <p:cNvSpPr txBox="1"/>
          <p:nvPr/>
        </p:nvSpPr>
        <p:spPr>
          <a:xfrm>
            <a:off x="777240" y="11887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"/>
          <p:cNvSpPr txBox="1"/>
          <p:nvPr/>
        </p:nvSpPr>
        <p:spPr>
          <a:xfrm>
            <a:off x="777240" y="150876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Cross-Driver Generalization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"/>
          <p:cNvSpPr txBox="1"/>
          <p:nvPr/>
        </p:nvSpPr>
        <p:spPr>
          <a:xfrm>
            <a:off x="777240" y="1764792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Locked test accuracy ≈ 33.6% (near 3-class random baseline). Safe ↔ High_Risk confusion dominates on short windows.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"/>
          <p:cNvSpPr txBox="1"/>
          <p:nvPr/>
        </p:nvSpPr>
        <p:spPr>
          <a:xfrm>
            <a:off x="777240" y="233172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Session Label vs Window Mismatch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"/>
          <p:cNvSpPr txBox="1"/>
          <p:nvPr/>
        </p:nvSpPr>
        <p:spPr>
          <a:xfrm>
            <a:off x="777240" y="2587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3.2s windows may not show visible fatigue even when the full session is labeled High_Risk. Research prototype — not safety-certified.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"/>
          <p:cNvSpPr/>
          <p:nvPr/>
        </p:nvSpPr>
        <p:spPr>
          <a:xfrm>
            <a:off x="6080760" y="1051560"/>
            <a:ext cx="5349300" cy="233160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"/>
          <p:cNvSpPr txBox="1"/>
          <p:nvPr/>
        </p:nvSpPr>
        <p:spPr>
          <a:xfrm>
            <a:off x="6309360" y="11887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Integration Status — Deployment 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"/>
          <p:cNvSpPr/>
          <p:nvPr/>
        </p:nvSpPr>
        <p:spPr>
          <a:xfrm>
            <a:off x="6327648" y="1591056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"/>
          <p:cNvSpPr txBox="1"/>
          <p:nvPr/>
        </p:nvSpPr>
        <p:spPr>
          <a:xfrm>
            <a:off x="6537950" y="1536198"/>
            <a:ext cx="449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VideoFatigueAdapter registered in DriverWellnessModuleManager.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"/>
          <p:cNvSpPr/>
          <p:nvPr/>
        </p:nvSpPr>
        <p:spPr>
          <a:xfrm>
            <a:off x="6327648" y="1927379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"/>
          <p:cNvSpPr txBox="1"/>
          <p:nvPr/>
        </p:nvSpPr>
        <p:spPr>
          <a:xfrm>
            <a:off x="6537950" y="1863149"/>
            <a:ext cx="449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Fusion consumes PredictionResult only — no model-specific fusion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"/>
          <p:cNvSpPr/>
          <p:nvPr/>
        </p:nvSpPr>
        <p:spPr>
          <a:xfrm>
            <a:off x="6327648" y="2343912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"/>
          <p:cNvSpPr txBox="1"/>
          <p:nvPr/>
        </p:nvSpPr>
        <p:spPr>
          <a:xfrm>
            <a:off x="6537950" y="2253450"/>
            <a:ext cx="449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Primary: GitHub → Lightning AI → Gradio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"/>
          <p:cNvSpPr/>
          <p:nvPr/>
        </p:nvSpPr>
        <p:spPr>
          <a:xfrm>
            <a:off x="6327648" y="2673090"/>
            <a:ext cx="82200" cy="8220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"/>
          <p:cNvSpPr txBox="1"/>
          <p:nvPr/>
        </p:nvSpPr>
        <p:spPr>
          <a:xfrm>
            <a:off x="6537960" y="2596889"/>
            <a:ext cx="449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Fallback: Kaggle GPU → run_kaggle_gradio_fallback.py → share=True URL.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"/>
          <p:cNvSpPr/>
          <p:nvPr/>
        </p:nvSpPr>
        <p:spPr>
          <a:xfrm>
            <a:off x="548640" y="3520440"/>
            <a:ext cx="5349240" cy="1371600"/>
          </a:xfrm>
          <a:prstGeom prst="rect">
            <a:avLst/>
          </a:prstGeom>
          <a:solidFill>
            <a:srgbClr val="F4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"/>
          <p:cNvSpPr txBox="1"/>
          <p:nvPr/>
        </p:nvSpPr>
        <p:spPr>
          <a:xfrm>
            <a:off x="777240" y="369417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Deployment Footprint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"/>
          <p:cNvSpPr txBox="1"/>
          <p:nvPr/>
        </p:nvSpPr>
        <p:spPr>
          <a:xfrm>
            <a:off x="777240" y="3950208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EfficientNet-B0 + BiLSTM (~7.16M params), ~19.7 ms/window — fast enough for real-time fusion alongside four other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6080760" y="3520440"/>
            <a:ext cx="5349240" cy="1371600"/>
          </a:xfrm>
          <a:prstGeom prst="rect">
            <a:avLst/>
          </a:prstGeom>
          <a:solidFill>
            <a:srgbClr val="0F4A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"/>
          <p:cNvSpPr txBox="1"/>
          <p:nvPr/>
        </p:nvSpPr>
        <p:spPr>
          <a:xfrm>
            <a:off x="6309360" y="365760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"/>
          <p:cNvSpPr txBox="1"/>
          <p:nvPr/>
        </p:nvSpPr>
        <p:spPr>
          <a:xfrm>
            <a:off x="6309360" y="3950208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a standalone decision-maker. Adds temporal fatigue context while fusion down-weights its impact. Functional pipeline · evidence-based selection · honest evaluation · safer fusion behavior.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548640" y="5239512"/>
            <a:ext cx="10881360" cy="530352"/>
          </a:xfrm>
          <a:prstGeom prst="roundRect">
            <a:avLst>
              <a:gd fmla="val 16667" name="adj"/>
            </a:avLst>
          </a:prstGeom>
          <a:solidFill>
            <a:srgbClr val="F1F6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 txBox="1"/>
          <p:nvPr/>
        </p:nvSpPr>
        <p:spPr>
          <a:xfrm>
            <a:off x="713232" y="5294376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NEXT PERFORMANCE LEVERS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"/>
          <p:cNvSpPr txBox="1"/>
          <p:nvPr/>
        </p:nvSpPr>
        <p:spPr>
          <a:xfrm>
            <a:off x="2651760" y="52760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Longer windows  •  Multi-modal fusion  •  More subjects  •  Per-class recall tuning  •  Night/IR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  |  Milestone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02C39A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502920" y="411480"/>
            <a:ext cx="2743200" cy="256032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502920" y="4114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457200" y="82296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Landmark-Based Fatigue Detection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484632" y="153619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EAR · MAR · Head Pose  —  Temporal LSTM Classification  |  Milestone 6 Final Presentation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457200" y="2286000"/>
            <a:ext cx="5486400" cy="3931920"/>
          </a:xfrm>
          <a:prstGeom prst="roundRect">
            <a:avLst>
              <a:gd fmla="val 1628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749808" y="2542032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749808" y="254203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1691640" y="25786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Shiwani Tiwari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691640" y="2880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 — Module Owner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749808" y="3483864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987552" y="3374136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Designed and trained the EAR/MAR/head-pose LSTM fatigue classifier end to end since Milestone 2.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749808" y="4142232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987552" y="4032504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Owned the fix for the TA-flagged action-vs-fatigue-state discrepancy — built and empirically validated the rule that converts predictions into a clinical fatigue state.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749808" y="480060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987552" y="4690872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Ran and reported every M4/M5 experiment for this module: label correction, hyperparameter sweep, threshold sensitivity analysis.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749808" y="545896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987552" y="534924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M6: integrating the module into the live five-model pipeline and validating its output in the Risk Fusion Engine.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172200" y="2286000"/>
            <a:ext cx="5532120" cy="3931920"/>
          </a:xfrm>
          <a:prstGeom prst="roundRect">
            <a:avLst>
              <a:gd fmla="val 1628" name="adj"/>
            </a:avLst>
          </a:prstGeom>
          <a:solidFill>
            <a:srgbClr val="0F4A6E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6446520" y="24871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Module Sits in the System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6446520" y="2907792"/>
            <a:ext cx="4983480" cy="420624"/>
          </a:xfrm>
          <a:prstGeom prst="roundRect">
            <a:avLst>
              <a:gd fmla="val 13043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6629400" y="290779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6446520" y="3410712"/>
            <a:ext cx="4983480" cy="420624"/>
          </a:xfrm>
          <a:prstGeom prst="roundRect">
            <a:avLst>
              <a:gd fmla="val 13043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6629400" y="341071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9464040" y="3410712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6446520" y="3913632"/>
            <a:ext cx="4983480" cy="420624"/>
          </a:xfrm>
          <a:prstGeom prst="roundRect">
            <a:avLst>
              <a:gd fmla="val 13043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6629400" y="391363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6446520" y="4416552"/>
            <a:ext cx="4983480" cy="420624"/>
          </a:xfrm>
          <a:prstGeom prst="roundRect">
            <a:avLst>
              <a:gd fmla="val 13043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6629400" y="441655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446520" y="4919472"/>
            <a:ext cx="4983480" cy="420624"/>
          </a:xfrm>
          <a:prstGeom prst="roundRect">
            <a:avLst>
              <a:gd fmla="val 13043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6629400" y="491947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446520" y="54406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9FC1DA"/>
                </a:solidFill>
                <a:latin typeface="Calibri"/>
                <a:ea typeface="Calibri"/>
                <a:cs typeface="Calibri"/>
                <a:sym typeface="Calibri"/>
              </a:rPr>
              <a:t>↓  weighted fusion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6446520" y="5696712"/>
            <a:ext cx="4983480" cy="384048"/>
          </a:xfrm>
          <a:prstGeom prst="roundRect">
            <a:avLst>
              <a:gd fmla="val 14286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6446520" y="56967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Fusion Engine → Driver Wellness Score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Problem Statement, Pipeline &amp; Starting Baseline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57200" y="1188720"/>
            <a:ext cx="5623560" cy="233172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685800" y="13258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685800" y="160020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Detect driver fatigue in real time from facial video using only geometric signals — no clinical sensors. YawDD only labels physical actions (Normal/Talking/Yawning), not fatigue severity — Milestone 3 trained an action classifier but reported it as if it predicted fatigue state directly.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85800" y="2578608"/>
            <a:ext cx="5212080" cy="822960"/>
          </a:xfrm>
          <a:prstGeom prst="roundRect">
            <a:avLst>
              <a:gd fmla="val 6667" name="adj"/>
            </a:avLst>
          </a:prstGeom>
          <a:solidFill>
            <a:srgbClr val="FDECEC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868680" y="2670048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TA-flagged gap: no fatigue label exists in this dataset to validate against — closed via a documented, empirically-validated rule-based bridge.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263640" y="1188720"/>
            <a:ext cx="5440680" cy="2331720"/>
          </a:xfrm>
          <a:prstGeom prst="roundRect">
            <a:avLst>
              <a:gd fmla="val 2745" name="adj"/>
            </a:avLst>
          </a:prstGeom>
          <a:solidFill>
            <a:srgbClr val="0B3D5C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6537960" y="13716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Milestone 3 Baseline (what this module had to beat)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53796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0A8A8"/>
                </a:solidFill>
                <a:latin typeface="Cambria"/>
                <a:ea typeface="Cambria"/>
                <a:cs typeface="Cambria"/>
                <a:sym typeface="Cambria"/>
              </a:rPr>
              <a:t>40.8%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653796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C1D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909828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0A8A8"/>
                </a:solidFill>
                <a:latin typeface="Cambria"/>
                <a:ea typeface="Cambria"/>
                <a:cs typeface="Cambria"/>
                <a:sym typeface="Cambria"/>
              </a:rPr>
              <a:t>38.4%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909828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FC1DA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6537960" y="28803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4-class model, incl. an invalid 13-video "Talking_Yawning" compound class; every window inherited its whole video's label.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57200" y="3703320"/>
            <a:ext cx="11247120" cy="2514600"/>
          </a:xfrm>
          <a:prstGeom prst="roundRect">
            <a:avLst>
              <a:gd fmla="val 2545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Pipeline Architecture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731520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777240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Video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777240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Raw footage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2148840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2350008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2395728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MediaPipe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395728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Landmarks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3767328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3968496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4014216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 Features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014216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EAR/MAR/Pose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385816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5586984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5632704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45-Frame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Window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632704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Normalized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004304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7205472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7251192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2-Layer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LSTM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7251192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hidden=128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8622792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823960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8869680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Softmax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8869680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0241280" y="452628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0442448" y="4251960"/>
            <a:ext cx="1417320" cy="1051560"/>
          </a:xfrm>
          <a:prstGeom prst="roundRect">
            <a:avLst>
              <a:gd fmla="val 695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0488168" y="4343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Fatigue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Rule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0488168" y="4818888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Alert/Mild/Drowsy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731520" y="54864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5 features (EAR/MAR/Pitch/Yaw/Roll) — already human-interpretable, no CNN backbone needed. A "Yawning" prediction can be checked directly against the raw MAR trace.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Experiments &amp; Final Results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Label correction → hyperparameter sweep → threshold sensitivity analysis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457200" y="1234440"/>
            <a:ext cx="4023360" cy="4983480"/>
          </a:xfrm>
          <a:prstGeom prst="roundRect">
            <a:avLst>
              <a:gd fmla="val 1591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Three Experiments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685800" y="16916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1. Label Structure Fix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685800" y="1947672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Dropped invalid Talking_Yawning class (4.06%). Per-window MAR-peak relabeling for Yawning. → Biggest single driver: +23 pts accuracy.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685800" y="29900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2. Hyperparameter Sweep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685800" y="32461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Window size 20/30/45, hidden units, LR, batch. Selected: window=45, hidden=128, lr=0.0005, batch=32. &lt;2-pt spread across sweep.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685800" y="428853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3. Threshold Sensitivity (M5)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685800" y="4544568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Swept 5/10/15/20% yawn-proportion cutoff against sensitivity/specificity. Shifted 15%→5%: 94.4% drowsiness sensitivity.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685800" y="563270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C7293"/>
                </a:solidFill>
                <a:latin typeface="Courier New"/>
                <a:ea typeface="Courier New"/>
                <a:cs typeface="Courier New"/>
                <a:sym typeface="Courier New"/>
              </a:rPr>
              <a:t>Class-weighted loss:  nn.CrossEntropyLoss([1.477, 1.520, 3.029])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4617720" y="1234440"/>
            <a:ext cx="3520440" cy="498348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484632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Final Test Results (1,400 windows)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5" name="Google Shape;485;p19"/>
          <p:cNvGraphicFramePr/>
          <p:nvPr/>
        </p:nvGraphicFramePr>
        <p:xfrm>
          <a:off x="48463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1005850"/>
                <a:gridCol w="685800"/>
                <a:gridCol w="685800"/>
                <a:gridCol w="73152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Talking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Yawning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6EF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p19"/>
          <p:cNvSpPr/>
          <p:nvPr/>
        </p:nvSpPr>
        <p:spPr>
          <a:xfrm>
            <a:off x="4846320" y="3017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Accuracy 64.1%  |  Macro F1 61.8%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7" name="Google Shape;487;p19"/>
          <p:cNvGraphicFramePr/>
          <p:nvPr/>
        </p:nvGraphicFramePr>
        <p:xfrm>
          <a:off x="4846320" y="3383280"/>
          <a:ext cx="3108960" cy="26517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88" name="Google Shape;488;p19"/>
          <p:cNvSpPr/>
          <p:nvPr/>
        </p:nvSpPr>
        <p:spPr>
          <a:xfrm>
            <a:off x="8366760" y="1234440"/>
            <a:ext cx="3337560" cy="4983480"/>
          </a:xfrm>
          <a:prstGeom prst="roundRect">
            <a:avLst>
              <a:gd fmla="val 1918" name="adj"/>
            </a:avLst>
          </a:prstGeom>
          <a:solidFill>
            <a:srgbClr val="0B3D5C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8595360" y="137160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Confusion Matrix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0" name="Google Shape;490;p19"/>
          <p:cNvGraphicFramePr/>
          <p:nvPr/>
        </p:nvGraphicFramePr>
        <p:xfrm>
          <a:off x="85953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685800"/>
                <a:gridCol w="731525"/>
                <a:gridCol w="731525"/>
                <a:gridCol w="73152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64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527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8A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93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4F70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50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55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5F76"/>
                    </a:solidFill>
                  </a:tcPr>
                </a:tc>
              </a:tr>
            </a:tbl>
          </a:graphicData>
        </a:graphic>
      </p:graphicFrame>
      <p:sp>
        <p:nvSpPr>
          <p:cNvPr id="491" name="Google Shape;491;p19"/>
          <p:cNvSpPr/>
          <p:nvPr/>
        </p:nvSpPr>
        <p:spPr>
          <a:xfrm>
            <a:off x="8595360" y="3063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Threshold Sensitivity (M5)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2" name="Google Shape;492;p19"/>
          <p:cNvGraphicFramePr/>
          <p:nvPr/>
        </p:nvGraphicFramePr>
        <p:xfrm>
          <a:off x="859536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868675"/>
                <a:gridCol w="1005850"/>
                <a:gridCol w="1005850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Thr.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Sens.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Spec.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37A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3D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EF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5EEF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B3D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A6E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19"/>
          <p:cNvSpPr/>
          <p:nvPr/>
        </p:nvSpPr>
        <p:spPr>
          <a:xfrm>
            <a:off x="8595360" y="493776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FC1DA"/>
                </a:solidFill>
                <a:latin typeface="Calibri"/>
                <a:ea typeface="Calibri"/>
                <a:cs typeface="Calibri"/>
                <a:sym typeface="Calibri"/>
              </a:rPr>
              <a:t>5% selected — 15% was strictly dominated by 10% (same false alarms, more missed drowsy drivers).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Error Analysis, Limitations &amp; Milestone 6 Status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457200" y="1188720"/>
            <a:ext cx="5623560" cy="2286000"/>
          </a:xfrm>
          <a:prstGeom prst="roundRect">
            <a:avLst>
              <a:gd fmla="val 2800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685800" y="129844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Error Breakdown (503 misclassified, 35.9%)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4" name="Google Shape;504;p20"/>
          <p:cNvGraphicFramePr/>
          <p:nvPr/>
        </p:nvGraphicFramePr>
        <p:xfrm>
          <a:off x="685800" y="1572768"/>
          <a:ext cx="5166360" cy="1828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05" name="Google Shape;505;p20"/>
          <p:cNvSpPr/>
          <p:nvPr/>
        </p:nvSpPr>
        <p:spPr>
          <a:xfrm>
            <a:off x="457200" y="3611880"/>
            <a:ext cx="5623560" cy="2606040"/>
          </a:xfrm>
          <a:prstGeom prst="roundRect">
            <a:avLst>
              <a:gd fmla="val 2456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685800" y="373075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Root Cause &amp; Known Limitations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685800" y="4087368"/>
            <a:ext cx="91440" cy="9144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914400" y="3968496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Talking→Normal (52.9% of errors) is a label-granularity issue, not model capacity — the per-window fix that worked for Yawning made Talking worse when tried.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685800" y="4617720"/>
            <a:ext cx="91440" cy="9144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914400" y="4498848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Startup latency: needs 45 consecutive valid frames (~1.5-2s) before first prediction.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685800" y="5148072"/>
            <a:ext cx="91440" cy="9144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914400" y="50292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Small threshold-validation set (~54 videos) — a clear trend, not a statistically precise optimum.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685800" y="5678424"/>
            <a:ext cx="91440" cy="9144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914400" y="5559552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Non-deterministic hyperparameter sweep (no fixed seed) — trend is stable, exact numbers vary run to run.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6263640" y="1188720"/>
            <a:ext cx="5440680" cy="2880360"/>
          </a:xfrm>
          <a:prstGeom prst="roundRect">
            <a:avLst>
              <a:gd fmla="val 2222" name="adj"/>
            </a:avLst>
          </a:prstGeom>
          <a:solidFill>
            <a:srgbClr val="0B3D5C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6537960" y="13258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Milestone 6 — Integration Status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6537960" y="169164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Ready: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6537960" y="19202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5EEF3"/>
                </a:solidFill>
                <a:latin typeface="Calibri"/>
                <a:ea typeface="Calibri"/>
                <a:cs typeface="Calibri"/>
                <a:sym typeface="Calibri"/>
              </a:rPr>
              <a:t>• Lightweight LSTM, no CNN backbone  • predict_from_buffer() streaming-ready  • Checkpoint wired into wellness_core.py  • Threshold empirically validated (5%)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6537960" y="265176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7700"/>
                </a:solidFill>
                <a:latin typeface="Calibri"/>
                <a:ea typeface="Calibri"/>
                <a:cs typeface="Calibri"/>
                <a:sym typeface="Calibri"/>
              </a:rPr>
              <a:t>Outstanding: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6537960" y="2880360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5EEF3"/>
                </a:solidFill>
                <a:latin typeface="Calibri"/>
                <a:ea typeface="Calibri"/>
                <a:cs typeface="Calibri"/>
                <a:sym typeface="Calibri"/>
              </a:rPr>
              <a:t>• Wire streaming buffer into live pipeline (joint w/ Kushagra)  • Formal latency/throughput benchmarking  • Confirm weighting in recalibrated Risk Fusion Engine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6263640" y="4206240"/>
            <a:ext cx="544068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27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6492240" y="432511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6492240" y="461772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Fixing what the model was trained to predict (label structure) beat every hyperparameter tuning effort combined — +23 points vs. under 2 points from tuning. Every threshold and formula in this module is now documented and empirically justified, closing every TA-flagged gap from M4.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Landmark-Based Fatigue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Driver Activity Classification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502920" y="12984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MobileNetV3-Large  ·  5-Class Distraction Detection  ·  Edge Deployment</a:t>
            </a:r>
            <a:r>
              <a:rPr b="0" i="0" lang="en-US" sz="130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   —   Milestones 1–6 Summary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502920" y="1828800"/>
            <a:ext cx="6720840" cy="2880360"/>
          </a:xfrm>
          <a:prstGeom prst="roundRect">
            <a:avLst>
              <a:gd fmla="val 1905" name="adj"/>
            </a:avLst>
          </a:prstGeom>
          <a:solidFill>
            <a:srgbClr val="123B56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731520" y="1993392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Module Sits in the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699516" y="2487168"/>
            <a:ext cx="1170432" cy="658368"/>
          </a:xfrm>
          <a:prstGeom prst="roundRect">
            <a:avLst>
              <a:gd fmla="val 6944" name="adj"/>
            </a:avLst>
          </a:prstGeom>
          <a:solidFill>
            <a:srgbClr val="0B3D5C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699516" y="248716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1988820" y="2487168"/>
            <a:ext cx="1170432" cy="658368"/>
          </a:xfrm>
          <a:prstGeom prst="roundRect">
            <a:avLst>
              <a:gd fmla="val 6944" name="adj"/>
            </a:avLst>
          </a:prstGeom>
          <a:solidFill>
            <a:srgbClr val="0B3D5C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1988820" y="248716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3278124" y="2487168"/>
            <a:ext cx="1170432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/>
          <p:cNvSpPr/>
          <p:nvPr/>
        </p:nvSpPr>
        <p:spPr>
          <a:xfrm>
            <a:off x="3278124" y="248716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4567428" y="2487168"/>
            <a:ext cx="1170432" cy="658368"/>
          </a:xfrm>
          <a:prstGeom prst="roundRect">
            <a:avLst>
              <a:gd fmla="val 6944" name="adj"/>
            </a:avLst>
          </a:prstGeom>
          <a:solidFill>
            <a:srgbClr val="0B3D5C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4567428" y="248716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&amp; Phone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5856732" y="2487168"/>
            <a:ext cx="1170432" cy="658368"/>
          </a:xfrm>
          <a:prstGeom prst="roundRect">
            <a:avLst>
              <a:gd fmla="val 6944" name="adj"/>
            </a:avLst>
          </a:prstGeom>
          <a:solidFill>
            <a:srgbClr val="0B3D5C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5856732" y="2487168"/>
            <a:ext cx="11704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Smoking &amp;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3278124" y="320040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731520" y="3456432"/>
            <a:ext cx="6263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↓  risk-weighted fusion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731520" y="3712464"/>
            <a:ext cx="6263640" cy="457200"/>
          </a:xfrm>
          <a:prstGeom prst="roundRect">
            <a:avLst>
              <a:gd fmla="val 10000" name="adj"/>
            </a:avLst>
          </a:prstGeom>
          <a:solidFill>
            <a:srgbClr val="0B3D5C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731520" y="3712464"/>
            <a:ext cx="6263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Risk Fusion Engine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→  Driver Wellness Score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7498080" y="1828800"/>
            <a:ext cx="4190695" cy="2880360"/>
          </a:xfrm>
          <a:prstGeom prst="roundRect">
            <a:avLst>
              <a:gd fmla="val 1905" name="adj"/>
            </a:avLst>
          </a:prstGeom>
          <a:solidFill>
            <a:srgbClr val="123B56"/>
          </a:solidFill>
          <a:ln cap="flat" cmpd="sng" w="12700">
            <a:solidFill>
              <a:srgbClr val="244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7754112" y="2084832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7754112" y="20848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8458200" y="2084832"/>
            <a:ext cx="30019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Shubham Tiwari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8458200" y="2359152"/>
            <a:ext cx="3001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Driver Activity Detection — Module Owner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7754112" y="2816352"/>
            <a:ext cx="36786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Trained MobileNetV3-Large from scratch to classify five in-cabin driver activities in real time.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7754112" y="3456432"/>
            <a:ext cx="3678631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Owned the full M1–M6 arc: literature review, dataset curation, architecture selection, training &amp; tuning, evaluation, and Gradio/Hugging Face deployment.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7754112" y="4224528"/>
            <a:ext cx="3678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Selected MobileNetV3-Large over ResNet50 / EfficientNet-B0 for the best accuracy-per-millisecond trade-off on edge hardware.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636880" y="4956048"/>
            <a:ext cx="260604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636880" y="5047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93.14%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636880" y="548640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3407512" y="4956048"/>
            <a:ext cx="260604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3407512" y="5047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93.00%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3407512" y="548640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6178144" y="4956048"/>
            <a:ext cx="260604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6178144" y="5047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93.00%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6178144" y="548640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8948776" y="4956048"/>
            <a:ext cx="260604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8948776" y="5047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12.5 ms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8948776" y="548640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MobileNetV3 inference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  |  Milestones 1–6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2"/>
          <p:cNvSpPr/>
          <p:nvPr/>
        </p:nvSpPr>
        <p:spPr>
          <a:xfrm>
            <a:off x="457200" y="384048"/>
            <a:ext cx="1554480" cy="274320"/>
          </a:xfrm>
          <a:prstGeom prst="roundRect">
            <a:avLst>
              <a:gd fmla="val 2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/>
          <p:cNvSpPr/>
          <p:nvPr/>
        </p:nvSpPr>
        <p:spPr>
          <a:xfrm>
            <a:off x="457200" y="38404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M1–M3 FOUNDATION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Problem, Literature Review &amp; Architecture Selection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457200" y="1335024"/>
            <a:ext cx="5440680" cy="1280160"/>
          </a:xfrm>
          <a:prstGeom prst="roundRect">
            <a:avLst>
              <a:gd fmla="val 3571" name="adj"/>
            </a:avLst>
          </a:prstGeom>
          <a:solidFill>
            <a:srgbClr val="F4F7FA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/>
          <p:cNvSpPr/>
          <p:nvPr/>
        </p:nvSpPr>
        <p:spPr>
          <a:xfrm>
            <a:off x="658368" y="1463040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658368" y="1755648"/>
            <a:ext cx="503834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Classify 5 in-cabin driver activities (safe driving, texting, talking, turning, other) from a single RGB frame. M1's literature review found rule-based cues (e.g. EAR thresholds) are fast but fragile across lighting and pose — real dashcam footage needs a model that learns visual patterns directly.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6172200" y="1335024"/>
            <a:ext cx="5440680" cy="1280160"/>
          </a:xfrm>
          <a:prstGeom prst="roundRect">
            <a:avLst>
              <a:gd fmla="val 3571" name="adj"/>
            </a:avLst>
          </a:prstGeom>
          <a:solidFill>
            <a:srgbClr val="E5F8F4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6373368" y="1463040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The Approach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6373368" y="1755648"/>
            <a:ext cx="503834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3D"/>
                </a:solidFill>
                <a:latin typeface="Calibri"/>
                <a:ea typeface="Calibri"/>
                <a:cs typeface="Calibri"/>
                <a:sym typeface="Calibri"/>
              </a:rPr>
              <a:t>M2 curated &amp; cleaned the training data (removed 2,969 duplicate + 10 corrupted images via hashing/OpenCV checks). M3 then benchmarked three CNN backbones on a candidate subset and selected MobileNetV3-Large — trading a few accuracy points for a 6× smaller, edge-deployable model.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457200" y="27432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Architecture Selection — Backbone Comparison (M3 Baseline, 20% candidate set)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7" name="Google Shape;587;p22"/>
          <p:cNvGraphicFramePr/>
          <p:nvPr/>
        </p:nvGraphicFramePr>
        <p:xfrm>
          <a:off x="457200" y="299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1600200"/>
                <a:gridCol w="1051550"/>
                <a:gridCol w="1051550"/>
                <a:gridCol w="1051550"/>
                <a:gridCol w="1051550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MobileNetV3 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89.35%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89.74%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89.35%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89.39%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92.32%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92.14%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93.98%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94.08%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93.98%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93.98%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18300" marL="18300" anchor="ctr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8" name="Google Shape;588;p22"/>
          <p:cNvSpPr/>
          <p:nvPr/>
        </p:nvSpPr>
        <p:spPr>
          <a:xfrm>
            <a:off x="457200" y="402336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✓ selected — best accuracy-per-millisecond trade-off for edge deployment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457200" y="4206240"/>
            <a:ext cx="11292840" cy="1234440"/>
          </a:xfrm>
          <a:prstGeom prst="roundRect">
            <a:avLst>
              <a:gd fmla="val 3704" name="adj"/>
            </a:avLst>
          </a:prstGeom>
          <a:solidFill>
            <a:srgbClr val="123B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658368" y="42976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Architecture — M2–M4 Build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1072134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1072134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1072134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M2 curation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2644902" y="4572000"/>
            <a:ext cx="1234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2768346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2768346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Dedup &amp;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2768346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2,969 dup removed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4341114" y="4572000"/>
            <a:ext cx="1234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4464558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4464558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Resize 224² +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4464558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ImageNet stats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6037326" y="4572000"/>
            <a:ext cx="1234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6160770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/>
          <p:cNvSpPr/>
          <p:nvPr/>
        </p:nvSpPr>
        <p:spPr>
          <a:xfrm>
            <a:off x="6160770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MobileNetV3-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Large Backbone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6160770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M3 selection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7733538" y="4572000"/>
            <a:ext cx="1234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7856982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7856982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5-Way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Classifier Head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7856982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9429750" y="4572000"/>
            <a:ext cx="1234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9553194" y="4572000"/>
            <a:ext cx="1572768" cy="530352"/>
          </a:xfrm>
          <a:prstGeom prst="roundRect">
            <a:avLst>
              <a:gd fmla="val 689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2"/>
          <p:cNvSpPr/>
          <p:nvPr/>
        </p:nvSpPr>
        <p:spPr>
          <a:xfrm>
            <a:off x="9553194" y="4572000"/>
            <a:ext cx="15727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Risk Fusion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9553194" y="51206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CE4E8"/>
                </a:solidFill>
                <a:latin typeface="Calibri"/>
                <a:ea typeface="Calibri"/>
                <a:cs typeface="Calibri"/>
                <a:sym typeface="Calibri"/>
              </a:rPr>
              <a:t>Wellness score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457200" y="5522976"/>
            <a:ext cx="11292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B9734"/>
                </a:solidFill>
                <a:latin typeface="Calibri"/>
                <a:ea typeface="Calibri"/>
                <a:cs typeface="Calibri"/>
                <a:sym typeface="Calibri"/>
              </a:rPr>
              <a:t>M1–M3 DESIGN PRINCIPLE   </a:t>
            </a:r>
            <a:r>
              <a:rPr b="0" i="1" lang="en-US" sz="100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Highest offline accuracy isn't the goal — highest accuracy per millisecond, on real edge hardware, is.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365760" y="652881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  |  Milestones 1–6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"/>
          <p:cNvSpPr/>
          <p:nvPr/>
        </p:nvSpPr>
        <p:spPr>
          <a:xfrm>
            <a:off x="457200" y="384048"/>
            <a:ext cx="1874520" cy="274320"/>
          </a:xfrm>
          <a:prstGeom prst="roundRect">
            <a:avLst>
              <a:gd fmla="val 2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3"/>
          <p:cNvSpPr/>
          <p:nvPr/>
        </p:nvSpPr>
        <p:spPr>
          <a:xfrm>
            <a:off x="457200" y="38404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M4–M5 TRAINING &amp; EVAL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Training, Hyperparameter Tuning &amp; Final Results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457200" y="1417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Three Core Improvements (M4)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457200" y="182880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457200" y="18288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896112" y="1801368"/>
            <a:ext cx="4956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Learning-Rate &amp; Optimizer Tuning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896112" y="2075688"/>
            <a:ext cx="4956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Lowering LR from 0.001→0.0003 and switching Adam→AdamW raised validation accuracy from 87.04% to 91.76%.</a:t>
            </a:r>
            <a:endParaRPr b="0" i="0" sz="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3"/>
          <p:cNvSpPr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896112" y="2734056"/>
            <a:ext cx="4956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Regularization Stack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3"/>
          <p:cNvSpPr/>
          <p:nvPr/>
        </p:nvSpPr>
        <p:spPr>
          <a:xfrm>
            <a:off x="896112" y="3008376"/>
            <a:ext cx="4956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Augmentation + label smoothing (α=0.1) + weight decay (0.01) cut the train/val overfitting gap from 12.22% to 0.82%.</a:t>
            </a:r>
            <a:endParaRPr b="0" i="0" sz="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457200" y="3694176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3"/>
          <p:cNvSpPr/>
          <p:nvPr/>
        </p:nvSpPr>
        <p:spPr>
          <a:xfrm>
            <a:off x="457200" y="36941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896112" y="3666744"/>
            <a:ext cx="4956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Cosine Scheduling &amp; Early Stopping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896112" y="3941064"/>
            <a:ext cx="49560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CosineAnnealingWarmRestarts + early stopping (patience=12) reached 94.41% best val accuracy at epoch 25/80 in 11.77 min on a T4 GPU.</a:t>
            </a:r>
            <a:endParaRPr b="0" i="0" sz="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457200" y="4645152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Regularization Impact (Validation Accuracy)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9" name="Google Shape;639;p23"/>
          <p:cNvGraphicFramePr/>
          <p:nvPr/>
        </p:nvGraphicFramePr>
        <p:xfrm>
          <a:off x="457200" y="4919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1524000"/>
                <a:gridCol w="1524000"/>
                <a:gridCol w="152400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Acc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56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Regularization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12.22%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Augmentation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88.76%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Label Smoothing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90.45%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Techniques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94.41%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45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3A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8F4"/>
                    </a:solidFill>
                  </a:tcPr>
                </a:tc>
              </a:tr>
            </a:tbl>
          </a:graphicData>
        </a:graphic>
      </p:graphicFrame>
      <p:sp>
        <p:nvSpPr>
          <p:cNvPr id="640" name="Google Shape;640;p23"/>
          <p:cNvSpPr/>
          <p:nvPr/>
        </p:nvSpPr>
        <p:spPr>
          <a:xfrm>
            <a:off x="6172200" y="141732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Test Results — Per-Class Accuracy (M5 Benchmark)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1" name="Google Shape;641;p23"/>
          <p:cNvGraphicFramePr/>
          <p:nvPr/>
        </p:nvGraphicFramePr>
        <p:xfrm>
          <a:off x="6172200" y="1737360"/>
          <a:ext cx="5577840" cy="2331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42" name="Google Shape;642;p23"/>
          <p:cNvSpPr/>
          <p:nvPr/>
        </p:nvSpPr>
        <p:spPr>
          <a:xfrm>
            <a:off x="6172200" y="4297680"/>
            <a:ext cx="1298448" cy="804672"/>
          </a:xfrm>
          <a:prstGeom prst="roundRect">
            <a:avLst>
              <a:gd fmla="val 5682" name="adj"/>
            </a:avLst>
          </a:prstGeom>
          <a:solidFill>
            <a:srgbClr val="F4F7FA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/>
          <p:nvPr/>
        </p:nvSpPr>
        <p:spPr>
          <a:xfrm>
            <a:off x="6172200" y="438912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93.14%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6208776" y="4791456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7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7598664" y="4297680"/>
            <a:ext cx="1298448" cy="804672"/>
          </a:xfrm>
          <a:prstGeom prst="roundRect">
            <a:avLst>
              <a:gd fmla="val 5682" name="adj"/>
            </a:avLst>
          </a:prstGeom>
          <a:solidFill>
            <a:srgbClr val="F4F7FA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7598664" y="438912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93.00%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7635240" y="4791456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Macro F1-Score</a:t>
            </a:r>
            <a:endParaRPr b="0" i="0" sz="7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9025128" y="4297680"/>
            <a:ext cx="1298448" cy="804672"/>
          </a:xfrm>
          <a:prstGeom prst="roundRect">
            <a:avLst>
              <a:gd fmla="val 5682" name="adj"/>
            </a:avLst>
          </a:prstGeom>
          <a:solidFill>
            <a:srgbClr val="F4F7FA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9025128" y="438912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4.2M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9061704" y="4791456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7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10451592" y="4297680"/>
            <a:ext cx="1298448" cy="804672"/>
          </a:xfrm>
          <a:prstGeom prst="roundRect">
            <a:avLst>
              <a:gd fmla="val 5682" name="adj"/>
            </a:avLst>
          </a:prstGeom>
          <a:solidFill>
            <a:srgbClr val="F4F7FA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3"/>
          <p:cNvSpPr/>
          <p:nvPr/>
        </p:nvSpPr>
        <p:spPr>
          <a:xfrm>
            <a:off x="10451592" y="438912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12.5 ms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10488168" y="4791456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Inference (80 FPS)</a:t>
            </a:r>
            <a:endParaRPr b="0" i="0" sz="7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365760" y="652881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  |  Milestones 1–6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4"/>
          <p:cNvSpPr/>
          <p:nvPr/>
        </p:nvSpPr>
        <p:spPr>
          <a:xfrm>
            <a:off x="457200" y="384048"/>
            <a:ext cx="1188720" cy="274320"/>
          </a:xfrm>
          <a:prstGeom prst="roundRect">
            <a:avLst>
              <a:gd fmla="val 26667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457200" y="384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Integration, Deployment &amp; Limitations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457200" y="141732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FDECEC"/>
          </a:solidFill>
          <a:ln cap="flat" cmpd="sng" w="12700">
            <a:solidFill>
              <a:srgbClr val="F0C4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"/>
          <p:cNvSpPr/>
          <p:nvPr/>
        </p:nvSpPr>
        <p:spPr>
          <a:xfrm>
            <a:off x="658368" y="1545336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62828"/>
                </a:solidFill>
                <a:latin typeface="Cambria"/>
                <a:ea typeface="Cambria"/>
                <a:cs typeface="Cambria"/>
                <a:sym typeface="Cambria"/>
              </a:rPr>
              <a:t>Root Cause &amp; Known Limitations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4"/>
          <p:cNvSpPr/>
          <p:nvPr/>
        </p:nvSpPr>
        <p:spPr>
          <a:xfrm>
            <a:off x="658368" y="1856232"/>
            <a:ext cx="5038344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Single-frame input: </a:t>
            </a:r>
            <a:r>
              <a:rPr b="0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no temporal context, so “turning” is confused with “safe driving” in 19 cases — steering motion only shows across frames.</a:t>
            </a:r>
            <a:br>
              <a:rPr b="0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“Other activities” catch-all: </a:t>
            </a:r>
            <a:r>
              <a:rPr b="0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lowest per-class accuracy (89.89%) from high intra-class visual variance.</a:t>
            </a:r>
            <a:br>
              <a:rPr b="0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Deployment blocked: </a:t>
            </a:r>
            <a:r>
              <a:rPr b="0" i="0" lang="en-US" sz="1000" u="none" cap="none" strike="noStrike">
                <a:solidFill>
                  <a:srgbClr val="5C2323"/>
                </a:solidFill>
                <a:latin typeface="Calibri"/>
                <a:ea typeface="Calibri"/>
                <a:cs typeface="Calibri"/>
                <a:sym typeface="Calibri"/>
              </a:rPr>
              <a:t>Hugging Face Space runtime inference blocked by a ZeroGPU quota limit at M6 time of writing.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4"/>
          <p:cNvSpPr/>
          <p:nvPr/>
        </p:nvSpPr>
        <p:spPr>
          <a:xfrm>
            <a:off x="6172200" y="1417320"/>
            <a:ext cx="5440680" cy="2057400"/>
          </a:xfrm>
          <a:prstGeom prst="roundRect">
            <a:avLst>
              <a:gd fmla="val 2222" name="adj"/>
            </a:avLst>
          </a:prstGeom>
          <a:solidFill>
            <a:srgbClr val="123B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4"/>
          <p:cNvSpPr/>
          <p:nvPr/>
        </p:nvSpPr>
        <p:spPr>
          <a:xfrm>
            <a:off x="6373368" y="1545336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Integration Status — Deployment Ready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4"/>
          <p:cNvSpPr/>
          <p:nvPr/>
        </p:nvSpPr>
        <p:spPr>
          <a:xfrm>
            <a:off x="6373368" y="1856232"/>
            <a:ext cx="5038344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DriverActivityAdapter 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registered in the shared DriverWellnessModuleManager — standardized PredictionResult contract, no model-specific glue code.</a:t>
            </a:r>
            <a:b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Gradio “Cockpit HUD” 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interface: recorded-video + live-webcam tabs with an SVG risk gauge.</a:t>
            </a:r>
            <a:b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&amp; speed preserved: 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93.14% accuracy and 12.5 ms / 80 FPS unchanged from standalone to integrated system.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457200" y="3703320"/>
            <a:ext cx="5440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457200" y="3995928"/>
            <a:ext cx="5440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B3A45"/>
                </a:solidFill>
                <a:latin typeface="Calibri"/>
                <a:ea typeface="Calibri"/>
                <a:cs typeface="Calibri"/>
                <a:sym typeface="Calibri"/>
              </a:rPr>
              <a:t>Across M1–M6, the Driver Activity module moved from a literature-driven design choice to a fully trained, tuned, and integrated MobileNetV3-Large classifier — 93.14% test accuracy at 12.5 ms/frame — wired into the Risk Fusion Engine (20% weight) and shipped behind a Gradio demo, with Hugging Face deployment the one open item.</a:t>
            </a:r>
            <a:endParaRPr b="0" i="0" sz="10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6172200" y="370332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Why MobileNetV3? — Backbone Comparison (M5)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3" name="Google Shape;673;p24"/>
          <p:cNvGraphicFramePr/>
          <p:nvPr/>
        </p:nvGraphicFramePr>
        <p:xfrm>
          <a:off x="6172200" y="3977640"/>
          <a:ext cx="5577840" cy="1874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74" name="Google Shape;674;p24"/>
          <p:cNvSpPr/>
          <p:nvPr/>
        </p:nvSpPr>
        <p:spPr>
          <a:xfrm>
            <a:off x="457200" y="6016752"/>
            <a:ext cx="11292840" cy="384048"/>
          </a:xfrm>
          <a:prstGeom prst="roundRect">
            <a:avLst>
              <a:gd fmla="val 11905" name="adj"/>
            </a:avLst>
          </a:prstGeom>
          <a:solidFill>
            <a:srgbClr val="1A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457200" y="6016752"/>
            <a:ext cx="11292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B9734"/>
                </a:solidFill>
                <a:latin typeface="Calibri"/>
                <a:ea typeface="Calibri"/>
                <a:cs typeface="Calibri"/>
                <a:sym typeface="Calibri"/>
              </a:rPr>
              <a:t>NEXT PERFORMANCE LEVERS 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modeling (LSTM/TCN)  •  INT8 quantization  •  Knowledge distillation  •  WebRTC live streaming  •  Mobile deployment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365760" y="652881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  |  Milestones 1–6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5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Seat Belt &amp; Phone Usage Detection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5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YOLOv8n  ·  Class-Agnostic NMS  ·  Temporal Consensus   —   Milestone 6 Final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548640" y="196596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0F4A6E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5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5"/>
          <p:cNvSpPr/>
          <p:nvPr/>
        </p:nvSpPr>
        <p:spPr>
          <a:xfrm>
            <a:off x="822960" y="2240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SS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1828800" y="22128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Sohini Sarkar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1828800" y="2514600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Seat Belt &amp; Phone Detection — Module Owner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5"/>
          <p:cNvSpPr/>
          <p:nvPr/>
        </p:nvSpPr>
        <p:spPr>
          <a:xfrm>
            <a:off x="566928" y="3593592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5"/>
          <p:cNvSpPr/>
          <p:nvPr/>
        </p:nvSpPr>
        <p:spPr>
          <a:xfrm>
            <a:off x="777240" y="352044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Designed and trained the YOLOv8n detection pipeline for seatbelt compliance and phone-distraction monitoring.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566928" y="4169664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5"/>
          <p:cNvSpPr/>
          <p:nvPr/>
        </p:nvSpPr>
        <p:spPr>
          <a:xfrm>
            <a:off x="777240" y="409651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Owned M6 deployment fixes: Gamma 1.4 lighting correction and confidence-floor tuning to resolve the overlapping ‘seesaw’ effect.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5"/>
          <p:cNvSpPr/>
          <p:nvPr/>
        </p:nvSpPr>
        <p:spPr>
          <a:xfrm>
            <a:off x="566928" y="4745736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777240" y="4672584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Decoupled per-class confidence floors and tightened temporal buffers.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5"/>
          <p:cNvSpPr/>
          <p:nvPr/>
        </p:nvSpPr>
        <p:spPr>
          <a:xfrm>
            <a:off x="5989320" y="196596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Module Sits in the System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5"/>
          <p:cNvSpPr/>
          <p:nvPr/>
        </p:nvSpPr>
        <p:spPr>
          <a:xfrm>
            <a:off x="5989320" y="2423160"/>
            <a:ext cx="1005840" cy="868680"/>
          </a:xfrm>
          <a:prstGeom prst="roundRect">
            <a:avLst>
              <a:gd fmla="val 6316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5989320" y="24231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5"/>
          <p:cNvSpPr/>
          <p:nvPr/>
        </p:nvSpPr>
        <p:spPr>
          <a:xfrm>
            <a:off x="7123176" y="2423160"/>
            <a:ext cx="1005840" cy="868680"/>
          </a:xfrm>
          <a:prstGeom prst="roundRect">
            <a:avLst>
              <a:gd fmla="val 6316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7123176" y="24231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8257032" y="2423160"/>
            <a:ext cx="1005840" cy="868680"/>
          </a:xfrm>
          <a:prstGeom prst="roundRect">
            <a:avLst>
              <a:gd fmla="val 6316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8257032" y="24231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9390888" y="2423160"/>
            <a:ext cx="1005840" cy="868680"/>
          </a:xfrm>
          <a:prstGeom prst="roundRect">
            <a:avLst>
              <a:gd fmla="val 6316" name="adj"/>
            </a:avLst>
          </a:prstGeom>
          <a:solidFill>
            <a:srgbClr val="02C39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9390888" y="24231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&amp; Phone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10524744" y="2423160"/>
            <a:ext cx="1005840" cy="868680"/>
          </a:xfrm>
          <a:prstGeom prst="roundRect">
            <a:avLst>
              <a:gd fmla="val 6316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10524744" y="24231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&amp;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Drinking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9253728" y="334670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YOU ARE HERE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8257032" y="3606801"/>
            <a:ext cx="1816100" cy="411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↓  risk-weighted fusion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5989320" y="4023360"/>
            <a:ext cx="5669280" cy="914400"/>
          </a:xfrm>
          <a:prstGeom prst="roundRect">
            <a:avLst>
              <a:gd fmla="val 8000" name="adj"/>
            </a:avLst>
          </a:prstGeom>
          <a:solidFill>
            <a:srgbClr val="0B3D5C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6172200" y="402336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Risk Fusion Engine  →  Driver Wellness Score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Seat Belt &amp; Phone Usage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3264408" y="5705856"/>
            <a:ext cx="13258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3264408" y="5705856"/>
            <a:ext cx="54864" cy="603504"/>
          </a:xfrm>
          <a:prstGeom prst="rect">
            <a:avLst/>
          </a:prstGeom>
          <a:solidFill>
            <a:srgbClr val="02C39A"/>
          </a:solidFill>
          <a:ln cap="flat" cmpd="sng" w="9525">
            <a:solidFill>
              <a:srgbClr val="02C39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5"/>
          <p:cNvSpPr txBox="1"/>
          <p:nvPr/>
        </p:nvSpPr>
        <p:spPr>
          <a:xfrm>
            <a:off x="3410712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0.953</a:t>
            </a:r>
            <a:endParaRPr/>
          </a:p>
        </p:txBody>
      </p:sp>
      <p:sp>
        <p:nvSpPr>
          <p:cNvPr id="717" name="Google Shape;717;p25"/>
          <p:cNvSpPr txBox="1"/>
          <p:nvPr/>
        </p:nvSpPr>
        <p:spPr>
          <a:xfrm>
            <a:off x="3410712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F707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/>
          </a:p>
        </p:txBody>
      </p:sp>
      <p:sp>
        <p:nvSpPr>
          <p:cNvPr id="718" name="Google Shape;718;p25"/>
          <p:cNvSpPr/>
          <p:nvPr/>
        </p:nvSpPr>
        <p:spPr>
          <a:xfrm>
            <a:off x="4654296" y="5705856"/>
            <a:ext cx="13258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5"/>
          <p:cNvSpPr/>
          <p:nvPr/>
        </p:nvSpPr>
        <p:spPr>
          <a:xfrm>
            <a:off x="4654296" y="5705856"/>
            <a:ext cx="54864" cy="603504"/>
          </a:xfrm>
          <a:prstGeom prst="rect">
            <a:avLst/>
          </a:prstGeom>
          <a:solidFill>
            <a:srgbClr val="02C39A"/>
          </a:solidFill>
          <a:ln cap="flat" cmpd="sng" w="9525">
            <a:solidFill>
              <a:srgbClr val="02C39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5"/>
          <p:cNvSpPr txBox="1"/>
          <p:nvPr/>
        </p:nvSpPr>
        <p:spPr>
          <a:xfrm>
            <a:off x="4800600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0.937</a:t>
            </a:r>
            <a:endParaRPr/>
          </a:p>
        </p:txBody>
      </p:sp>
      <p:sp>
        <p:nvSpPr>
          <p:cNvPr id="721" name="Google Shape;721;p25"/>
          <p:cNvSpPr txBox="1"/>
          <p:nvPr/>
        </p:nvSpPr>
        <p:spPr>
          <a:xfrm>
            <a:off x="4800600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F707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722" name="Google Shape;722;p25"/>
          <p:cNvSpPr/>
          <p:nvPr/>
        </p:nvSpPr>
        <p:spPr>
          <a:xfrm>
            <a:off x="6044184" y="5705856"/>
            <a:ext cx="13258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6044184" y="5705856"/>
            <a:ext cx="54864" cy="603504"/>
          </a:xfrm>
          <a:prstGeom prst="rect">
            <a:avLst/>
          </a:prstGeom>
          <a:solidFill>
            <a:srgbClr val="02C39A"/>
          </a:solidFill>
          <a:ln cap="flat" cmpd="sng" w="9525">
            <a:solidFill>
              <a:srgbClr val="02C39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5"/>
          <p:cNvSpPr txBox="1"/>
          <p:nvPr/>
        </p:nvSpPr>
        <p:spPr>
          <a:xfrm>
            <a:off x="6190488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0.907</a:t>
            </a:r>
            <a:endParaRPr/>
          </a:p>
        </p:txBody>
      </p:sp>
      <p:sp>
        <p:nvSpPr>
          <p:cNvPr id="725" name="Google Shape;725;p25"/>
          <p:cNvSpPr txBox="1"/>
          <p:nvPr/>
        </p:nvSpPr>
        <p:spPr>
          <a:xfrm>
            <a:off x="6190488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F707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7434072" y="5705856"/>
            <a:ext cx="1325880" cy="6035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5"/>
          <p:cNvSpPr/>
          <p:nvPr/>
        </p:nvSpPr>
        <p:spPr>
          <a:xfrm>
            <a:off x="7434072" y="5705856"/>
            <a:ext cx="54864" cy="603504"/>
          </a:xfrm>
          <a:prstGeom prst="rect">
            <a:avLst/>
          </a:prstGeom>
          <a:solidFill>
            <a:srgbClr val="EB9734"/>
          </a:solidFill>
          <a:ln cap="flat" cmpd="sng" w="9525">
            <a:solidFill>
              <a:srgbClr val="EB9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5"/>
          <p:cNvSpPr txBox="1"/>
          <p:nvPr/>
        </p:nvSpPr>
        <p:spPr>
          <a:xfrm>
            <a:off x="7580376" y="5833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~10 ms</a:t>
            </a:r>
            <a:endParaRPr b="1" i="0" sz="1800" u="none" cap="none" strike="noStrike">
              <a:solidFill>
                <a:srgbClr val="123B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 txBox="1"/>
          <p:nvPr/>
        </p:nvSpPr>
        <p:spPr>
          <a:xfrm>
            <a:off x="7580376" y="613562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F707C"/>
                </a:solidFill>
                <a:latin typeface="Calibri"/>
                <a:ea typeface="Calibri"/>
                <a:cs typeface="Calibri"/>
                <a:sym typeface="Calibri"/>
              </a:rPr>
              <a:t>YOLOv8n inference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6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Problem Statement, Pipeline &amp; Baseline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548640" y="105156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F4F7FA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6"/>
          <p:cNvSpPr/>
          <p:nvPr/>
        </p:nvSpPr>
        <p:spPr>
          <a:xfrm>
            <a:off x="777240" y="118872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777240" y="1508760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Detect seatbelt compliance and phone-distraction in highly variable in-cabin lighting. Raw per-frame detection isn't enough – real footage flickers and boxes overlap.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6"/>
          <p:cNvSpPr/>
          <p:nvPr/>
        </p:nvSpPr>
        <p:spPr>
          <a:xfrm>
            <a:off x="6080760" y="105156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0F4A6E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6309360" y="118872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6309360" y="1508760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streaming pipeline that corrects lighting, applies per-class confidence floors, and requires temporal consensus before alerting – turning a noisy per-frame detector into a stable state machine.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548640" y="28346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Pipeline Architecture  —  Current Integration Build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548640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548640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Frame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6"/>
          <p:cNvSpPr/>
          <p:nvPr/>
        </p:nvSpPr>
        <p:spPr>
          <a:xfrm>
            <a:off x="548640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Raw footage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1920240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2066544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6"/>
          <p:cNvSpPr/>
          <p:nvPr/>
        </p:nvSpPr>
        <p:spPr>
          <a:xfrm>
            <a:off x="2066544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Gamma 1.4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2066544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Lighting fix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3438144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3584448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3584448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1280px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Letterbox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3584448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6"/>
          <p:cNvSpPr/>
          <p:nvPr/>
        </p:nvSpPr>
        <p:spPr>
          <a:xfrm>
            <a:off x="4956048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5102352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6"/>
          <p:cNvSpPr/>
          <p:nvPr/>
        </p:nvSpPr>
        <p:spPr>
          <a:xfrm>
            <a:off x="5102352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conf=0.10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6"/>
          <p:cNvSpPr/>
          <p:nvPr/>
        </p:nvSpPr>
        <p:spPr>
          <a:xfrm>
            <a:off x="5102352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6"/>
          <p:cNvSpPr/>
          <p:nvPr/>
        </p:nvSpPr>
        <p:spPr>
          <a:xfrm>
            <a:off x="6473952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6"/>
          <p:cNvSpPr/>
          <p:nvPr/>
        </p:nvSpPr>
        <p:spPr>
          <a:xfrm>
            <a:off x="6620256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6"/>
          <p:cNvSpPr/>
          <p:nvPr/>
        </p:nvSpPr>
        <p:spPr>
          <a:xfrm>
            <a:off x="6620256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Per-Class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Floors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6"/>
          <p:cNvSpPr/>
          <p:nvPr/>
        </p:nvSpPr>
        <p:spPr>
          <a:xfrm>
            <a:off x="6620256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0.15 / 0.20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6"/>
          <p:cNvSpPr/>
          <p:nvPr/>
        </p:nvSpPr>
        <p:spPr>
          <a:xfrm>
            <a:off x="7991856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6"/>
          <p:cNvSpPr/>
          <p:nvPr/>
        </p:nvSpPr>
        <p:spPr>
          <a:xfrm>
            <a:off x="8138160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1353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6"/>
          <p:cNvSpPr/>
          <p:nvPr/>
        </p:nvSpPr>
        <p:spPr>
          <a:xfrm>
            <a:off x="8138160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Consensus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6"/>
          <p:cNvSpPr/>
          <p:nvPr/>
        </p:nvSpPr>
        <p:spPr>
          <a:xfrm>
            <a:off x="8138160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0.5s window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9509760" y="3291840"/>
            <a:ext cx="146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9656064" y="3291840"/>
            <a:ext cx="1371600" cy="777240"/>
          </a:xfrm>
          <a:prstGeom prst="roundRect">
            <a:avLst>
              <a:gd fmla="val 5882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9656064" y="329184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4-State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Map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9656064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Phone/Belt/Both/None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6"/>
          <p:cNvSpPr/>
          <p:nvPr/>
        </p:nvSpPr>
        <p:spPr>
          <a:xfrm>
            <a:off x="548640" y="4709160"/>
            <a:ext cx="10881360" cy="1188720"/>
          </a:xfrm>
          <a:prstGeom prst="roundRect">
            <a:avLst>
              <a:gd fmla="val 6154" name="adj"/>
            </a:avLst>
          </a:prstGeom>
          <a:solidFill>
            <a:srgbClr val="E3E9ED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6"/>
          <p:cNvSpPr/>
          <p:nvPr/>
        </p:nvSpPr>
        <p:spPr>
          <a:xfrm>
            <a:off x="777240" y="484632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Lightweight YOLOv8n backbone (~3.2M params, ~10ms/frame). Since M6, live-video testing surfaced a new failure mode – a phone-holding arm being flagged as a seatbelt; so, the latest integration build turns Class-Agnostic NMS off and instead relies on per-class confidence floors (Phone ≥ 0.15, Seatbelt ≥ 0.20) plus a 0.5s temporal-consensus window (30% activation / 20% release hysteresis) to stabilize detections.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Seat Belt &amp; Phone Usage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1920240" y="5482373"/>
            <a:ext cx="8008620" cy="320040"/>
          </a:xfrm>
          <a:prstGeom prst="roundRect">
            <a:avLst>
              <a:gd fmla="val 16667" name="adj"/>
            </a:avLst>
          </a:prstGeom>
          <a:solidFill>
            <a:srgbClr val="E5F8F4"/>
          </a:solidFill>
          <a:ln cap="flat" cmpd="sng" w="9525">
            <a:solidFill>
              <a:srgbClr val="02C39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6"/>
          <p:cNvSpPr txBox="1"/>
          <p:nvPr/>
        </p:nvSpPr>
        <p:spPr>
          <a:xfrm>
            <a:off x="2084832" y="5504653"/>
            <a:ext cx="1222991" cy="223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M6 DESIGN PRINCIPLE</a:t>
            </a:r>
            <a:endParaRPr/>
          </a:p>
        </p:txBody>
      </p:sp>
      <p:sp>
        <p:nvSpPr>
          <p:cNvPr id="776" name="Google Shape;776;p26"/>
          <p:cNvSpPr txBox="1"/>
          <p:nvPr/>
        </p:nvSpPr>
        <p:spPr>
          <a:xfrm>
            <a:off x="3538728" y="5474318"/>
            <a:ext cx="6272761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Don’t alert on a single noisy frame – correct → filter → stabilize → classify.</a:t>
            </a:r>
            <a:endParaRPr/>
          </a:p>
        </p:txBody>
      </p:sp>
      <p:sp>
        <p:nvSpPr>
          <p:cNvPr id="777" name="Google Shape;777;p26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 cap="flat" cmpd="sng" w="9525">
            <a:solidFill>
              <a:srgbClr val="123B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7"/>
          <p:cNvSpPr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Experiments &amp; Final Results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548640" y="82296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M6 confidence-floor tuning → temporal-buffer tuning → post-M6 NMS reversal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7"/>
          <p:cNvSpPr/>
          <p:nvPr/>
        </p:nvSpPr>
        <p:spPr>
          <a:xfrm>
            <a:off x="548640" y="123444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4F7FA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777240" y="137160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Three Core M6 Enhancements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7"/>
          <p:cNvSpPr/>
          <p:nvPr/>
        </p:nvSpPr>
        <p:spPr>
          <a:xfrm>
            <a:off x="777240" y="173736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1. Confidence Floor Tuning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7"/>
          <p:cNvSpPr/>
          <p:nvPr/>
        </p:nvSpPr>
        <p:spPr>
          <a:xfrm>
            <a:off x="777240" y="1993392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Raised the Seatbelt confidence floor to eliminate low-confidence false positives from earphone-wire micro-artifacts.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7"/>
          <p:cNvSpPr/>
          <p:nvPr/>
        </p:nvSpPr>
        <p:spPr>
          <a:xfrm>
            <a:off x="777240" y="2542032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2. Buffer Flushing (Temporal)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7"/>
          <p:cNvSpPr/>
          <p:nvPr/>
        </p:nvSpPr>
        <p:spPr>
          <a:xfrm>
            <a:off x="777240" y="2798064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Replaced a fixed grace-frame counter with a 0.5s sliding-window consensus filter (30% activation / 20% release), so transient flicker is flushed immediately.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7"/>
          <p:cNvSpPr/>
          <p:nvPr/>
        </p:nvSpPr>
        <p:spPr>
          <a:xfrm>
            <a:off x="777240" y="3401568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77700"/>
                </a:solidFill>
                <a:latin typeface="Calibri"/>
                <a:ea typeface="Calibri"/>
                <a:cs typeface="Calibri"/>
                <a:sym typeface="Calibri"/>
              </a:rPr>
              <a:t>3. The ‘Seesaw’ Fix – Reversed Post-M6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7"/>
          <p:cNvSpPr/>
          <p:nvPr/>
        </p:nvSpPr>
        <p:spPr>
          <a:xfrm>
            <a:off x="777240" y="3657600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Class-Agnostic NMS solved M6's overlapping-box problem, but later testing found it could suppress genuine Phone boxes near a Seatbelt box. The current build turns it off and leans on per-class floors + augmented inference instead.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7"/>
          <p:cNvSpPr/>
          <p:nvPr/>
        </p:nvSpPr>
        <p:spPr>
          <a:xfrm>
            <a:off x="777240" y="4434840"/>
            <a:ext cx="48920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7"/>
          <p:cNvSpPr/>
          <p:nvPr/>
        </p:nvSpPr>
        <p:spPr>
          <a:xfrm>
            <a:off x="960120" y="45262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Why per-class floors instead of one global value?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7"/>
          <p:cNvSpPr/>
          <p:nvPr/>
        </p:nvSpPr>
        <p:spPr>
          <a:xfrm>
            <a:off x="960120" y="4800600"/>
            <a:ext cx="4526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Phone needs an ultra-low floor (0.15) to pierce shadows; Seatbelt needs a strict floor (0.20) to reject sunlight glare – one shared threshold under-served both classes.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7"/>
          <p:cNvSpPr/>
          <p:nvPr/>
        </p:nvSpPr>
        <p:spPr>
          <a:xfrm>
            <a:off x="6080760" y="123444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Test Results — M6 Benchmark (Notebook Test Set)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8" name="Google Shape;798;p27"/>
          <p:cNvGraphicFramePr/>
          <p:nvPr/>
        </p:nvGraphicFramePr>
        <p:xfrm>
          <a:off x="6080760" y="1554480"/>
          <a:ext cx="5349240" cy="1965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99" name="Google Shape;799;p27"/>
          <p:cNvSpPr/>
          <p:nvPr/>
        </p:nvSpPr>
        <p:spPr>
          <a:xfrm>
            <a:off x="6080760" y="361188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F707C"/>
                </a:solidFill>
                <a:latin typeface="Calibri"/>
                <a:ea typeface="Calibri"/>
                <a:cs typeface="Calibri"/>
                <a:sym typeface="Calibri"/>
              </a:rPr>
              <a:t>BENCHMARK NOTE  •  0.953 mAP@50 / 0.937 precision are the M6 notebook-test results; the post-M6 NMS reversal was a streaming-robustness decision.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7"/>
          <p:cNvSpPr/>
          <p:nvPr/>
        </p:nvSpPr>
        <p:spPr>
          <a:xfrm>
            <a:off x="6080760" y="416052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Current Integration Config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1" name="Google Shape;801;p27"/>
          <p:cNvGraphicFramePr/>
          <p:nvPr/>
        </p:nvGraphicFramePr>
        <p:xfrm>
          <a:off x="6080760" y="4480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{EBEDF552-9A16-4EDE-90C8-7844649D4FDF}</a:tableStyleId>
              </a:tblPr>
              <a:tblGrid>
                <a:gridCol w="3108950"/>
                <a:gridCol w="2240275"/>
              </a:tblGrid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5C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YOLO conf / IoU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 / 0.40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confidence floor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Seatbelt confidence floor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0.20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window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0.5s (ON 30% / OFF 20%)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Class-Agnostic NMS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(reversed post-M6)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Augmented inference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2" name="Google Shape;802;p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Seat Belt &amp; Phone Usage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7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 cap="flat" cmpd="sng" w="9525">
            <a:solidFill>
              <a:srgbClr val="123B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7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8"/>
          <p:cNvSpPr/>
          <p:nvPr/>
        </p:nvSpPr>
        <p:spPr>
          <a:xfrm>
            <a:off x="548640" y="105156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FDECEC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777240" y="11887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62828"/>
                </a:solidFill>
                <a:latin typeface="Cambria"/>
                <a:ea typeface="Cambria"/>
                <a:cs typeface="Cambria"/>
                <a:sym typeface="Cambria"/>
              </a:rPr>
              <a:t>Root Cause &amp; Known Limitations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777240" y="150876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Lighting Glare &amp; Domain Shift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777240" y="1764792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Extreme sunlight washes out seatbelt straps. Lack of heavy nighttime / IR imagery remains an active system limitation.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8"/>
          <p:cNvSpPr/>
          <p:nvPr/>
        </p:nvSpPr>
        <p:spPr>
          <a:xfrm>
            <a:off x="777240" y="233172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Notebook-Test Benchmark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777240" y="2587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The 0.953 mAP score is a notebook benchmark, prioritizing integrated streaming robustness over a strictly held-out static test score.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548640" y="35204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F4F7FA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777240" y="365760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8"/>
          <p:cNvSpPr/>
          <p:nvPr/>
        </p:nvSpPr>
        <p:spPr>
          <a:xfrm>
            <a:off x="777240" y="3950208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Lightweight YOLOv8n (~3.2M params), ~10ms/frame – fast enough for real-time in-cabin inference alongside the other four models in the fused pipeline.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6080760" y="3520440"/>
            <a:ext cx="5349240" cy="1371600"/>
          </a:xfrm>
          <a:prstGeom prst="roundRect">
            <a:avLst>
              <a:gd fmla="val 5333" name="adj"/>
            </a:avLst>
          </a:prstGeom>
          <a:solidFill>
            <a:srgbClr val="0F4A6E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8"/>
          <p:cNvSpPr/>
          <p:nvPr/>
        </p:nvSpPr>
        <p:spPr>
          <a:xfrm>
            <a:off x="6309360" y="365760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6309360" y="3950208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M6 fix – the confidence floors, the sliding-window buffer, and the (since reversed) Class-Agnostic NMS. Test result reached 0.953 mAP@50, and the Risk Fusion severity audit ensures safe driving is never mathematically penalized. The M6 work shifted the detector from raw frame predictions toward a more stable, class-aware streaming decision process.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Seat Belt &amp; Phone Usage Detection  |  Milestone 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548640" y="5236464"/>
            <a:ext cx="9281160" cy="530352"/>
          </a:xfrm>
          <a:prstGeom prst="roundRect">
            <a:avLst>
              <a:gd fmla="val 16667" name="adj"/>
            </a:avLst>
          </a:prstGeom>
          <a:solidFill>
            <a:srgbClr val="F1F6F8"/>
          </a:solidFill>
          <a:ln cap="flat" cmpd="sng" w="9525">
            <a:solidFill>
              <a:srgbClr val="DCE4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8"/>
          <p:cNvSpPr txBox="1"/>
          <p:nvPr/>
        </p:nvSpPr>
        <p:spPr>
          <a:xfrm>
            <a:off x="713232" y="529132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123B56"/>
                </a:solidFill>
                <a:latin typeface="Calibri"/>
                <a:ea typeface="Calibri"/>
                <a:cs typeface="Calibri"/>
                <a:sym typeface="Calibri"/>
              </a:rPr>
              <a:t>NEXT PERFORMANCE LEVERS</a:t>
            </a:r>
            <a:endParaRPr/>
          </a:p>
        </p:txBody>
      </p:sp>
      <p:sp>
        <p:nvSpPr>
          <p:cNvPr id="827" name="Google Shape;827;p28"/>
          <p:cNvSpPr txBox="1"/>
          <p:nvPr/>
        </p:nvSpPr>
        <p:spPr>
          <a:xfrm>
            <a:off x="2468880" y="5273040"/>
            <a:ext cx="6995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Night/IR data  •  Adaptive exposure  •  Threshold calibration  •  Track-level temporal voting</a:t>
            </a:r>
            <a:endParaRPr/>
          </a:p>
        </p:txBody>
      </p:sp>
      <p:sp>
        <p:nvSpPr>
          <p:cNvPr id="828" name="Google Shape;828;p28"/>
          <p:cNvSpPr/>
          <p:nvPr/>
        </p:nvSpPr>
        <p:spPr>
          <a:xfrm>
            <a:off x="9784080" y="310896"/>
            <a:ext cx="960120" cy="274320"/>
          </a:xfrm>
          <a:prstGeom prst="roundRect">
            <a:avLst>
              <a:gd fmla="val 16667" name="adj"/>
            </a:avLst>
          </a:prstGeom>
          <a:solidFill>
            <a:srgbClr val="123B56"/>
          </a:solidFill>
          <a:ln cap="flat" cmpd="sng" w="9525">
            <a:solidFill>
              <a:srgbClr val="123B5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8"/>
          <p:cNvSpPr txBox="1"/>
          <p:nvPr/>
        </p:nvSpPr>
        <p:spPr>
          <a:xfrm>
            <a:off x="9820656" y="320040"/>
            <a:ext cx="886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M6 FINAL</a:t>
            </a:r>
            <a:endParaRPr/>
          </a:p>
        </p:txBody>
      </p:sp>
      <p:sp>
        <p:nvSpPr>
          <p:cNvPr id="830" name="Google Shape;830;p28"/>
          <p:cNvSpPr/>
          <p:nvPr/>
        </p:nvSpPr>
        <p:spPr>
          <a:xfrm>
            <a:off x="6080760" y="105156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0B3D5C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6309360" y="11887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Integration Status – Deployment Ready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6327648" y="1645920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6537960" y="153619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Registered in the shared DriverWellnessModuleManager alongside the other four adapters – no model-specific logic outside the adapter.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6327648" y="2224024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6537960" y="213055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Kaggle GPU fallback (share=True) configured to bypass Lightning.ai VRAM limits for the live demo.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6327648" y="2779776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6537960" y="269748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Risk Fusion severity audited: ‘Seatbelt Only’ and ‘Safe Driving’ map to severity 0.0, so safe driving never mathematically penalizes the driver.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777240" y="369417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Deployment Footprint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548640" y="365760"/>
            <a:ext cx="716661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Error Analysis, Limitations &amp; Integration Status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576072" y="50292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1024128" y="3657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PREPARATION · M2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1005840" y="603504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A clean, class-balanced dataset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1005840" y="107899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One Roboflow source, name-harmonized to two classes — smoking &amp; drinking — integrity-validated,  deduplicated, and balanced with real images rather than heavy augmentation.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1074420" y="1586484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1024128" y="158984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8,333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1024128" y="2068690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Raw images downloaded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9"/>
          <p:cNvSpPr/>
          <p:nvPr/>
        </p:nvSpPr>
        <p:spPr>
          <a:xfrm>
            <a:off x="4530852" y="1586484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9"/>
          <p:cNvSpPr/>
          <p:nvPr/>
        </p:nvSpPr>
        <p:spPr>
          <a:xfrm>
            <a:off x="4482613" y="16276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3,704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4485132" y="2084832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Images after dedup + balance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9"/>
          <p:cNvSpPr/>
          <p:nvPr/>
        </p:nvSpPr>
        <p:spPr>
          <a:xfrm>
            <a:off x="7929901" y="1572768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7827264" y="16276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0A202"/>
                </a:solidFill>
                <a:latin typeface="Cambria"/>
                <a:ea typeface="Cambria"/>
                <a:cs typeface="Cambria"/>
                <a:sym typeface="Cambria"/>
              </a:rPr>
              <a:t>1.24×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9"/>
          <p:cNvSpPr/>
          <p:nvPr/>
        </p:nvSpPr>
        <p:spPr>
          <a:xfrm>
            <a:off x="7929901" y="2130552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Instance imbalance ratio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9"/>
          <p:cNvSpPr/>
          <p:nvPr/>
        </p:nvSpPr>
        <p:spPr>
          <a:xfrm>
            <a:off x="8769096" y="1664208"/>
            <a:ext cx="2505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9"/>
          <p:cNvSpPr/>
          <p:nvPr/>
        </p:nvSpPr>
        <p:spPr>
          <a:xfrm>
            <a:off x="457200" y="2788920"/>
            <a:ext cx="5394960" cy="25146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640080" y="2898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Class balance — instances (4,809 total)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2" name="Google Shape;862;p29"/>
          <p:cNvGraphicFramePr/>
          <p:nvPr/>
        </p:nvGraphicFramePr>
        <p:xfrm>
          <a:off x="594360" y="3246120"/>
          <a:ext cx="5120640" cy="1920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63" name="Google Shape;863;p29"/>
          <p:cNvSpPr/>
          <p:nvPr/>
        </p:nvSpPr>
        <p:spPr>
          <a:xfrm>
            <a:off x="5971032" y="2788920"/>
            <a:ext cx="5760720" cy="25146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6153912" y="289864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Object size buckets — per class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5" name="Google Shape;865;p29"/>
          <p:cNvGraphicFramePr/>
          <p:nvPr/>
        </p:nvGraphicFramePr>
        <p:xfrm>
          <a:off x="6080760" y="3246120"/>
          <a:ext cx="5532120" cy="19202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866" name="Google Shape;866;p29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fmla="val 5882" name="adj"/>
            </a:avLst>
          </a:prstGeom>
          <a:solidFill>
            <a:srgbClr val="0E2A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9"/>
          <p:cNvSpPr/>
          <p:nvPr/>
        </p:nvSpPr>
        <p:spPr>
          <a:xfrm>
            <a:off x="658368" y="5710428"/>
            <a:ext cx="237744" cy="237744"/>
          </a:xfrm>
          <a:prstGeom prst="ellipse">
            <a:avLst/>
          </a:prstGeom>
          <a:solidFill>
            <a:srgbClr val="F0A20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9"/>
          <p:cNvSpPr/>
          <p:nvPr/>
        </p:nvSpPr>
        <p:spPr>
          <a:xfrm>
            <a:off x="1024128" y="5513832"/>
            <a:ext cx="105430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0A202"/>
                </a:solidFill>
                <a:latin typeface="Calibri"/>
                <a:ea typeface="Calibri"/>
                <a:cs typeface="Calibri"/>
                <a:sym typeface="Calibri"/>
              </a:rPr>
              <a:t>Real-image balance, not augmentation:  </a:t>
            </a:r>
            <a:r>
              <a:rPr b="0" i="0" lang="en-US" sz="1050" u="none" cap="none" strike="noStrike">
                <a:solidFill>
                  <a:srgbClr val="DDE5E8"/>
                </a:solidFill>
                <a:latin typeface="Calibri"/>
                <a:ea typeface="Calibri"/>
                <a:cs typeface="Calibri"/>
                <a:sym typeface="Calibri"/>
              </a:rPr>
              <a:t>Earlier pipelines inflated the minority class ~17× (overfitting risk); new version caps the majority class with real images and keeps augmentation light. Non-target classes (eating, mobile) are dropped so they can't leak into a target label, and perceptual dedup removes 365 near-duplicates before the split — so val/test stay leak-free. ~22.4% of boxes are tiny (mostly cigarettes)· split 2,963 / 370 / 371.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Driver Safety · Smoking &amp; Drinking Detection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576072" y="50292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1024128" y="3657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MODELING &amp; TUNING · M3–M4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0"/>
          <p:cNvSpPr/>
          <p:nvPr/>
        </p:nvSpPr>
        <p:spPr>
          <a:xfrm>
            <a:off x="1005840" y="603504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YOLOv8n selected, then tuned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1005840" y="107899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Three anchor-free YOLO detectors were compared under identical conditions on a representative 3,110-image subset; the best-localizing nano won, then a guided sweep produced the 80-epoch final model.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0"/>
          <p:cNvSpPr/>
          <p:nvPr/>
        </p:nvSpPr>
        <p:spPr>
          <a:xfrm>
            <a:off x="457200" y="1600200"/>
            <a:ext cx="5623560" cy="2697480"/>
          </a:xfrm>
          <a:prstGeom prst="roundRect">
            <a:avLst>
              <a:gd fmla="val 1695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0"/>
          <p:cNvSpPr/>
          <p:nvPr/>
        </p:nvSpPr>
        <p:spPr>
          <a:xfrm>
            <a:off x="640080" y="170992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Baseline metrics — default config, 30 ep, val fold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3" name="Google Shape;883;p30"/>
          <p:cNvGraphicFramePr/>
          <p:nvPr/>
        </p:nvGraphicFramePr>
        <p:xfrm>
          <a:off x="548640" y="2057400"/>
          <a:ext cx="5440680" cy="21031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84" name="Google Shape;884;p30"/>
          <p:cNvSpPr/>
          <p:nvPr/>
        </p:nvSpPr>
        <p:spPr>
          <a:xfrm>
            <a:off x="6199632" y="1600200"/>
            <a:ext cx="5532120" cy="2697480"/>
          </a:xfrm>
          <a:prstGeom prst="roundRect">
            <a:avLst>
              <a:gd fmla="val 1695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0"/>
          <p:cNvSpPr/>
          <p:nvPr/>
        </p:nvSpPr>
        <p:spPr>
          <a:xfrm>
            <a:off x="6382512" y="1709928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Sweep — val mAP@50-95 per trial (t3 wins)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6" name="Google Shape;886;p30"/>
          <p:cNvGraphicFramePr/>
          <p:nvPr/>
        </p:nvGraphicFramePr>
        <p:xfrm>
          <a:off x="6309360" y="2057400"/>
          <a:ext cx="5303520" cy="21031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887" name="Google Shape;887;p30"/>
          <p:cNvSpPr/>
          <p:nvPr/>
        </p:nvSpPr>
        <p:spPr>
          <a:xfrm>
            <a:off x="457200" y="4462272"/>
            <a:ext cx="3749040" cy="1207008"/>
          </a:xfrm>
          <a:prstGeom prst="roundRect">
            <a:avLst>
              <a:gd fmla="val 3788" name="adj"/>
            </a:avLst>
          </a:prstGeom>
          <a:solidFill>
            <a:srgbClr val="0E2A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685800" y="458114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A202"/>
                </a:solidFill>
                <a:latin typeface="Calibri"/>
                <a:ea typeface="Calibri"/>
                <a:cs typeface="Calibri"/>
                <a:sym typeface="Calibri"/>
              </a:rPr>
              <a:t>WINNING CONFIG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0"/>
          <p:cNvSpPr/>
          <p:nvPr/>
        </p:nvSpPr>
        <p:spPr>
          <a:xfrm>
            <a:off x="685800" y="480974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t3_lr001_adamw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0"/>
          <p:cNvSpPr/>
          <p:nvPr/>
        </p:nvSpPr>
        <p:spPr>
          <a:xfrm>
            <a:off x="685800" y="5138928"/>
            <a:ext cx="33101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DE5E8"/>
                </a:solidFill>
                <a:latin typeface="Calibri"/>
                <a:ea typeface="Calibri"/>
                <a:cs typeface="Calibri"/>
                <a:sym typeface="Calibri"/>
              </a:rPr>
              <a:t>lr0 = 0.001 · AdamW · cosine LR · mosaic closed last 10 epochs · retrained from COCO for 80 epochs · 3.01 M params · 8.1 GFLOPs · ≈6.9 ms/frame (~145 FPS, T4).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4434840" y="44622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TUNING GAINS — WINNER (t3) vs BASELINE, VAL FOLD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0"/>
          <p:cNvSpPr/>
          <p:nvPr/>
        </p:nvSpPr>
        <p:spPr>
          <a:xfrm>
            <a:off x="4434840" y="4736592"/>
            <a:ext cx="1737360" cy="932688"/>
          </a:xfrm>
          <a:prstGeom prst="roundRect">
            <a:avLst>
              <a:gd fmla="val 5882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4434840" y="48280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0"/>
          <p:cNvSpPr/>
          <p:nvPr/>
        </p:nvSpPr>
        <p:spPr>
          <a:xfrm>
            <a:off x="4434840" y="5029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C7A3F"/>
                </a:solidFill>
                <a:latin typeface="Cambria"/>
                <a:ea typeface="Cambria"/>
                <a:cs typeface="Cambria"/>
                <a:sym typeface="Cambria"/>
              </a:rPr>
              <a:t>+2.5%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4434840" y="541324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0.856 → 0.878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6227064" y="4736592"/>
            <a:ext cx="1737360" cy="932688"/>
          </a:xfrm>
          <a:prstGeom prst="roundRect">
            <a:avLst>
              <a:gd fmla="val 5882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6227064" y="48280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0"/>
          <p:cNvSpPr/>
          <p:nvPr/>
        </p:nvSpPr>
        <p:spPr>
          <a:xfrm>
            <a:off x="6227064" y="5029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24A3A"/>
                </a:solidFill>
                <a:latin typeface="Cambria"/>
                <a:ea typeface="Cambria"/>
                <a:cs typeface="Cambria"/>
                <a:sym typeface="Cambria"/>
              </a:rPr>
              <a:t>−2.7%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6227064" y="541324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0.789 → 0.767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0"/>
          <p:cNvSpPr/>
          <p:nvPr/>
        </p:nvSpPr>
        <p:spPr>
          <a:xfrm>
            <a:off x="8019288" y="4736592"/>
            <a:ext cx="1737360" cy="932688"/>
          </a:xfrm>
          <a:prstGeom prst="roundRect">
            <a:avLst>
              <a:gd fmla="val 5882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0"/>
          <p:cNvSpPr/>
          <p:nvPr/>
        </p:nvSpPr>
        <p:spPr>
          <a:xfrm>
            <a:off x="8019288" y="48280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0"/>
          <p:cNvSpPr/>
          <p:nvPr/>
        </p:nvSpPr>
        <p:spPr>
          <a:xfrm>
            <a:off x="8019288" y="5029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C7A3F"/>
                </a:solidFill>
                <a:latin typeface="Cambria"/>
                <a:ea typeface="Cambria"/>
                <a:cs typeface="Cambria"/>
                <a:sym typeface="Cambria"/>
              </a:rPr>
              <a:t>+0.5%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0"/>
          <p:cNvSpPr/>
          <p:nvPr/>
        </p:nvSpPr>
        <p:spPr>
          <a:xfrm>
            <a:off x="8019288" y="541324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0.841 → 0.845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0"/>
          <p:cNvSpPr/>
          <p:nvPr/>
        </p:nvSpPr>
        <p:spPr>
          <a:xfrm>
            <a:off x="9811512" y="4736592"/>
            <a:ext cx="1737360" cy="932688"/>
          </a:xfrm>
          <a:prstGeom prst="roundRect">
            <a:avLst>
              <a:gd fmla="val 5882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0"/>
          <p:cNvSpPr/>
          <p:nvPr/>
        </p:nvSpPr>
        <p:spPr>
          <a:xfrm>
            <a:off x="9811512" y="48280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0"/>
          <p:cNvSpPr/>
          <p:nvPr/>
        </p:nvSpPr>
        <p:spPr>
          <a:xfrm>
            <a:off x="9811512" y="50292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C7A3F"/>
                </a:solidFill>
                <a:latin typeface="Cambria"/>
                <a:ea typeface="Cambria"/>
                <a:cs typeface="Cambria"/>
                <a:sym typeface="Cambria"/>
              </a:rPr>
              <a:t>+2.2%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9811512" y="541324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0.415 → 0.425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0"/>
          <p:cNvSpPr/>
          <p:nvPr/>
        </p:nvSpPr>
        <p:spPr>
          <a:xfrm>
            <a:off x="457200" y="5797296"/>
            <a:ext cx="11274552" cy="566928"/>
          </a:xfrm>
          <a:prstGeom prst="roundRect">
            <a:avLst>
              <a:gd fmla="val 8065" name="adj"/>
            </a:avLst>
          </a:prstGeom>
          <a:solidFill>
            <a:srgbClr val="0E2A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658368" y="5961888"/>
            <a:ext cx="237744" cy="237744"/>
          </a:xfrm>
          <a:prstGeom prst="ellipse">
            <a:avLst/>
          </a:prstGeom>
          <a:solidFill>
            <a:srgbClr val="F0A20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1024128" y="5870448"/>
            <a:ext cx="105430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0A202"/>
                </a:solidFill>
                <a:latin typeface="Calibri"/>
                <a:ea typeface="Calibri"/>
                <a:cs typeface="Calibri"/>
                <a:sym typeface="Calibri"/>
              </a:rPr>
              <a:t>Honest takeaway:  </a:t>
            </a:r>
            <a:r>
              <a:rPr b="0" i="0" lang="en-US" sz="1050" u="none" cap="none" strike="noStrike">
                <a:solidFill>
                  <a:srgbClr val="DDE5E8"/>
                </a:solidFill>
                <a:latin typeface="Calibri"/>
                <a:ea typeface="Calibri"/>
                <a:cs typeface="Calibri"/>
                <a:sym typeface="Calibri"/>
              </a:rPr>
              <a:t>Capacity didn't help — YOLOv8s (~3× params) failed to beat the nanos. Trial margins are narrow (~0.01 mAP@50-95), so the model isn't brittle to reasonable choices; AdamW at lr 0.001 gives a small, consistent edge. Tuning traded a little recall for higher precision and tighter boxes — further gains now come from data, not hyperparameters.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Driver Safety · Smoking &amp; Drinking Detection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0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1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/>
          <p:nvPr/>
        </p:nvSpPr>
        <p:spPr>
          <a:xfrm>
            <a:off x="576072" y="50292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1"/>
          <p:cNvSpPr/>
          <p:nvPr/>
        </p:nvSpPr>
        <p:spPr>
          <a:xfrm>
            <a:off x="1024128" y="3657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EVALUATION · M5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1"/>
          <p:cNvSpPr/>
          <p:nvPr/>
        </p:nvSpPr>
        <p:spPr>
          <a:xfrm>
            <a:off x="1005840" y="603504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Strong, honest results on held-out test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1"/>
          <p:cNvSpPr/>
          <p:nvPr/>
        </p:nvSpPr>
        <p:spPr>
          <a:xfrm>
            <a:off x="1005840" y="107899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Inference-only on the frozen checkpoint over a strictly held-out split (371 images / 445 boxes, zero leakage). Smoking clearly outperforms drinking, and the failure mode is the safe one.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457200" y="1572768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1"/>
          <p:cNvSpPr/>
          <p:nvPr/>
        </p:nvSpPr>
        <p:spPr>
          <a:xfrm>
            <a:off x="457200" y="166420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0.85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1"/>
          <p:cNvSpPr/>
          <p:nvPr/>
        </p:nvSpPr>
        <p:spPr>
          <a:xfrm>
            <a:off x="530352" y="2121408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Precision (all)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1"/>
          <p:cNvSpPr/>
          <p:nvPr/>
        </p:nvSpPr>
        <p:spPr>
          <a:xfrm>
            <a:off x="3227832" y="1572768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1"/>
          <p:cNvSpPr/>
          <p:nvPr/>
        </p:nvSpPr>
        <p:spPr>
          <a:xfrm>
            <a:off x="3227832" y="166420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E2A38"/>
                </a:solidFill>
                <a:latin typeface="Cambria"/>
                <a:ea typeface="Cambria"/>
                <a:cs typeface="Cambria"/>
                <a:sym typeface="Cambria"/>
              </a:rPr>
              <a:t>0.80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1"/>
          <p:cNvSpPr/>
          <p:nvPr/>
        </p:nvSpPr>
        <p:spPr>
          <a:xfrm>
            <a:off x="3300984" y="2121408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Recall (all)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1"/>
          <p:cNvSpPr/>
          <p:nvPr/>
        </p:nvSpPr>
        <p:spPr>
          <a:xfrm>
            <a:off x="5998464" y="1572768"/>
            <a:ext cx="2606040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1"/>
          <p:cNvSpPr/>
          <p:nvPr/>
        </p:nvSpPr>
        <p:spPr>
          <a:xfrm>
            <a:off x="5998464" y="166420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0.82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1"/>
          <p:cNvSpPr/>
          <p:nvPr/>
        </p:nvSpPr>
        <p:spPr>
          <a:xfrm>
            <a:off x="6071616" y="2121408"/>
            <a:ext cx="2459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mAP@50 (all)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1"/>
          <p:cNvSpPr/>
          <p:nvPr/>
        </p:nvSpPr>
        <p:spPr>
          <a:xfrm>
            <a:off x="8769096" y="1572768"/>
            <a:ext cx="2505456" cy="868680"/>
          </a:xfrm>
          <a:prstGeom prst="roundRect">
            <a:avLst>
              <a:gd fmla="val 6316" name="adj"/>
            </a:avLst>
          </a:prstGeom>
          <a:solidFill>
            <a:srgbClr val="F5F7F8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1"/>
          <p:cNvSpPr/>
          <p:nvPr/>
        </p:nvSpPr>
        <p:spPr>
          <a:xfrm>
            <a:off x="8769096" y="1664208"/>
            <a:ext cx="2505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0A202"/>
                </a:solidFill>
                <a:latin typeface="Cambria"/>
                <a:ea typeface="Cambria"/>
                <a:cs typeface="Cambria"/>
                <a:sym typeface="Cambria"/>
              </a:rPr>
              <a:t>0.45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1"/>
          <p:cNvSpPr/>
          <p:nvPr/>
        </p:nvSpPr>
        <p:spPr>
          <a:xfrm>
            <a:off x="8842248" y="2121408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A6E77"/>
                </a:solidFill>
                <a:latin typeface="Calibri"/>
                <a:ea typeface="Calibri"/>
                <a:cs typeface="Calibri"/>
                <a:sym typeface="Calibri"/>
              </a:rPr>
              <a:t>mAP@50-95 (all)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1"/>
          <p:cNvSpPr/>
          <p:nvPr/>
        </p:nvSpPr>
        <p:spPr>
          <a:xfrm>
            <a:off x="457200" y="2788920"/>
            <a:ext cx="5623560" cy="25146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1"/>
          <p:cNvSpPr/>
          <p:nvPr/>
        </p:nvSpPr>
        <p:spPr>
          <a:xfrm>
            <a:off x="640080" y="289864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Per-class metrics — smoking vs drinking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7" name="Google Shape;937;p31"/>
          <p:cNvGraphicFramePr/>
          <p:nvPr/>
        </p:nvGraphicFramePr>
        <p:xfrm>
          <a:off x="548640" y="3246120"/>
          <a:ext cx="5440680" cy="1920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38" name="Google Shape;938;p31"/>
          <p:cNvSpPr/>
          <p:nvPr/>
        </p:nvSpPr>
        <p:spPr>
          <a:xfrm>
            <a:off x="6199632" y="2788920"/>
            <a:ext cx="5532120" cy="25146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DE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1"/>
          <p:cNvSpPr/>
          <p:nvPr/>
        </p:nvSpPr>
        <p:spPr>
          <a:xfrm>
            <a:off x="6382512" y="2898648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2A38"/>
                </a:solidFill>
                <a:latin typeface="Calibri"/>
                <a:ea typeface="Calibri"/>
                <a:cs typeface="Calibri"/>
                <a:sym typeface="Calibri"/>
              </a:rPr>
              <a:t>Failure breakdown by error type (46 total)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0" name="Google Shape;940;p31"/>
          <p:cNvGraphicFramePr/>
          <p:nvPr/>
        </p:nvGraphicFramePr>
        <p:xfrm>
          <a:off x="6309360" y="3246120"/>
          <a:ext cx="5303520" cy="19202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41" name="Google Shape;941;p31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fmla="val 5882" name="adj"/>
            </a:avLst>
          </a:prstGeom>
          <a:solidFill>
            <a:srgbClr val="0E2A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658368" y="5710428"/>
            <a:ext cx="237744" cy="237744"/>
          </a:xfrm>
          <a:prstGeom prst="ellipse">
            <a:avLst/>
          </a:prstGeom>
          <a:solidFill>
            <a:srgbClr val="F0A20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1024128" y="5513832"/>
            <a:ext cx="105430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0A202"/>
                </a:solidFill>
                <a:latin typeface="Calibri"/>
                <a:ea typeface="Calibri"/>
                <a:cs typeface="Calibri"/>
                <a:sym typeface="Calibri"/>
              </a:rPr>
              <a:t>The findings:  </a:t>
            </a:r>
            <a:r>
              <a:rPr b="0" i="0" lang="en-US" sz="1050" u="none" cap="none" strike="noStrike">
                <a:solidFill>
                  <a:srgbClr val="DDE5E8"/>
                </a:solidFill>
                <a:latin typeface="Calibri"/>
                <a:ea typeface="Calibri"/>
                <a:cs typeface="Calibri"/>
                <a:sym typeface="Calibri"/>
              </a:rPr>
              <a:t>Drinking is the weaker class — recall 0.67 vs 0.93 for smoking (~0.26 gap), the primary improvement target. But only 6 of 46 failures are true cross-class confusion; the rest are missed or low-confidence boxes — the model fails to fire rather than asserting the wrong class, the safe direction for a safety system. Validation (0.442) and test (0.447) mAP@50-95 match to within 0.005 → genuine generalization, no leakage. Image-level top-1 accuracy is ~88% (325 / 371), and the model runs real-time at ~145 FPS on a T4.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Driver Safety · Smoking &amp; Drinking Detection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1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09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THE RISK FUSION ENGINE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Signals Fused Into One Live Score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From one model's single “fatigue: yes / no” label → five models fused into one continuous 0–100 score, updated every second from the stream.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3"/>
          <p:cNvSpPr/>
          <p:nvPr/>
        </p:nvSpPr>
        <p:spPr>
          <a:xfrm>
            <a:off x="457200" y="1691640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0F2A32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3"/>
          <p:cNvSpPr/>
          <p:nvPr/>
        </p:nvSpPr>
        <p:spPr>
          <a:xfrm>
            <a:off x="457200" y="1691640"/>
            <a:ext cx="4937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=  </a:t>
            </a:r>
            <a:r>
              <a:rPr b="1" i="0" lang="en-US" sz="18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severity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×  </a:t>
            </a:r>
            <a:r>
              <a:rPr b="1" i="0" lang="en-US" sz="1800" u="none" cap="none" strike="noStrike">
                <a:solidFill>
                  <a:srgbClr val="E0B33A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457200" y="24505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SEVERITY WEIGHTS  (0–10)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457200" y="2788920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658368" y="2980944"/>
            <a:ext cx="182880" cy="182880"/>
          </a:xfrm>
          <a:prstGeom prst="ellipse">
            <a:avLst/>
          </a:prstGeom>
          <a:solidFill>
            <a:srgbClr val="F26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3"/>
          <p:cNvSpPr/>
          <p:nvPr/>
        </p:nvSpPr>
        <p:spPr>
          <a:xfrm>
            <a:off x="960120" y="27889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3"/>
          <p:cNvSpPr/>
          <p:nvPr/>
        </p:nvSpPr>
        <p:spPr>
          <a:xfrm>
            <a:off x="2606040" y="2788920"/>
            <a:ext cx="2697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Medium 6 · High 10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3"/>
          <p:cNvSpPr/>
          <p:nvPr/>
        </p:nvSpPr>
        <p:spPr>
          <a:xfrm>
            <a:off x="457200" y="3438144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3"/>
          <p:cNvSpPr/>
          <p:nvPr/>
        </p:nvSpPr>
        <p:spPr>
          <a:xfrm>
            <a:off x="658368" y="3630168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3"/>
          <p:cNvSpPr/>
          <p:nvPr/>
        </p:nvSpPr>
        <p:spPr>
          <a:xfrm>
            <a:off x="960120" y="343814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3"/>
          <p:cNvSpPr/>
          <p:nvPr/>
        </p:nvSpPr>
        <p:spPr>
          <a:xfrm>
            <a:off x="2606040" y="3438144"/>
            <a:ext cx="2697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Drowsy 7 · Yawning 7 · Talking 4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3"/>
          <p:cNvSpPr/>
          <p:nvPr/>
        </p:nvSpPr>
        <p:spPr>
          <a:xfrm>
            <a:off x="457200" y="4087368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3"/>
          <p:cNvSpPr/>
          <p:nvPr/>
        </p:nvSpPr>
        <p:spPr>
          <a:xfrm>
            <a:off x="658368" y="4279392"/>
            <a:ext cx="182880" cy="182880"/>
          </a:xfrm>
          <a:prstGeom prst="ellipse">
            <a:avLst/>
          </a:prstGeom>
          <a:solidFill>
            <a:srgbClr val="9B8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3"/>
          <p:cNvSpPr/>
          <p:nvPr/>
        </p:nvSpPr>
        <p:spPr>
          <a:xfrm>
            <a:off x="960120" y="408736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2606040" y="4087368"/>
            <a:ext cx="2697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Texting 9 · Phone 8 · Other 6 · Turn 4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3"/>
          <p:cNvSpPr/>
          <p:nvPr/>
        </p:nvSpPr>
        <p:spPr>
          <a:xfrm>
            <a:off x="457200" y="473659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3"/>
          <p:cNvSpPr/>
          <p:nvPr/>
        </p:nvSpPr>
        <p:spPr>
          <a:xfrm>
            <a:off x="658368" y="4928616"/>
            <a:ext cx="182880" cy="182880"/>
          </a:xfrm>
          <a:prstGeom prst="ellipse">
            <a:avLst/>
          </a:prstGeom>
          <a:solidFill>
            <a:srgbClr val="E0B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3"/>
          <p:cNvSpPr/>
          <p:nvPr/>
        </p:nvSpPr>
        <p:spPr>
          <a:xfrm>
            <a:off x="960120" y="473659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3"/>
          <p:cNvSpPr/>
          <p:nvPr/>
        </p:nvSpPr>
        <p:spPr>
          <a:xfrm>
            <a:off x="2606040" y="4736592"/>
            <a:ext cx="2697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Phone 9 · Phone+Belt 9 · None 8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3"/>
          <p:cNvSpPr/>
          <p:nvPr/>
        </p:nvSpPr>
        <p:spPr>
          <a:xfrm>
            <a:off x="457200" y="5385816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3"/>
          <p:cNvSpPr/>
          <p:nvPr/>
        </p:nvSpPr>
        <p:spPr>
          <a:xfrm>
            <a:off x="658368" y="5577840"/>
            <a:ext cx="182880" cy="182880"/>
          </a:xfrm>
          <a:prstGeom prst="ellipse">
            <a:avLst/>
          </a:prstGeom>
          <a:solidFill>
            <a:srgbClr val="CE54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3"/>
          <p:cNvSpPr/>
          <p:nvPr/>
        </p:nvSpPr>
        <p:spPr>
          <a:xfrm>
            <a:off x="960120" y="538581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2606040" y="5385816"/>
            <a:ext cx="2697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Drinking 10 · Both 10 · Smoking 5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5806440" y="169164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THE SCORING PIPELINE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5806440" y="2011680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3"/>
          <p:cNvSpPr/>
          <p:nvPr/>
        </p:nvSpPr>
        <p:spPr>
          <a:xfrm>
            <a:off x="5998464" y="213055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3"/>
          <p:cNvSpPr/>
          <p:nvPr/>
        </p:nvSpPr>
        <p:spPr>
          <a:xfrm>
            <a:off x="5998464" y="2130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6556248" y="20665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risk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6556248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Rᵢ = severity × confidence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3"/>
          <p:cNvSpPr/>
          <p:nvPr/>
        </p:nvSpPr>
        <p:spPr>
          <a:xfrm>
            <a:off x="5806440" y="2734056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3"/>
          <p:cNvSpPr/>
          <p:nvPr/>
        </p:nvSpPr>
        <p:spPr>
          <a:xfrm>
            <a:off x="5998464" y="285292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3"/>
          <p:cNvSpPr/>
          <p:nvPr/>
        </p:nvSpPr>
        <p:spPr>
          <a:xfrm>
            <a:off x="5998464" y="2852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3"/>
          <p:cNvSpPr/>
          <p:nvPr/>
        </p:nvSpPr>
        <p:spPr>
          <a:xfrm>
            <a:off x="6556248" y="2788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 = 0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3"/>
          <p:cNvSpPr/>
          <p:nvPr/>
        </p:nvSpPr>
        <p:spPr>
          <a:xfrm>
            <a:off x="6556248" y="30358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non-risky labels add nothing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5806440" y="3456432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3"/>
          <p:cNvSpPr/>
          <p:nvPr/>
        </p:nvSpPr>
        <p:spPr>
          <a:xfrm>
            <a:off x="5998464" y="3575304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3"/>
          <p:cNvSpPr/>
          <p:nvPr/>
        </p:nvSpPr>
        <p:spPr>
          <a:xfrm>
            <a:off x="5998464" y="35753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6556248" y="351129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risk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3"/>
          <p:cNvSpPr/>
          <p:nvPr/>
        </p:nvSpPr>
        <p:spPr>
          <a:xfrm>
            <a:off x="6556248" y="37581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R_total = Σ Rᵢ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5806440" y="4178808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3"/>
          <p:cNvSpPr/>
          <p:nvPr/>
        </p:nvSpPr>
        <p:spPr>
          <a:xfrm>
            <a:off x="5998464" y="4297680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3"/>
          <p:cNvSpPr/>
          <p:nvPr/>
        </p:nvSpPr>
        <p:spPr>
          <a:xfrm>
            <a:off x="5998464" y="4297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3"/>
          <p:cNvSpPr/>
          <p:nvPr/>
        </p:nvSpPr>
        <p:spPr>
          <a:xfrm>
            <a:off x="6556248" y="4233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Exponential fuse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3"/>
          <p:cNvSpPr/>
          <p:nvPr/>
        </p:nvSpPr>
        <p:spPr>
          <a:xfrm>
            <a:off x="6556248" y="4480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100 × (1 − e^(−k·R_total)),  k = hyperparameter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3"/>
          <p:cNvSpPr/>
          <p:nvPr/>
        </p:nvSpPr>
        <p:spPr>
          <a:xfrm>
            <a:off x="5806440" y="4901184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3"/>
          <p:cNvSpPr/>
          <p:nvPr/>
        </p:nvSpPr>
        <p:spPr>
          <a:xfrm>
            <a:off x="5998464" y="5020056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3"/>
          <p:cNvSpPr/>
          <p:nvPr/>
        </p:nvSpPr>
        <p:spPr>
          <a:xfrm>
            <a:off x="5998464" y="5020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3"/>
          <p:cNvSpPr/>
          <p:nvPr/>
        </p:nvSpPr>
        <p:spPr>
          <a:xfrm>
            <a:off x="6556248" y="49560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Smooth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3"/>
          <p:cNvSpPr/>
          <p:nvPr/>
        </p:nvSpPr>
        <p:spPr>
          <a:xfrm>
            <a:off x="6556248" y="52029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3-second moving average to reduce flicker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3"/>
          <p:cNvSpPr/>
          <p:nvPr/>
        </p:nvSpPr>
        <p:spPr>
          <a:xfrm>
            <a:off x="5806440" y="5623560"/>
            <a:ext cx="5897880" cy="621792"/>
          </a:xfrm>
          <a:prstGeom prst="roundRect">
            <a:avLst>
              <a:gd fmla="val 11765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3"/>
          <p:cNvSpPr/>
          <p:nvPr/>
        </p:nvSpPr>
        <p:spPr>
          <a:xfrm>
            <a:off x="5998464" y="574243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3"/>
          <p:cNvSpPr/>
          <p:nvPr/>
        </p:nvSpPr>
        <p:spPr>
          <a:xfrm>
            <a:off x="5998464" y="5742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F1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3"/>
          <p:cNvSpPr/>
          <p:nvPr/>
        </p:nvSpPr>
        <p:spPr>
          <a:xfrm>
            <a:off x="6556248" y="567842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3"/>
          <p:cNvSpPr/>
          <p:nvPr/>
        </p:nvSpPr>
        <p:spPr>
          <a:xfrm>
            <a:off x="6556248" y="59253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Low → Moderate → High → Critical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The engine consumes only each module’s label + confidence — never the internal network — so any model can be swapped or retrained without touching the math.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4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STEPS 4–6 · SCORING IN ACTION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Danger × Certainty — a Worked Example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502920" y="13716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2606040" y="1371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4617720" y="13716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SEV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5212080" y="13716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CONF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5897880" y="1371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Rᵢ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457200" y="1700784"/>
            <a:ext cx="5852160" cy="548640"/>
          </a:xfrm>
          <a:prstGeom prst="roundRect">
            <a:avLst>
              <a:gd fmla="val 10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4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4"/>
          <p:cNvSpPr/>
          <p:nvPr/>
        </p:nvSpPr>
        <p:spPr>
          <a:xfrm>
            <a:off x="932688" y="1700784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2606040" y="17007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Drowsy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4"/>
          <p:cNvSpPr/>
          <p:nvPr/>
        </p:nvSpPr>
        <p:spPr>
          <a:xfrm>
            <a:off x="4617720" y="1700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4"/>
          <p:cNvSpPr/>
          <p:nvPr/>
        </p:nvSpPr>
        <p:spPr>
          <a:xfrm>
            <a:off x="5212080" y="1700784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4"/>
          <p:cNvSpPr/>
          <p:nvPr/>
        </p:nvSpPr>
        <p:spPr>
          <a:xfrm>
            <a:off x="5897880" y="170078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6.3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457200" y="2331720"/>
            <a:ext cx="5852160" cy="548640"/>
          </a:xfrm>
          <a:prstGeom prst="roundRect">
            <a:avLst>
              <a:gd fmla="val 10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4"/>
          <p:cNvSpPr/>
          <p:nvPr/>
        </p:nvSpPr>
        <p:spPr>
          <a:xfrm>
            <a:off x="640080" y="2514600"/>
            <a:ext cx="182880" cy="182880"/>
          </a:xfrm>
          <a:prstGeom prst="ellipse">
            <a:avLst/>
          </a:prstGeom>
          <a:solidFill>
            <a:srgbClr val="9B8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4"/>
          <p:cNvSpPr/>
          <p:nvPr/>
        </p:nvSpPr>
        <p:spPr>
          <a:xfrm>
            <a:off x="932688" y="23317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4"/>
          <p:cNvSpPr/>
          <p:nvPr/>
        </p:nvSpPr>
        <p:spPr>
          <a:xfrm>
            <a:off x="2606040" y="23317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texting_phone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4"/>
          <p:cNvSpPr/>
          <p:nvPr/>
        </p:nvSpPr>
        <p:spPr>
          <a:xfrm>
            <a:off x="461772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5212080" y="23317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/>
          <p:nvPr/>
        </p:nvSpPr>
        <p:spPr>
          <a:xfrm>
            <a:off x="5897880" y="23317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7.2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4"/>
          <p:cNvSpPr/>
          <p:nvPr/>
        </p:nvSpPr>
        <p:spPr>
          <a:xfrm>
            <a:off x="457200" y="2962656"/>
            <a:ext cx="5852160" cy="548640"/>
          </a:xfrm>
          <a:prstGeom prst="roundRect">
            <a:avLst>
              <a:gd fmla="val 10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4"/>
          <p:cNvSpPr/>
          <p:nvPr/>
        </p:nvSpPr>
        <p:spPr>
          <a:xfrm>
            <a:off x="640080" y="3145536"/>
            <a:ext cx="182880" cy="182880"/>
          </a:xfrm>
          <a:prstGeom prst="ellipse">
            <a:avLst/>
          </a:prstGeom>
          <a:solidFill>
            <a:srgbClr val="E0B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4"/>
          <p:cNvSpPr/>
          <p:nvPr/>
        </p:nvSpPr>
        <p:spPr>
          <a:xfrm>
            <a:off x="932688" y="2962656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4"/>
          <p:cNvSpPr/>
          <p:nvPr/>
        </p:nvSpPr>
        <p:spPr>
          <a:xfrm>
            <a:off x="2606040" y="2962656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No Detection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4"/>
          <p:cNvSpPr/>
          <p:nvPr/>
        </p:nvSpPr>
        <p:spPr>
          <a:xfrm>
            <a:off x="4617720" y="29626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5212080" y="2962656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4"/>
          <p:cNvSpPr/>
          <p:nvPr/>
        </p:nvSpPr>
        <p:spPr>
          <a:xfrm>
            <a:off x="5897880" y="2962656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6.0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4"/>
          <p:cNvSpPr/>
          <p:nvPr/>
        </p:nvSpPr>
        <p:spPr>
          <a:xfrm>
            <a:off x="457200" y="3593592"/>
            <a:ext cx="5852160" cy="548640"/>
          </a:xfrm>
          <a:prstGeom prst="roundRect">
            <a:avLst>
              <a:gd fmla="val 10000" name="adj"/>
            </a:avLst>
          </a:prstGeom>
          <a:solidFill>
            <a:srgbClr val="111F30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4"/>
          <p:cNvSpPr/>
          <p:nvPr/>
        </p:nvSpPr>
        <p:spPr>
          <a:xfrm>
            <a:off x="640080" y="3776472"/>
            <a:ext cx="182880" cy="182880"/>
          </a:xfrm>
          <a:prstGeom prst="ellipse">
            <a:avLst/>
          </a:prstGeom>
          <a:solidFill>
            <a:srgbClr val="F26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4"/>
          <p:cNvSpPr/>
          <p:nvPr/>
        </p:nvSpPr>
        <p:spPr>
          <a:xfrm>
            <a:off x="932688" y="359359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4"/>
          <p:cNvSpPr/>
          <p:nvPr/>
        </p:nvSpPr>
        <p:spPr>
          <a:xfrm>
            <a:off x="2606040" y="35935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Low Risk (safe)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4"/>
          <p:cNvSpPr/>
          <p:nvPr/>
        </p:nvSpPr>
        <p:spPr>
          <a:xfrm>
            <a:off x="4617720" y="35935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4"/>
          <p:cNvSpPr/>
          <p:nvPr/>
        </p:nvSpPr>
        <p:spPr>
          <a:xfrm>
            <a:off x="5212080" y="3593592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4"/>
          <p:cNvSpPr/>
          <p:nvPr/>
        </p:nvSpPr>
        <p:spPr>
          <a:xfrm>
            <a:off x="5897880" y="3593592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4"/>
          <p:cNvSpPr/>
          <p:nvPr/>
        </p:nvSpPr>
        <p:spPr>
          <a:xfrm>
            <a:off x="457200" y="4224528"/>
            <a:ext cx="5852160" cy="548640"/>
          </a:xfrm>
          <a:prstGeom prst="roundRect">
            <a:avLst>
              <a:gd fmla="val 10000" name="adj"/>
            </a:avLst>
          </a:prstGeom>
          <a:solidFill>
            <a:srgbClr val="111F30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4"/>
          <p:cNvSpPr/>
          <p:nvPr/>
        </p:nvSpPr>
        <p:spPr>
          <a:xfrm>
            <a:off x="640080" y="4407408"/>
            <a:ext cx="182880" cy="182880"/>
          </a:xfrm>
          <a:prstGeom prst="ellipse">
            <a:avLst/>
          </a:prstGeom>
          <a:solidFill>
            <a:srgbClr val="CE54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4"/>
          <p:cNvSpPr/>
          <p:nvPr/>
        </p:nvSpPr>
        <p:spPr>
          <a:xfrm>
            <a:off x="932688" y="422452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4"/>
          <p:cNvSpPr/>
          <p:nvPr/>
        </p:nvSpPr>
        <p:spPr>
          <a:xfrm>
            <a:off x="2606040" y="42245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none (safe)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4"/>
          <p:cNvSpPr/>
          <p:nvPr/>
        </p:nvSpPr>
        <p:spPr>
          <a:xfrm>
            <a:off x="4617720" y="42245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5212080" y="422452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4"/>
          <p:cNvSpPr/>
          <p:nvPr/>
        </p:nvSpPr>
        <p:spPr>
          <a:xfrm>
            <a:off x="5897880" y="422452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4"/>
          <p:cNvSpPr/>
          <p:nvPr/>
        </p:nvSpPr>
        <p:spPr>
          <a:xfrm>
            <a:off x="457200" y="4901184"/>
            <a:ext cx="5852160" cy="932688"/>
          </a:xfrm>
          <a:prstGeom prst="roundRect">
            <a:avLst>
              <a:gd fmla="val 7843" name="adj"/>
            </a:avLst>
          </a:prstGeom>
          <a:solidFill>
            <a:srgbClr val="0F2A32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4"/>
          <p:cNvSpPr/>
          <p:nvPr/>
        </p:nvSpPr>
        <p:spPr>
          <a:xfrm>
            <a:off x="731520" y="5010912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R_total = 19.5</a:t>
            </a:r>
            <a:r>
              <a:rPr b="0" i="0" lang="en-US" sz="1200" u="none" cap="none" strike="noStrike">
                <a:solidFill>
                  <a:srgbClr val="93A6BC"/>
                </a:solidFill>
                <a:latin typeface="Calibri"/>
                <a:ea typeface="Calibri"/>
                <a:cs typeface="Calibri"/>
                <a:sym typeface="Calibri"/>
              </a:rPr>
              <a:t>     score = 100 × (1 − e^(−0.05 × 19.5))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4"/>
          <p:cNvSpPr/>
          <p:nvPr/>
        </p:nvSpPr>
        <p:spPr>
          <a:xfrm>
            <a:off x="731520" y="5340096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= 62.29</a:t>
            </a:r>
            <a:r>
              <a:rPr b="1" i="0" lang="en-US" sz="1600" u="none" cap="none" strike="noStrike">
                <a:solidFill>
                  <a:srgbClr val="E58A3C"/>
                </a:solidFill>
                <a:latin typeface="Calibri"/>
                <a:ea typeface="Calibri"/>
                <a:cs typeface="Calibri"/>
                <a:sym typeface="Calibri"/>
              </a:rPr>
              <a:t>     →  HIGH RISK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4"/>
          <p:cNvSpPr/>
          <p:nvPr/>
        </p:nvSpPr>
        <p:spPr>
          <a:xfrm>
            <a:off x="6537960" y="137160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score = 100 × (1 − e^(−k·R_total))</a:t>
            </a:r>
            <a:r>
              <a:rPr b="0" i="1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    k = 0.05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0" name="Google Shape;1060;p34"/>
          <p:cNvGraphicFramePr/>
          <p:nvPr/>
        </p:nvGraphicFramePr>
        <p:xfrm>
          <a:off x="6492240" y="1691640"/>
          <a:ext cx="5212080" cy="2148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61" name="Google Shape;1061;p34"/>
          <p:cNvSpPr/>
          <p:nvPr/>
        </p:nvSpPr>
        <p:spPr>
          <a:xfrm>
            <a:off x="6537960" y="384048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R_total  (total risk)  →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4"/>
          <p:cNvSpPr/>
          <p:nvPr/>
        </p:nvSpPr>
        <p:spPr>
          <a:xfrm>
            <a:off x="6537960" y="4160520"/>
            <a:ext cx="5166360" cy="457200"/>
          </a:xfrm>
          <a:prstGeom prst="roundRect">
            <a:avLst>
              <a:gd fmla="val 16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4"/>
          <p:cNvSpPr/>
          <p:nvPr/>
        </p:nvSpPr>
        <p:spPr>
          <a:xfrm>
            <a:off x="6729984" y="4288536"/>
            <a:ext cx="201168" cy="201168"/>
          </a:xfrm>
          <a:prstGeom prst="ellipse">
            <a:avLst/>
          </a:prstGeom>
          <a:solidFill>
            <a:srgbClr val="3FB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4"/>
          <p:cNvSpPr/>
          <p:nvPr/>
        </p:nvSpPr>
        <p:spPr>
          <a:xfrm>
            <a:off x="7086600" y="4160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4"/>
          <p:cNvSpPr/>
          <p:nvPr/>
        </p:nvSpPr>
        <p:spPr>
          <a:xfrm>
            <a:off x="10149840" y="416052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BF7F"/>
                </a:solidFill>
                <a:latin typeface="Calibri"/>
                <a:ea typeface="Calibri"/>
                <a:cs typeface="Calibri"/>
                <a:sym typeface="Calibri"/>
              </a:rPr>
              <a:t>0 –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4"/>
          <p:cNvSpPr/>
          <p:nvPr/>
        </p:nvSpPr>
        <p:spPr>
          <a:xfrm>
            <a:off x="6537960" y="4709160"/>
            <a:ext cx="5166360" cy="457200"/>
          </a:xfrm>
          <a:prstGeom prst="roundRect">
            <a:avLst>
              <a:gd fmla="val 16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4"/>
          <p:cNvSpPr/>
          <p:nvPr/>
        </p:nvSpPr>
        <p:spPr>
          <a:xfrm>
            <a:off x="6729984" y="4837176"/>
            <a:ext cx="201168" cy="201168"/>
          </a:xfrm>
          <a:prstGeom prst="ellipse">
            <a:avLst/>
          </a:prstGeom>
          <a:solidFill>
            <a:srgbClr val="E0B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4"/>
          <p:cNvSpPr/>
          <p:nvPr/>
        </p:nvSpPr>
        <p:spPr>
          <a:xfrm>
            <a:off x="7086600" y="4709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Moderate Risk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4"/>
          <p:cNvSpPr/>
          <p:nvPr/>
        </p:nvSpPr>
        <p:spPr>
          <a:xfrm>
            <a:off x="10149840" y="47091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0B33A"/>
                </a:solidFill>
                <a:latin typeface="Calibri"/>
                <a:ea typeface="Calibri"/>
                <a:cs typeface="Calibri"/>
                <a:sym typeface="Calibri"/>
              </a:rPr>
              <a:t>25 –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4"/>
          <p:cNvSpPr/>
          <p:nvPr/>
        </p:nvSpPr>
        <p:spPr>
          <a:xfrm>
            <a:off x="6537960" y="5257800"/>
            <a:ext cx="5166360" cy="457200"/>
          </a:xfrm>
          <a:prstGeom prst="roundRect">
            <a:avLst>
              <a:gd fmla="val 16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4"/>
          <p:cNvSpPr/>
          <p:nvPr/>
        </p:nvSpPr>
        <p:spPr>
          <a:xfrm>
            <a:off x="6729984" y="5385816"/>
            <a:ext cx="201168" cy="201168"/>
          </a:xfrm>
          <a:prstGeom prst="ellipse">
            <a:avLst/>
          </a:prstGeom>
          <a:solidFill>
            <a:srgbClr val="E5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4"/>
          <p:cNvSpPr/>
          <p:nvPr/>
        </p:nvSpPr>
        <p:spPr>
          <a:xfrm>
            <a:off x="7086600" y="5257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4"/>
          <p:cNvSpPr/>
          <p:nvPr/>
        </p:nvSpPr>
        <p:spPr>
          <a:xfrm>
            <a:off x="10149840" y="525780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8A3C"/>
                </a:solidFill>
                <a:latin typeface="Calibri"/>
                <a:ea typeface="Calibri"/>
                <a:cs typeface="Calibri"/>
                <a:sym typeface="Calibri"/>
              </a:rPr>
              <a:t>50 – 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4"/>
          <p:cNvSpPr/>
          <p:nvPr/>
        </p:nvSpPr>
        <p:spPr>
          <a:xfrm>
            <a:off x="6537960" y="5806440"/>
            <a:ext cx="5166360" cy="457200"/>
          </a:xfrm>
          <a:prstGeom prst="roundRect">
            <a:avLst>
              <a:gd fmla="val 16000" name="adj"/>
            </a:avLst>
          </a:prstGeom>
          <a:solidFill>
            <a:srgbClr val="16273E"/>
          </a:solidFill>
          <a:ln cap="flat" cmpd="sng" w="12700">
            <a:solidFill>
              <a:srgbClr val="29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4"/>
          <p:cNvSpPr/>
          <p:nvPr/>
        </p:nvSpPr>
        <p:spPr>
          <a:xfrm>
            <a:off x="6729984" y="5934456"/>
            <a:ext cx="201168" cy="201168"/>
          </a:xfrm>
          <a:prstGeom prst="ellipse">
            <a:avLst/>
          </a:prstGeom>
          <a:solidFill>
            <a:srgbClr val="E553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4"/>
          <p:cNvSpPr/>
          <p:nvPr/>
        </p:nvSpPr>
        <p:spPr>
          <a:xfrm>
            <a:off x="7086600" y="5806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Risk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4"/>
          <p:cNvSpPr/>
          <p:nvPr/>
        </p:nvSpPr>
        <p:spPr>
          <a:xfrm>
            <a:off x="10149840" y="580644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533C"/>
                </a:solidFill>
                <a:latin typeface="Calibri"/>
                <a:ea typeface="Calibri"/>
                <a:cs typeface="Calibri"/>
                <a:sym typeface="Calibri"/>
              </a:rPr>
              <a:t>75 –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4"/>
          <p:cNvSpPr/>
          <p:nvPr/>
        </p:nvSpPr>
        <p:spPr>
          <a:xfrm>
            <a:off x="6537960" y="6373368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Displayed score = mean of raw scores over the last 3.0 s — killing per-frame flicker before the level is chosen.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E8098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2E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fad3833f70_1_406"/>
          <p:cNvSpPr/>
          <p:nvPr/>
        </p:nvSpPr>
        <p:spPr>
          <a:xfrm>
            <a:off x="507450" y="5511250"/>
            <a:ext cx="11183400" cy="822900"/>
          </a:xfrm>
          <a:prstGeom prst="roundRect">
            <a:avLst>
              <a:gd fmla="val 5263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fad3833f70_1_406"/>
          <p:cNvSpPr/>
          <p:nvPr/>
        </p:nvSpPr>
        <p:spPr>
          <a:xfrm>
            <a:off x="502933" y="384048"/>
            <a:ext cx="109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3fad3833f70_1_406"/>
          <p:cNvSpPr/>
          <p:nvPr/>
        </p:nvSpPr>
        <p:spPr>
          <a:xfrm>
            <a:off x="475501" y="713232"/>
            <a:ext cx="1124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b="1" i="0" lang="en-US" sz="3600" u="none" cap="none" strike="noStrik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— Lightning AI/Kaggle + Gradio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g3fad3833f70_1_406"/>
          <p:cNvSpPr/>
          <p:nvPr/>
        </p:nvSpPr>
        <p:spPr>
          <a:xfrm>
            <a:off x="493789" y="1417320"/>
            <a:ext cx="1097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Packaging the integrated application for hosted inference.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g3fad3833f70_1_406"/>
          <p:cNvSpPr/>
          <p:nvPr/>
        </p:nvSpPr>
        <p:spPr>
          <a:xfrm>
            <a:off x="502933" y="1783080"/>
            <a:ext cx="731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FINAL DEPLOYMENT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g3fad3833f70_1_406"/>
          <p:cNvSpPr/>
          <p:nvPr/>
        </p:nvSpPr>
        <p:spPr>
          <a:xfrm>
            <a:off x="548655" y="2148840"/>
            <a:ext cx="1969500" cy="822900"/>
          </a:xfrm>
          <a:prstGeom prst="roundRect">
            <a:avLst>
              <a:gd fmla="val 11111" name="adj"/>
            </a:avLst>
          </a:prstGeom>
          <a:solidFill>
            <a:srgbClr val="172A40"/>
          </a:solidFill>
          <a:ln cap="flat" cmpd="sng" w="22850">
            <a:solidFill>
              <a:srgbClr val="2FD4C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3fad3833f70_1_406"/>
          <p:cNvSpPr/>
          <p:nvPr/>
        </p:nvSpPr>
        <p:spPr>
          <a:xfrm>
            <a:off x="603520" y="2167128"/>
            <a:ext cx="186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Git /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g3fad3833f70_1_406"/>
          <p:cNvSpPr/>
          <p:nvPr/>
        </p:nvSpPr>
        <p:spPr>
          <a:xfrm>
            <a:off x="548655" y="3044952"/>
            <a:ext cx="196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Code + checkpoints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g3fad3833f70_1_406"/>
          <p:cNvCxnSpPr/>
          <p:nvPr/>
        </p:nvCxnSpPr>
        <p:spPr>
          <a:xfrm>
            <a:off x="2554902" y="25603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6E82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4" name="Google Shape;1094;g3fad3833f70_1_406"/>
          <p:cNvSpPr/>
          <p:nvPr/>
        </p:nvSpPr>
        <p:spPr>
          <a:xfrm>
            <a:off x="2829229" y="2148840"/>
            <a:ext cx="1969500" cy="822900"/>
          </a:xfrm>
          <a:prstGeom prst="roundRect">
            <a:avLst>
              <a:gd fmla="val 11111" name="adj"/>
            </a:avLst>
          </a:prstGeom>
          <a:solidFill>
            <a:srgbClr val="172A40"/>
          </a:solidFill>
          <a:ln cap="flat" cmpd="sng" w="22850">
            <a:solidFill>
              <a:srgbClr val="7C82E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fad3833f70_1_406"/>
          <p:cNvSpPr/>
          <p:nvPr/>
        </p:nvSpPr>
        <p:spPr>
          <a:xfrm>
            <a:off x="2884095" y="2167128"/>
            <a:ext cx="186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Lightning AI/</a:t>
            </a:r>
            <a:endParaRPr b="1" i="0" sz="1300" u="none" cap="none" strike="noStrike">
              <a:solidFill>
                <a:srgbClr val="F5F8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endParaRPr b="1" i="0" sz="1300" u="none" cap="none" strike="noStrike">
              <a:solidFill>
                <a:srgbClr val="F5F8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g3fad3833f70_1_406"/>
          <p:cNvSpPr/>
          <p:nvPr/>
        </p:nvSpPr>
        <p:spPr>
          <a:xfrm>
            <a:off x="2829229" y="3044952"/>
            <a:ext cx="196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Hosted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7" name="Google Shape;1097;g3fad3833f70_1_406"/>
          <p:cNvCxnSpPr/>
          <p:nvPr/>
        </p:nvCxnSpPr>
        <p:spPr>
          <a:xfrm>
            <a:off x="4835476" y="25603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6E82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8" name="Google Shape;1098;g3fad3833f70_1_406"/>
          <p:cNvSpPr/>
          <p:nvPr/>
        </p:nvSpPr>
        <p:spPr>
          <a:xfrm>
            <a:off x="5109803" y="2148840"/>
            <a:ext cx="1969500" cy="822900"/>
          </a:xfrm>
          <a:prstGeom prst="roundRect">
            <a:avLst>
              <a:gd fmla="val 11111" name="adj"/>
            </a:avLst>
          </a:prstGeom>
          <a:solidFill>
            <a:srgbClr val="172A40"/>
          </a:solidFill>
          <a:ln cap="flat" cmpd="sng" w="22850">
            <a:solidFill>
              <a:srgbClr val="2FB8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fad3833f70_1_406"/>
          <p:cNvSpPr/>
          <p:nvPr/>
        </p:nvSpPr>
        <p:spPr>
          <a:xfrm>
            <a:off x="5164669" y="2167128"/>
            <a:ext cx="186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Gradio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g3fad3833f70_1_406"/>
          <p:cNvSpPr/>
          <p:nvPr/>
        </p:nvSpPr>
        <p:spPr>
          <a:xfrm>
            <a:off x="5109803" y="3044952"/>
            <a:ext cx="196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User-facing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1" name="Google Shape;1101;g3fad3833f70_1_406"/>
          <p:cNvCxnSpPr/>
          <p:nvPr/>
        </p:nvCxnSpPr>
        <p:spPr>
          <a:xfrm>
            <a:off x="7116051" y="25603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6E82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2" name="Google Shape;1102;g3fad3833f70_1_406"/>
          <p:cNvSpPr/>
          <p:nvPr/>
        </p:nvSpPr>
        <p:spPr>
          <a:xfrm>
            <a:off x="7390378" y="2148840"/>
            <a:ext cx="1969500" cy="822900"/>
          </a:xfrm>
          <a:prstGeom prst="roundRect">
            <a:avLst>
              <a:gd fmla="val 11111" name="adj"/>
            </a:avLst>
          </a:prstGeom>
          <a:solidFill>
            <a:srgbClr val="172A40"/>
          </a:solidFill>
          <a:ln cap="flat" cmpd="sng" w="22850">
            <a:solidFill>
              <a:srgbClr val="C99A3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g3fad3833f70_1_406"/>
          <p:cNvSpPr/>
          <p:nvPr/>
        </p:nvSpPr>
        <p:spPr>
          <a:xfrm>
            <a:off x="7445243" y="2167128"/>
            <a:ext cx="186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Video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g3fad3833f70_1_406"/>
          <p:cNvSpPr/>
          <p:nvPr/>
        </p:nvSpPr>
        <p:spPr>
          <a:xfrm>
            <a:off x="7390378" y="3044952"/>
            <a:ext cx="196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Upload / webcam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5" name="Google Shape;1105;g3fad3833f70_1_406"/>
          <p:cNvCxnSpPr/>
          <p:nvPr/>
        </p:nvCxnSpPr>
        <p:spPr>
          <a:xfrm>
            <a:off x="9396624" y="2560320"/>
            <a:ext cx="237600" cy="0"/>
          </a:xfrm>
          <a:prstGeom prst="straightConnector1">
            <a:avLst/>
          </a:prstGeom>
          <a:noFill/>
          <a:ln cap="flat" cmpd="sng" w="19050">
            <a:solidFill>
              <a:srgbClr val="6E82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6" name="Google Shape;1106;g3fad3833f70_1_406"/>
          <p:cNvSpPr/>
          <p:nvPr/>
        </p:nvSpPr>
        <p:spPr>
          <a:xfrm>
            <a:off x="9670952" y="2148840"/>
            <a:ext cx="1969500" cy="822900"/>
          </a:xfrm>
          <a:prstGeom prst="roundRect">
            <a:avLst>
              <a:gd fmla="val 11111" name="adj"/>
            </a:avLst>
          </a:prstGeom>
          <a:solidFill>
            <a:srgbClr val="172A40"/>
          </a:solidFill>
          <a:ln cap="flat" cmpd="sng" w="22850">
            <a:solidFill>
              <a:srgbClr val="2FD4C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g3fad3833f70_1_406"/>
          <p:cNvSpPr/>
          <p:nvPr/>
        </p:nvSpPr>
        <p:spPr>
          <a:xfrm>
            <a:off x="9725817" y="2167128"/>
            <a:ext cx="186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Integrated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fad3833f70_1_406"/>
          <p:cNvSpPr/>
          <p:nvPr/>
        </p:nvSpPr>
        <p:spPr>
          <a:xfrm>
            <a:off x="9670952" y="3044952"/>
            <a:ext cx="196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Annotations +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g3fad3833f70_1_406"/>
          <p:cNvSpPr/>
          <p:nvPr/>
        </p:nvSpPr>
        <p:spPr>
          <a:xfrm>
            <a:off x="502933" y="3657600"/>
            <a:ext cx="11183400" cy="1737300"/>
          </a:xfrm>
          <a:prstGeom prst="roundRect">
            <a:avLst>
              <a:gd fmla="val 5263" name="adj"/>
            </a:avLst>
          </a:prstGeom>
          <a:solidFill>
            <a:srgbClr val="172A40"/>
          </a:solidFill>
          <a:ln cap="flat" cmpd="sng" w="12700">
            <a:solidFill>
              <a:srgbClr val="2A445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50B14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ad3833f70_1_406"/>
          <p:cNvSpPr/>
          <p:nvPr/>
        </p:nvSpPr>
        <p:spPr>
          <a:xfrm>
            <a:off x="777261" y="38404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F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F7F"/>
                </a:solidFill>
                <a:latin typeface="Calibri"/>
                <a:ea typeface="Calibri"/>
                <a:cs typeface="Calibri"/>
                <a:sym typeface="Calibri"/>
              </a:rPr>
              <a:t>DEPLOYMENT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g3fad3833f70_1_406"/>
          <p:cNvSpPr/>
          <p:nvPr/>
        </p:nvSpPr>
        <p:spPr>
          <a:xfrm>
            <a:off x="822982" y="4160520"/>
            <a:ext cx="10424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Thin application wrapper + centralized inference core.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Model caching / lazy loading and frame skipping reduce startup and runtime resource pressure.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requirements.txt and README.md document the reproducible runtime.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Gradio exposes the same integrated inference pipeline rather than separate module demos.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g3fad3833f70_1_406"/>
          <p:cNvSpPr/>
          <p:nvPr/>
        </p:nvSpPr>
        <p:spPr>
          <a:xfrm>
            <a:off x="822983" y="5577840"/>
            <a:ext cx="111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Lightning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AI: python app.py + Gradio share=True → public gradio.live URL  </a:t>
            </a:r>
            <a:endParaRPr sz="1300">
              <a:solidFill>
                <a:srgbClr val="9FB0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Kaggle fallback: python run_kaggle_gradio_fallback.py on GPU with share=True → same live demo link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g3fad3833f70_1_406"/>
          <p:cNvSpPr/>
          <p:nvPr/>
        </p:nvSpPr>
        <p:spPr>
          <a:xfrm>
            <a:off x="502933" y="6510528"/>
            <a:ext cx="822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g3fad3833f70_1_406"/>
          <p:cNvSpPr/>
          <p:nvPr/>
        </p:nvSpPr>
        <p:spPr>
          <a:xfrm>
            <a:off x="11155977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33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fad3833f70_1_318"/>
          <p:cNvSpPr txBox="1"/>
          <p:nvPr/>
        </p:nvSpPr>
        <p:spPr>
          <a:xfrm>
            <a:off x="548640" y="1920240"/>
            <a:ext cx="1097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g3fad3833f70_1_318"/>
          <p:cNvSpPr txBox="1"/>
          <p:nvPr/>
        </p:nvSpPr>
        <p:spPr>
          <a:xfrm>
            <a:off x="548640" y="2880360"/>
            <a:ext cx="109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for Live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g3fad3833f70_1_318"/>
          <p:cNvSpPr txBox="1"/>
          <p:nvPr/>
        </p:nvSpPr>
        <p:spPr>
          <a:xfrm>
            <a:off x="548640" y="3703320"/>
            <a:ext cx="109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 — five models, one fused wellness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3fad3833f70_1_318"/>
          <p:cNvSpPr txBox="1"/>
          <p:nvPr/>
        </p:nvSpPr>
        <p:spPr>
          <a:xfrm>
            <a:off x="548640" y="434340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We’ll now switch to the integrated Gradio demo / Risk Fusion Engine in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3fad3833f70_1_318"/>
          <p:cNvSpPr txBox="1"/>
          <p:nvPr/>
        </p:nvSpPr>
        <p:spPr>
          <a:xfrm>
            <a:off x="548640" y="598932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AI-Powered Driver Wellness System  |  Milestone 6 Final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