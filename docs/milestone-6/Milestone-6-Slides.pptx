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1675"/>
  <p:notesSz cx="6858000" cy="121916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hfmFjx24woqc0g8Aj/+5jn7tQpU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" name="Google Shape;4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5" name="Google Shape;32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1" name="Google Shape;40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6" name="Google Shape;44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8" name="Google Shape;47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3" name="Google Shape;513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3" name="Google Shape;54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2" name="Google Shape;58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6" name="Google Shape;61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5" name="Google Shape;65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5" name="Google Shape;7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6" name="Google Shape;706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10058400" y="-1371600"/>
            <a:ext cx="3108960" cy="3108960"/>
          </a:xfrm>
          <a:prstGeom prst="ellipse">
            <a:avLst/>
          </a:prstGeom>
          <a:noFill/>
          <a:ln cap="flat" cmpd="sng" w="12700">
            <a:solidFill>
              <a:srgbClr val="1B3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10469880" y="-960120"/>
            <a:ext cx="2286000" cy="2286000"/>
          </a:xfrm>
          <a:prstGeom prst="ellipse">
            <a:avLst/>
          </a:prstGeom>
          <a:noFill/>
          <a:ln cap="flat" cmpd="sng" w="12700">
            <a:solidFill>
              <a:srgbClr val="18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10835640" y="-594360"/>
            <a:ext cx="1554480" cy="1554480"/>
          </a:xfrm>
          <a:prstGeom prst="ellipse">
            <a:avLst/>
          </a:prstGeom>
          <a:noFill/>
          <a:ln cap="flat" cmpd="sng" w="12700">
            <a:solidFill>
              <a:srgbClr val="18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548640" y="13716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MILESTONE 6  ·  FINAL SYSTEM, INTEGRATION &amp; DEPLOYMENT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02920" y="1783080"/>
            <a:ext cx="1060704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5000"/>
              <a:buFont typeface="Bookman Old Style"/>
              <a:buNone/>
            </a:pPr>
            <a:r>
              <a:rPr b="1" i="0" lang="en-US" sz="50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AI-Powered Driver Wellness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5000"/>
              <a:buFont typeface="Bookman Old Style"/>
              <a:buNone/>
            </a:pPr>
            <a:r>
              <a:rPr b="1" i="0" lang="en-US" sz="50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&amp; Safety Monitoring System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30352" y="3657600"/>
            <a:ext cx="98755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550"/>
              <a:buFont typeface="Calibri"/>
              <a:buNone/>
            </a:pPr>
            <a:r>
              <a:rPr b="0" i="0" lang="en-US" sz="15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Five trained models unified behind one standardized contract, fused into a live 0–100 wellness score, and deployed as a hosted real-time driver-monitoring application.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02920" y="4709160"/>
            <a:ext cx="2084832" cy="566928"/>
          </a:xfrm>
          <a:prstGeom prst="roundRect">
            <a:avLst>
              <a:gd fmla="val 50000" name="adj"/>
            </a:avLst>
          </a:prstGeom>
          <a:solidFill>
            <a:srgbClr val="172A40"/>
          </a:solidFill>
          <a:ln cap="flat" cmpd="sng" w="17775">
            <a:solidFill>
              <a:srgbClr val="E85D5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704088" y="4846320"/>
            <a:ext cx="292608" cy="292608"/>
          </a:xfrm>
          <a:prstGeom prst="ellipse">
            <a:avLst/>
          </a:prstGeom>
          <a:solidFill>
            <a:srgbClr val="E85D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1"/>
          <p:cNvSpPr/>
          <p:nvPr/>
        </p:nvSpPr>
        <p:spPr>
          <a:xfrm>
            <a:off x="1069848" y="4709160"/>
            <a:ext cx="144475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Kushagra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2734056" y="4709160"/>
            <a:ext cx="2084832" cy="566928"/>
          </a:xfrm>
          <a:prstGeom prst="roundRect">
            <a:avLst>
              <a:gd fmla="val 50000" name="adj"/>
            </a:avLst>
          </a:prstGeom>
          <a:solidFill>
            <a:srgbClr val="172A40"/>
          </a:solidFill>
          <a:ln cap="flat" cmpd="sng" w="17775">
            <a:solidFill>
              <a:srgbClr val="2FB89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2935224" y="4846320"/>
            <a:ext cx="292608" cy="292608"/>
          </a:xfrm>
          <a:prstGeom prst="ellipse">
            <a:avLst/>
          </a:prstGeom>
          <a:solidFill>
            <a:srgbClr val="2FB8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1"/>
          <p:cNvSpPr/>
          <p:nvPr/>
        </p:nvSpPr>
        <p:spPr>
          <a:xfrm>
            <a:off x="3300984" y="4709160"/>
            <a:ext cx="144475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Shiwani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965192" y="4709160"/>
            <a:ext cx="2084832" cy="566928"/>
          </a:xfrm>
          <a:prstGeom prst="roundRect">
            <a:avLst>
              <a:gd fmla="val 50000" name="adj"/>
            </a:avLst>
          </a:prstGeom>
          <a:solidFill>
            <a:srgbClr val="172A40"/>
          </a:solidFill>
          <a:ln cap="flat" cmpd="sng" w="17775">
            <a:solidFill>
              <a:srgbClr val="7C8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1"/>
          <p:cNvSpPr/>
          <p:nvPr/>
        </p:nvSpPr>
        <p:spPr>
          <a:xfrm>
            <a:off x="5166360" y="4846320"/>
            <a:ext cx="292608" cy="292608"/>
          </a:xfrm>
          <a:prstGeom prst="ellipse">
            <a:avLst/>
          </a:prstGeom>
          <a:solidFill>
            <a:srgbClr val="7C8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5532120" y="4709160"/>
            <a:ext cx="144475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Shubham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7196328" y="4709160"/>
            <a:ext cx="2084832" cy="566928"/>
          </a:xfrm>
          <a:prstGeom prst="roundRect">
            <a:avLst>
              <a:gd fmla="val 50000" name="adj"/>
            </a:avLst>
          </a:prstGeom>
          <a:solidFill>
            <a:srgbClr val="172A40"/>
          </a:solidFill>
          <a:ln cap="flat" cmpd="sng" w="17775">
            <a:solidFill>
              <a:srgbClr val="C99A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1"/>
          <p:cNvSpPr/>
          <p:nvPr/>
        </p:nvSpPr>
        <p:spPr>
          <a:xfrm>
            <a:off x="7397496" y="4846320"/>
            <a:ext cx="292608" cy="292608"/>
          </a:xfrm>
          <a:prstGeom prst="ellipse">
            <a:avLst/>
          </a:prstGeom>
          <a:solidFill>
            <a:srgbClr val="C99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1"/>
          <p:cNvSpPr/>
          <p:nvPr/>
        </p:nvSpPr>
        <p:spPr>
          <a:xfrm>
            <a:off x="7763256" y="4709160"/>
            <a:ext cx="144475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Sohini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9427464" y="4709160"/>
            <a:ext cx="2084832" cy="566928"/>
          </a:xfrm>
          <a:prstGeom prst="roundRect">
            <a:avLst>
              <a:gd fmla="val 50000" name="adj"/>
            </a:avLst>
          </a:prstGeom>
          <a:solidFill>
            <a:srgbClr val="172A40"/>
          </a:solidFill>
          <a:ln cap="flat" cmpd="sng" w="17775">
            <a:solidFill>
              <a:srgbClr val="B44F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1"/>
          <p:cNvSpPr/>
          <p:nvPr/>
        </p:nvSpPr>
        <p:spPr>
          <a:xfrm>
            <a:off x="9628632" y="4846320"/>
            <a:ext cx="292608" cy="292608"/>
          </a:xfrm>
          <a:prstGeom prst="ellipse">
            <a:avLst/>
          </a:prstGeom>
          <a:solidFill>
            <a:srgbClr val="B44F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1"/>
          <p:cNvSpPr/>
          <p:nvPr/>
        </p:nvSpPr>
        <p:spPr>
          <a:xfrm>
            <a:off x="9994392" y="4709160"/>
            <a:ext cx="144475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Ravina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530352" y="55321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BSDA4001  ·  DS/AI Lab Course  ·  Final Project Presentation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1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1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THE FULL ARC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Six Milestones, One System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493776" y="141732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From a revised scope to a fully fused, deployed real-time wellness engine — each milestone built directly on the last.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8" name="Google Shape;48;p2"/>
          <p:cNvCxnSpPr/>
          <p:nvPr/>
        </p:nvCxnSpPr>
        <p:spPr>
          <a:xfrm>
            <a:off x="1399032" y="2313432"/>
            <a:ext cx="9390888" cy="0"/>
          </a:xfrm>
          <a:prstGeom prst="straightConnector1">
            <a:avLst/>
          </a:prstGeom>
          <a:noFill/>
          <a:ln cap="flat" cmpd="sng" w="1905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" name="Google Shape;49;p2"/>
          <p:cNvSpPr/>
          <p:nvPr/>
        </p:nvSpPr>
        <p:spPr>
          <a:xfrm>
            <a:off x="1143000" y="2057400"/>
            <a:ext cx="512064" cy="512064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1143000" y="2048256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M1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48640" y="2743200"/>
            <a:ext cx="1700784" cy="2651760"/>
          </a:xfrm>
          <a:prstGeom prst="roundRect">
            <a:avLst>
              <a:gd fmla="val 537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76656" y="2898648"/>
            <a:ext cx="14447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Scope &amp; Framing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2"/>
          <p:cNvSpPr/>
          <p:nvPr/>
        </p:nvSpPr>
        <p:spPr>
          <a:xfrm>
            <a:off x="676656" y="3566160"/>
            <a:ext cx="1444752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Reframed beyond drowsiness → full driver-wellness; multi-branch pipeline proposed.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3021178" y="2057400"/>
            <a:ext cx="512064" cy="512064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3021178" y="2048256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M2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2426818" y="2743200"/>
            <a:ext cx="1700784" cy="2651760"/>
          </a:xfrm>
          <a:prstGeom prst="roundRect">
            <a:avLst>
              <a:gd fmla="val 537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2"/>
          <p:cNvSpPr/>
          <p:nvPr/>
        </p:nvSpPr>
        <p:spPr>
          <a:xfrm>
            <a:off x="2554834" y="2898648"/>
            <a:ext cx="14447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Dataset Prep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2554834" y="3566160"/>
            <a:ext cx="1444752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Five datasets cleaned &amp; split leakage-free — subject / sequence-wise.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2"/>
          <p:cNvSpPr/>
          <p:nvPr/>
        </p:nvSpPr>
        <p:spPr>
          <a:xfrm>
            <a:off x="4899355" y="2057400"/>
            <a:ext cx="512064" cy="512064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2"/>
          <p:cNvSpPr/>
          <p:nvPr/>
        </p:nvSpPr>
        <p:spPr>
          <a:xfrm>
            <a:off x="4899355" y="2048256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M3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2"/>
          <p:cNvSpPr/>
          <p:nvPr/>
        </p:nvSpPr>
        <p:spPr>
          <a:xfrm>
            <a:off x="4304995" y="2743200"/>
            <a:ext cx="1700784" cy="2651760"/>
          </a:xfrm>
          <a:prstGeom prst="roundRect">
            <a:avLst>
              <a:gd fmla="val 537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2"/>
          <p:cNvSpPr/>
          <p:nvPr/>
        </p:nvSpPr>
        <p:spPr>
          <a:xfrm>
            <a:off x="4433011" y="2898648"/>
            <a:ext cx="14447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4433011" y="3566160"/>
            <a:ext cx="1444752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One model per module selected, justified &amp; fully specified; fusion designed.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6777533" y="2057400"/>
            <a:ext cx="512064" cy="512064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6777533" y="2048256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M4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6183173" y="2743200"/>
            <a:ext cx="1700784" cy="2651760"/>
          </a:xfrm>
          <a:prstGeom prst="roundRect">
            <a:avLst>
              <a:gd fmla="val 537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2"/>
          <p:cNvSpPr/>
          <p:nvPr/>
        </p:nvSpPr>
        <p:spPr>
          <a:xfrm>
            <a:off x="6311189" y="2898648"/>
            <a:ext cx="14447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Train &amp; Tune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6311189" y="3566160"/>
            <a:ext cx="1444752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Five checkpoints trained; hyperparameters swept per module.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8655710" y="2057400"/>
            <a:ext cx="512064" cy="512064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2"/>
          <p:cNvSpPr/>
          <p:nvPr/>
        </p:nvSpPr>
        <p:spPr>
          <a:xfrm>
            <a:off x="8655710" y="2048256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M5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8061350" y="2743200"/>
            <a:ext cx="1700784" cy="2651760"/>
          </a:xfrm>
          <a:prstGeom prst="roundRect">
            <a:avLst>
              <a:gd fmla="val 537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2"/>
          <p:cNvSpPr/>
          <p:nvPr/>
        </p:nvSpPr>
        <p:spPr>
          <a:xfrm>
            <a:off x="8189366" y="2898648"/>
            <a:ext cx="14447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Held-Out Eval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8189366" y="3566160"/>
            <a:ext cx="1444752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Benchmarked, error-diagnosed &amp; efficiency-measured on unseen data.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10533888" y="2057400"/>
            <a:ext cx="512064" cy="512064"/>
          </a:xfrm>
          <a:prstGeom prst="ellipse">
            <a:avLst/>
          </a:prstGeom>
          <a:solidFill>
            <a:srgbClr val="B44F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2"/>
          <p:cNvSpPr/>
          <p:nvPr/>
        </p:nvSpPr>
        <p:spPr>
          <a:xfrm>
            <a:off x="10533888" y="2048256"/>
            <a:ext cx="512064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M6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9939528" y="2743200"/>
            <a:ext cx="1700784" cy="2651760"/>
          </a:xfrm>
          <a:prstGeom prst="roundRect">
            <a:avLst>
              <a:gd fmla="val 5376" name="adj"/>
            </a:avLst>
          </a:prstGeom>
          <a:solidFill>
            <a:srgbClr val="1D2C44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2"/>
          <p:cNvSpPr/>
          <p:nvPr/>
        </p:nvSpPr>
        <p:spPr>
          <a:xfrm>
            <a:off x="9939528" y="2743200"/>
            <a:ext cx="1700784" cy="2651760"/>
          </a:xfrm>
          <a:prstGeom prst="roundRect">
            <a:avLst>
              <a:gd fmla="val 5376" name="adj"/>
            </a:avLst>
          </a:prstGeom>
          <a:noFill/>
          <a:ln cap="flat" cmpd="sng" w="19050">
            <a:solidFill>
              <a:srgbClr val="B44F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"/>
          <p:cNvSpPr/>
          <p:nvPr/>
        </p:nvSpPr>
        <p:spPr>
          <a:xfrm>
            <a:off x="10067544" y="2898648"/>
            <a:ext cx="14447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Integrate &amp; Deploy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10067544" y="3566160"/>
            <a:ext cx="1444752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Standardized adapters, fused 0–100 score, hosted Gradio app.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You are here  →  Milestone 6 turns five evaluated models into one live, deployed safety signal.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2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OVERALL SYSTEM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Five Models, One Wellness Score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3"/>
          <p:cNvSpPr/>
          <p:nvPr/>
        </p:nvSpPr>
        <p:spPr>
          <a:xfrm>
            <a:off x="4572000" y="1572768"/>
            <a:ext cx="3044952" cy="502920"/>
          </a:xfrm>
          <a:prstGeom prst="roundRect">
            <a:avLst>
              <a:gd fmla="val 14545" name="adj"/>
            </a:avLst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4572000" y="1572768"/>
            <a:ext cx="304495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Driver Camera  →  Video Stream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2" name="Google Shape;92;p3"/>
          <p:cNvCxnSpPr/>
          <p:nvPr/>
        </p:nvCxnSpPr>
        <p:spPr>
          <a:xfrm>
            <a:off x="6089904" y="2075688"/>
            <a:ext cx="0" cy="274320"/>
          </a:xfrm>
          <a:prstGeom prst="straightConnector1">
            <a:avLst/>
          </a:prstGeom>
          <a:noFill/>
          <a:ln cap="flat" cmpd="sng" w="17775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93" name="Google Shape;93;p3"/>
          <p:cNvSpPr/>
          <p:nvPr/>
        </p:nvSpPr>
        <p:spPr>
          <a:xfrm>
            <a:off x="548640" y="2514600"/>
            <a:ext cx="20848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1444752" y="2660904"/>
            <a:ext cx="292608" cy="292608"/>
          </a:xfrm>
          <a:prstGeom prst="ellipse">
            <a:avLst/>
          </a:prstGeom>
          <a:solidFill>
            <a:srgbClr val="E85D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603504" y="2990088"/>
            <a:ext cx="1975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Video Fatigue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3"/>
          <p:cNvSpPr/>
          <p:nvPr/>
        </p:nvSpPr>
        <p:spPr>
          <a:xfrm>
            <a:off x="603504" y="3246120"/>
            <a:ext cx="19751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EfficientNet-B0 + BiLSTM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7" name="Google Shape;97;p3"/>
          <p:cNvCxnSpPr/>
          <p:nvPr/>
        </p:nvCxnSpPr>
        <p:spPr>
          <a:xfrm>
            <a:off x="1591056" y="3566160"/>
            <a:ext cx="0" cy="256032"/>
          </a:xfrm>
          <a:prstGeom prst="straightConnector1">
            <a:avLst/>
          </a:prstGeom>
          <a:noFill/>
          <a:ln cap="flat" cmpd="sng" w="17775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98" name="Google Shape;98;p3"/>
          <p:cNvSpPr/>
          <p:nvPr/>
        </p:nvSpPr>
        <p:spPr>
          <a:xfrm>
            <a:off x="2800350" y="2514600"/>
            <a:ext cx="20848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3696462" y="2660904"/>
            <a:ext cx="292608" cy="292608"/>
          </a:xfrm>
          <a:prstGeom prst="ellipse">
            <a:avLst/>
          </a:prstGeom>
          <a:solidFill>
            <a:srgbClr val="2FB8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"/>
          <p:cNvSpPr/>
          <p:nvPr/>
        </p:nvSpPr>
        <p:spPr>
          <a:xfrm>
            <a:off x="2855214" y="2990088"/>
            <a:ext cx="1975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Landmark Fatigue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3"/>
          <p:cNvSpPr/>
          <p:nvPr/>
        </p:nvSpPr>
        <p:spPr>
          <a:xfrm>
            <a:off x="2855214" y="3246120"/>
            <a:ext cx="19751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LSTM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2" name="Google Shape;102;p3"/>
          <p:cNvCxnSpPr/>
          <p:nvPr/>
        </p:nvCxnSpPr>
        <p:spPr>
          <a:xfrm>
            <a:off x="3842766" y="3566160"/>
            <a:ext cx="0" cy="256032"/>
          </a:xfrm>
          <a:prstGeom prst="straightConnector1">
            <a:avLst/>
          </a:prstGeom>
          <a:noFill/>
          <a:ln cap="flat" cmpd="sng" w="17775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03" name="Google Shape;103;p3"/>
          <p:cNvSpPr/>
          <p:nvPr/>
        </p:nvSpPr>
        <p:spPr>
          <a:xfrm>
            <a:off x="5052060" y="2514600"/>
            <a:ext cx="20848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"/>
          <p:cNvSpPr/>
          <p:nvPr/>
        </p:nvSpPr>
        <p:spPr>
          <a:xfrm>
            <a:off x="5948172" y="2660904"/>
            <a:ext cx="292608" cy="292608"/>
          </a:xfrm>
          <a:prstGeom prst="ellipse">
            <a:avLst/>
          </a:prstGeom>
          <a:solidFill>
            <a:srgbClr val="7C8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"/>
          <p:cNvSpPr/>
          <p:nvPr/>
        </p:nvSpPr>
        <p:spPr>
          <a:xfrm>
            <a:off x="5106924" y="2990088"/>
            <a:ext cx="1975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Driver Activity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/>
          <p:nvPr/>
        </p:nvSpPr>
        <p:spPr>
          <a:xfrm>
            <a:off x="5106924" y="3246120"/>
            <a:ext cx="19751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MobileNetV3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7" name="Google Shape;107;p3"/>
          <p:cNvCxnSpPr/>
          <p:nvPr/>
        </p:nvCxnSpPr>
        <p:spPr>
          <a:xfrm>
            <a:off x="6094476" y="3566160"/>
            <a:ext cx="0" cy="256032"/>
          </a:xfrm>
          <a:prstGeom prst="straightConnector1">
            <a:avLst/>
          </a:prstGeom>
          <a:noFill/>
          <a:ln cap="flat" cmpd="sng" w="17775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08" name="Google Shape;108;p3"/>
          <p:cNvSpPr/>
          <p:nvPr/>
        </p:nvSpPr>
        <p:spPr>
          <a:xfrm>
            <a:off x="7303770" y="2514600"/>
            <a:ext cx="20848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3"/>
          <p:cNvSpPr/>
          <p:nvPr/>
        </p:nvSpPr>
        <p:spPr>
          <a:xfrm>
            <a:off x="8199882" y="2660904"/>
            <a:ext cx="292608" cy="292608"/>
          </a:xfrm>
          <a:prstGeom prst="ellipse">
            <a:avLst/>
          </a:prstGeom>
          <a:solidFill>
            <a:srgbClr val="C99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7358634" y="2990088"/>
            <a:ext cx="1975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Seat Belt &amp; Phone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7358634" y="3246120"/>
            <a:ext cx="19751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YOLOv8n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3"/>
          <p:cNvCxnSpPr/>
          <p:nvPr/>
        </p:nvCxnSpPr>
        <p:spPr>
          <a:xfrm>
            <a:off x="8346186" y="3566160"/>
            <a:ext cx="0" cy="256032"/>
          </a:xfrm>
          <a:prstGeom prst="straightConnector1">
            <a:avLst/>
          </a:prstGeom>
          <a:noFill/>
          <a:ln cap="flat" cmpd="sng" w="17775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13" name="Google Shape;113;p3"/>
          <p:cNvSpPr/>
          <p:nvPr/>
        </p:nvSpPr>
        <p:spPr>
          <a:xfrm>
            <a:off x="9555480" y="2514600"/>
            <a:ext cx="20848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3"/>
          <p:cNvSpPr/>
          <p:nvPr/>
        </p:nvSpPr>
        <p:spPr>
          <a:xfrm>
            <a:off x="10451592" y="2660904"/>
            <a:ext cx="292608" cy="292608"/>
          </a:xfrm>
          <a:prstGeom prst="ellipse">
            <a:avLst/>
          </a:prstGeom>
          <a:solidFill>
            <a:srgbClr val="B44F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3"/>
          <p:cNvSpPr/>
          <p:nvPr/>
        </p:nvSpPr>
        <p:spPr>
          <a:xfrm>
            <a:off x="9610344" y="2990088"/>
            <a:ext cx="1975104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Smoking / Drinking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610344" y="3246120"/>
            <a:ext cx="19751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YOLOv8n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7" name="Google Shape;117;p3"/>
          <p:cNvCxnSpPr/>
          <p:nvPr/>
        </p:nvCxnSpPr>
        <p:spPr>
          <a:xfrm>
            <a:off x="10597896" y="3566160"/>
            <a:ext cx="0" cy="256032"/>
          </a:xfrm>
          <a:prstGeom prst="straightConnector1">
            <a:avLst/>
          </a:prstGeom>
          <a:noFill/>
          <a:ln cap="flat" cmpd="sng" w="17775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18" name="Google Shape;118;p3"/>
          <p:cNvSpPr/>
          <p:nvPr/>
        </p:nvSpPr>
        <p:spPr>
          <a:xfrm>
            <a:off x="548640" y="3977640"/>
            <a:ext cx="11091672" cy="658368"/>
          </a:xfrm>
          <a:prstGeom prst="roundRect">
            <a:avLst>
              <a:gd fmla="val 13889" name="adj"/>
            </a:avLst>
          </a:prstGeom>
          <a:solidFill>
            <a:srgbClr val="12283A"/>
          </a:solidFill>
          <a:ln cap="flat" cmpd="sng" w="203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3"/>
          <p:cNvSpPr/>
          <p:nvPr/>
        </p:nvSpPr>
        <p:spPr>
          <a:xfrm>
            <a:off x="548640" y="3977640"/>
            <a:ext cx="11091672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900"/>
              <a:buFont typeface="Bookman Old Style"/>
              <a:buNone/>
            </a:pPr>
            <a:r>
              <a:rPr b="1" i="0" lang="en-US" sz="1900" u="none" cap="none" strike="noStrike">
                <a:solidFill>
                  <a:srgbClr val="2FD4C1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Driver Risk Fusion Engine   ·   weighted, confidence-scaled scoring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0" name="Google Shape;120;p3"/>
          <p:cNvCxnSpPr/>
          <p:nvPr/>
        </p:nvCxnSpPr>
        <p:spPr>
          <a:xfrm>
            <a:off x="6089904" y="4636008"/>
            <a:ext cx="0" cy="256032"/>
          </a:xfrm>
          <a:prstGeom prst="straightConnector1">
            <a:avLst/>
          </a:prstGeom>
          <a:noFill/>
          <a:ln cap="flat" cmpd="sng" w="17775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1" name="Google Shape;121;p3"/>
          <p:cNvSpPr/>
          <p:nvPr/>
        </p:nvSpPr>
        <p:spPr>
          <a:xfrm>
            <a:off x="4114800" y="5029200"/>
            <a:ext cx="3959352" cy="548640"/>
          </a:xfrm>
          <a:prstGeom prst="roundRect">
            <a:avLst>
              <a:gd fmla="val 13333" name="adj"/>
            </a:avLst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4114800" y="5029200"/>
            <a:ext cx="395935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Driver Wellness Assessment  (0–100)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p3"/>
          <p:cNvCxnSpPr/>
          <p:nvPr/>
        </p:nvCxnSpPr>
        <p:spPr>
          <a:xfrm>
            <a:off x="6089904" y="5577840"/>
            <a:ext cx="0" cy="219456"/>
          </a:xfrm>
          <a:prstGeom prst="straightConnector1">
            <a:avLst/>
          </a:prstGeom>
          <a:noFill/>
          <a:ln cap="flat" cmpd="sng" w="17775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124" name="Google Shape;124;p3"/>
          <p:cNvSpPr/>
          <p:nvPr/>
        </p:nvSpPr>
        <p:spPr>
          <a:xfrm>
            <a:off x="3200400" y="5815584"/>
            <a:ext cx="578815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Alert Generation  →  Fleet Monitoring Dashboard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TEAM &amp; SCOPE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Five Modules, Final Held-Out Results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502920" y="16002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OWNER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3246120" y="16002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MODULE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5989320" y="160020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8366760" y="1600200"/>
            <a:ext cx="331927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HELD-OUT HEADLINE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/>
          <p:nvPr/>
        </p:nvSpPr>
        <p:spPr>
          <a:xfrm>
            <a:off x="502920" y="1874520"/>
            <a:ext cx="11183112" cy="749808"/>
          </a:xfrm>
          <a:prstGeom prst="roundRect">
            <a:avLst>
              <a:gd fmla="val 1219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4"/>
          <p:cNvSpPr/>
          <p:nvPr/>
        </p:nvSpPr>
        <p:spPr>
          <a:xfrm>
            <a:off x="713232" y="2020824"/>
            <a:ext cx="457200" cy="457200"/>
          </a:xfrm>
          <a:prstGeom prst="ellipse">
            <a:avLst/>
          </a:prstGeom>
          <a:solidFill>
            <a:srgbClr val="E85D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713232" y="20116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00"/>
              <a:buFont typeface="Bookman Old Style"/>
              <a:buNone/>
            </a:pPr>
            <a:r>
              <a:rPr b="1" i="0" lang="en-US" sz="13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1325880" y="1874520"/>
            <a:ext cx="1874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Kushagra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4"/>
          <p:cNvSpPr/>
          <p:nvPr/>
        </p:nvSpPr>
        <p:spPr>
          <a:xfrm>
            <a:off x="3246120" y="1874520"/>
            <a:ext cx="2697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Video-Based Fatigue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5989320" y="1874520"/>
            <a:ext cx="23317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5D5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85D52"/>
                </a:solidFill>
                <a:latin typeface="Calibri"/>
                <a:ea typeface="Calibri"/>
                <a:cs typeface="Calibri"/>
                <a:sym typeface="Calibri"/>
              </a:rPr>
              <a:t>EfficientNet-B0 + BiLSTM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4"/>
          <p:cNvSpPr/>
          <p:nvPr/>
        </p:nvSpPr>
        <p:spPr>
          <a:xfrm>
            <a:off x="8366760" y="1874520"/>
            <a:ext cx="32004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Acc 33.6% · streaming built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502920" y="2734056"/>
            <a:ext cx="11183112" cy="749808"/>
          </a:xfrm>
          <a:prstGeom prst="roundRect">
            <a:avLst>
              <a:gd fmla="val 1219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"/>
          <p:cNvSpPr/>
          <p:nvPr/>
        </p:nvSpPr>
        <p:spPr>
          <a:xfrm>
            <a:off x="713232" y="2880360"/>
            <a:ext cx="457200" cy="457200"/>
          </a:xfrm>
          <a:prstGeom prst="ellipse">
            <a:avLst/>
          </a:prstGeom>
          <a:solidFill>
            <a:srgbClr val="2FB8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713232" y="2871216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00"/>
              <a:buFont typeface="Bookman Old Style"/>
              <a:buNone/>
            </a:pPr>
            <a:r>
              <a:rPr b="1" i="0" lang="en-US" sz="13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1325880" y="2734056"/>
            <a:ext cx="1874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Shiwani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3246120" y="2734056"/>
            <a:ext cx="2697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Landmark Fatigue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5989320" y="2734056"/>
            <a:ext cx="23317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B89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B89A"/>
                </a:solidFill>
                <a:latin typeface="Calibri"/>
                <a:ea typeface="Calibri"/>
                <a:cs typeface="Calibri"/>
                <a:sym typeface="Calibri"/>
              </a:rPr>
              <a:t>LSTM (EAR·MAR·pose)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8366760" y="2734056"/>
            <a:ext cx="32004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Acc 64.1% · sens. 94.4%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502920" y="3593592"/>
            <a:ext cx="11183112" cy="749808"/>
          </a:xfrm>
          <a:prstGeom prst="roundRect">
            <a:avLst>
              <a:gd fmla="val 1219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4"/>
          <p:cNvSpPr/>
          <p:nvPr/>
        </p:nvSpPr>
        <p:spPr>
          <a:xfrm>
            <a:off x="713232" y="3739896"/>
            <a:ext cx="457200" cy="457200"/>
          </a:xfrm>
          <a:prstGeom prst="ellipse">
            <a:avLst/>
          </a:prstGeom>
          <a:solidFill>
            <a:srgbClr val="7C8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4"/>
          <p:cNvSpPr/>
          <p:nvPr/>
        </p:nvSpPr>
        <p:spPr>
          <a:xfrm>
            <a:off x="713232" y="373075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00"/>
              <a:buFont typeface="Bookman Old Style"/>
              <a:buNone/>
            </a:pPr>
            <a:r>
              <a:rPr b="1" i="0" lang="en-US" sz="13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1325880" y="3593592"/>
            <a:ext cx="1874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Shubham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3246120" y="3593592"/>
            <a:ext cx="2697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Driver Activity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"/>
          <p:cNvSpPr/>
          <p:nvPr/>
        </p:nvSpPr>
        <p:spPr>
          <a:xfrm>
            <a:off x="5989320" y="3593592"/>
            <a:ext cx="23317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82E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7C82E0"/>
                </a:solidFill>
                <a:latin typeface="Calibri"/>
                <a:ea typeface="Calibri"/>
                <a:cs typeface="Calibri"/>
                <a:sym typeface="Calibri"/>
              </a:rPr>
              <a:t>MobileNetV3-Large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8366760" y="3593592"/>
            <a:ext cx="32004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Acc 93.1% · 12.5 ms/frame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502920" y="4453128"/>
            <a:ext cx="11183112" cy="749808"/>
          </a:xfrm>
          <a:prstGeom prst="roundRect">
            <a:avLst>
              <a:gd fmla="val 1219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4"/>
          <p:cNvSpPr/>
          <p:nvPr/>
        </p:nvSpPr>
        <p:spPr>
          <a:xfrm>
            <a:off x="713232" y="4599432"/>
            <a:ext cx="457200" cy="457200"/>
          </a:xfrm>
          <a:prstGeom prst="ellipse">
            <a:avLst/>
          </a:prstGeom>
          <a:solidFill>
            <a:srgbClr val="C99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4"/>
          <p:cNvSpPr/>
          <p:nvPr/>
        </p:nvSpPr>
        <p:spPr>
          <a:xfrm>
            <a:off x="713232" y="4590288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00"/>
              <a:buFont typeface="Bookman Old Style"/>
              <a:buNone/>
            </a:pPr>
            <a:r>
              <a:rPr b="1" i="0" lang="en-US" sz="13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4"/>
          <p:cNvSpPr/>
          <p:nvPr/>
        </p:nvSpPr>
        <p:spPr>
          <a:xfrm>
            <a:off x="1325880" y="4453128"/>
            <a:ext cx="1874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Sohini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3246120" y="4453128"/>
            <a:ext cx="2697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Seat Belt &amp; Phone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5989320" y="4453128"/>
            <a:ext cx="23317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9A3A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9A3A"/>
                </a:solidFill>
                <a:latin typeface="Calibri"/>
                <a:ea typeface="Calibri"/>
                <a:cs typeface="Calibri"/>
                <a:sym typeface="Calibri"/>
              </a:rPr>
              <a:t>YOLOv8n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/>
          <p:nvPr/>
        </p:nvSpPr>
        <p:spPr>
          <a:xfrm>
            <a:off x="8366760" y="4453128"/>
            <a:ext cx="32004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mAP@50 0.95 · P .94 R .90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4"/>
          <p:cNvSpPr/>
          <p:nvPr/>
        </p:nvSpPr>
        <p:spPr>
          <a:xfrm>
            <a:off x="502920" y="5312664"/>
            <a:ext cx="11183112" cy="749808"/>
          </a:xfrm>
          <a:prstGeom prst="roundRect">
            <a:avLst>
              <a:gd fmla="val 1219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4"/>
          <p:cNvSpPr/>
          <p:nvPr/>
        </p:nvSpPr>
        <p:spPr>
          <a:xfrm>
            <a:off x="713232" y="5458968"/>
            <a:ext cx="457200" cy="457200"/>
          </a:xfrm>
          <a:prstGeom prst="ellipse">
            <a:avLst/>
          </a:prstGeom>
          <a:solidFill>
            <a:srgbClr val="B44F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4"/>
          <p:cNvSpPr/>
          <p:nvPr/>
        </p:nvSpPr>
        <p:spPr>
          <a:xfrm>
            <a:off x="713232" y="5449824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00"/>
              <a:buFont typeface="Bookman Old Style"/>
              <a:buNone/>
            </a:pPr>
            <a:r>
              <a:rPr b="1" i="0" lang="en-US" sz="13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1325880" y="5312664"/>
            <a:ext cx="18745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Ravina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3246120" y="5312664"/>
            <a:ext cx="2697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Smoking &amp; Drinking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5989320" y="5312664"/>
            <a:ext cx="233172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4FC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B44FC4"/>
                </a:solidFill>
                <a:latin typeface="Calibri"/>
                <a:ea typeface="Calibri"/>
                <a:cs typeface="Calibri"/>
                <a:sym typeface="Calibri"/>
              </a:rPr>
              <a:t>YOLOv8n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/>
          <p:nvPr/>
        </p:nvSpPr>
        <p:spPr>
          <a:xfrm>
            <a:off x="8366760" y="5312664"/>
            <a:ext cx="320040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mAP@50 0.82 · 3.01 M par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4"/>
          <p:cNvSpPr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All figures are inference-only on strictly held-out, subject- or driver-disjoint splits (Milestone 5).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5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THE RISK-FUSION ENGINE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Five Signals Fused Into One Live Score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5"/>
          <p:cNvSpPr/>
          <p:nvPr/>
        </p:nvSpPr>
        <p:spPr>
          <a:xfrm>
            <a:off x="502920" y="1572768"/>
            <a:ext cx="5394960" cy="1234440"/>
          </a:xfrm>
          <a:prstGeom prst="roundRect">
            <a:avLst>
              <a:gd fmla="val 7407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731520" y="1700784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6A5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86A5E"/>
                </a:solidFill>
                <a:latin typeface="Calibri"/>
                <a:ea typeface="Calibri"/>
                <a:cs typeface="Calibri"/>
                <a:sym typeface="Calibri"/>
              </a:rPr>
              <a:t>FROM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5"/>
          <p:cNvSpPr/>
          <p:nvPr/>
        </p:nvSpPr>
        <p:spPr>
          <a:xfrm>
            <a:off x="731520" y="192024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600"/>
              <a:buFont typeface="Bookman Old Style"/>
              <a:buNone/>
            </a:pPr>
            <a:r>
              <a:rPr b="1" i="0" lang="en-US" sz="1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One model · one label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731520" y="2286000"/>
            <a:ext cx="49377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A discrete, single-cause “fatigue: yes / no” verdict, scored once per clip.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291072" y="1572768"/>
            <a:ext cx="5394960" cy="1234440"/>
          </a:xfrm>
          <a:prstGeom prst="roundRect">
            <a:avLst>
              <a:gd fmla="val 7407" name="adj"/>
            </a:avLst>
          </a:prstGeom>
          <a:solidFill>
            <a:srgbClr val="14324A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291072" y="1572768"/>
            <a:ext cx="5394960" cy="1234440"/>
          </a:xfrm>
          <a:prstGeom prst="roundRect">
            <a:avLst>
              <a:gd fmla="val 7407" name="adj"/>
            </a:avLst>
          </a:prstGeom>
          <a:noFill/>
          <a:ln cap="flat" cmpd="sng" w="190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5"/>
          <p:cNvSpPr/>
          <p:nvPr/>
        </p:nvSpPr>
        <p:spPr>
          <a:xfrm>
            <a:off x="6519672" y="1700784"/>
            <a:ext cx="1828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TO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6519672" y="1920240"/>
            <a:ext cx="49377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600"/>
              <a:buFont typeface="Bookman Old Style"/>
              <a:buNone/>
            </a:pPr>
            <a:r>
              <a:rPr b="1" i="0" lang="en-US" sz="1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Five models · one score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/>
          <p:nvPr/>
        </p:nvSpPr>
        <p:spPr>
          <a:xfrm>
            <a:off x="6519672" y="22860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A fused, continuous 0–100 wellness score, updated every second from the stream.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502920" y="306324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THE SCORING PIPELINE · PER FRAME, EVERY SECOND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/>
          <p:nvPr/>
        </p:nvSpPr>
        <p:spPr>
          <a:xfrm>
            <a:off x="502920" y="3429000"/>
            <a:ext cx="1711452" cy="2148840"/>
          </a:xfrm>
          <a:prstGeom prst="roundRect">
            <a:avLst>
              <a:gd fmla="val 5343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1084326" y="3685032"/>
            <a:ext cx="548640" cy="548640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1084326" y="36758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2200"/>
              <a:buFont typeface="Bookman Old Style"/>
              <a:buNone/>
            </a:pPr>
            <a:r>
              <a:rPr b="1" i="0" lang="en-US" sz="2200" u="none" cap="none" strike="noStrike">
                <a:solidFill>
                  <a:srgbClr val="0E1B2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/>
          <p:nvPr/>
        </p:nvSpPr>
        <p:spPr>
          <a:xfrm>
            <a:off x="576072" y="4389120"/>
            <a:ext cx="15651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Event risk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5"/>
          <p:cNvSpPr/>
          <p:nvPr/>
        </p:nvSpPr>
        <p:spPr>
          <a:xfrm>
            <a:off x="576072" y="4910328"/>
            <a:ext cx="15651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Rᵢ = severity × confidence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2397252" y="3429000"/>
            <a:ext cx="1711452" cy="2148840"/>
          </a:xfrm>
          <a:prstGeom prst="roundRect">
            <a:avLst>
              <a:gd fmla="val 5343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5"/>
          <p:cNvSpPr/>
          <p:nvPr/>
        </p:nvSpPr>
        <p:spPr>
          <a:xfrm>
            <a:off x="2978658" y="3685032"/>
            <a:ext cx="548640" cy="548640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5"/>
          <p:cNvSpPr/>
          <p:nvPr/>
        </p:nvSpPr>
        <p:spPr>
          <a:xfrm>
            <a:off x="2978658" y="36758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2200"/>
              <a:buFont typeface="Bookman Old Style"/>
              <a:buNone/>
            </a:pPr>
            <a:r>
              <a:rPr b="1" i="0" lang="en-US" sz="2200" u="none" cap="none" strike="noStrike">
                <a:solidFill>
                  <a:srgbClr val="0E1B2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/>
          <p:nvPr/>
        </p:nvSpPr>
        <p:spPr>
          <a:xfrm>
            <a:off x="2470404" y="4389120"/>
            <a:ext cx="15651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Safe = 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2470404" y="4910328"/>
            <a:ext cx="15651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Non-risky labels add nothing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/>
          <p:nvPr/>
        </p:nvSpPr>
        <p:spPr>
          <a:xfrm>
            <a:off x="4291584" y="3429000"/>
            <a:ext cx="1711452" cy="2148840"/>
          </a:xfrm>
          <a:prstGeom prst="roundRect">
            <a:avLst>
              <a:gd fmla="val 5343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5"/>
          <p:cNvSpPr/>
          <p:nvPr/>
        </p:nvSpPr>
        <p:spPr>
          <a:xfrm>
            <a:off x="4872990" y="3685032"/>
            <a:ext cx="548640" cy="548640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5"/>
          <p:cNvSpPr/>
          <p:nvPr/>
        </p:nvSpPr>
        <p:spPr>
          <a:xfrm>
            <a:off x="4872990" y="36758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2200"/>
              <a:buFont typeface="Bookman Old Style"/>
              <a:buNone/>
            </a:pPr>
            <a:r>
              <a:rPr b="1" i="0" lang="en-US" sz="2200" u="none" cap="none" strike="noStrike">
                <a:solidFill>
                  <a:srgbClr val="0E1B2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4364736" y="4389120"/>
            <a:ext cx="15651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Total risk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4364736" y="4910328"/>
            <a:ext cx="15651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R_total = Σ Rᵢ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/>
          <p:nvPr/>
        </p:nvSpPr>
        <p:spPr>
          <a:xfrm>
            <a:off x="6185916" y="3429000"/>
            <a:ext cx="1711452" cy="2148840"/>
          </a:xfrm>
          <a:prstGeom prst="roundRect">
            <a:avLst>
              <a:gd fmla="val 5343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5"/>
          <p:cNvSpPr/>
          <p:nvPr/>
        </p:nvSpPr>
        <p:spPr>
          <a:xfrm>
            <a:off x="6767322" y="3685032"/>
            <a:ext cx="548640" cy="548640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5"/>
          <p:cNvSpPr/>
          <p:nvPr/>
        </p:nvSpPr>
        <p:spPr>
          <a:xfrm>
            <a:off x="6767322" y="36758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2200"/>
              <a:buFont typeface="Bookman Old Style"/>
              <a:buNone/>
            </a:pPr>
            <a:r>
              <a:rPr b="1" i="0" lang="en-US" sz="2200" u="none" cap="none" strike="noStrike">
                <a:solidFill>
                  <a:srgbClr val="0E1B2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4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6259068" y="4389120"/>
            <a:ext cx="15651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Exponential fuse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5"/>
          <p:cNvSpPr/>
          <p:nvPr/>
        </p:nvSpPr>
        <p:spPr>
          <a:xfrm>
            <a:off x="6259068" y="4910328"/>
            <a:ext cx="15651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100 × (1 − e^(−k·R))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5"/>
          <p:cNvSpPr/>
          <p:nvPr/>
        </p:nvSpPr>
        <p:spPr>
          <a:xfrm>
            <a:off x="8080248" y="3429000"/>
            <a:ext cx="1711452" cy="2148840"/>
          </a:xfrm>
          <a:prstGeom prst="roundRect">
            <a:avLst>
              <a:gd fmla="val 5343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5"/>
          <p:cNvSpPr/>
          <p:nvPr/>
        </p:nvSpPr>
        <p:spPr>
          <a:xfrm>
            <a:off x="8661654" y="3685032"/>
            <a:ext cx="548640" cy="548640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5"/>
          <p:cNvSpPr/>
          <p:nvPr/>
        </p:nvSpPr>
        <p:spPr>
          <a:xfrm>
            <a:off x="8661654" y="36758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2200"/>
              <a:buFont typeface="Bookman Old Style"/>
              <a:buNone/>
            </a:pPr>
            <a:r>
              <a:rPr b="1" i="0" lang="en-US" sz="2200" u="none" cap="none" strike="noStrike">
                <a:solidFill>
                  <a:srgbClr val="0E1B2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5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/>
          <p:nvPr/>
        </p:nvSpPr>
        <p:spPr>
          <a:xfrm>
            <a:off x="8153400" y="4389120"/>
            <a:ext cx="15651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Smooth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5"/>
          <p:cNvSpPr/>
          <p:nvPr/>
        </p:nvSpPr>
        <p:spPr>
          <a:xfrm>
            <a:off x="8153400" y="4910328"/>
            <a:ext cx="15651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3-second moving average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9974580" y="3429000"/>
            <a:ext cx="1711452" cy="2148840"/>
          </a:xfrm>
          <a:prstGeom prst="roundRect">
            <a:avLst>
              <a:gd fmla="val 5343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5"/>
          <p:cNvSpPr/>
          <p:nvPr/>
        </p:nvSpPr>
        <p:spPr>
          <a:xfrm>
            <a:off x="10555986" y="3685032"/>
            <a:ext cx="548640" cy="548640"/>
          </a:xfrm>
          <a:prstGeom prst="ellipse">
            <a:avLst/>
          </a:prstGeom>
          <a:solidFill>
            <a:srgbClr val="B44F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5"/>
          <p:cNvSpPr/>
          <p:nvPr/>
        </p:nvSpPr>
        <p:spPr>
          <a:xfrm>
            <a:off x="10555986" y="36758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2200"/>
              <a:buFont typeface="Bookman Old Style"/>
              <a:buNone/>
            </a:pPr>
            <a:r>
              <a:rPr b="1" i="0" lang="en-US" sz="2200" u="none" cap="none" strike="noStrike">
                <a:solidFill>
                  <a:srgbClr val="0E1B2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6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10047732" y="4389120"/>
            <a:ext cx="1565148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Classify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10047732" y="4910328"/>
            <a:ext cx="156514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Low → Critical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502920" y="5806440"/>
            <a:ext cx="1118311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The engine consumes only each module’s label + confidence — never the internal network — so any model can be swapped or retrained without touching the math.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STEPS 1 &amp; 4 · THE SCORING MATH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6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Danger × Certainty, Bounded 0–100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502920" y="1572768"/>
            <a:ext cx="5532120" cy="713232"/>
          </a:xfrm>
          <a:prstGeom prst="roundRect">
            <a:avLst>
              <a:gd fmla="val 12821" name="adj"/>
            </a:avLst>
          </a:prstGeom>
          <a:solidFill>
            <a:srgbClr val="12283A"/>
          </a:solidFill>
          <a:ln cap="flat" cmpd="sng" w="17775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502920" y="1572768"/>
            <a:ext cx="553212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2000"/>
              <a:buFont typeface="Bookman Old Style"/>
              <a:buNone/>
            </a:pPr>
            <a:r>
              <a:rPr b="1" i="0" lang="en-US" sz="20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Rᵢ = </a:t>
            </a:r>
            <a:r>
              <a:rPr b="1" i="0" lang="en-US" sz="2000" u="none" cap="none" strike="noStrike">
                <a:solidFill>
                  <a:srgbClr val="2FD4C1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severity_wᵢ</a:t>
            </a:r>
            <a:r>
              <a:rPr b="1" i="0" lang="en-US" sz="20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 × </a:t>
            </a:r>
            <a:r>
              <a:rPr b="1" i="0" lang="en-US" sz="2000" u="none" cap="none" strike="noStrike">
                <a:solidFill>
                  <a:srgbClr val="E0A93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confidenceᵢ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/>
          <p:nvPr/>
        </p:nvSpPr>
        <p:spPr>
          <a:xfrm>
            <a:off x="502920" y="2487168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SEVERITY WEIGHTS (0–10)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502920" y="2788920"/>
            <a:ext cx="5532120" cy="566928"/>
          </a:xfrm>
          <a:prstGeom prst="roundRect">
            <a:avLst>
              <a:gd fmla="val 16129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85800" y="2980944"/>
            <a:ext cx="182880" cy="182880"/>
          </a:xfrm>
          <a:prstGeom prst="ellipse">
            <a:avLst/>
          </a:prstGeom>
          <a:solidFill>
            <a:srgbClr val="E85D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6"/>
          <p:cNvSpPr/>
          <p:nvPr/>
        </p:nvSpPr>
        <p:spPr>
          <a:xfrm>
            <a:off x="987552" y="2788920"/>
            <a:ext cx="2103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Video Fatigue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6"/>
          <p:cNvSpPr/>
          <p:nvPr/>
        </p:nvSpPr>
        <p:spPr>
          <a:xfrm>
            <a:off x="3063240" y="2788920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Medium 6 · High 10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6"/>
          <p:cNvSpPr/>
          <p:nvPr/>
        </p:nvSpPr>
        <p:spPr>
          <a:xfrm>
            <a:off x="502920" y="3456432"/>
            <a:ext cx="5532120" cy="566928"/>
          </a:xfrm>
          <a:prstGeom prst="roundRect">
            <a:avLst>
              <a:gd fmla="val 16129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85800" y="3648456"/>
            <a:ext cx="182880" cy="182880"/>
          </a:xfrm>
          <a:prstGeom prst="ellipse">
            <a:avLst/>
          </a:prstGeom>
          <a:solidFill>
            <a:srgbClr val="2FB8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87552" y="3456432"/>
            <a:ext cx="2103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Landmark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6"/>
          <p:cNvSpPr/>
          <p:nvPr/>
        </p:nvSpPr>
        <p:spPr>
          <a:xfrm>
            <a:off x="3063240" y="3456432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Drowsy 7 · Yawning 7 · Talking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6"/>
          <p:cNvSpPr/>
          <p:nvPr/>
        </p:nvSpPr>
        <p:spPr>
          <a:xfrm>
            <a:off x="502920" y="4123944"/>
            <a:ext cx="5532120" cy="566928"/>
          </a:xfrm>
          <a:prstGeom prst="roundRect">
            <a:avLst>
              <a:gd fmla="val 16129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6"/>
          <p:cNvSpPr/>
          <p:nvPr/>
        </p:nvSpPr>
        <p:spPr>
          <a:xfrm>
            <a:off x="685800" y="4315968"/>
            <a:ext cx="182880" cy="182880"/>
          </a:xfrm>
          <a:prstGeom prst="ellipse">
            <a:avLst/>
          </a:prstGeom>
          <a:solidFill>
            <a:srgbClr val="7C8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6"/>
          <p:cNvSpPr/>
          <p:nvPr/>
        </p:nvSpPr>
        <p:spPr>
          <a:xfrm>
            <a:off x="987552" y="4123944"/>
            <a:ext cx="2103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Driver Activity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6"/>
          <p:cNvSpPr/>
          <p:nvPr/>
        </p:nvSpPr>
        <p:spPr>
          <a:xfrm>
            <a:off x="3063240" y="4123944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Texting 9 · Phone 8 · Other 6 · Turn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6"/>
          <p:cNvSpPr/>
          <p:nvPr/>
        </p:nvSpPr>
        <p:spPr>
          <a:xfrm>
            <a:off x="502920" y="4791456"/>
            <a:ext cx="5532120" cy="566928"/>
          </a:xfrm>
          <a:prstGeom prst="roundRect">
            <a:avLst>
              <a:gd fmla="val 16129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6"/>
          <p:cNvSpPr/>
          <p:nvPr/>
        </p:nvSpPr>
        <p:spPr>
          <a:xfrm>
            <a:off x="685800" y="4983480"/>
            <a:ext cx="182880" cy="182880"/>
          </a:xfrm>
          <a:prstGeom prst="ellipse">
            <a:avLst/>
          </a:prstGeom>
          <a:solidFill>
            <a:srgbClr val="C99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6"/>
          <p:cNvSpPr/>
          <p:nvPr/>
        </p:nvSpPr>
        <p:spPr>
          <a:xfrm>
            <a:off x="987552" y="4791456"/>
            <a:ext cx="2103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Seat Belt &amp; Phone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6"/>
          <p:cNvSpPr/>
          <p:nvPr/>
        </p:nvSpPr>
        <p:spPr>
          <a:xfrm>
            <a:off x="3063240" y="4791456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Phone 9 · Phone+Belt 9 · None 8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6"/>
          <p:cNvSpPr/>
          <p:nvPr/>
        </p:nvSpPr>
        <p:spPr>
          <a:xfrm>
            <a:off x="502920" y="5458968"/>
            <a:ext cx="5532120" cy="566928"/>
          </a:xfrm>
          <a:prstGeom prst="roundRect">
            <a:avLst>
              <a:gd fmla="val 16129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6"/>
          <p:cNvSpPr/>
          <p:nvPr/>
        </p:nvSpPr>
        <p:spPr>
          <a:xfrm>
            <a:off x="685800" y="5650992"/>
            <a:ext cx="182880" cy="182880"/>
          </a:xfrm>
          <a:prstGeom prst="ellipse">
            <a:avLst/>
          </a:prstGeom>
          <a:solidFill>
            <a:srgbClr val="B44F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6"/>
          <p:cNvSpPr/>
          <p:nvPr/>
        </p:nvSpPr>
        <p:spPr>
          <a:xfrm>
            <a:off x="987552" y="5458968"/>
            <a:ext cx="2103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Smoking / Drinking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6"/>
          <p:cNvSpPr/>
          <p:nvPr/>
        </p:nvSpPr>
        <p:spPr>
          <a:xfrm>
            <a:off x="3063240" y="5458968"/>
            <a:ext cx="28803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Drinking 10 · Both 10 · Smoking 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6"/>
          <p:cNvSpPr/>
          <p:nvPr/>
        </p:nvSpPr>
        <p:spPr>
          <a:xfrm>
            <a:off x="6355080" y="1572768"/>
            <a:ext cx="5330952" cy="4480560"/>
          </a:xfrm>
          <a:prstGeom prst="roundRect">
            <a:avLst>
              <a:gd fmla="val 2041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6"/>
          <p:cNvSpPr/>
          <p:nvPr/>
        </p:nvSpPr>
        <p:spPr>
          <a:xfrm>
            <a:off x="6583680" y="1755648"/>
            <a:ext cx="48737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score = 100 × (1 − e</a:t>
            </a:r>
            <a:r>
              <a:rPr b="1" i="0" lang="en-US" sz="1100" u="none" cap="none" strike="noStrike">
                <a:solidFill>
                  <a:srgbClr val="E0A93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−k·R</a:t>
            </a:r>
            <a:r>
              <a:rPr b="1" i="0" lang="en-US" sz="15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)   </a:t>
            </a:r>
            <a:r>
              <a:rPr b="1" i="1" lang="en-US" sz="12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k = 0.05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8" name="Google Shape;258;p6"/>
          <p:cNvCxnSpPr/>
          <p:nvPr/>
        </p:nvCxnSpPr>
        <p:spPr>
          <a:xfrm>
            <a:off x="7132320" y="5230368"/>
            <a:ext cx="4096512" cy="0"/>
          </a:xfrm>
          <a:prstGeom prst="straightConnector1">
            <a:avLst/>
          </a:prstGeom>
          <a:noFill/>
          <a:ln cap="flat" cmpd="sng" w="12700">
            <a:solidFill>
              <a:srgbClr val="22364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9" name="Google Shape;259;p6"/>
          <p:cNvSpPr/>
          <p:nvPr/>
        </p:nvSpPr>
        <p:spPr>
          <a:xfrm>
            <a:off x="6446520" y="51114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0" name="Google Shape;260;p6"/>
          <p:cNvCxnSpPr/>
          <p:nvPr/>
        </p:nvCxnSpPr>
        <p:spPr>
          <a:xfrm>
            <a:off x="7132320" y="4487418"/>
            <a:ext cx="4096512" cy="0"/>
          </a:xfrm>
          <a:prstGeom prst="straightConnector1">
            <a:avLst/>
          </a:prstGeom>
          <a:noFill/>
          <a:ln cap="flat" cmpd="sng" w="12700">
            <a:solidFill>
              <a:srgbClr val="22364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" name="Google Shape;261;p6"/>
          <p:cNvSpPr/>
          <p:nvPr/>
        </p:nvSpPr>
        <p:spPr>
          <a:xfrm>
            <a:off x="6446520" y="436854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25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2" name="Google Shape;262;p6"/>
          <p:cNvCxnSpPr/>
          <p:nvPr/>
        </p:nvCxnSpPr>
        <p:spPr>
          <a:xfrm>
            <a:off x="7132320" y="3744468"/>
            <a:ext cx="4096512" cy="0"/>
          </a:xfrm>
          <a:prstGeom prst="straightConnector1">
            <a:avLst/>
          </a:prstGeom>
          <a:noFill/>
          <a:ln cap="flat" cmpd="sng" w="12700">
            <a:solidFill>
              <a:srgbClr val="22364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" name="Google Shape;263;p6"/>
          <p:cNvSpPr/>
          <p:nvPr/>
        </p:nvSpPr>
        <p:spPr>
          <a:xfrm>
            <a:off x="6446520" y="36255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50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4" name="Google Shape;264;p6"/>
          <p:cNvCxnSpPr/>
          <p:nvPr/>
        </p:nvCxnSpPr>
        <p:spPr>
          <a:xfrm>
            <a:off x="7132320" y="3001518"/>
            <a:ext cx="4096512" cy="0"/>
          </a:xfrm>
          <a:prstGeom prst="straightConnector1">
            <a:avLst/>
          </a:prstGeom>
          <a:noFill/>
          <a:ln cap="flat" cmpd="sng" w="12700">
            <a:solidFill>
              <a:srgbClr val="22364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p6"/>
          <p:cNvSpPr/>
          <p:nvPr/>
        </p:nvSpPr>
        <p:spPr>
          <a:xfrm>
            <a:off x="6446520" y="288264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75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6" name="Google Shape;266;p6"/>
          <p:cNvCxnSpPr/>
          <p:nvPr/>
        </p:nvCxnSpPr>
        <p:spPr>
          <a:xfrm>
            <a:off x="7132320" y="2258568"/>
            <a:ext cx="4096512" cy="0"/>
          </a:xfrm>
          <a:prstGeom prst="straightConnector1">
            <a:avLst/>
          </a:prstGeom>
          <a:noFill/>
          <a:ln cap="flat" cmpd="sng" w="12700">
            <a:solidFill>
              <a:srgbClr val="22364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6"/>
          <p:cNvSpPr/>
          <p:nvPr/>
        </p:nvSpPr>
        <p:spPr>
          <a:xfrm>
            <a:off x="6446520" y="2139696"/>
            <a:ext cx="5943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100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6"/>
          <p:cNvSpPr/>
          <p:nvPr/>
        </p:nvSpPr>
        <p:spPr>
          <a:xfrm>
            <a:off x="6903720" y="5276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6"/>
          <p:cNvSpPr/>
          <p:nvPr/>
        </p:nvSpPr>
        <p:spPr>
          <a:xfrm>
            <a:off x="7927848" y="5276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6"/>
          <p:cNvSpPr/>
          <p:nvPr/>
        </p:nvSpPr>
        <p:spPr>
          <a:xfrm>
            <a:off x="8951976" y="5276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40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6"/>
          <p:cNvSpPr/>
          <p:nvPr/>
        </p:nvSpPr>
        <p:spPr>
          <a:xfrm>
            <a:off x="9976104" y="5276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60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6"/>
          <p:cNvSpPr/>
          <p:nvPr/>
        </p:nvSpPr>
        <p:spPr>
          <a:xfrm>
            <a:off x="11000232" y="52760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80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6"/>
          <p:cNvSpPr/>
          <p:nvPr/>
        </p:nvSpPr>
        <p:spPr>
          <a:xfrm>
            <a:off x="6400800" y="2075688"/>
            <a:ext cx="21945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Wellness score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6"/>
          <p:cNvSpPr/>
          <p:nvPr/>
        </p:nvSpPr>
        <p:spPr>
          <a:xfrm>
            <a:off x="7132320" y="5486400"/>
            <a:ext cx="4096512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R_total  (total risk)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5" name="Google Shape;275;p6"/>
          <p:cNvCxnSpPr/>
          <p:nvPr/>
        </p:nvCxnSpPr>
        <p:spPr>
          <a:xfrm flipH="1" rot="10800000">
            <a:off x="7132320" y="4947564"/>
            <a:ext cx="102413" cy="282804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6" name="Google Shape;276;p6"/>
          <p:cNvCxnSpPr/>
          <p:nvPr/>
        </p:nvCxnSpPr>
        <p:spPr>
          <a:xfrm flipH="1" rot="10800000">
            <a:off x="7234733" y="4691672"/>
            <a:ext cx="102413" cy="255892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7" name="Google Shape;277;p6"/>
          <p:cNvCxnSpPr/>
          <p:nvPr/>
        </p:nvCxnSpPr>
        <p:spPr>
          <a:xfrm flipH="1" rot="10800000">
            <a:off x="7337146" y="4460132"/>
            <a:ext cx="102413" cy="231540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8" name="Google Shape;278;p6"/>
          <p:cNvCxnSpPr/>
          <p:nvPr/>
        </p:nvCxnSpPr>
        <p:spPr>
          <a:xfrm flipH="1" rot="10800000">
            <a:off x="7439558" y="4250626"/>
            <a:ext cx="102413" cy="209506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79" name="Google Shape;279;p6"/>
          <p:cNvCxnSpPr/>
          <p:nvPr/>
        </p:nvCxnSpPr>
        <p:spPr>
          <a:xfrm flipH="1" rot="10800000">
            <a:off x="7541971" y="4061056"/>
            <a:ext cx="102413" cy="189569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0" name="Google Shape;280;p6"/>
          <p:cNvCxnSpPr/>
          <p:nvPr/>
        </p:nvCxnSpPr>
        <p:spPr>
          <a:xfrm flipH="1" rot="10800000">
            <a:off x="7644384" y="3889527"/>
            <a:ext cx="102413" cy="171529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1" name="Google Shape;281;p6"/>
          <p:cNvCxnSpPr/>
          <p:nvPr/>
        </p:nvCxnSpPr>
        <p:spPr>
          <a:xfrm flipH="1" rot="10800000">
            <a:off x="7746797" y="3734320"/>
            <a:ext cx="102413" cy="155206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2" name="Google Shape;282;p6"/>
          <p:cNvCxnSpPr/>
          <p:nvPr/>
        </p:nvCxnSpPr>
        <p:spPr>
          <a:xfrm flipH="1" rot="10800000">
            <a:off x="7849210" y="3593884"/>
            <a:ext cx="102413" cy="140436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3" name="Google Shape;283;p6"/>
          <p:cNvCxnSpPr/>
          <p:nvPr/>
        </p:nvCxnSpPr>
        <p:spPr>
          <a:xfrm flipH="1" rot="10800000">
            <a:off x="7951622" y="3466812"/>
            <a:ext cx="102413" cy="127072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4" name="Google Shape;284;p6"/>
          <p:cNvCxnSpPr/>
          <p:nvPr/>
        </p:nvCxnSpPr>
        <p:spPr>
          <a:xfrm flipH="1" rot="10800000">
            <a:off x="8054035" y="3351832"/>
            <a:ext cx="102413" cy="114980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5" name="Google Shape;285;p6"/>
          <p:cNvCxnSpPr/>
          <p:nvPr/>
        </p:nvCxnSpPr>
        <p:spPr>
          <a:xfrm flipH="1" rot="10800000">
            <a:off x="8156448" y="3247794"/>
            <a:ext cx="102413" cy="104038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6" name="Google Shape;286;p6"/>
          <p:cNvCxnSpPr/>
          <p:nvPr/>
        </p:nvCxnSpPr>
        <p:spPr>
          <a:xfrm flipH="1" rot="10800000">
            <a:off x="8258861" y="3153657"/>
            <a:ext cx="102413" cy="94137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7" name="Google Shape;287;p6"/>
          <p:cNvCxnSpPr/>
          <p:nvPr/>
        </p:nvCxnSpPr>
        <p:spPr>
          <a:xfrm flipH="1" rot="10800000">
            <a:off x="8361274" y="3068478"/>
            <a:ext cx="102413" cy="85179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8" name="Google Shape;288;p6"/>
          <p:cNvCxnSpPr/>
          <p:nvPr/>
        </p:nvCxnSpPr>
        <p:spPr>
          <a:xfrm flipH="1" rot="10800000">
            <a:off x="8463686" y="2991405"/>
            <a:ext cx="102413" cy="77073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89" name="Google Shape;289;p6"/>
          <p:cNvCxnSpPr/>
          <p:nvPr/>
        </p:nvCxnSpPr>
        <p:spPr>
          <a:xfrm flipH="1" rot="10800000">
            <a:off x="8566099" y="2921666"/>
            <a:ext cx="102413" cy="69739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0" name="Google Shape;290;p6"/>
          <p:cNvCxnSpPr/>
          <p:nvPr/>
        </p:nvCxnSpPr>
        <p:spPr>
          <a:xfrm flipH="1" rot="10800000">
            <a:off x="8668512" y="2858564"/>
            <a:ext cx="102413" cy="63102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1" name="Google Shape;291;p6"/>
          <p:cNvCxnSpPr/>
          <p:nvPr/>
        </p:nvCxnSpPr>
        <p:spPr>
          <a:xfrm flipH="1" rot="10800000">
            <a:off x="8770925" y="2801467"/>
            <a:ext cx="102413" cy="57097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2" name="Google Shape;292;p6"/>
          <p:cNvCxnSpPr/>
          <p:nvPr/>
        </p:nvCxnSpPr>
        <p:spPr>
          <a:xfrm flipH="1" rot="10800000">
            <a:off x="8873338" y="2749803"/>
            <a:ext cx="102413" cy="51664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3" name="Google Shape;293;p6"/>
          <p:cNvCxnSpPr/>
          <p:nvPr/>
        </p:nvCxnSpPr>
        <p:spPr>
          <a:xfrm flipH="1" rot="10800000">
            <a:off x="8975750" y="2703056"/>
            <a:ext cx="102413" cy="46747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4" name="Google Shape;294;p6"/>
          <p:cNvCxnSpPr/>
          <p:nvPr/>
        </p:nvCxnSpPr>
        <p:spPr>
          <a:xfrm flipH="1" rot="10800000">
            <a:off x="9078163" y="2660757"/>
            <a:ext cx="102413" cy="42299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5" name="Google Shape;295;p6"/>
          <p:cNvCxnSpPr/>
          <p:nvPr/>
        </p:nvCxnSpPr>
        <p:spPr>
          <a:xfrm flipH="1" rot="10800000">
            <a:off x="9180576" y="2622484"/>
            <a:ext cx="102413" cy="38273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6" name="Google Shape;296;p6"/>
          <p:cNvCxnSpPr/>
          <p:nvPr/>
        </p:nvCxnSpPr>
        <p:spPr>
          <a:xfrm flipH="1" rot="10800000">
            <a:off x="9282989" y="2587853"/>
            <a:ext cx="102413" cy="34631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7" name="Google Shape;297;p6"/>
          <p:cNvCxnSpPr/>
          <p:nvPr/>
        </p:nvCxnSpPr>
        <p:spPr>
          <a:xfrm flipH="1" rot="10800000">
            <a:off x="9385402" y="2556517"/>
            <a:ext cx="102413" cy="31336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8" name="Google Shape;298;p6"/>
          <p:cNvCxnSpPr/>
          <p:nvPr/>
        </p:nvCxnSpPr>
        <p:spPr>
          <a:xfrm flipH="1" rot="10800000">
            <a:off x="9487814" y="2528163"/>
            <a:ext cx="102413" cy="28354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9" name="Google Shape;299;p6"/>
          <p:cNvCxnSpPr/>
          <p:nvPr/>
        </p:nvCxnSpPr>
        <p:spPr>
          <a:xfrm flipH="1" rot="10800000">
            <a:off x="9590227" y="2502509"/>
            <a:ext cx="102413" cy="25655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0" name="Google Shape;300;p6"/>
          <p:cNvCxnSpPr/>
          <p:nvPr/>
        </p:nvCxnSpPr>
        <p:spPr>
          <a:xfrm flipH="1" rot="10800000">
            <a:off x="9692640" y="2479294"/>
            <a:ext cx="102413" cy="23214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1" name="Google Shape;301;p6"/>
          <p:cNvCxnSpPr/>
          <p:nvPr/>
        </p:nvCxnSpPr>
        <p:spPr>
          <a:xfrm flipH="1" rot="10800000">
            <a:off x="9795053" y="2458289"/>
            <a:ext cx="102413" cy="21005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2" name="Google Shape;302;p6"/>
          <p:cNvCxnSpPr/>
          <p:nvPr/>
        </p:nvCxnSpPr>
        <p:spPr>
          <a:xfrm flipH="1" rot="10800000">
            <a:off x="9897466" y="2439283"/>
            <a:ext cx="102413" cy="19006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3" name="Google Shape;303;p6"/>
          <p:cNvCxnSpPr/>
          <p:nvPr/>
        </p:nvCxnSpPr>
        <p:spPr>
          <a:xfrm flipH="1" rot="10800000">
            <a:off x="9999878" y="2422086"/>
            <a:ext cx="102413" cy="17197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4" name="Google Shape;304;p6"/>
          <p:cNvCxnSpPr/>
          <p:nvPr/>
        </p:nvCxnSpPr>
        <p:spPr>
          <a:xfrm flipH="1" rot="10800000">
            <a:off x="10102291" y="2406525"/>
            <a:ext cx="102413" cy="15561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5" name="Google Shape;305;p6"/>
          <p:cNvCxnSpPr/>
          <p:nvPr/>
        </p:nvCxnSpPr>
        <p:spPr>
          <a:xfrm flipH="1" rot="10800000">
            <a:off x="10204704" y="2392445"/>
            <a:ext cx="102413" cy="14080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6" name="Google Shape;306;p6"/>
          <p:cNvCxnSpPr/>
          <p:nvPr/>
        </p:nvCxnSpPr>
        <p:spPr>
          <a:xfrm flipH="1" rot="10800000">
            <a:off x="10307117" y="2379705"/>
            <a:ext cx="102413" cy="12740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7" name="Google Shape;307;p6"/>
          <p:cNvCxnSpPr/>
          <p:nvPr/>
        </p:nvCxnSpPr>
        <p:spPr>
          <a:xfrm flipH="1" rot="10800000">
            <a:off x="10409530" y="2368177"/>
            <a:ext cx="102413" cy="11528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8" name="Google Shape;308;p6"/>
          <p:cNvCxnSpPr/>
          <p:nvPr/>
        </p:nvCxnSpPr>
        <p:spPr>
          <a:xfrm flipH="1" rot="10800000">
            <a:off x="10511942" y="2357746"/>
            <a:ext cx="102413" cy="10431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09" name="Google Shape;309;p6"/>
          <p:cNvCxnSpPr/>
          <p:nvPr/>
        </p:nvCxnSpPr>
        <p:spPr>
          <a:xfrm flipH="1" rot="10800000">
            <a:off x="10614355" y="2348309"/>
            <a:ext cx="102413" cy="9438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0" name="Google Shape;310;p6"/>
          <p:cNvCxnSpPr/>
          <p:nvPr/>
        </p:nvCxnSpPr>
        <p:spPr>
          <a:xfrm flipH="1" rot="10800000">
            <a:off x="10716768" y="2339769"/>
            <a:ext cx="102413" cy="8540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1" name="Google Shape;311;p6"/>
          <p:cNvCxnSpPr/>
          <p:nvPr/>
        </p:nvCxnSpPr>
        <p:spPr>
          <a:xfrm flipH="1" rot="10800000">
            <a:off x="10819181" y="2332042"/>
            <a:ext cx="102413" cy="7727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2" name="Google Shape;312;p6"/>
          <p:cNvCxnSpPr/>
          <p:nvPr/>
        </p:nvCxnSpPr>
        <p:spPr>
          <a:xfrm flipH="1" rot="10800000">
            <a:off x="10921594" y="2325049"/>
            <a:ext cx="102413" cy="6992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3" name="Google Shape;313;p6"/>
          <p:cNvCxnSpPr/>
          <p:nvPr/>
        </p:nvCxnSpPr>
        <p:spPr>
          <a:xfrm flipH="1" rot="10800000">
            <a:off x="11024006" y="2318722"/>
            <a:ext cx="102413" cy="6327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14" name="Google Shape;314;p6"/>
          <p:cNvCxnSpPr/>
          <p:nvPr/>
        </p:nvCxnSpPr>
        <p:spPr>
          <a:xfrm flipH="1" rot="10800000">
            <a:off x="11126419" y="2312999"/>
            <a:ext cx="102413" cy="5724"/>
          </a:xfrm>
          <a:prstGeom prst="straightConnector1">
            <a:avLst/>
          </a:prstGeom>
          <a:noFill/>
          <a:ln cap="flat" cmpd="sng" w="381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5" name="Google Shape;315;p6"/>
          <p:cNvSpPr/>
          <p:nvPr/>
        </p:nvSpPr>
        <p:spPr>
          <a:xfrm>
            <a:off x="7082028" y="5180076"/>
            <a:ext cx="100584" cy="100584"/>
          </a:xfrm>
          <a:prstGeom prst="ellipse">
            <a:avLst/>
          </a:prstGeom>
          <a:solidFill>
            <a:srgbClr val="F5F8FC"/>
          </a:solidFill>
          <a:ln cap="flat" cmpd="sng" w="190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6"/>
          <p:cNvSpPr/>
          <p:nvPr/>
        </p:nvSpPr>
        <p:spPr>
          <a:xfrm>
            <a:off x="8106156" y="3301898"/>
            <a:ext cx="100584" cy="100584"/>
          </a:xfrm>
          <a:prstGeom prst="ellipse">
            <a:avLst/>
          </a:prstGeom>
          <a:solidFill>
            <a:srgbClr val="F5F8FC"/>
          </a:solidFill>
          <a:ln cap="flat" cmpd="sng" w="190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6"/>
          <p:cNvSpPr/>
          <p:nvPr/>
        </p:nvSpPr>
        <p:spPr>
          <a:xfrm>
            <a:off x="9130284" y="2609469"/>
            <a:ext cx="100584" cy="100584"/>
          </a:xfrm>
          <a:prstGeom prst="ellipse">
            <a:avLst/>
          </a:prstGeom>
          <a:solidFill>
            <a:srgbClr val="F5F8FC"/>
          </a:solidFill>
          <a:ln cap="flat" cmpd="sng" w="190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6"/>
          <p:cNvSpPr/>
          <p:nvPr/>
        </p:nvSpPr>
        <p:spPr>
          <a:xfrm>
            <a:off x="10154412" y="2356866"/>
            <a:ext cx="100584" cy="100584"/>
          </a:xfrm>
          <a:prstGeom prst="ellipse">
            <a:avLst/>
          </a:prstGeom>
          <a:solidFill>
            <a:srgbClr val="F5F8FC"/>
          </a:solidFill>
          <a:ln cap="flat" cmpd="sng" w="190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6"/>
          <p:cNvSpPr/>
          <p:nvPr/>
        </p:nvSpPr>
        <p:spPr>
          <a:xfrm>
            <a:off x="11178540" y="2261768"/>
            <a:ext cx="100584" cy="100584"/>
          </a:xfrm>
          <a:prstGeom prst="ellipse">
            <a:avLst/>
          </a:prstGeom>
          <a:solidFill>
            <a:srgbClr val="F5F8FC"/>
          </a:solidFill>
          <a:ln cap="flat" cmpd="sng" w="190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6"/>
          <p:cNvSpPr/>
          <p:nvPr/>
        </p:nvSpPr>
        <p:spPr>
          <a:xfrm>
            <a:off x="6583680" y="5596128"/>
            <a:ext cx="48737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Bounded · additive · saturating — concurrent risks compound, then the curve flattens once danger is already high.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6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7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STEPS 5 &amp; 6 · WORKED EXAMPLE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7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Drowsy, Texting, and Unbelted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7"/>
          <p:cNvSpPr/>
          <p:nvPr/>
        </p:nvSpPr>
        <p:spPr>
          <a:xfrm>
            <a:off x="502920" y="1691640"/>
            <a:ext cx="1874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MODULE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7"/>
          <p:cNvSpPr/>
          <p:nvPr/>
        </p:nvSpPr>
        <p:spPr>
          <a:xfrm>
            <a:off x="2377440" y="169164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PREDICTION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7"/>
          <p:cNvSpPr/>
          <p:nvPr/>
        </p:nvSpPr>
        <p:spPr>
          <a:xfrm>
            <a:off x="4343400" y="169164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SEV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7"/>
          <p:cNvSpPr/>
          <p:nvPr/>
        </p:nvSpPr>
        <p:spPr>
          <a:xfrm>
            <a:off x="5029200" y="1691640"/>
            <a:ext cx="777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CONF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7"/>
          <p:cNvSpPr/>
          <p:nvPr/>
        </p:nvSpPr>
        <p:spPr>
          <a:xfrm>
            <a:off x="5806440" y="1691640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Rᵢ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502920" y="1993392"/>
            <a:ext cx="6126480" cy="566928"/>
          </a:xfrm>
          <a:prstGeom prst="roundRect">
            <a:avLst>
              <a:gd fmla="val 16129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7"/>
          <p:cNvSpPr/>
          <p:nvPr/>
        </p:nvSpPr>
        <p:spPr>
          <a:xfrm>
            <a:off x="630936" y="2194560"/>
            <a:ext cx="164592" cy="164592"/>
          </a:xfrm>
          <a:prstGeom prst="ellipse">
            <a:avLst/>
          </a:prstGeom>
          <a:solidFill>
            <a:srgbClr val="2FB8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7"/>
          <p:cNvSpPr/>
          <p:nvPr/>
        </p:nvSpPr>
        <p:spPr>
          <a:xfrm>
            <a:off x="886968" y="1993392"/>
            <a:ext cx="149047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Landmark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7"/>
          <p:cNvSpPr/>
          <p:nvPr/>
        </p:nvSpPr>
        <p:spPr>
          <a:xfrm>
            <a:off x="2377440" y="1993392"/>
            <a:ext cx="1965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Drowsy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7"/>
          <p:cNvSpPr/>
          <p:nvPr/>
        </p:nvSpPr>
        <p:spPr>
          <a:xfrm>
            <a:off x="4343400" y="1993392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7"/>
          <p:cNvSpPr/>
          <p:nvPr/>
        </p:nvSpPr>
        <p:spPr>
          <a:xfrm>
            <a:off x="5029200" y="1993392"/>
            <a:ext cx="7772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0.90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7"/>
          <p:cNvSpPr/>
          <p:nvPr/>
        </p:nvSpPr>
        <p:spPr>
          <a:xfrm>
            <a:off x="5806440" y="1993392"/>
            <a:ext cx="822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6.3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7"/>
          <p:cNvSpPr/>
          <p:nvPr/>
        </p:nvSpPr>
        <p:spPr>
          <a:xfrm>
            <a:off x="502920" y="2642616"/>
            <a:ext cx="6126480" cy="566928"/>
          </a:xfrm>
          <a:prstGeom prst="roundRect">
            <a:avLst>
              <a:gd fmla="val 16129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7"/>
          <p:cNvSpPr/>
          <p:nvPr/>
        </p:nvSpPr>
        <p:spPr>
          <a:xfrm>
            <a:off x="630936" y="2843784"/>
            <a:ext cx="164592" cy="164592"/>
          </a:xfrm>
          <a:prstGeom prst="ellipse">
            <a:avLst/>
          </a:prstGeom>
          <a:solidFill>
            <a:srgbClr val="7C8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7"/>
          <p:cNvSpPr/>
          <p:nvPr/>
        </p:nvSpPr>
        <p:spPr>
          <a:xfrm>
            <a:off x="886968" y="2642616"/>
            <a:ext cx="149047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Driver Activity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7"/>
          <p:cNvSpPr/>
          <p:nvPr/>
        </p:nvSpPr>
        <p:spPr>
          <a:xfrm>
            <a:off x="2377440" y="2642616"/>
            <a:ext cx="1965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texting_phone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7"/>
          <p:cNvSpPr/>
          <p:nvPr/>
        </p:nvSpPr>
        <p:spPr>
          <a:xfrm>
            <a:off x="4343400" y="2642616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7"/>
          <p:cNvSpPr/>
          <p:nvPr/>
        </p:nvSpPr>
        <p:spPr>
          <a:xfrm>
            <a:off x="5029200" y="2642616"/>
            <a:ext cx="7772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0.80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7"/>
          <p:cNvSpPr/>
          <p:nvPr/>
        </p:nvSpPr>
        <p:spPr>
          <a:xfrm>
            <a:off x="5806440" y="2642616"/>
            <a:ext cx="822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7.2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7"/>
          <p:cNvSpPr/>
          <p:nvPr/>
        </p:nvSpPr>
        <p:spPr>
          <a:xfrm>
            <a:off x="502920" y="3291840"/>
            <a:ext cx="6126480" cy="566928"/>
          </a:xfrm>
          <a:prstGeom prst="roundRect">
            <a:avLst>
              <a:gd fmla="val 16129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7"/>
          <p:cNvSpPr/>
          <p:nvPr/>
        </p:nvSpPr>
        <p:spPr>
          <a:xfrm>
            <a:off x="630936" y="3493008"/>
            <a:ext cx="164592" cy="164592"/>
          </a:xfrm>
          <a:prstGeom prst="ellipse">
            <a:avLst/>
          </a:prstGeom>
          <a:solidFill>
            <a:srgbClr val="C99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7"/>
          <p:cNvSpPr/>
          <p:nvPr/>
        </p:nvSpPr>
        <p:spPr>
          <a:xfrm>
            <a:off x="886968" y="3291840"/>
            <a:ext cx="149047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Seat Belt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7"/>
          <p:cNvSpPr/>
          <p:nvPr/>
        </p:nvSpPr>
        <p:spPr>
          <a:xfrm>
            <a:off x="2377440" y="3291840"/>
            <a:ext cx="1965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No Detection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7"/>
          <p:cNvSpPr/>
          <p:nvPr/>
        </p:nvSpPr>
        <p:spPr>
          <a:xfrm>
            <a:off x="4343400" y="3291840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7"/>
          <p:cNvSpPr/>
          <p:nvPr/>
        </p:nvSpPr>
        <p:spPr>
          <a:xfrm>
            <a:off x="5029200" y="3291840"/>
            <a:ext cx="7772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0.75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7"/>
          <p:cNvSpPr/>
          <p:nvPr/>
        </p:nvSpPr>
        <p:spPr>
          <a:xfrm>
            <a:off x="5806440" y="3291840"/>
            <a:ext cx="822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6.0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7"/>
          <p:cNvSpPr/>
          <p:nvPr/>
        </p:nvSpPr>
        <p:spPr>
          <a:xfrm>
            <a:off x="502920" y="3941064"/>
            <a:ext cx="6126480" cy="566928"/>
          </a:xfrm>
          <a:prstGeom prst="roundRect">
            <a:avLst>
              <a:gd fmla="val 16129" name="adj"/>
            </a:avLst>
          </a:prstGeom>
          <a:solidFill>
            <a:srgbClr val="14202F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7"/>
          <p:cNvSpPr/>
          <p:nvPr/>
        </p:nvSpPr>
        <p:spPr>
          <a:xfrm>
            <a:off x="630936" y="4142232"/>
            <a:ext cx="164592" cy="164592"/>
          </a:xfrm>
          <a:prstGeom prst="ellipse">
            <a:avLst/>
          </a:prstGeom>
          <a:solidFill>
            <a:srgbClr val="E85D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7"/>
          <p:cNvSpPr/>
          <p:nvPr/>
        </p:nvSpPr>
        <p:spPr>
          <a:xfrm>
            <a:off x="886968" y="3941064"/>
            <a:ext cx="149047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Video Fatigue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7"/>
          <p:cNvSpPr/>
          <p:nvPr/>
        </p:nvSpPr>
        <p:spPr>
          <a:xfrm>
            <a:off x="2377440" y="3941064"/>
            <a:ext cx="1965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Low Risk (safe)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7"/>
          <p:cNvSpPr/>
          <p:nvPr/>
        </p:nvSpPr>
        <p:spPr>
          <a:xfrm>
            <a:off x="4343400" y="3941064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7"/>
          <p:cNvSpPr/>
          <p:nvPr/>
        </p:nvSpPr>
        <p:spPr>
          <a:xfrm>
            <a:off x="5029200" y="3941064"/>
            <a:ext cx="7772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7"/>
          <p:cNvSpPr/>
          <p:nvPr/>
        </p:nvSpPr>
        <p:spPr>
          <a:xfrm>
            <a:off x="5806440" y="3941064"/>
            <a:ext cx="822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7"/>
          <p:cNvSpPr/>
          <p:nvPr/>
        </p:nvSpPr>
        <p:spPr>
          <a:xfrm>
            <a:off x="502920" y="4590288"/>
            <a:ext cx="6126480" cy="566928"/>
          </a:xfrm>
          <a:prstGeom prst="roundRect">
            <a:avLst>
              <a:gd fmla="val 16129" name="adj"/>
            </a:avLst>
          </a:prstGeom>
          <a:solidFill>
            <a:srgbClr val="14202F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7"/>
          <p:cNvSpPr/>
          <p:nvPr/>
        </p:nvSpPr>
        <p:spPr>
          <a:xfrm>
            <a:off x="630936" y="4791456"/>
            <a:ext cx="164592" cy="164592"/>
          </a:xfrm>
          <a:prstGeom prst="ellipse">
            <a:avLst/>
          </a:prstGeom>
          <a:solidFill>
            <a:srgbClr val="B44F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7"/>
          <p:cNvSpPr/>
          <p:nvPr/>
        </p:nvSpPr>
        <p:spPr>
          <a:xfrm>
            <a:off x="886968" y="4590288"/>
            <a:ext cx="1490472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Smoking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7"/>
          <p:cNvSpPr/>
          <p:nvPr/>
        </p:nvSpPr>
        <p:spPr>
          <a:xfrm>
            <a:off x="2377440" y="4590288"/>
            <a:ext cx="1965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none (safe)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7"/>
          <p:cNvSpPr/>
          <p:nvPr/>
        </p:nvSpPr>
        <p:spPr>
          <a:xfrm>
            <a:off x="4343400" y="4590288"/>
            <a:ext cx="685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7"/>
          <p:cNvSpPr/>
          <p:nvPr/>
        </p:nvSpPr>
        <p:spPr>
          <a:xfrm>
            <a:off x="5029200" y="4590288"/>
            <a:ext cx="7772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7"/>
          <p:cNvSpPr/>
          <p:nvPr/>
        </p:nvSpPr>
        <p:spPr>
          <a:xfrm>
            <a:off x="5806440" y="4590288"/>
            <a:ext cx="8229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7"/>
          <p:cNvSpPr/>
          <p:nvPr/>
        </p:nvSpPr>
        <p:spPr>
          <a:xfrm>
            <a:off x="502920" y="5257800"/>
            <a:ext cx="6126480" cy="1051560"/>
          </a:xfrm>
          <a:prstGeom prst="roundRect">
            <a:avLst>
              <a:gd fmla="val 8696" name="adj"/>
            </a:avLst>
          </a:prstGeom>
          <a:solidFill>
            <a:srgbClr val="12283A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7"/>
          <p:cNvSpPr/>
          <p:nvPr/>
        </p:nvSpPr>
        <p:spPr>
          <a:xfrm>
            <a:off x="502920" y="5257800"/>
            <a:ext cx="6126480" cy="1051560"/>
          </a:xfrm>
          <a:prstGeom prst="roundRect">
            <a:avLst>
              <a:gd fmla="val 8696" name="adj"/>
            </a:avLst>
          </a:prstGeom>
          <a:noFill/>
          <a:ln cap="flat" cmpd="sng" w="190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7"/>
          <p:cNvSpPr/>
          <p:nvPr/>
        </p:nvSpPr>
        <p:spPr>
          <a:xfrm>
            <a:off x="685800" y="5404104"/>
            <a:ext cx="5760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2FD4C1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R_total = 19.5      </a:t>
            </a: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score = 100 × (1 − e^(−0.05×19.5)) =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7"/>
          <p:cNvSpPr/>
          <p:nvPr/>
        </p:nvSpPr>
        <p:spPr>
          <a:xfrm>
            <a:off x="685800" y="5742432"/>
            <a:ext cx="57607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2600"/>
              <a:buFont typeface="Bookman Old Style"/>
              <a:buNone/>
            </a:pPr>
            <a:r>
              <a:rPr b="1" i="0" lang="en-US" sz="2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62.29  </a:t>
            </a:r>
            <a:r>
              <a:rPr b="1" i="0" lang="en-US" sz="1400" u="none" cap="none" strike="noStrike">
                <a:solidFill>
                  <a:srgbClr val="E0A93B"/>
                </a:solidFill>
                <a:latin typeface="Calibri"/>
                <a:ea typeface="Calibri"/>
                <a:cs typeface="Calibri"/>
                <a:sym typeface="Calibri"/>
              </a:rPr>
              <a:t>→  HIGH RISK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7"/>
          <p:cNvSpPr/>
          <p:nvPr/>
        </p:nvSpPr>
        <p:spPr>
          <a:xfrm>
            <a:off x="6812280" y="1691640"/>
            <a:ext cx="4873752" cy="4343400"/>
          </a:xfrm>
          <a:prstGeom prst="roundRect">
            <a:avLst>
              <a:gd fmla="val 210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7"/>
          <p:cNvSpPr/>
          <p:nvPr/>
        </p:nvSpPr>
        <p:spPr>
          <a:xfrm>
            <a:off x="7040880" y="187452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SMOOTH  →  MAP SCORE → RISK LEVEL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7"/>
          <p:cNvSpPr/>
          <p:nvPr/>
        </p:nvSpPr>
        <p:spPr>
          <a:xfrm>
            <a:off x="7040880" y="2194560"/>
            <a:ext cx="44348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Displayed score = mean of raw scores over the last 3.0 s — killing per-frame flicker before the level is chosen.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7"/>
          <p:cNvSpPr/>
          <p:nvPr/>
        </p:nvSpPr>
        <p:spPr>
          <a:xfrm>
            <a:off x="7040880" y="2926080"/>
            <a:ext cx="4416552" cy="658368"/>
          </a:xfrm>
          <a:prstGeom prst="roundRect">
            <a:avLst>
              <a:gd fmla="val 11111" name="adj"/>
            </a:avLst>
          </a:prstGeom>
          <a:solidFill>
            <a:srgbClr val="2034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7"/>
          <p:cNvSpPr/>
          <p:nvPr/>
        </p:nvSpPr>
        <p:spPr>
          <a:xfrm>
            <a:off x="7040880" y="2926080"/>
            <a:ext cx="109728" cy="658368"/>
          </a:xfrm>
          <a:prstGeom prst="roundRect">
            <a:avLst>
              <a:gd fmla="val 25000" name="adj"/>
            </a:avLst>
          </a:prstGeom>
          <a:solidFill>
            <a:srgbClr val="3FB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7"/>
          <p:cNvSpPr/>
          <p:nvPr/>
        </p:nvSpPr>
        <p:spPr>
          <a:xfrm>
            <a:off x="7269480" y="3154680"/>
            <a:ext cx="201168" cy="201168"/>
          </a:xfrm>
          <a:prstGeom prst="ellipse">
            <a:avLst/>
          </a:prstGeom>
          <a:solidFill>
            <a:srgbClr val="3FBF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7"/>
          <p:cNvSpPr/>
          <p:nvPr/>
        </p:nvSpPr>
        <p:spPr>
          <a:xfrm>
            <a:off x="7607808" y="2926080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Low Risk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7"/>
          <p:cNvSpPr/>
          <p:nvPr/>
        </p:nvSpPr>
        <p:spPr>
          <a:xfrm>
            <a:off x="9692640" y="2926080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3FBF7F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3FBF7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 – 25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7"/>
          <p:cNvSpPr/>
          <p:nvPr/>
        </p:nvSpPr>
        <p:spPr>
          <a:xfrm>
            <a:off x="7040880" y="3694176"/>
            <a:ext cx="4416552" cy="658368"/>
          </a:xfrm>
          <a:prstGeom prst="roundRect">
            <a:avLst>
              <a:gd fmla="val 11111" name="adj"/>
            </a:avLst>
          </a:prstGeom>
          <a:solidFill>
            <a:srgbClr val="2034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7"/>
          <p:cNvSpPr/>
          <p:nvPr/>
        </p:nvSpPr>
        <p:spPr>
          <a:xfrm>
            <a:off x="7040880" y="3694176"/>
            <a:ext cx="109728" cy="658368"/>
          </a:xfrm>
          <a:prstGeom prst="roundRect">
            <a:avLst>
              <a:gd fmla="val 25000" name="adj"/>
            </a:avLst>
          </a:prstGeom>
          <a:solidFill>
            <a:srgbClr val="E0A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7"/>
          <p:cNvSpPr/>
          <p:nvPr/>
        </p:nvSpPr>
        <p:spPr>
          <a:xfrm>
            <a:off x="7269480" y="3922776"/>
            <a:ext cx="201168" cy="201168"/>
          </a:xfrm>
          <a:prstGeom prst="ellipse">
            <a:avLst/>
          </a:prstGeom>
          <a:solidFill>
            <a:srgbClr val="E0A9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7"/>
          <p:cNvSpPr/>
          <p:nvPr/>
        </p:nvSpPr>
        <p:spPr>
          <a:xfrm>
            <a:off x="7607808" y="3694176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Moderate Risk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7"/>
          <p:cNvSpPr/>
          <p:nvPr/>
        </p:nvSpPr>
        <p:spPr>
          <a:xfrm>
            <a:off x="9692640" y="3694176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0A93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E0A93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25 – 50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7"/>
          <p:cNvSpPr/>
          <p:nvPr/>
        </p:nvSpPr>
        <p:spPr>
          <a:xfrm>
            <a:off x="7040880" y="4462272"/>
            <a:ext cx="4416552" cy="658368"/>
          </a:xfrm>
          <a:prstGeom prst="roundRect">
            <a:avLst>
              <a:gd fmla="val 11111" name="adj"/>
            </a:avLst>
          </a:prstGeom>
          <a:solidFill>
            <a:srgbClr val="2034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7"/>
          <p:cNvSpPr/>
          <p:nvPr/>
        </p:nvSpPr>
        <p:spPr>
          <a:xfrm>
            <a:off x="7040880" y="4462272"/>
            <a:ext cx="109728" cy="658368"/>
          </a:xfrm>
          <a:prstGeom prst="roundRect">
            <a:avLst>
              <a:gd fmla="val 25000" name="adj"/>
            </a:avLst>
          </a:prstGeom>
          <a:solidFill>
            <a:srgbClr val="E080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7"/>
          <p:cNvSpPr/>
          <p:nvPr/>
        </p:nvSpPr>
        <p:spPr>
          <a:xfrm>
            <a:off x="7269480" y="4690872"/>
            <a:ext cx="201168" cy="201168"/>
          </a:xfrm>
          <a:prstGeom prst="ellipse">
            <a:avLst/>
          </a:prstGeom>
          <a:solidFill>
            <a:srgbClr val="E0803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7"/>
          <p:cNvSpPr/>
          <p:nvPr/>
        </p:nvSpPr>
        <p:spPr>
          <a:xfrm>
            <a:off x="7607808" y="446227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High Risk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7"/>
          <p:cNvSpPr/>
          <p:nvPr/>
        </p:nvSpPr>
        <p:spPr>
          <a:xfrm>
            <a:off x="9692640" y="4462272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0803B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E0803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50 – 75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7"/>
          <p:cNvSpPr/>
          <p:nvPr/>
        </p:nvSpPr>
        <p:spPr>
          <a:xfrm>
            <a:off x="7040880" y="5230368"/>
            <a:ext cx="4416552" cy="658368"/>
          </a:xfrm>
          <a:prstGeom prst="roundRect">
            <a:avLst>
              <a:gd fmla="val 11111" name="adj"/>
            </a:avLst>
          </a:prstGeom>
          <a:solidFill>
            <a:srgbClr val="2034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p7"/>
          <p:cNvSpPr/>
          <p:nvPr/>
        </p:nvSpPr>
        <p:spPr>
          <a:xfrm>
            <a:off x="7040880" y="5230368"/>
            <a:ext cx="109728" cy="658368"/>
          </a:xfrm>
          <a:prstGeom prst="roundRect">
            <a:avLst>
              <a:gd fmla="val 25000" name="adj"/>
            </a:avLst>
          </a:prstGeom>
          <a:solidFill>
            <a:srgbClr val="E86A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7"/>
          <p:cNvSpPr/>
          <p:nvPr/>
        </p:nvSpPr>
        <p:spPr>
          <a:xfrm>
            <a:off x="7269480" y="5458968"/>
            <a:ext cx="201168" cy="201168"/>
          </a:xfrm>
          <a:prstGeom prst="ellipse">
            <a:avLst/>
          </a:prstGeom>
          <a:solidFill>
            <a:srgbClr val="E86A5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7"/>
          <p:cNvSpPr/>
          <p:nvPr/>
        </p:nvSpPr>
        <p:spPr>
          <a:xfrm>
            <a:off x="7607808" y="5230368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Critical Risk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7"/>
          <p:cNvSpPr/>
          <p:nvPr/>
        </p:nvSpPr>
        <p:spPr>
          <a:xfrm>
            <a:off x="9692640" y="5230368"/>
            <a:ext cx="16002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86A5E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E86A5E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75 – 100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7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7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8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INTEGRATION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8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Individual Module → Integrated System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8"/>
          <p:cNvSpPr/>
          <p:nvPr/>
        </p:nvSpPr>
        <p:spPr>
          <a:xfrm>
            <a:off x="493776" y="141732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How five independent implementations became one pipeline behind a shared contract.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7" name="Google Shape;407;p8"/>
          <p:cNvCxnSpPr/>
          <p:nvPr/>
        </p:nvCxnSpPr>
        <p:spPr>
          <a:xfrm>
            <a:off x="1399032" y="2359152"/>
            <a:ext cx="9390888" cy="0"/>
          </a:xfrm>
          <a:prstGeom prst="straightConnector1">
            <a:avLst/>
          </a:prstGeom>
          <a:noFill/>
          <a:ln cap="flat" cmpd="sng" w="1905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8" name="Google Shape;408;p8"/>
          <p:cNvSpPr/>
          <p:nvPr/>
        </p:nvSpPr>
        <p:spPr>
          <a:xfrm>
            <a:off x="1124712" y="2084832"/>
            <a:ext cx="548640" cy="548640"/>
          </a:xfrm>
          <a:prstGeom prst="roundRect">
            <a:avLst>
              <a:gd fmla="val 16667" name="adj"/>
            </a:avLst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8"/>
          <p:cNvSpPr/>
          <p:nvPr/>
        </p:nvSpPr>
        <p:spPr>
          <a:xfrm>
            <a:off x="1124712" y="20756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8"/>
          <p:cNvSpPr/>
          <p:nvPr/>
        </p:nvSpPr>
        <p:spPr>
          <a:xfrm>
            <a:off x="548640" y="2816352"/>
            <a:ext cx="1700784" cy="2286000"/>
          </a:xfrm>
          <a:prstGeom prst="roundRect">
            <a:avLst>
              <a:gd fmla="val 537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8"/>
          <p:cNvSpPr/>
          <p:nvPr/>
        </p:nvSpPr>
        <p:spPr>
          <a:xfrm>
            <a:off x="658368" y="2962656"/>
            <a:ext cx="14813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BaseModelAdapter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8"/>
          <p:cNvSpPr/>
          <p:nvPr/>
        </p:nvSpPr>
        <p:spPr>
          <a:xfrm>
            <a:off x="658368" y="3675888"/>
            <a:ext cx="148132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Common lifecycle / loading contract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8"/>
          <p:cNvSpPr/>
          <p:nvPr/>
        </p:nvSpPr>
        <p:spPr>
          <a:xfrm>
            <a:off x="3002890" y="2084832"/>
            <a:ext cx="548640" cy="548640"/>
          </a:xfrm>
          <a:prstGeom prst="roundRect">
            <a:avLst>
              <a:gd fmla="val 16667" name="adj"/>
            </a:avLst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8"/>
          <p:cNvSpPr/>
          <p:nvPr/>
        </p:nvSpPr>
        <p:spPr>
          <a:xfrm>
            <a:off x="3002890" y="20756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8"/>
          <p:cNvSpPr/>
          <p:nvPr/>
        </p:nvSpPr>
        <p:spPr>
          <a:xfrm>
            <a:off x="2426818" y="2816352"/>
            <a:ext cx="1700784" cy="2286000"/>
          </a:xfrm>
          <a:prstGeom prst="roundRect">
            <a:avLst>
              <a:gd fmla="val 537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8"/>
          <p:cNvSpPr/>
          <p:nvPr/>
        </p:nvSpPr>
        <p:spPr>
          <a:xfrm>
            <a:off x="2536546" y="2962656"/>
            <a:ext cx="14813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PredictionResult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8"/>
          <p:cNvSpPr/>
          <p:nvPr/>
        </p:nvSpPr>
        <p:spPr>
          <a:xfrm>
            <a:off x="2536546" y="3675888"/>
            <a:ext cx="148132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Common label + confidence + risk metadata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8"/>
          <p:cNvSpPr/>
          <p:nvPr/>
        </p:nvSpPr>
        <p:spPr>
          <a:xfrm>
            <a:off x="4881067" y="2084832"/>
            <a:ext cx="548640" cy="548640"/>
          </a:xfrm>
          <a:prstGeom prst="roundRect">
            <a:avLst>
              <a:gd fmla="val 16667" name="adj"/>
            </a:avLst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8"/>
          <p:cNvSpPr/>
          <p:nvPr/>
        </p:nvSpPr>
        <p:spPr>
          <a:xfrm>
            <a:off x="4881067" y="20756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8"/>
          <p:cNvSpPr/>
          <p:nvPr/>
        </p:nvSpPr>
        <p:spPr>
          <a:xfrm>
            <a:off x="4304995" y="2816352"/>
            <a:ext cx="1700784" cy="2286000"/>
          </a:xfrm>
          <a:prstGeom prst="roundRect">
            <a:avLst>
              <a:gd fmla="val 537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8"/>
          <p:cNvSpPr/>
          <p:nvPr/>
        </p:nvSpPr>
        <p:spPr>
          <a:xfrm>
            <a:off x="4414723" y="2962656"/>
            <a:ext cx="14813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Module Manager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8"/>
          <p:cNvSpPr/>
          <p:nvPr/>
        </p:nvSpPr>
        <p:spPr>
          <a:xfrm>
            <a:off x="4414723" y="3675888"/>
            <a:ext cx="148132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Registers &amp; initializes all five checkpoints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8"/>
          <p:cNvSpPr/>
          <p:nvPr/>
        </p:nvSpPr>
        <p:spPr>
          <a:xfrm>
            <a:off x="6759245" y="2084832"/>
            <a:ext cx="548640" cy="548640"/>
          </a:xfrm>
          <a:prstGeom prst="roundRect">
            <a:avLst>
              <a:gd fmla="val 16667" name="adj"/>
            </a:avLst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8"/>
          <p:cNvSpPr/>
          <p:nvPr/>
        </p:nvSpPr>
        <p:spPr>
          <a:xfrm>
            <a:off x="6759245" y="20756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8"/>
          <p:cNvSpPr/>
          <p:nvPr/>
        </p:nvSpPr>
        <p:spPr>
          <a:xfrm>
            <a:off x="6183173" y="2816352"/>
            <a:ext cx="1700784" cy="2286000"/>
          </a:xfrm>
          <a:prstGeom prst="roundRect">
            <a:avLst>
              <a:gd fmla="val 537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8"/>
          <p:cNvSpPr/>
          <p:nvPr/>
        </p:nvSpPr>
        <p:spPr>
          <a:xfrm>
            <a:off x="6292901" y="2962656"/>
            <a:ext cx="14813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Streaming Orchestrator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8"/>
          <p:cNvSpPr/>
          <p:nvPr/>
        </p:nvSpPr>
        <p:spPr>
          <a:xfrm>
            <a:off x="6292901" y="3675888"/>
            <a:ext cx="148132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Decodes frames; applies frame skip / windows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8"/>
          <p:cNvSpPr/>
          <p:nvPr/>
        </p:nvSpPr>
        <p:spPr>
          <a:xfrm>
            <a:off x="8637422" y="2084832"/>
            <a:ext cx="548640" cy="548640"/>
          </a:xfrm>
          <a:prstGeom prst="roundRect">
            <a:avLst>
              <a:gd fmla="val 16667" name="adj"/>
            </a:avLst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8"/>
          <p:cNvSpPr/>
          <p:nvPr/>
        </p:nvSpPr>
        <p:spPr>
          <a:xfrm>
            <a:off x="8637422" y="20756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8"/>
          <p:cNvSpPr/>
          <p:nvPr/>
        </p:nvSpPr>
        <p:spPr>
          <a:xfrm>
            <a:off x="8061350" y="2816352"/>
            <a:ext cx="1700784" cy="2286000"/>
          </a:xfrm>
          <a:prstGeom prst="roundRect">
            <a:avLst>
              <a:gd fmla="val 537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8"/>
          <p:cNvSpPr/>
          <p:nvPr/>
        </p:nvSpPr>
        <p:spPr>
          <a:xfrm>
            <a:off x="8171078" y="2962656"/>
            <a:ext cx="14813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Risk Fusion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8"/>
          <p:cNvSpPr/>
          <p:nvPr/>
        </p:nvSpPr>
        <p:spPr>
          <a:xfrm>
            <a:off x="8171078" y="3675888"/>
            <a:ext cx="148132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Consumes standardized outputs only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8"/>
          <p:cNvSpPr/>
          <p:nvPr/>
        </p:nvSpPr>
        <p:spPr>
          <a:xfrm>
            <a:off x="10515600" y="2084832"/>
            <a:ext cx="548640" cy="548640"/>
          </a:xfrm>
          <a:prstGeom prst="roundRect">
            <a:avLst>
              <a:gd fmla="val 16667" name="adj"/>
            </a:avLst>
          </a:prstGeom>
          <a:solidFill>
            <a:srgbClr val="B44F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8"/>
          <p:cNvSpPr/>
          <p:nvPr/>
        </p:nvSpPr>
        <p:spPr>
          <a:xfrm>
            <a:off x="10515600" y="2075688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E1B2E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0E1B2E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8"/>
          <p:cNvSpPr/>
          <p:nvPr/>
        </p:nvSpPr>
        <p:spPr>
          <a:xfrm>
            <a:off x="9939528" y="2816352"/>
            <a:ext cx="1700784" cy="2286000"/>
          </a:xfrm>
          <a:prstGeom prst="roundRect">
            <a:avLst>
              <a:gd fmla="val 5376" name="adj"/>
            </a:avLst>
          </a:prstGeom>
          <a:solidFill>
            <a:srgbClr val="1D2C44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8"/>
          <p:cNvSpPr/>
          <p:nvPr/>
        </p:nvSpPr>
        <p:spPr>
          <a:xfrm>
            <a:off x="9939528" y="2816352"/>
            <a:ext cx="1700784" cy="2286000"/>
          </a:xfrm>
          <a:prstGeom prst="roundRect">
            <a:avLst>
              <a:gd fmla="val 5376" name="adj"/>
            </a:avLst>
          </a:prstGeom>
          <a:noFill/>
          <a:ln cap="flat" cmpd="sng" w="19050">
            <a:solidFill>
              <a:srgbClr val="B44F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8"/>
          <p:cNvSpPr/>
          <p:nvPr/>
        </p:nvSpPr>
        <p:spPr>
          <a:xfrm>
            <a:off x="10049256" y="2962656"/>
            <a:ext cx="148132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B44FC4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B44FC4"/>
                </a:solidFill>
                <a:latin typeface="Calibri"/>
                <a:ea typeface="Calibri"/>
                <a:cs typeface="Calibri"/>
                <a:sym typeface="Calibri"/>
              </a:rPr>
              <a:t>Gradio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8"/>
          <p:cNvSpPr/>
          <p:nvPr/>
        </p:nvSpPr>
        <p:spPr>
          <a:xfrm>
            <a:off x="10049256" y="3675888"/>
            <a:ext cx="1481328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Displays predictions, score &amp; session summary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8"/>
          <p:cNvSpPr/>
          <p:nvPr/>
        </p:nvSpPr>
        <p:spPr>
          <a:xfrm>
            <a:off x="502920" y="5532120"/>
            <a:ext cx="11183112" cy="777240"/>
          </a:xfrm>
          <a:prstGeom prst="roundRect">
            <a:avLst>
              <a:gd fmla="val 11765" name="adj"/>
            </a:avLst>
          </a:prstGeom>
          <a:solidFill>
            <a:srgbClr val="12283A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8"/>
          <p:cNvSpPr/>
          <p:nvPr/>
        </p:nvSpPr>
        <p:spPr>
          <a:xfrm>
            <a:off x="502920" y="5532120"/>
            <a:ext cx="11183112" cy="777240"/>
          </a:xfrm>
          <a:prstGeom prst="roundRect">
            <a:avLst>
              <a:gd fmla="val 11765" name="adj"/>
            </a:avLst>
          </a:prstGeom>
          <a:noFill/>
          <a:ln cap="flat" cmpd="sng" w="190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1" name="Google Shape;441;p8"/>
          <p:cNvSpPr/>
          <p:nvPr/>
        </p:nvSpPr>
        <p:spPr>
          <a:xfrm>
            <a:off x="731520" y="553212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Key engineering idea:  </a:t>
            </a:r>
            <a:r>
              <a:rPr b="0" i="0" lang="en-US" sz="13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each module stays independently maintainable, while the integration layer knows only the standardized contract — not the internal model architecture.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8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8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9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INTEGRATION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9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End-to-End Integrated Pipeline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9"/>
          <p:cNvSpPr/>
          <p:nvPr/>
        </p:nvSpPr>
        <p:spPr>
          <a:xfrm>
            <a:off x="493776" y="141732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One video stream, five adapters, one risk decision.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9"/>
          <p:cNvSpPr/>
          <p:nvPr/>
        </p:nvSpPr>
        <p:spPr>
          <a:xfrm>
            <a:off x="548640" y="2148840"/>
            <a:ext cx="15895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228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9"/>
          <p:cNvSpPr/>
          <p:nvPr/>
        </p:nvSpPr>
        <p:spPr>
          <a:xfrm>
            <a:off x="621792" y="2148840"/>
            <a:ext cx="1443228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Driver Video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54" name="Google Shape;454;p9"/>
          <p:cNvCxnSpPr/>
          <p:nvPr/>
        </p:nvCxnSpPr>
        <p:spPr>
          <a:xfrm>
            <a:off x="2174748" y="2674620"/>
            <a:ext cx="237744" cy="0"/>
          </a:xfrm>
          <a:prstGeom prst="straightConnector1">
            <a:avLst/>
          </a:prstGeom>
          <a:noFill/>
          <a:ln cap="flat" cmpd="sng" w="19050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55" name="Google Shape;455;p9"/>
          <p:cNvSpPr/>
          <p:nvPr/>
        </p:nvSpPr>
        <p:spPr>
          <a:xfrm>
            <a:off x="2449068" y="2148840"/>
            <a:ext cx="15895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22850">
            <a:solidFill>
              <a:srgbClr val="7C82E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9"/>
          <p:cNvSpPr/>
          <p:nvPr/>
        </p:nvSpPr>
        <p:spPr>
          <a:xfrm>
            <a:off x="2522220" y="2148840"/>
            <a:ext cx="1443228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Streaming Orchestrator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57" name="Google Shape;457;p9"/>
          <p:cNvCxnSpPr/>
          <p:nvPr/>
        </p:nvCxnSpPr>
        <p:spPr>
          <a:xfrm>
            <a:off x="4075176" y="2674620"/>
            <a:ext cx="237744" cy="0"/>
          </a:xfrm>
          <a:prstGeom prst="straightConnector1">
            <a:avLst/>
          </a:prstGeom>
          <a:noFill/>
          <a:ln cap="flat" cmpd="sng" w="19050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58" name="Google Shape;458;p9"/>
          <p:cNvSpPr/>
          <p:nvPr/>
        </p:nvSpPr>
        <p:spPr>
          <a:xfrm>
            <a:off x="4349496" y="2148840"/>
            <a:ext cx="15895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22850">
            <a:solidFill>
              <a:srgbClr val="2FB8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9"/>
          <p:cNvSpPr/>
          <p:nvPr/>
        </p:nvSpPr>
        <p:spPr>
          <a:xfrm>
            <a:off x="4422648" y="2148840"/>
            <a:ext cx="1443228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5 Model Adapters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0" name="Google Shape;460;p9"/>
          <p:cNvCxnSpPr/>
          <p:nvPr/>
        </p:nvCxnSpPr>
        <p:spPr>
          <a:xfrm>
            <a:off x="5975604" y="2674620"/>
            <a:ext cx="237744" cy="0"/>
          </a:xfrm>
          <a:prstGeom prst="straightConnector1">
            <a:avLst/>
          </a:prstGeom>
          <a:noFill/>
          <a:ln cap="flat" cmpd="sng" w="19050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61" name="Google Shape;461;p9"/>
          <p:cNvSpPr/>
          <p:nvPr/>
        </p:nvSpPr>
        <p:spPr>
          <a:xfrm>
            <a:off x="6249924" y="2148840"/>
            <a:ext cx="15895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22850">
            <a:solidFill>
              <a:srgbClr val="C99A3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9"/>
          <p:cNvSpPr/>
          <p:nvPr/>
        </p:nvSpPr>
        <p:spPr>
          <a:xfrm>
            <a:off x="6323076" y="2148840"/>
            <a:ext cx="1443228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PredictionResult Objects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3" name="Google Shape;463;p9"/>
          <p:cNvCxnSpPr/>
          <p:nvPr/>
        </p:nvCxnSpPr>
        <p:spPr>
          <a:xfrm>
            <a:off x="7876032" y="2674620"/>
            <a:ext cx="237744" cy="0"/>
          </a:xfrm>
          <a:prstGeom prst="straightConnector1">
            <a:avLst/>
          </a:prstGeom>
          <a:noFill/>
          <a:ln cap="flat" cmpd="sng" w="19050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64" name="Google Shape;464;p9"/>
          <p:cNvSpPr/>
          <p:nvPr/>
        </p:nvSpPr>
        <p:spPr>
          <a:xfrm>
            <a:off x="8150352" y="2148840"/>
            <a:ext cx="15895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22850">
            <a:solidFill>
              <a:srgbClr val="E86A5E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9"/>
          <p:cNvSpPr/>
          <p:nvPr/>
        </p:nvSpPr>
        <p:spPr>
          <a:xfrm>
            <a:off x="8223504" y="2148840"/>
            <a:ext cx="1443228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Risk Fusion Engine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6" name="Google Shape;466;p9"/>
          <p:cNvCxnSpPr/>
          <p:nvPr/>
        </p:nvCxnSpPr>
        <p:spPr>
          <a:xfrm>
            <a:off x="9776460" y="2674620"/>
            <a:ext cx="237744" cy="0"/>
          </a:xfrm>
          <a:prstGeom prst="straightConnector1">
            <a:avLst/>
          </a:prstGeom>
          <a:noFill/>
          <a:ln cap="flat" cmpd="sng" w="19050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67" name="Google Shape;467;p9"/>
          <p:cNvSpPr/>
          <p:nvPr/>
        </p:nvSpPr>
        <p:spPr>
          <a:xfrm>
            <a:off x="10050780" y="2148840"/>
            <a:ext cx="1589532" cy="1051560"/>
          </a:xfrm>
          <a:prstGeom prst="roundRect">
            <a:avLst>
              <a:gd fmla="val 8696" name="adj"/>
            </a:avLst>
          </a:prstGeom>
          <a:solidFill>
            <a:srgbClr val="172A40"/>
          </a:solidFill>
          <a:ln cap="flat" cmpd="sng" w="228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9"/>
          <p:cNvSpPr/>
          <p:nvPr/>
        </p:nvSpPr>
        <p:spPr>
          <a:xfrm>
            <a:off x="10123932" y="2148840"/>
            <a:ext cx="1443228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Wellness Score 0–100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9"/>
          <p:cNvSpPr/>
          <p:nvPr/>
        </p:nvSpPr>
        <p:spPr>
          <a:xfrm>
            <a:off x="548640" y="3703320"/>
            <a:ext cx="11091672" cy="1371600"/>
          </a:xfrm>
          <a:prstGeom prst="roundRect">
            <a:avLst>
              <a:gd fmla="val 6667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9"/>
          <p:cNvSpPr/>
          <p:nvPr/>
        </p:nvSpPr>
        <p:spPr>
          <a:xfrm>
            <a:off x="822960" y="38862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STREAMING BEHAVIOUR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9"/>
          <p:cNvSpPr/>
          <p:nvPr/>
        </p:nvSpPr>
        <p:spPr>
          <a:xfrm>
            <a:off x="822960" y="420624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Frame decode</a:t>
            </a:r>
            <a:r>
              <a:rPr b="0" i="0" lang="en-US" sz="15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  →  module-specific frame sampling  →  </a:t>
            </a:r>
            <a:r>
              <a:rPr b="1" i="0" lang="en-US" sz="15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temporal windows / smoothing</a:t>
            </a:r>
            <a:r>
              <a:rPr b="0" i="0" lang="en-US" sz="15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  →  standardized result  →  </a:t>
            </a:r>
            <a:r>
              <a:rPr b="1" i="0" lang="en-US" sz="15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risk fusion</a:t>
            </a:r>
            <a:r>
              <a:rPr b="0" i="0" lang="en-US" sz="15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  →  UI update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9"/>
          <p:cNvSpPr/>
          <p:nvPr/>
        </p:nvSpPr>
        <p:spPr>
          <a:xfrm>
            <a:off x="1463040" y="5440680"/>
            <a:ext cx="9262872" cy="640080"/>
          </a:xfrm>
          <a:prstGeom prst="roundRect">
            <a:avLst>
              <a:gd fmla="val 50000" name="adj"/>
            </a:avLst>
          </a:prstGeom>
          <a:solidFill>
            <a:srgbClr val="12321F"/>
          </a:solidFill>
          <a:ln cap="flat" cmpd="sng" w="16500">
            <a:solidFill>
              <a:srgbClr val="3FBF7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9"/>
          <p:cNvSpPr/>
          <p:nvPr/>
        </p:nvSpPr>
        <p:spPr>
          <a:xfrm>
            <a:off x="1463040" y="5440680"/>
            <a:ext cx="926287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BF7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3FBF7F"/>
                </a:solidFill>
                <a:latin typeface="Calibri"/>
                <a:ea typeface="Calibri"/>
                <a:cs typeface="Calibri"/>
                <a:sym typeface="Calibri"/>
              </a:rPr>
              <a:t>M6 integration test:  </a:t>
            </a:r>
            <a:r>
              <a:rPr b="1" i="0" lang="en-US" sz="13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1,760 frames  •  all five modules active  •  no module errors  •  49.8/100 Moderate Risk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9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9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1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INTEGRATION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0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End-to-End Validation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0"/>
          <p:cNvSpPr/>
          <p:nvPr/>
        </p:nvSpPr>
        <p:spPr>
          <a:xfrm>
            <a:off x="493776" y="141732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Demonstrating that the five modules actually work together.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0"/>
          <p:cNvSpPr/>
          <p:nvPr/>
        </p:nvSpPr>
        <p:spPr>
          <a:xfrm>
            <a:off x="502920" y="1783080"/>
            <a:ext cx="2090318" cy="1188720"/>
          </a:xfrm>
          <a:prstGeom prst="roundRect">
            <a:avLst>
              <a:gd fmla="val 7692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0"/>
          <p:cNvSpPr/>
          <p:nvPr/>
        </p:nvSpPr>
        <p:spPr>
          <a:xfrm>
            <a:off x="502920" y="1984248"/>
            <a:ext cx="209031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2600"/>
              <a:buFont typeface="Bookman Old Style"/>
              <a:buNone/>
            </a:pPr>
            <a:r>
              <a:rPr b="1" i="0" lang="en-US" sz="2600" u="none" cap="none" strike="noStrike">
                <a:solidFill>
                  <a:srgbClr val="2FD4C1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1,760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0"/>
          <p:cNvSpPr/>
          <p:nvPr/>
        </p:nvSpPr>
        <p:spPr>
          <a:xfrm>
            <a:off x="548640" y="2560320"/>
            <a:ext cx="19988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Frames processed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0"/>
          <p:cNvSpPr/>
          <p:nvPr/>
        </p:nvSpPr>
        <p:spPr>
          <a:xfrm>
            <a:off x="2776118" y="1783080"/>
            <a:ext cx="2090318" cy="1188720"/>
          </a:xfrm>
          <a:prstGeom prst="roundRect">
            <a:avLst>
              <a:gd fmla="val 7692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0"/>
          <p:cNvSpPr/>
          <p:nvPr/>
        </p:nvSpPr>
        <p:spPr>
          <a:xfrm>
            <a:off x="2776118" y="1984248"/>
            <a:ext cx="209031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82E0"/>
              </a:buClr>
              <a:buSzPts val="2600"/>
              <a:buFont typeface="Bookman Old Style"/>
              <a:buNone/>
            </a:pPr>
            <a:r>
              <a:rPr b="1" i="0" lang="en-US" sz="2600" u="none" cap="none" strike="noStrike">
                <a:solidFill>
                  <a:srgbClr val="7C82E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106.7 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0"/>
          <p:cNvSpPr/>
          <p:nvPr/>
        </p:nvSpPr>
        <p:spPr>
          <a:xfrm>
            <a:off x="2821838" y="2560320"/>
            <a:ext cx="19988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Elapsed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0"/>
          <p:cNvSpPr/>
          <p:nvPr/>
        </p:nvSpPr>
        <p:spPr>
          <a:xfrm>
            <a:off x="5049317" y="1783080"/>
            <a:ext cx="2090318" cy="1188720"/>
          </a:xfrm>
          <a:prstGeom prst="roundRect">
            <a:avLst>
              <a:gd fmla="val 7692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1" name="Google Shape;491;p10"/>
          <p:cNvSpPr/>
          <p:nvPr/>
        </p:nvSpPr>
        <p:spPr>
          <a:xfrm>
            <a:off x="5049317" y="1984248"/>
            <a:ext cx="209031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FBF7F"/>
              </a:buClr>
              <a:buSzPts val="2600"/>
              <a:buFont typeface="Bookman Old Style"/>
              <a:buNone/>
            </a:pPr>
            <a:r>
              <a:rPr b="1" i="0" lang="en-US" sz="2600" u="none" cap="none" strike="noStrike">
                <a:solidFill>
                  <a:srgbClr val="3FBF7F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5 / 5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0"/>
          <p:cNvSpPr/>
          <p:nvPr/>
        </p:nvSpPr>
        <p:spPr>
          <a:xfrm>
            <a:off x="5095037" y="2560320"/>
            <a:ext cx="19988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Modules active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0"/>
          <p:cNvSpPr/>
          <p:nvPr/>
        </p:nvSpPr>
        <p:spPr>
          <a:xfrm>
            <a:off x="7322515" y="1783080"/>
            <a:ext cx="2090318" cy="1188720"/>
          </a:xfrm>
          <a:prstGeom prst="roundRect">
            <a:avLst>
              <a:gd fmla="val 7692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0"/>
          <p:cNvSpPr/>
          <p:nvPr/>
        </p:nvSpPr>
        <p:spPr>
          <a:xfrm>
            <a:off x="7322515" y="1984248"/>
            <a:ext cx="209031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2600"/>
              <a:buFont typeface="Bookman Old Style"/>
              <a:buNone/>
            </a:pPr>
            <a:r>
              <a:rPr b="1" i="0" lang="en-US" sz="2600" u="none" cap="none" strike="noStrike">
                <a:solidFill>
                  <a:srgbClr val="2FD4C1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0"/>
          <p:cNvSpPr/>
          <p:nvPr/>
        </p:nvSpPr>
        <p:spPr>
          <a:xfrm>
            <a:off x="7368235" y="2560320"/>
            <a:ext cx="19988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Module errors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0"/>
          <p:cNvSpPr/>
          <p:nvPr/>
        </p:nvSpPr>
        <p:spPr>
          <a:xfrm>
            <a:off x="9595714" y="1783080"/>
            <a:ext cx="2090318" cy="1188720"/>
          </a:xfrm>
          <a:prstGeom prst="roundRect">
            <a:avLst>
              <a:gd fmla="val 7692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0"/>
          <p:cNvSpPr/>
          <p:nvPr/>
        </p:nvSpPr>
        <p:spPr>
          <a:xfrm>
            <a:off x="9595714" y="1984248"/>
            <a:ext cx="209031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0A93B"/>
              </a:buClr>
              <a:buSzPts val="2600"/>
              <a:buFont typeface="Bookman Old Style"/>
              <a:buNone/>
            </a:pPr>
            <a:r>
              <a:rPr b="1" i="0" lang="en-US" sz="2600" u="none" cap="none" strike="noStrike">
                <a:solidFill>
                  <a:srgbClr val="E0A93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49.8 / 100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0"/>
          <p:cNvSpPr/>
          <p:nvPr/>
        </p:nvSpPr>
        <p:spPr>
          <a:xfrm>
            <a:off x="9641434" y="2560320"/>
            <a:ext cx="19988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Observed wellness score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0"/>
          <p:cNvSpPr/>
          <p:nvPr/>
        </p:nvSpPr>
        <p:spPr>
          <a:xfrm>
            <a:off x="502920" y="3246120"/>
            <a:ext cx="5440680" cy="2743200"/>
          </a:xfrm>
          <a:prstGeom prst="roundRect">
            <a:avLst>
              <a:gd fmla="val 3333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10"/>
          <p:cNvSpPr/>
          <p:nvPr/>
        </p:nvSpPr>
        <p:spPr>
          <a:xfrm>
            <a:off x="731520" y="3456432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A9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0A93B"/>
                </a:solidFill>
                <a:latin typeface="Calibri"/>
                <a:ea typeface="Calibri"/>
                <a:cs typeface="Calibri"/>
                <a:sym typeface="Calibri"/>
              </a:rPr>
              <a:t>OBSERVED RESULT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0"/>
          <p:cNvSpPr/>
          <p:nvPr/>
        </p:nvSpPr>
        <p:spPr>
          <a:xfrm>
            <a:off x="502920" y="3977640"/>
            <a:ext cx="54406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0A93B"/>
              </a:buClr>
              <a:buSzPts val="3400"/>
              <a:buFont typeface="Bookman Old Style"/>
              <a:buNone/>
            </a:pPr>
            <a:r>
              <a:rPr b="1" i="0" lang="en-US" sz="3400" u="none" cap="none" strike="noStrike">
                <a:solidFill>
                  <a:srgbClr val="E0A93B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MODERATE RISK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0"/>
          <p:cNvSpPr/>
          <p:nvPr/>
        </p:nvSpPr>
        <p:spPr>
          <a:xfrm>
            <a:off x="502920" y="4892040"/>
            <a:ext cx="5440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Landmark prediction:  </a:t>
            </a:r>
            <a:r>
              <a:rPr b="1" i="0" lang="en-US" sz="15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Drowsy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0"/>
          <p:cNvSpPr/>
          <p:nvPr/>
        </p:nvSpPr>
        <p:spPr>
          <a:xfrm>
            <a:off x="502920" y="5257800"/>
            <a:ext cx="5440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Confidence:  </a:t>
            </a:r>
            <a:r>
              <a:rPr b="1" i="0" lang="en-US" sz="15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0.831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0"/>
          <p:cNvSpPr/>
          <p:nvPr/>
        </p:nvSpPr>
        <p:spPr>
          <a:xfrm>
            <a:off x="6245352" y="3246120"/>
            <a:ext cx="5440680" cy="2743200"/>
          </a:xfrm>
          <a:prstGeom prst="roundRect">
            <a:avLst>
              <a:gd fmla="val 3333" name="adj"/>
            </a:avLst>
          </a:prstGeom>
          <a:solidFill>
            <a:srgbClr val="14202F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10"/>
          <p:cNvSpPr/>
          <p:nvPr/>
        </p:nvSpPr>
        <p:spPr>
          <a:xfrm>
            <a:off x="6245352" y="3246120"/>
            <a:ext cx="5440680" cy="2743200"/>
          </a:xfrm>
          <a:prstGeom prst="roundRect">
            <a:avLst>
              <a:gd fmla="val 3333" name="adj"/>
            </a:avLst>
          </a:prstGeom>
          <a:noFill/>
          <a:ln cap="flat" cmpd="sng" w="19050">
            <a:solidFill>
              <a:srgbClr val="E86A5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10"/>
          <p:cNvSpPr/>
          <p:nvPr/>
        </p:nvSpPr>
        <p:spPr>
          <a:xfrm>
            <a:off x="6473952" y="3456432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6A5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86A5E"/>
                </a:solidFill>
                <a:latin typeface="Calibri"/>
                <a:ea typeface="Calibri"/>
                <a:cs typeface="Calibri"/>
                <a:sym typeface="Calibri"/>
              </a:rPr>
              <a:t>IMPORTANT INTERPRETATION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0"/>
          <p:cNvSpPr/>
          <p:nvPr/>
        </p:nvSpPr>
        <p:spPr>
          <a:xfrm>
            <a:off x="6473952" y="3840480"/>
            <a:ext cx="4983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700"/>
              <a:buFont typeface="Bookman Old Style"/>
              <a:buNone/>
            </a:pPr>
            <a:r>
              <a:rPr b="1" i="0" lang="en-US" sz="17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This is an integration / pipeline validation result — not a system-wide accuracy benchmark.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0"/>
          <p:cNvSpPr/>
          <p:nvPr/>
        </p:nvSpPr>
        <p:spPr>
          <a:xfrm>
            <a:off x="6473952" y="4892040"/>
            <a:ext cx="49834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The test confirms that all five modules can contribute to the common risk score, end to end, without failure.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0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0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1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RELIABILITY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1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Robustness &amp; Failure Handling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1"/>
          <p:cNvSpPr/>
          <p:nvPr/>
        </p:nvSpPr>
        <p:spPr>
          <a:xfrm>
            <a:off x="493776" y="141732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The integrated system fails safely and reports module state explicitly.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1"/>
          <p:cNvSpPr/>
          <p:nvPr/>
        </p:nvSpPr>
        <p:spPr>
          <a:xfrm>
            <a:off x="502920" y="1920240"/>
            <a:ext cx="11183112" cy="777240"/>
          </a:xfrm>
          <a:prstGeom prst="roundRect">
            <a:avLst>
              <a:gd fmla="val 1176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11"/>
          <p:cNvSpPr/>
          <p:nvPr/>
        </p:nvSpPr>
        <p:spPr>
          <a:xfrm>
            <a:off x="713232" y="2208276"/>
            <a:ext cx="201168" cy="201168"/>
          </a:xfrm>
          <a:prstGeom prst="ellipse">
            <a:avLst/>
          </a:prstGeom>
          <a:solidFill>
            <a:srgbClr val="2FB8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11"/>
          <p:cNvSpPr/>
          <p:nvPr/>
        </p:nvSpPr>
        <p:spPr>
          <a:xfrm>
            <a:off x="1024128" y="1920240"/>
            <a:ext cx="2788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Unavailable face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1"/>
          <p:cNvSpPr/>
          <p:nvPr/>
        </p:nvSpPr>
        <p:spPr>
          <a:xfrm>
            <a:off x="3977640" y="1920240"/>
            <a:ext cx="74980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Landmark module reports a structured unavailable / error state.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1"/>
          <p:cNvSpPr/>
          <p:nvPr/>
        </p:nvSpPr>
        <p:spPr>
          <a:xfrm>
            <a:off x="502920" y="2825496"/>
            <a:ext cx="11183112" cy="777240"/>
          </a:xfrm>
          <a:prstGeom prst="roundRect">
            <a:avLst>
              <a:gd fmla="val 1176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11"/>
          <p:cNvSpPr/>
          <p:nvPr/>
        </p:nvSpPr>
        <p:spPr>
          <a:xfrm>
            <a:off x="713232" y="3113532"/>
            <a:ext cx="201168" cy="201168"/>
          </a:xfrm>
          <a:prstGeom prst="ellipse">
            <a:avLst/>
          </a:prstGeom>
          <a:solidFill>
            <a:srgbClr val="E85D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1"/>
          <p:cNvSpPr/>
          <p:nvPr/>
        </p:nvSpPr>
        <p:spPr>
          <a:xfrm>
            <a:off x="1024128" y="2825496"/>
            <a:ext cx="2788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Short video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1"/>
          <p:cNvSpPr/>
          <p:nvPr/>
        </p:nvSpPr>
        <p:spPr>
          <a:xfrm>
            <a:off x="3977640" y="2825496"/>
            <a:ext cx="74980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Insufficient temporal input is handled gracefully.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1"/>
          <p:cNvSpPr/>
          <p:nvPr/>
        </p:nvSpPr>
        <p:spPr>
          <a:xfrm>
            <a:off x="502920" y="3730752"/>
            <a:ext cx="11183112" cy="777240"/>
          </a:xfrm>
          <a:prstGeom prst="roundRect">
            <a:avLst>
              <a:gd fmla="val 1176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8" name="Google Shape;528;p11"/>
          <p:cNvSpPr/>
          <p:nvPr/>
        </p:nvSpPr>
        <p:spPr>
          <a:xfrm>
            <a:off x="713232" y="4018788"/>
            <a:ext cx="201168" cy="201168"/>
          </a:xfrm>
          <a:prstGeom prst="ellipse">
            <a:avLst/>
          </a:prstGeom>
          <a:solidFill>
            <a:srgbClr val="7C8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11"/>
          <p:cNvSpPr/>
          <p:nvPr/>
        </p:nvSpPr>
        <p:spPr>
          <a:xfrm>
            <a:off x="1024128" y="3730752"/>
            <a:ext cx="2788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Model warm-up / failure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1"/>
          <p:cNvSpPr/>
          <p:nvPr/>
        </p:nvSpPr>
        <p:spPr>
          <a:xfrm>
            <a:off x="3977640" y="3730752"/>
            <a:ext cx="74980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Unavailable modules are excluded from fusion rather than treated as safe.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11"/>
          <p:cNvSpPr/>
          <p:nvPr/>
        </p:nvSpPr>
        <p:spPr>
          <a:xfrm>
            <a:off x="502920" y="4636008"/>
            <a:ext cx="11183112" cy="777240"/>
          </a:xfrm>
          <a:prstGeom prst="roundRect">
            <a:avLst>
              <a:gd fmla="val 1176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11"/>
          <p:cNvSpPr/>
          <p:nvPr/>
        </p:nvSpPr>
        <p:spPr>
          <a:xfrm>
            <a:off x="713232" y="4924044"/>
            <a:ext cx="201168" cy="201168"/>
          </a:xfrm>
          <a:prstGeom prst="ellipse">
            <a:avLst/>
          </a:prstGeom>
          <a:solidFill>
            <a:srgbClr val="C99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11"/>
          <p:cNvSpPr/>
          <p:nvPr/>
        </p:nvSpPr>
        <p:spPr>
          <a:xfrm>
            <a:off x="1024128" y="4636008"/>
            <a:ext cx="2788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YOLO flicker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1"/>
          <p:cNvSpPr/>
          <p:nvPr/>
        </p:nvSpPr>
        <p:spPr>
          <a:xfrm>
            <a:off x="3977640" y="4636008"/>
            <a:ext cx="74980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Confidence filtering, NMS and temporal stabilization reduce transient detections.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1"/>
          <p:cNvSpPr/>
          <p:nvPr/>
        </p:nvSpPr>
        <p:spPr>
          <a:xfrm>
            <a:off x="502920" y="5541264"/>
            <a:ext cx="11183112" cy="777240"/>
          </a:xfrm>
          <a:prstGeom prst="roundRect">
            <a:avLst>
              <a:gd fmla="val 11765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11"/>
          <p:cNvSpPr/>
          <p:nvPr/>
        </p:nvSpPr>
        <p:spPr>
          <a:xfrm>
            <a:off x="713232" y="5829300"/>
            <a:ext cx="201168" cy="201168"/>
          </a:xfrm>
          <a:prstGeom prst="ellipse">
            <a:avLst/>
          </a:prstGeom>
          <a:solidFill>
            <a:srgbClr val="B44F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11"/>
          <p:cNvSpPr/>
          <p:nvPr/>
        </p:nvSpPr>
        <p:spPr>
          <a:xfrm>
            <a:off x="1024128" y="5541264"/>
            <a:ext cx="2788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Streaming load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1"/>
          <p:cNvSpPr/>
          <p:nvPr/>
        </p:nvSpPr>
        <p:spPr>
          <a:xfrm>
            <a:off x="3977640" y="5541264"/>
            <a:ext cx="74980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Frame skipping and rolling histories reduce redundant computation.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1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1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12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APPLICATION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12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Gradio Interface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2"/>
          <p:cNvSpPr/>
          <p:nvPr/>
        </p:nvSpPr>
        <p:spPr>
          <a:xfrm>
            <a:off x="493776" y="141732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Turning the ML pipeline into a usable driver-monitoring application.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2"/>
          <p:cNvSpPr/>
          <p:nvPr/>
        </p:nvSpPr>
        <p:spPr>
          <a:xfrm>
            <a:off x="502920" y="1874520"/>
            <a:ext cx="5394960" cy="3977640"/>
          </a:xfrm>
          <a:prstGeom prst="roundRect">
            <a:avLst>
              <a:gd fmla="val 2299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12"/>
          <p:cNvSpPr/>
          <p:nvPr/>
        </p:nvSpPr>
        <p:spPr>
          <a:xfrm>
            <a:off x="777240" y="2057400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RECORDED VIDEO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2"/>
          <p:cNvSpPr/>
          <p:nvPr/>
        </p:nvSpPr>
        <p:spPr>
          <a:xfrm>
            <a:off x="777240" y="2487168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2"/>
          <p:cNvSpPr/>
          <p:nvPr/>
        </p:nvSpPr>
        <p:spPr>
          <a:xfrm>
            <a:off x="777240" y="2487168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Upload driver video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2"/>
          <p:cNvSpPr/>
          <p:nvPr/>
        </p:nvSpPr>
        <p:spPr>
          <a:xfrm>
            <a:off x="777240" y="3017520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2"/>
          <p:cNvSpPr/>
          <p:nvPr/>
        </p:nvSpPr>
        <p:spPr>
          <a:xfrm>
            <a:off x="777240" y="301752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Analyze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2"/>
          <p:cNvSpPr/>
          <p:nvPr/>
        </p:nvSpPr>
        <p:spPr>
          <a:xfrm>
            <a:off x="777240" y="3547872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12"/>
          <p:cNvSpPr/>
          <p:nvPr/>
        </p:nvSpPr>
        <p:spPr>
          <a:xfrm>
            <a:off x="777240" y="3547872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Annotated output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2"/>
          <p:cNvSpPr/>
          <p:nvPr/>
        </p:nvSpPr>
        <p:spPr>
          <a:xfrm>
            <a:off x="777240" y="4078224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2"/>
          <p:cNvSpPr/>
          <p:nvPr/>
        </p:nvSpPr>
        <p:spPr>
          <a:xfrm>
            <a:off x="777240" y="4078224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Module predictions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2"/>
          <p:cNvSpPr/>
          <p:nvPr/>
        </p:nvSpPr>
        <p:spPr>
          <a:xfrm>
            <a:off x="777240" y="4608576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12"/>
          <p:cNvSpPr/>
          <p:nvPr/>
        </p:nvSpPr>
        <p:spPr>
          <a:xfrm>
            <a:off x="777240" y="4608576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Wellness gauge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2"/>
          <p:cNvSpPr/>
          <p:nvPr/>
        </p:nvSpPr>
        <p:spPr>
          <a:xfrm>
            <a:off x="777240" y="5138928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2"/>
          <p:cNvSpPr/>
          <p:nvPr/>
        </p:nvSpPr>
        <p:spPr>
          <a:xfrm>
            <a:off x="777240" y="5138928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Session summary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2"/>
          <p:cNvSpPr/>
          <p:nvPr/>
        </p:nvSpPr>
        <p:spPr>
          <a:xfrm>
            <a:off x="6291072" y="1874520"/>
            <a:ext cx="5394960" cy="3977640"/>
          </a:xfrm>
          <a:prstGeom prst="roundRect">
            <a:avLst>
              <a:gd fmla="val 2299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4" name="Google Shape;564;p12"/>
          <p:cNvSpPr/>
          <p:nvPr/>
        </p:nvSpPr>
        <p:spPr>
          <a:xfrm>
            <a:off x="6565392" y="2057400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82E0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7C82E0"/>
                </a:solidFill>
                <a:latin typeface="Calibri"/>
                <a:ea typeface="Calibri"/>
                <a:cs typeface="Calibri"/>
                <a:sym typeface="Calibri"/>
              </a:rPr>
              <a:t>LIVE WEBCAM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2"/>
          <p:cNvSpPr/>
          <p:nvPr/>
        </p:nvSpPr>
        <p:spPr>
          <a:xfrm>
            <a:off x="6565392" y="2487168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7C8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12"/>
          <p:cNvSpPr/>
          <p:nvPr/>
        </p:nvSpPr>
        <p:spPr>
          <a:xfrm>
            <a:off x="6565392" y="2487168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Start webcam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2"/>
          <p:cNvSpPr/>
          <p:nvPr/>
        </p:nvSpPr>
        <p:spPr>
          <a:xfrm>
            <a:off x="6565392" y="3017520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7C8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12"/>
          <p:cNvSpPr/>
          <p:nvPr/>
        </p:nvSpPr>
        <p:spPr>
          <a:xfrm>
            <a:off x="6565392" y="301752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Streaming inference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2"/>
          <p:cNvSpPr/>
          <p:nvPr/>
        </p:nvSpPr>
        <p:spPr>
          <a:xfrm>
            <a:off x="6565392" y="3547872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7C8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12"/>
          <p:cNvSpPr/>
          <p:nvPr/>
        </p:nvSpPr>
        <p:spPr>
          <a:xfrm>
            <a:off x="6565392" y="3547872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Live annotations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2"/>
          <p:cNvSpPr/>
          <p:nvPr/>
        </p:nvSpPr>
        <p:spPr>
          <a:xfrm>
            <a:off x="6565392" y="4078224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E0A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Google Shape;572;p12"/>
          <p:cNvSpPr/>
          <p:nvPr/>
        </p:nvSpPr>
        <p:spPr>
          <a:xfrm>
            <a:off x="6565392" y="4078224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Real-time score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2"/>
          <p:cNvSpPr/>
          <p:nvPr/>
        </p:nvSpPr>
        <p:spPr>
          <a:xfrm>
            <a:off x="6565392" y="4608576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E0A93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12"/>
          <p:cNvSpPr/>
          <p:nvPr/>
        </p:nvSpPr>
        <p:spPr>
          <a:xfrm>
            <a:off x="6565392" y="4608576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Risk-level updates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2"/>
          <p:cNvSpPr/>
          <p:nvPr/>
        </p:nvSpPr>
        <p:spPr>
          <a:xfrm>
            <a:off x="6565392" y="5138928"/>
            <a:ext cx="4846320" cy="457200"/>
          </a:xfrm>
          <a:prstGeom prst="roundRect">
            <a:avLst>
              <a:gd fmla="val 12000" name="adj"/>
            </a:avLst>
          </a:prstGeom>
          <a:solidFill>
            <a:srgbClr val="20344D"/>
          </a:solidFill>
          <a:ln cap="flat" cmpd="sng" w="15225">
            <a:solidFill>
              <a:srgbClr val="7C82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12"/>
          <p:cNvSpPr/>
          <p:nvPr/>
        </p:nvSpPr>
        <p:spPr>
          <a:xfrm>
            <a:off x="6565392" y="5138928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Stop + summary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2"/>
          <p:cNvSpPr/>
          <p:nvPr/>
        </p:nvSpPr>
        <p:spPr>
          <a:xfrm>
            <a:off x="502920" y="6035040"/>
            <a:ext cx="1118311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Cockpit-style dashboard  •  module status chips  •  risk gauge  •  visual hierarchy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2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2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13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3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Deployment — Lightning AI + Gradio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3"/>
          <p:cNvSpPr/>
          <p:nvPr/>
        </p:nvSpPr>
        <p:spPr>
          <a:xfrm>
            <a:off x="493776" y="141732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Packaging the integrated application for hosted inference.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3"/>
          <p:cNvSpPr/>
          <p:nvPr/>
        </p:nvSpPr>
        <p:spPr>
          <a:xfrm>
            <a:off x="502920" y="1783080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FINAL DEPLOYMENT FLOW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3"/>
          <p:cNvSpPr/>
          <p:nvPr/>
        </p:nvSpPr>
        <p:spPr>
          <a:xfrm>
            <a:off x="548640" y="2148840"/>
            <a:ext cx="1969618" cy="822960"/>
          </a:xfrm>
          <a:prstGeom prst="roundRect">
            <a:avLst>
              <a:gd fmla="val 11111" name="adj"/>
            </a:avLst>
          </a:prstGeom>
          <a:solidFill>
            <a:srgbClr val="172A40"/>
          </a:solidFill>
          <a:ln cap="flat" cmpd="sng" w="228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0" name="Google Shape;590;p13"/>
          <p:cNvSpPr/>
          <p:nvPr/>
        </p:nvSpPr>
        <p:spPr>
          <a:xfrm>
            <a:off x="603504" y="2167128"/>
            <a:ext cx="185989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Git / Project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3"/>
          <p:cNvSpPr/>
          <p:nvPr/>
        </p:nvSpPr>
        <p:spPr>
          <a:xfrm>
            <a:off x="548640" y="3044952"/>
            <a:ext cx="196961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Code + checkpoints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2" name="Google Shape;592;p13"/>
          <p:cNvCxnSpPr/>
          <p:nvPr/>
        </p:nvCxnSpPr>
        <p:spPr>
          <a:xfrm>
            <a:off x="2554834" y="2560320"/>
            <a:ext cx="237744" cy="0"/>
          </a:xfrm>
          <a:prstGeom prst="straightConnector1">
            <a:avLst/>
          </a:prstGeom>
          <a:noFill/>
          <a:ln cap="flat" cmpd="sng" w="19050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93" name="Google Shape;593;p13"/>
          <p:cNvSpPr/>
          <p:nvPr/>
        </p:nvSpPr>
        <p:spPr>
          <a:xfrm>
            <a:off x="2829154" y="2148840"/>
            <a:ext cx="1969618" cy="822960"/>
          </a:xfrm>
          <a:prstGeom prst="roundRect">
            <a:avLst>
              <a:gd fmla="val 11111" name="adj"/>
            </a:avLst>
          </a:prstGeom>
          <a:solidFill>
            <a:srgbClr val="172A40"/>
          </a:solidFill>
          <a:ln cap="flat" cmpd="sng" w="22850">
            <a:solidFill>
              <a:srgbClr val="7C82E0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4" name="Google Shape;594;p13"/>
          <p:cNvSpPr/>
          <p:nvPr/>
        </p:nvSpPr>
        <p:spPr>
          <a:xfrm>
            <a:off x="2884018" y="2167128"/>
            <a:ext cx="185989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Lightning AI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13"/>
          <p:cNvSpPr/>
          <p:nvPr/>
        </p:nvSpPr>
        <p:spPr>
          <a:xfrm>
            <a:off x="2829154" y="3044952"/>
            <a:ext cx="196961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Hosted runtime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96" name="Google Shape;596;p13"/>
          <p:cNvCxnSpPr/>
          <p:nvPr/>
        </p:nvCxnSpPr>
        <p:spPr>
          <a:xfrm>
            <a:off x="4835347" y="2560320"/>
            <a:ext cx="237744" cy="0"/>
          </a:xfrm>
          <a:prstGeom prst="straightConnector1">
            <a:avLst/>
          </a:prstGeom>
          <a:noFill/>
          <a:ln cap="flat" cmpd="sng" w="19050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97" name="Google Shape;597;p13"/>
          <p:cNvSpPr/>
          <p:nvPr/>
        </p:nvSpPr>
        <p:spPr>
          <a:xfrm>
            <a:off x="5109667" y="2148840"/>
            <a:ext cx="1969618" cy="822960"/>
          </a:xfrm>
          <a:prstGeom prst="roundRect">
            <a:avLst>
              <a:gd fmla="val 11111" name="adj"/>
            </a:avLst>
          </a:prstGeom>
          <a:solidFill>
            <a:srgbClr val="172A40"/>
          </a:solidFill>
          <a:ln cap="flat" cmpd="sng" w="22850">
            <a:solidFill>
              <a:srgbClr val="2FB89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p13"/>
          <p:cNvSpPr/>
          <p:nvPr/>
        </p:nvSpPr>
        <p:spPr>
          <a:xfrm>
            <a:off x="5164531" y="2167128"/>
            <a:ext cx="185989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Gradio App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3"/>
          <p:cNvSpPr/>
          <p:nvPr/>
        </p:nvSpPr>
        <p:spPr>
          <a:xfrm>
            <a:off x="5109667" y="3044952"/>
            <a:ext cx="196961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User-facing UI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0" name="Google Shape;600;p13"/>
          <p:cNvCxnSpPr/>
          <p:nvPr/>
        </p:nvCxnSpPr>
        <p:spPr>
          <a:xfrm>
            <a:off x="7115861" y="2560320"/>
            <a:ext cx="237744" cy="0"/>
          </a:xfrm>
          <a:prstGeom prst="straightConnector1">
            <a:avLst/>
          </a:prstGeom>
          <a:noFill/>
          <a:ln cap="flat" cmpd="sng" w="19050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01" name="Google Shape;601;p13"/>
          <p:cNvSpPr/>
          <p:nvPr/>
        </p:nvSpPr>
        <p:spPr>
          <a:xfrm>
            <a:off x="7390181" y="2148840"/>
            <a:ext cx="1969618" cy="822960"/>
          </a:xfrm>
          <a:prstGeom prst="roundRect">
            <a:avLst>
              <a:gd fmla="val 11111" name="adj"/>
            </a:avLst>
          </a:prstGeom>
          <a:solidFill>
            <a:srgbClr val="172A40"/>
          </a:solidFill>
          <a:ln cap="flat" cmpd="sng" w="22850">
            <a:solidFill>
              <a:srgbClr val="C99A3A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2" name="Google Shape;602;p13"/>
          <p:cNvSpPr/>
          <p:nvPr/>
        </p:nvSpPr>
        <p:spPr>
          <a:xfrm>
            <a:off x="7445045" y="2167128"/>
            <a:ext cx="185989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Driver Video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3"/>
          <p:cNvSpPr/>
          <p:nvPr/>
        </p:nvSpPr>
        <p:spPr>
          <a:xfrm>
            <a:off x="7390181" y="3044952"/>
            <a:ext cx="196961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Upload / webcam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4" name="Google Shape;604;p13"/>
          <p:cNvCxnSpPr/>
          <p:nvPr/>
        </p:nvCxnSpPr>
        <p:spPr>
          <a:xfrm>
            <a:off x="9396374" y="2560320"/>
            <a:ext cx="237744" cy="0"/>
          </a:xfrm>
          <a:prstGeom prst="straightConnector1">
            <a:avLst/>
          </a:prstGeom>
          <a:noFill/>
          <a:ln cap="flat" cmpd="sng" w="19050">
            <a:solidFill>
              <a:srgbClr val="6E8299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605" name="Google Shape;605;p13"/>
          <p:cNvSpPr/>
          <p:nvPr/>
        </p:nvSpPr>
        <p:spPr>
          <a:xfrm>
            <a:off x="9670694" y="2148840"/>
            <a:ext cx="1969618" cy="822960"/>
          </a:xfrm>
          <a:prstGeom prst="roundRect">
            <a:avLst>
              <a:gd fmla="val 11111" name="adj"/>
            </a:avLst>
          </a:prstGeom>
          <a:solidFill>
            <a:srgbClr val="172A40"/>
          </a:solidFill>
          <a:ln cap="flat" cmpd="sng" w="2285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13"/>
          <p:cNvSpPr/>
          <p:nvPr/>
        </p:nvSpPr>
        <p:spPr>
          <a:xfrm>
            <a:off x="9725558" y="2167128"/>
            <a:ext cx="185989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Integrated Output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3"/>
          <p:cNvSpPr/>
          <p:nvPr/>
        </p:nvSpPr>
        <p:spPr>
          <a:xfrm>
            <a:off x="9670694" y="3044952"/>
            <a:ext cx="1969618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Annotations + score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3"/>
          <p:cNvSpPr/>
          <p:nvPr/>
        </p:nvSpPr>
        <p:spPr>
          <a:xfrm>
            <a:off x="502920" y="3657600"/>
            <a:ext cx="11183112" cy="1737360"/>
          </a:xfrm>
          <a:prstGeom prst="roundRect">
            <a:avLst>
              <a:gd fmla="val 5263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13"/>
          <p:cNvSpPr/>
          <p:nvPr/>
        </p:nvSpPr>
        <p:spPr>
          <a:xfrm>
            <a:off x="777240" y="384048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FBF7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FBF7F"/>
                </a:solidFill>
                <a:latin typeface="Calibri"/>
                <a:ea typeface="Calibri"/>
                <a:cs typeface="Calibri"/>
                <a:sym typeface="Calibri"/>
              </a:rPr>
              <a:t>DEPLOYMENT ENGINEERING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13"/>
          <p:cNvSpPr/>
          <p:nvPr/>
        </p:nvSpPr>
        <p:spPr>
          <a:xfrm>
            <a:off x="822960" y="4160520"/>
            <a:ext cx="104241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77800" lvl="0" marL="177800" marR="0" rtl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Thin application wrapper + centralized inference core.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2000"/>
              </a:lnSpc>
              <a:spcBef>
                <a:spcPts val="70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Model caching / lazy loading and frame skipping reduce startup and runtime resource pressure.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2000"/>
              </a:lnSpc>
              <a:spcBef>
                <a:spcPts val="70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requirements.txt and README.md document the reproducible runtime.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2000"/>
              </a:lnSpc>
              <a:spcBef>
                <a:spcPts val="70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Gradio exposes the same integrated inference pipeline rather than separate module demos.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3"/>
          <p:cNvSpPr/>
          <p:nvPr/>
        </p:nvSpPr>
        <p:spPr>
          <a:xfrm>
            <a:off x="502920" y="5577840"/>
            <a:ext cx="11183112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E0A93B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E0A93B"/>
                </a:solidFill>
                <a:latin typeface="Calibri"/>
                <a:ea typeface="Calibri"/>
                <a:cs typeface="Calibri"/>
                <a:sym typeface="Calibri"/>
              </a:rPr>
              <a:t>Platform note: the consolidated M6 documentation records a hosted Space deployment with runtime quota constraints; this reflects the team’s final Lightning AI hosting update.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3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3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4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4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Deployment Challenges &amp; Mitigations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4"/>
          <p:cNvSpPr/>
          <p:nvPr/>
        </p:nvSpPr>
        <p:spPr>
          <a:xfrm>
            <a:off x="493776" y="141732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What had to be considered beyond model accuracy.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4"/>
          <p:cNvSpPr/>
          <p:nvPr/>
        </p:nvSpPr>
        <p:spPr>
          <a:xfrm>
            <a:off x="685800" y="169164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CHALLENGE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4"/>
          <p:cNvSpPr/>
          <p:nvPr/>
        </p:nvSpPr>
        <p:spPr>
          <a:xfrm>
            <a:off x="3794760" y="1691640"/>
            <a:ext cx="3383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IMPACT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4"/>
          <p:cNvSpPr/>
          <p:nvPr/>
        </p:nvSpPr>
        <p:spPr>
          <a:xfrm>
            <a:off x="7406640" y="1691640"/>
            <a:ext cx="4023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MITIGATION / DIRECTION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14"/>
          <p:cNvSpPr/>
          <p:nvPr/>
        </p:nvSpPr>
        <p:spPr>
          <a:xfrm>
            <a:off x="502920" y="2029968"/>
            <a:ext cx="11183112" cy="640080"/>
          </a:xfrm>
          <a:prstGeom prst="roundRect">
            <a:avLst>
              <a:gd fmla="val 1428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14"/>
          <p:cNvSpPr/>
          <p:nvPr/>
        </p:nvSpPr>
        <p:spPr>
          <a:xfrm>
            <a:off x="685800" y="2299716"/>
            <a:ext cx="100584" cy="100584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4"/>
          <p:cNvSpPr/>
          <p:nvPr/>
        </p:nvSpPr>
        <p:spPr>
          <a:xfrm>
            <a:off x="896112" y="2029968"/>
            <a:ext cx="2788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GPU / runtime quota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4"/>
          <p:cNvSpPr/>
          <p:nvPr/>
        </p:nvSpPr>
        <p:spPr>
          <a:xfrm>
            <a:off x="3794760" y="2029968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Inference may be interrupted or unavailable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4"/>
          <p:cNvSpPr/>
          <p:nvPr/>
        </p:nvSpPr>
        <p:spPr>
          <a:xfrm>
            <a:off x="7406640" y="2029968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Caching, lazy loading, lighter models, dedicated GPU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4"/>
          <p:cNvSpPr/>
          <p:nvPr/>
        </p:nvSpPr>
        <p:spPr>
          <a:xfrm>
            <a:off x="502920" y="2770632"/>
            <a:ext cx="11183112" cy="640080"/>
          </a:xfrm>
          <a:prstGeom prst="roundRect">
            <a:avLst>
              <a:gd fmla="val 1428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14"/>
          <p:cNvSpPr/>
          <p:nvPr/>
        </p:nvSpPr>
        <p:spPr>
          <a:xfrm>
            <a:off x="685800" y="3040380"/>
            <a:ext cx="100584" cy="100584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14"/>
          <p:cNvSpPr/>
          <p:nvPr/>
        </p:nvSpPr>
        <p:spPr>
          <a:xfrm>
            <a:off x="896112" y="2770632"/>
            <a:ext cx="2788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Five-model memory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14"/>
          <p:cNvSpPr/>
          <p:nvPr/>
        </p:nvSpPr>
        <p:spPr>
          <a:xfrm>
            <a:off x="3794760" y="2770632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Simultaneous checkpoints increase VRAM demand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14"/>
          <p:cNvSpPr/>
          <p:nvPr/>
        </p:nvSpPr>
        <p:spPr>
          <a:xfrm>
            <a:off x="7406640" y="2770632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Lazy initialization; optimize model lifecycle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4"/>
          <p:cNvSpPr/>
          <p:nvPr/>
        </p:nvSpPr>
        <p:spPr>
          <a:xfrm>
            <a:off x="502920" y="3511296"/>
            <a:ext cx="11183112" cy="640080"/>
          </a:xfrm>
          <a:prstGeom prst="roundRect">
            <a:avLst>
              <a:gd fmla="val 1428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4"/>
          <p:cNvSpPr/>
          <p:nvPr/>
        </p:nvSpPr>
        <p:spPr>
          <a:xfrm>
            <a:off x="685800" y="3781044"/>
            <a:ext cx="100584" cy="100584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7" name="Google Shape;637;p14"/>
          <p:cNvSpPr/>
          <p:nvPr/>
        </p:nvSpPr>
        <p:spPr>
          <a:xfrm>
            <a:off x="896112" y="3511296"/>
            <a:ext cx="2788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Long videos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14"/>
          <p:cNvSpPr/>
          <p:nvPr/>
        </p:nvSpPr>
        <p:spPr>
          <a:xfrm>
            <a:off x="3794760" y="3511296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GPU execution time can grow quickly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14"/>
          <p:cNvSpPr/>
          <p:nvPr/>
        </p:nvSpPr>
        <p:spPr>
          <a:xfrm>
            <a:off x="7406640" y="3511296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Frame skipping; shorter windows; future chunking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14"/>
          <p:cNvSpPr/>
          <p:nvPr/>
        </p:nvSpPr>
        <p:spPr>
          <a:xfrm>
            <a:off x="502920" y="4251960"/>
            <a:ext cx="11183112" cy="640080"/>
          </a:xfrm>
          <a:prstGeom prst="roundRect">
            <a:avLst>
              <a:gd fmla="val 1428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14"/>
          <p:cNvSpPr/>
          <p:nvPr/>
        </p:nvSpPr>
        <p:spPr>
          <a:xfrm>
            <a:off x="685800" y="4521708"/>
            <a:ext cx="100584" cy="100584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" name="Google Shape;642;p14"/>
          <p:cNvSpPr/>
          <p:nvPr/>
        </p:nvSpPr>
        <p:spPr>
          <a:xfrm>
            <a:off x="896112" y="4251960"/>
            <a:ext cx="2788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Landmark throughput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14"/>
          <p:cNvSpPr/>
          <p:nvPr/>
        </p:nvSpPr>
        <p:spPr>
          <a:xfrm>
            <a:off x="3794760" y="4251960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Face-landmark extraction can bottleneck webcam FPS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14"/>
          <p:cNvSpPr/>
          <p:nvPr/>
        </p:nvSpPr>
        <p:spPr>
          <a:xfrm>
            <a:off x="7406640" y="4251960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Optimize MediaPipe / asynchronous processing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4"/>
          <p:cNvSpPr/>
          <p:nvPr/>
        </p:nvSpPr>
        <p:spPr>
          <a:xfrm>
            <a:off x="502920" y="4992624"/>
            <a:ext cx="11183112" cy="640080"/>
          </a:xfrm>
          <a:prstGeom prst="roundRect">
            <a:avLst>
              <a:gd fmla="val 14286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14"/>
          <p:cNvSpPr/>
          <p:nvPr/>
        </p:nvSpPr>
        <p:spPr>
          <a:xfrm>
            <a:off x="685800" y="5262372"/>
            <a:ext cx="100584" cy="100584"/>
          </a:xfrm>
          <a:prstGeom prst="ellipse">
            <a:avLst/>
          </a:prstGeom>
          <a:solidFill>
            <a:srgbClr val="2FD4C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14"/>
          <p:cNvSpPr/>
          <p:nvPr/>
        </p:nvSpPr>
        <p:spPr>
          <a:xfrm>
            <a:off x="896112" y="4992624"/>
            <a:ext cx="27889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Domain shift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14"/>
          <p:cNvSpPr/>
          <p:nvPr/>
        </p:nvSpPr>
        <p:spPr>
          <a:xfrm>
            <a:off x="3794760" y="4992624"/>
            <a:ext cx="33832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Cabin lighting, glare, camera angle affect performance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14"/>
          <p:cNvSpPr/>
          <p:nvPr/>
        </p:nvSpPr>
        <p:spPr>
          <a:xfrm>
            <a:off x="7406640" y="4992624"/>
            <a:ext cx="4114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Broader real-world validation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14"/>
          <p:cNvSpPr/>
          <p:nvPr/>
        </p:nvSpPr>
        <p:spPr>
          <a:xfrm>
            <a:off x="502920" y="6053328"/>
            <a:ext cx="1118311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500"/>
              <a:buFont typeface="Bookman Old Style"/>
              <a:buNone/>
            </a:pPr>
            <a:r>
              <a:rPr b="1" i="0" lang="en-US" sz="1500" u="none" cap="none" strike="noStrike">
                <a:solidFill>
                  <a:srgbClr val="2FD4C1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Deployment readiness is therefore an engineering problem as well as a machine-learning problem.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14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" name="Google Shape;652;p14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15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TEAM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15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Member Contributions &amp; Ownership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" name="Google Shape;660;p15"/>
          <p:cNvSpPr/>
          <p:nvPr/>
        </p:nvSpPr>
        <p:spPr>
          <a:xfrm>
            <a:off x="493776" y="141732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Final contributions across the project lifecycle.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15"/>
          <p:cNvSpPr/>
          <p:nvPr/>
        </p:nvSpPr>
        <p:spPr>
          <a:xfrm>
            <a:off x="960120" y="169164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MEMBER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15"/>
          <p:cNvSpPr/>
          <p:nvPr/>
        </p:nvSpPr>
        <p:spPr>
          <a:xfrm>
            <a:off x="3063240" y="1691640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MODULE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5"/>
          <p:cNvSpPr/>
          <p:nvPr/>
        </p:nvSpPr>
        <p:spPr>
          <a:xfrm>
            <a:off x="5074920" y="169164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KEY TECHNICAL OWNERSHIP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15"/>
          <p:cNvSpPr/>
          <p:nvPr/>
        </p:nvSpPr>
        <p:spPr>
          <a:xfrm>
            <a:off x="8366760" y="169164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INTEGRATION CONTRIBUTION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15"/>
          <p:cNvSpPr/>
          <p:nvPr/>
        </p:nvSpPr>
        <p:spPr>
          <a:xfrm>
            <a:off x="502920" y="2011680"/>
            <a:ext cx="11183112" cy="713232"/>
          </a:xfrm>
          <a:prstGeom prst="roundRect">
            <a:avLst>
              <a:gd fmla="val 12821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15"/>
          <p:cNvSpPr/>
          <p:nvPr/>
        </p:nvSpPr>
        <p:spPr>
          <a:xfrm>
            <a:off x="685800" y="2167128"/>
            <a:ext cx="402336" cy="402336"/>
          </a:xfrm>
          <a:prstGeom prst="ellipse">
            <a:avLst/>
          </a:prstGeom>
          <a:solidFill>
            <a:srgbClr val="E85D5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15"/>
          <p:cNvSpPr/>
          <p:nvPr/>
        </p:nvSpPr>
        <p:spPr>
          <a:xfrm>
            <a:off x="685800" y="2157984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44"/>
              <a:buFont typeface="Bookman Old Style"/>
              <a:buNone/>
            </a:pPr>
            <a:r>
              <a:rPr b="1" i="0" lang="en-US" sz="1144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K</a:t>
            </a:r>
            <a:endParaRPr b="0" i="0" sz="11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15"/>
          <p:cNvSpPr/>
          <p:nvPr/>
        </p:nvSpPr>
        <p:spPr>
          <a:xfrm>
            <a:off x="1234440" y="2011680"/>
            <a:ext cx="1828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Kushagra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5"/>
          <p:cNvSpPr/>
          <p:nvPr/>
        </p:nvSpPr>
        <p:spPr>
          <a:xfrm>
            <a:off x="3063240" y="2011680"/>
            <a:ext cx="19659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5D52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85D52"/>
                </a:solidFill>
                <a:latin typeface="Calibri"/>
                <a:ea typeface="Calibri"/>
                <a:cs typeface="Calibri"/>
                <a:sym typeface="Calibri"/>
              </a:rPr>
              <a:t>Video Fatigue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15"/>
          <p:cNvSpPr/>
          <p:nvPr/>
        </p:nvSpPr>
        <p:spPr>
          <a:xfrm>
            <a:off x="5074920" y="2011680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Sequence modeling; EfficientNet-B0 + BiLSTM; fatigue evaluation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15"/>
          <p:cNvSpPr/>
          <p:nvPr/>
        </p:nvSpPr>
        <p:spPr>
          <a:xfrm>
            <a:off x="8366760" y="2011680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Checkpoint + standardized fatigue output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15"/>
          <p:cNvSpPr/>
          <p:nvPr/>
        </p:nvSpPr>
        <p:spPr>
          <a:xfrm>
            <a:off x="502920" y="2816352"/>
            <a:ext cx="11183112" cy="713232"/>
          </a:xfrm>
          <a:prstGeom prst="roundRect">
            <a:avLst>
              <a:gd fmla="val 12821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15"/>
          <p:cNvSpPr/>
          <p:nvPr/>
        </p:nvSpPr>
        <p:spPr>
          <a:xfrm>
            <a:off x="685800" y="2971800"/>
            <a:ext cx="402336" cy="402336"/>
          </a:xfrm>
          <a:prstGeom prst="ellipse">
            <a:avLst/>
          </a:prstGeom>
          <a:solidFill>
            <a:srgbClr val="2FB89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15"/>
          <p:cNvSpPr/>
          <p:nvPr/>
        </p:nvSpPr>
        <p:spPr>
          <a:xfrm>
            <a:off x="685800" y="2962656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44"/>
              <a:buFont typeface="Bookman Old Style"/>
              <a:buNone/>
            </a:pPr>
            <a:r>
              <a:rPr b="1" i="0" lang="en-US" sz="1144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</a:t>
            </a:r>
            <a:endParaRPr b="0" i="0" sz="11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15"/>
          <p:cNvSpPr/>
          <p:nvPr/>
        </p:nvSpPr>
        <p:spPr>
          <a:xfrm>
            <a:off x="1234440" y="2816352"/>
            <a:ext cx="1828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Shiwani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15"/>
          <p:cNvSpPr/>
          <p:nvPr/>
        </p:nvSpPr>
        <p:spPr>
          <a:xfrm>
            <a:off x="3063240" y="2816352"/>
            <a:ext cx="19659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B89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2FB89A"/>
                </a:solidFill>
                <a:latin typeface="Calibri"/>
                <a:ea typeface="Calibri"/>
                <a:cs typeface="Calibri"/>
                <a:sym typeface="Calibri"/>
              </a:rPr>
              <a:t>Landmark Fatigue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15"/>
          <p:cNvSpPr/>
          <p:nvPr/>
        </p:nvSpPr>
        <p:spPr>
          <a:xfrm>
            <a:off x="5074920" y="2816352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MediaPipe features; LSTM; temporal fatigue logic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15"/>
          <p:cNvSpPr/>
          <p:nvPr/>
        </p:nvSpPr>
        <p:spPr>
          <a:xfrm>
            <a:off x="8366760" y="2816352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Landmark adapter; temporal state + failure handling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15"/>
          <p:cNvSpPr/>
          <p:nvPr/>
        </p:nvSpPr>
        <p:spPr>
          <a:xfrm>
            <a:off x="502920" y="3621024"/>
            <a:ext cx="11183112" cy="713232"/>
          </a:xfrm>
          <a:prstGeom prst="roundRect">
            <a:avLst>
              <a:gd fmla="val 12821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15"/>
          <p:cNvSpPr/>
          <p:nvPr/>
        </p:nvSpPr>
        <p:spPr>
          <a:xfrm>
            <a:off x="685800" y="3776472"/>
            <a:ext cx="402336" cy="402336"/>
          </a:xfrm>
          <a:prstGeom prst="ellipse">
            <a:avLst/>
          </a:prstGeom>
          <a:solidFill>
            <a:srgbClr val="7C8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15"/>
          <p:cNvSpPr/>
          <p:nvPr/>
        </p:nvSpPr>
        <p:spPr>
          <a:xfrm>
            <a:off x="685800" y="3767328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44"/>
              <a:buFont typeface="Bookman Old Style"/>
              <a:buNone/>
            </a:pPr>
            <a:r>
              <a:rPr b="1" i="0" lang="en-US" sz="1144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</a:t>
            </a:r>
            <a:endParaRPr b="0" i="0" sz="11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15"/>
          <p:cNvSpPr/>
          <p:nvPr/>
        </p:nvSpPr>
        <p:spPr>
          <a:xfrm>
            <a:off x="1234440" y="3621024"/>
            <a:ext cx="1828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Shubham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15"/>
          <p:cNvSpPr/>
          <p:nvPr/>
        </p:nvSpPr>
        <p:spPr>
          <a:xfrm>
            <a:off x="3063240" y="3621024"/>
            <a:ext cx="19659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82E0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7C82E0"/>
                </a:solidFill>
                <a:latin typeface="Calibri"/>
                <a:ea typeface="Calibri"/>
                <a:cs typeface="Calibri"/>
                <a:sym typeface="Calibri"/>
              </a:rPr>
              <a:t>Driver Activity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15"/>
          <p:cNvSpPr/>
          <p:nvPr/>
        </p:nvSpPr>
        <p:spPr>
          <a:xfrm>
            <a:off x="5074920" y="3621024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MobileNetV3-Large; activity evaluation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15"/>
          <p:cNvSpPr/>
          <p:nvPr/>
        </p:nvSpPr>
        <p:spPr>
          <a:xfrm>
            <a:off x="8366760" y="3621024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DriverActivityAdapter; Gradio lead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15"/>
          <p:cNvSpPr/>
          <p:nvPr/>
        </p:nvSpPr>
        <p:spPr>
          <a:xfrm>
            <a:off x="502920" y="4425696"/>
            <a:ext cx="11183112" cy="713232"/>
          </a:xfrm>
          <a:prstGeom prst="roundRect">
            <a:avLst>
              <a:gd fmla="val 12821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7" name="Google Shape;687;p15"/>
          <p:cNvSpPr/>
          <p:nvPr/>
        </p:nvSpPr>
        <p:spPr>
          <a:xfrm>
            <a:off x="685800" y="4581144"/>
            <a:ext cx="402336" cy="402336"/>
          </a:xfrm>
          <a:prstGeom prst="ellipse">
            <a:avLst/>
          </a:prstGeom>
          <a:solidFill>
            <a:srgbClr val="B44F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8" name="Google Shape;688;p15"/>
          <p:cNvSpPr/>
          <p:nvPr/>
        </p:nvSpPr>
        <p:spPr>
          <a:xfrm>
            <a:off x="685800" y="4572000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44"/>
              <a:buFont typeface="Bookman Old Style"/>
              <a:buNone/>
            </a:pPr>
            <a:r>
              <a:rPr b="1" i="0" lang="en-US" sz="1144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</a:t>
            </a:r>
            <a:endParaRPr b="0" i="0" sz="11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15"/>
          <p:cNvSpPr/>
          <p:nvPr/>
        </p:nvSpPr>
        <p:spPr>
          <a:xfrm>
            <a:off x="1234440" y="4425696"/>
            <a:ext cx="1828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Ravina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" name="Google Shape;690;p15"/>
          <p:cNvSpPr/>
          <p:nvPr/>
        </p:nvSpPr>
        <p:spPr>
          <a:xfrm>
            <a:off x="3063240" y="4425696"/>
            <a:ext cx="19659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4FC4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B44FC4"/>
                </a:solidFill>
                <a:latin typeface="Calibri"/>
                <a:ea typeface="Calibri"/>
                <a:cs typeface="Calibri"/>
                <a:sym typeface="Calibri"/>
              </a:rPr>
              <a:t>Smoking &amp; Drinking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15"/>
          <p:cNvSpPr/>
          <p:nvPr/>
        </p:nvSpPr>
        <p:spPr>
          <a:xfrm>
            <a:off x="5074920" y="4425696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YOLOv8n; dataset cleaning; tuning; held-out eval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15"/>
          <p:cNvSpPr/>
          <p:nvPr/>
        </p:nvSpPr>
        <p:spPr>
          <a:xfrm>
            <a:off x="8366760" y="4425696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Detection adapter + deployment consolidation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15"/>
          <p:cNvSpPr/>
          <p:nvPr/>
        </p:nvSpPr>
        <p:spPr>
          <a:xfrm>
            <a:off x="502920" y="5230368"/>
            <a:ext cx="11183112" cy="713232"/>
          </a:xfrm>
          <a:prstGeom prst="roundRect">
            <a:avLst>
              <a:gd fmla="val 12821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p15"/>
          <p:cNvSpPr/>
          <p:nvPr/>
        </p:nvSpPr>
        <p:spPr>
          <a:xfrm>
            <a:off x="685800" y="5385816"/>
            <a:ext cx="402336" cy="402336"/>
          </a:xfrm>
          <a:prstGeom prst="ellipse">
            <a:avLst/>
          </a:prstGeom>
          <a:solidFill>
            <a:srgbClr val="C99A3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p15"/>
          <p:cNvSpPr/>
          <p:nvPr/>
        </p:nvSpPr>
        <p:spPr>
          <a:xfrm>
            <a:off x="685800" y="5376672"/>
            <a:ext cx="402336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144"/>
              <a:buFont typeface="Bookman Old Style"/>
              <a:buNone/>
            </a:pPr>
            <a:r>
              <a:rPr b="1" i="0" lang="en-US" sz="1144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S</a:t>
            </a:r>
            <a:endParaRPr b="0" i="0" sz="1144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15"/>
          <p:cNvSpPr/>
          <p:nvPr/>
        </p:nvSpPr>
        <p:spPr>
          <a:xfrm>
            <a:off x="1234440" y="5230368"/>
            <a:ext cx="18288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5F8FC"/>
                </a:solidFill>
                <a:latin typeface="Calibri"/>
                <a:ea typeface="Calibri"/>
                <a:cs typeface="Calibri"/>
                <a:sym typeface="Calibri"/>
              </a:rPr>
              <a:t>Sohini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5"/>
          <p:cNvSpPr/>
          <p:nvPr/>
        </p:nvSpPr>
        <p:spPr>
          <a:xfrm>
            <a:off x="3063240" y="5230368"/>
            <a:ext cx="196596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9A3A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C99A3A"/>
                </a:solidFill>
                <a:latin typeface="Calibri"/>
                <a:ea typeface="Calibri"/>
                <a:cs typeface="Calibri"/>
                <a:sym typeface="Calibri"/>
              </a:rPr>
              <a:t>Seatbelt &amp; Phone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15"/>
          <p:cNvSpPr/>
          <p:nvPr/>
        </p:nvSpPr>
        <p:spPr>
          <a:xfrm>
            <a:off x="5074920" y="5230368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YOLOv8n; robustness; temporal consensus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" name="Google Shape;699;p15"/>
          <p:cNvSpPr/>
          <p:nvPr/>
        </p:nvSpPr>
        <p:spPr>
          <a:xfrm>
            <a:off x="8366760" y="5230368"/>
            <a:ext cx="3200400" cy="7132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Adapter; Risk Fusion integration; final docs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15"/>
          <p:cNvSpPr/>
          <p:nvPr/>
        </p:nvSpPr>
        <p:spPr>
          <a:xfrm>
            <a:off x="502920" y="6053328"/>
            <a:ext cx="1118311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Shared responsibility: consistent interfaces, common inference flow, integration testing, documentation and final delivery.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15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15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1B2E"/>
        </a:solidFill>
      </p:bgPr>
    </p:bg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16"/>
          <p:cNvSpPr/>
          <p:nvPr/>
        </p:nvSpPr>
        <p:spPr>
          <a:xfrm>
            <a:off x="10058400" y="-1371600"/>
            <a:ext cx="3108960" cy="3108960"/>
          </a:xfrm>
          <a:prstGeom prst="ellipse">
            <a:avLst/>
          </a:prstGeom>
          <a:noFill/>
          <a:ln cap="flat" cmpd="sng" w="12700">
            <a:solidFill>
              <a:srgbClr val="1B34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9" name="Google Shape;709;p16"/>
          <p:cNvSpPr/>
          <p:nvPr/>
        </p:nvSpPr>
        <p:spPr>
          <a:xfrm>
            <a:off x="10469880" y="-960120"/>
            <a:ext cx="2286000" cy="2286000"/>
          </a:xfrm>
          <a:prstGeom prst="ellipse">
            <a:avLst/>
          </a:prstGeom>
          <a:noFill/>
          <a:ln cap="flat" cmpd="sng" w="12700">
            <a:solidFill>
              <a:srgbClr val="18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0" name="Google Shape;710;p16"/>
          <p:cNvSpPr/>
          <p:nvPr/>
        </p:nvSpPr>
        <p:spPr>
          <a:xfrm>
            <a:off x="10835640" y="-594360"/>
            <a:ext cx="1554480" cy="1554480"/>
          </a:xfrm>
          <a:prstGeom prst="ellipse">
            <a:avLst/>
          </a:prstGeom>
          <a:noFill/>
          <a:ln cap="flat" cmpd="sng" w="12700">
            <a:solidFill>
              <a:srgbClr val="1830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1" name="Google Shape;711;p16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16"/>
          <p:cNvSpPr/>
          <p:nvPr/>
        </p:nvSpPr>
        <p:spPr>
          <a:xfrm>
            <a:off x="475488" y="713232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3600"/>
              <a:buFont typeface="Bookman Old Style"/>
              <a:buNone/>
            </a:pPr>
            <a:r>
              <a:rPr b="1" i="0" lang="en-US" sz="3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Limitations &amp; Where This Goes Next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6"/>
          <p:cNvSpPr/>
          <p:nvPr/>
        </p:nvSpPr>
        <p:spPr>
          <a:xfrm>
            <a:off x="502920" y="1691640"/>
            <a:ext cx="5440680" cy="3429000"/>
          </a:xfrm>
          <a:prstGeom prst="roundRect">
            <a:avLst>
              <a:gd fmla="val 2667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4" name="Google Shape;714;p16"/>
          <p:cNvSpPr/>
          <p:nvPr/>
        </p:nvSpPr>
        <p:spPr>
          <a:xfrm>
            <a:off x="777240" y="1874520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6A5E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86A5E"/>
                </a:solidFill>
                <a:latin typeface="Calibri"/>
                <a:ea typeface="Calibri"/>
                <a:cs typeface="Calibri"/>
                <a:sym typeface="Calibri"/>
              </a:rPr>
              <a:t>MODEL LIMITATIONS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" name="Google Shape;715;p16"/>
          <p:cNvSpPr/>
          <p:nvPr/>
        </p:nvSpPr>
        <p:spPr>
          <a:xfrm>
            <a:off x="822960" y="2240280"/>
            <a:ext cx="493776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77800" lvl="0" marL="1778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Fatigue generalization across unseen drivers is the largest technical gap.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Landmark fatigue depends on face visibility and camera orientation.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Drinking detection is weaker than smoking detection.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Small-object localization in real cabin conditions remains hard.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Metrics across modules are task-specific — not directly comparable.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16"/>
          <p:cNvSpPr/>
          <p:nvPr/>
        </p:nvSpPr>
        <p:spPr>
          <a:xfrm>
            <a:off x="6245352" y="1691640"/>
            <a:ext cx="5440680" cy="3429000"/>
          </a:xfrm>
          <a:prstGeom prst="roundRect">
            <a:avLst>
              <a:gd fmla="val 2667" name="adj"/>
            </a:avLst>
          </a:prstGeom>
          <a:solidFill>
            <a:srgbClr val="172A40"/>
          </a:solidFill>
          <a:ln cap="flat" cmpd="sng" w="12700">
            <a:solidFill>
              <a:srgbClr val="2A445F"/>
            </a:solidFill>
            <a:prstDash val="solid"/>
            <a:round/>
            <a:headEnd len="sm" w="sm" type="none"/>
            <a:tailEnd len="sm" w="sm" type="none"/>
          </a:ln>
          <a:effectLst>
            <a:outerShdw blurRad="127000" rotWithShape="0" algn="bl" dir="5400000" dist="38100">
              <a:srgbClr val="050B14">
                <a:alpha val="4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7" name="Google Shape;717;p16"/>
          <p:cNvSpPr/>
          <p:nvPr/>
        </p:nvSpPr>
        <p:spPr>
          <a:xfrm>
            <a:off x="6519672" y="1874520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0A9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E0A93B"/>
                </a:solidFill>
                <a:latin typeface="Calibri"/>
                <a:ea typeface="Calibri"/>
                <a:cs typeface="Calibri"/>
                <a:sym typeface="Calibri"/>
              </a:rPr>
              <a:t>SYSTEM / DEPLOYMENT LIMITATIONS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16"/>
          <p:cNvSpPr/>
          <p:nvPr/>
        </p:nvSpPr>
        <p:spPr>
          <a:xfrm>
            <a:off x="6565392" y="2240280"/>
            <a:ext cx="493776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177800" lvl="0" marL="17780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Five simultaneous models can require significant GPU memory.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Live webcam throughput is constrained by landmark extraction.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Runtime can be constrained by hosted GPU quota / time limits.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More diverse, longer-duration real-world validation is needed.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177800" marR="0" rtl="0" algn="l">
              <a:lnSpc>
                <a:spcPct val="105000"/>
              </a:lnSpc>
              <a:spcBef>
                <a:spcPts val="900"/>
              </a:spcBef>
              <a:spcAft>
                <a:spcPts val="0"/>
              </a:spcAft>
              <a:buClr>
                <a:srgbClr val="9FB0C3"/>
              </a:buClr>
              <a:buSzPts val="1200"/>
              <a:buFont typeface="Calibri"/>
              <a:buChar char="•"/>
            </a:pPr>
            <a:r>
              <a:rPr b="0" i="0" lang="en-US" sz="1200" u="none" cap="none" strike="noStrike">
                <a:solidFill>
                  <a:srgbClr val="9FB0C3"/>
                </a:solidFill>
                <a:latin typeface="Calibri"/>
                <a:ea typeface="Calibri"/>
                <a:cs typeface="Calibri"/>
                <a:sym typeface="Calibri"/>
              </a:rPr>
              <a:t>Not safety-certified; a research / engineering prototype.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16"/>
          <p:cNvSpPr/>
          <p:nvPr/>
        </p:nvSpPr>
        <p:spPr>
          <a:xfrm>
            <a:off x="502920" y="5349240"/>
            <a:ext cx="11183112" cy="777240"/>
          </a:xfrm>
          <a:prstGeom prst="roundRect">
            <a:avLst>
              <a:gd fmla="val 14118" name="adj"/>
            </a:avLst>
          </a:prstGeom>
          <a:solidFill>
            <a:srgbClr val="12283A"/>
          </a:solidFill>
          <a:ln cap="flat" cmpd="sng" w="16500">
            <a:solidFill>
              <a:srgbClr val="2FD4C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0" name="Google Shape;720;p16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F8FC"/>
              </a:buClr>
              <a:buSzPts val="1600"/>
              <a:buFont typeface="Bookman Old Style"/>
              <a:buNone/>
            </a:pPr>
            <a:r>
              <a:rPr b="1" i="0" lang="en-US" sz="1600" u="none" cap="none" strike="noStrike">
                <a:solidFill>
                  <a:srgbClr val="F5F8FC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From drowsiness detection to a complete, fused, deployed driver-wellness system.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6"/>
          <p:cNvSpPr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FD4C1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2FD4C1"/>
                </a:solidFill>
                <a:latin typeface="Calibri"/>
                <a:ea typeface="Calibri"/>
                <a:cs typeface="Calibri"/>
                <a:sym typeface="Calibri"/>
              </a:rPr>
              <a:t>Kushagra · Shiwani · Shubham · Sohini · Ravina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16"/>
          <p:cNvSpPr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Driver Wellness &amp; Safety Monitoring  ·  Milestone 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6"/>
          <p:cNvSpPr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E829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E8299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2026-08-14T07:21:00Z</dcterms:created>
  <dc:creator>PptxGenJS</dc:creator>
</cp:coreProperties>
</file>