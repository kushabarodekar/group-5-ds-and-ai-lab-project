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jC1yXh6Vm/a/OuvJ6LyM6qJpmP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299FB5-00D3-4B0C-A865-E520703983BE}">
  <a:tblStyle styleId="{3A299FB5-00D3-4B0C-A865-E520703983B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40080" y="731520"/>
            <a:ext cx="292608" cy="73152"/>
          </a:xfrm>
          <a:prstGeom prst="rect">
            <a:avLst/>
          </a:prstGeom>
          <a:solidFill>
            <a:srgbClr val="37D3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078992" y="731520"/>
            <a:ext cx="292608" cy="73152"/>
          </a:xfrm>
          <a:prstGeom prst="rect">
            <a:avLst/>
          </a:prstGeom>
          <a:solidFill>
            <a:srgbClr val="49DC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517904" y="731520"/>
            <a:ext cx="292608" cy="73152"/>
          </a:xfrm>
          <a:prstGeom prst="rect">
            <a:avLst/>
          </a:prstGeom>
          <a:solidFill>
            <a:srgbClr val="9D7C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956815" y="731520"/>
            <a:ext cx="292608" cy="73152"/>
          </a:xfrm>
          <a:prstGeom prst="rect">
            <a:avLst/>
          </a:prstGeom>
          <a:solidFill>
            <a:srgbClr val="F8BE4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2395728" y="731520"/>
            <a:ext cx="292608" cy="73152"/>
          </a:xfrm>
          <a:prstGeom prst="rect">
            <a:avLst/>
          </a:prstGeom>
          <a:solidFill>
            <a:srgbClr val="F55D6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40080" y="1234440"/>
            <a:ext cx="10789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AI-POWERED DRIVER WELLNESS</a:t>
            </a:r>
            <a:br>
              <a:rPr b="1" i="0" lang="en-US" sz="31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1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&amp; SAFETY MONITORING SYSTEM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58368" y="269748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Final Project Presentation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58368" y="324612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From problem definition → data → architecture → training → evaluation → integration → real-time risk fusion → deployment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658368" y="4251960"/>
            <a:ext cx="10881360" cy="100584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68680" y="4535424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5 ML modules   •   5 team members   •   1 integrated inference pipeline   •   1 continuous 0–100 wellness score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58368" y="59893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BSDA4001 • Data Science / AI Lab •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Why driver monitoring must move beyond a single fatigue flag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40080" y="1325880"/>
            <a:ext cx="5257800" cy="452628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822959" y="1435607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5D68"/>
                </a:solidFill>
                <a:latin typeface="Arial"/>
                <a:ea typeface="Arial"/>
                <a:cs typeface="Arial"/>
                <a:sym typeface="Arial"/>
              </a:rPr>
              <a:t>THE SAFETY GAP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896112" y="1783080"/>
            <a:ext cx="4709160" cy="3339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Driver risk is multi-causal: fatigue, distraction, phone use, smoking, drinking and seat-belt non-compliance can occur simultaneously.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A single model or a single frame cannot provide a reliable picture of the driver's current state.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Fleet and in-cabin monitoring needs a continuous, objective signal rather than isolated predictions.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A single cabin camera can expose multiple safety signals if lightweight models can run together.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6172200" y="1325880"/>
            <a:ext cx="5394960" cy="452628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355080" y="1435607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PROJECT VISION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6446520" y="17830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ONE CAMERA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6537960" y="226771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6446520" y="2670048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FIVE INDEPENDENT SAFETY SIGNALS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6537960" y="3182112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6446520" y="3584448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ONE FUSED WELLNESS SCORE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6446520" y="4224528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 bounded 0–100 score that reflects concurrent risk instead of forcing the system to choose one cause.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Engineering and research goals across the six milestones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658368" y="141732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859536" y="16459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859536" y="2167128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fatigue and unsafe in-cabin behaviours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4407407" y="141732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4608575" y="16459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Differentiate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4608575" y="2167128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temporal, landmark, activity and object-based evidence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8156448" y="141732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8357616" y="16459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Standardize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8357616" y="2167128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module outputs through common adapters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658368" y="356616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859536" y="37947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Fuse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859536" y="4315968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heterogeneous risk signals into one score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4407407" y="356616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4608575" y="37947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Stabilize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4608575" y="4315968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predictions using temporal logic where needed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8156448" y="3566160"/>
            <a:ext cx="3429000" cy="17373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8357616" y="37947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8357616" y="4315968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a usable Gradio application on the target platform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Milestone Journey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How the project progressed from idea to deployable prototype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58368" y="1298448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841247" y="1463039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M1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1527048" y="1463039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Problem + literature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841247" y="1984248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Define safety problem, scope, stakeholders, initial solution paradigm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4407407" y="1298448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4590288" y="1463039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M2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5276088" y="1463039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Dataset preparation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4590288" y="1984248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Collect, clean, relabel, split and validate task-specific datasets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8156448" y="1298448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8339327" y="1463039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M3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9025128" y="1463039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Architecture design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8339327" y="1984248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Compare candidate models; define I/O, loss, metrics and compute budget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658368" y="3630168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841247" y="3794759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M4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1527048" y="3794759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Training + tuning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841247" y="4315968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Train all five modules; tune hyperparameters; select best checkpoints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407407" y="3630168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4590288" y="3794759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M5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5276088" y="3794759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Evaluation + analysis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4590288" y="4315968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Freeze models; evaluate; analyze errors; prepare integration evidence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8156448" y="3630168"/>
            <a:ext cx="3429000" cy="1874519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8339327" y="3794759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M6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9025128" y="3794759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Integration + deployment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8339327" y="4315968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Adapters, streaming, risk fusion, Gradio, end-to-end validation, deployment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Milestone 1 — Problem Definition &amp; Motivation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Establishing the system's safety scope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58368" y="132588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841247" y="1435607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WHAT M1 ESTABLISHED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914400" y="1783080"/>
            <a:ext cx="4663440" cy="38369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Continuous driver wellness monitoring as an additional safety layer.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Dashboard / embedded cabin camera as the primary hardware scope.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Stakeholders: logistics agencies, cab owners, bus operators and individual drivers.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Out of scope: mechanical braking integration, native mobile application and cloud fleet dashboard.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Initial research direction: combine facial cues, behavior detection and temporal reasoning.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172200" y="1325880"/>
            <a:ext cx="5394960" cy="4480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6355080" y="1435607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INITIAL SAFETY SIGNALS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6473952" y="1783080"/>
            <a:ext cx="2148840" cy="530352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6547104" y="1856231"/>
            <a:ext cx="2002536" cy="384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Eye closure / PERCLOS</a:t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8942832" y="1783080"/>
            <a:ext cx="2148840" cy="530352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49D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9015984" y="1856231"/>
            <a:ext cx="2002536" cy="384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Yawning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6473952" y="2606040"/>
            <a:ext cx="2148840" cy="530352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F8BE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6547104" y="2679192"/>
            <a:ext cx="2002536" cy="384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Head pose</a:t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8942832" y="2606040"/>
            <a:ext cx="2148840" cy="530352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9D7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9015984" y="2679192"/>
            <a:ext cx="2002536" cy="384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Phone / distraction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6473952" y="3429000"/>
            <a:ext cx="2148840" cy="530352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F55D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6547104" y="3502152"/>
            <a:ext cx="2002536" cy="384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Smoking / drinking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8942832" y="3429000"/>
            <a:ext cx="2148840" cy="530352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9015984" y="3502152"/>
            <a:ext cx="2002536" cy="384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Seat-belt compliance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6473952" y="452628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M1 outcome: a clear multi-signal problem definition that could be decomposed into five independently trainable modules.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Milestone 2 — Dataset Preparation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Building task-specific datasets with leakage control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658368" y="1298448"/>
            <a:ext cx="10972800" cy="96012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896112" y="151790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Common principle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2331720" y="1481328"/>
            <a:ext cx="795527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Clean → label → verify → split → preprocess → document</a:t>
            </a:r>
            <a:endParaRPr/>
          </a:p>
        </p:txBody>
      </p:sp>
      <p:graphicFrame>
        <p:nvGraphicFramePr>
          <p:cNvPr id="219" name="Google Shape;219;p6"/>
          <p:cNvGraphicFramePr/>
          <p:nvPr/>
        </p:nvGraphicFramePr>
        <p:xfrm>
          <a:off x="658368" y="24871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{3A299FB5-00D3-4B0C-A865-E520703983BE}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2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Dataset / Source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Core preparation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Output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Video Fatigue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UTA-RLDD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Sequence construction; subject-disjoint split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16-frame clips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Landmark Fatigue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YawDD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MediaPipe features; 45-frame windows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EAR/MAR/Pose sequences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Driver Activity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AUC Distracted Driver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Stratified image split; augmentation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activity classes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Seatbelt / Phone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DMS / YOLO dataset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Annotation verification; YOLO format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Phone + Seatbelt boxes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Smoking / Drinking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Roboflow merged set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Cleaning; duplicate removal; class balancing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Smoking + Drinking boxes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</a:tbl>
          </a:graphicData>
        </a:graphic>
      </p:graphicFrame>
      <p:sp>
        <p:nvSpPr>
          <p:cNvPr id="220" name="Google Shape;220;p6"/>
          <p:cNvSpPr txBox="1"/>
          <p:nvPr/>
        </p:nvSpPr>
        <p:spPr>
          <a:xfrm>
            <a:off x="868680" y="534924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Key M2 discipline: temporal windows stay within their native video and subject-level splitting is used where applicable to reduce leakage.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Milestone 3 — Model Architecture Design</a:t>
            </a:r>
            <a:endParaRPr/>
          </a:p>
        </p:txBody>
      </p:sp>
      <p:sp>
        <p:nvSpPr>
          <p:cNvPr id="226" name="Google Shape;226;p7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Five architectures selected for complementary evidence + real-time feasibility</a:t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658368" y="1298448"/>
            <a:ext cx="10972800" cy="749808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868680" y="1453895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Video Fatigue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2788920" y="1453895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CNN-LSTM → later EfficientNet-B0 + BiLSTM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6812280" y="1453895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Temporal visual cues</a:t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658368" y="2231136"/>
            <a:ext cx="10972800" cy="749808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868680" y="2386584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Landmark Fatigue</a:t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2788920" y="2386584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LSTM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6812280" y="2386584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EAR / MAR / head pose</a:t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658368" y="3163824"/>
            <a:ext cx="10972800" cy="749808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868680" y="331927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Driver Activity</a:t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2788920" y="3319272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MobileNetV3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6812280" y="331927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Lightweight frame classification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658368" y="4096512"/>
            <a:ext cx="10972800" cy="749808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868680" y="42519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Seatbelt / Phone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2788920" y="425196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YOLOv8n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6812280" y="42519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Fast explainable localization</a:t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658368" y="5029200"/>
            <a:ext cx="10972800" cy="749808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868680" y="518464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Smoking / Drinking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2788920" y="5184648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YOLOv8n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6812280" y="518464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Real-time object detection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868680" y="60807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8BE4B"/>
                </a:solidFill>
                <a:latin typeface="Arial"/>
                <a:ea typeface="Arial"/>
                <a:cs typeface="Arial"/>
                <a:sym typeface="Arial"/>
              </a:rPr>
              <a:t>Design principle: the lightweight model wins unless the accuracy gap is large enough to justify additional latency and memory.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Milestone 4 — Training, Tuning &amp; Checkpointing</a:t>
            </a:r>
            <a:endParaRPr/>
          </a:p>
        </p:txBody>
      </p:sp>
      <p:sp>
        <p:nvSpPr>
          <p:cNvPr id="257" name="Google Shape;257;p8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Turning architecture specifications into deployable model artifacts</a:t>
            </a:r>
            <a:endParaRPr/>
          </a:p>
        </p:txBody>
      </p:sp>
      <p:sp>
        <p:nvSpPr>
          <p:cNvPr id="258" name="Google Shape;258;p8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261" name="Google Shape;261;p8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658368" y="1554480"/>
            <a:ext cx="2542032" cy="283464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841247" y="18288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/>
          </a:p>
        </p:txBody>
      </p:sp>
      <p:sp>
        <p:nvSpPr>
          <p:cNvPr id="264" name="Google Shape;264;p8"/>
          <p:cNvSpPr txBox="1"/>
          <p:nvPr/>
        </p:nvSpPr>
        <p:spPr>
          <a:xfrm>
            <a:off x="886968" y="2514600"/>
            <a:ext cx="2057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Task-specific training on cleaned datasets</a:t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3447287" y="1554480"/>
            <a:ext cx="2542032" cy="283464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3630168" y="18288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D7CFF"/>
                </a:solidFill>
                <a:latin typeface="Arial"/>
                <a:ea typeface="Arial"/>
                <a:cs typeface="Arial"/>
                <a:sym typeface="Arial"/>
              </a:rPr>
              <a:t>TUNE</a:t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3675887" y="2514600"/>
            <a:ext cx="2057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Learning rate, batch size, optimizer, temporal settings, dropout etc.</a:t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6236207" y="1554480"/>
            <a:ext cx="2542032" cy="283464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6419088" y="18288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/>
          </a:p>
        </p:txBody>
      </p:sp>
      <p:sp>
        <p:nvSpPr>
          <p:cNvPr id="270" name="Google Shape;270;p8"/>
          <p:cNvSpPr txBox="1"/>
          <p:nvPr/>
        </p:nvSpPr>
        <p:spPr>
          <a:xfrm>
            <a:off x="6464807" y="2514600"/>
            <a:ext cx="2057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Accuracy / F1 for classification; mAP / precision / recall for detection</a:t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9025128" y="1554480"/>
            <a:ext cx="2542032" cy="283464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9208007" y="18288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8BE4B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/>
          </a:p>
        </p:txBody>
      </p:sp>
      <p:sp>
        <p:nvSpPr>
          <p:cNvPr id="273" name="Google Shape;273;p8"/>
          <p:cNvSpPr txBox="1"/>
          <p:nvPr/>
        </p:nvSpPr>
        <p:spPr>
          <a:xfrm>
            <a:off x="9253728" y="2514600"/>
            <a:ext cx="2057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Best checkpoint based on validation evidence</a:t>
            </a:r>
            <a:endParaRPr/>
          </a:p>
        </p:txBody>
      </p:sp>
      <p:sp>
        <p:nvSpPr>
          <p:cNvPr id="274" name="Google Shape;274;p8"/>
          <p:cNvSpPr txBox="1"/>
          <p:nvPr/>
        </p:nvSpPr>
        <p:spPr>
          <a:xfrm>
            <a:off x="822960" y="48920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Common experimental environment: Python • PyTorch / Ultralytics • OpenCV • MediaPipe • scikit-learn • NVIDIA T4 / Google Colab</a:t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M4 deliverable: trained checkpoints and inference pipelines ready for the integration stage.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Milestone 5 — Evaluation &amp; Error Analysis</a:t>
            </a:r>
            <a:endParaRPr/>
          </a:p>
        </p:txBody>
      </p:sp>
      <p:sp>
        <p:nvSpPr>
          <p:cNvPr id="281" name="Google Shape;281;p9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Freezing the models and understanding where they succeed or fail</a:t>
            </a: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285" name="Google Shape;285;p9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658368" y="1298448"/>
            <a:ext cx="5257800" cy="452628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841247" y="1408176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sp>
        <p:nvSpPr>
          <p:cNvPr id="288" name="Google Shape;288;p9"/>
          <p:cNvSpPr txBox="1"/>
          <p:nvPr/>
        </p:nvSpPr>
        <p:spPr>
          <a:xfrm>
            <a:off x="914400" y="1737360"/>
            <a:ext cx="4663440" cy="3506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Freeze selected checkpoints and evaluate on held-out validation/test data.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Use task-appropriate metrics: accuracy, precision, recall, F1 and confusion matrices for classification.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Use mAP@50 and mAP@50–95 for object detection.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Measure inference latency and practical deployment envelope.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Analyze per-class failures rather than relying only on aggregate scores.</a:t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6172200" y="1298448"/>
            <a:ext cx="5394960" cy="452628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355080" y="140817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BE4B"/>
                </a:solidFill>
                <a:latin typeface="Arial"/>
                <a:ea typeface="Arial"/>
                <a:cs typeface="Arial"/>
                <a:sym typeface="Arial"/>
              </a:rPr>
              <a:t>KEY LESSONS</a:t>
            </a:r>
            <a:endParaRPr/>
          </a:p>
        </p:txBody>
      </p:sp>
      <p:sp>
        <p:nvSpPr>
          <p:cNvPr id="291" name="Google Shape;291;p9"/>
          <p:cNvSpPr txBox="1"/>
          <p:nvPr/>
        </p:nvSpPr>
        <p:spPr>
          <a:xfrm>
            <a:off x="6428232" y="1737360"/>
            <a:ext cx="4709160" cy="328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Video fatigue showed an unseen-subject generalization gap.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Landmark fatigue is camera/face-visibility sensitive.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Driver Activity maintained strong accuracy and speed.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Smoking/Drinking: smoking is stronger than drinking; small objects remain difficult.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Seatbelt/Phone: strong documented detection performance; real-world glare/shadow remain important.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Five Modules — Final System Roles</a:t>
            </a:r>
            <a:endParaRPr/>
          </a:p>
        </p:txBody>
      </p:sp>
      <p:sp>
        <p:nvSpPr>
          <p:cNvPr id="297" name="Google Shape;297;p10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Each member owns one complementary source of evidence</a:t>
            </a:r>
            <a:endParaRPr/>
          </a:p>
        </p:txBody>
      </p:sp>
      <p:sp>
        <p:nvSpPr>
          <p:cNvPr id="298" name="Google Shape;298;p10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301" name="Google Shape;301;p10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graphicFrame>
        <p:nvGraphicFramePr>
          <p:cNvPr id="302" name="Google Shape;302;p10"/>
          <p:cNvGraphicFramePr/>
          <p:nvPr/>
        </p:nvGraphicFramePr>
        <p:xfrm>
          <a:off x="594360" y="13533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{3A299FB5-00D3-4B0C-A865-E520703983BE}</a:tableStyleId>
              </a:tblPr>
              <a:tblGrid>
                <a:gridCol w="2212850"/>
                <a:gridCol w="2212850"/>
                <a:gridCol w="2212850"/>
                <a:gridCol w="2212850"/>
                <a:gridCol w="2212850"/>
              </a:tblGrid>
              <a:tr h="63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Member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Architecture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evidence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4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 role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Video Fatigue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Kushagra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EfficientNet-B0 + BiLSTM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Temporal visual fatigue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Complementary fatigue signal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Landmark Fatigue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Shiwani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MediaPipe + LSTM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EAR / MAR / pose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Interpretable fatigue signal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Driver Activity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Shubham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MobileNetV3-Large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Driving behaviour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Distraction / phone activity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Smoking &amp; Drinking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Ravina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YOLOv8n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Unsafe objects/actions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Smoking / drinking events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Seatbelt &amp; Phone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Sohini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YOLOv8n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Compliance / phone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4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Seatbelt + phone events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</a:tbl>
          </a:graphicData>
        </a:graphic>
      </p:graphicFrame>
      <p:sp>
        <p:nvSpPr>
          <p:cNvPr id="303" name="Google Shape;303;p10"/>
          <p:cNvSpPr txBox="1"/>
          <p:nvPr/>
        </p:nvSpPr>
        <p:spPr>
          <a:xfrm>
            <a:off x="822960" y="55321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The modules are deliberately heterogeneous: different evidence sources reduce dependence on a single model or failure mode.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Final Module Performance Snapshot</a:t>
            </a:r>
            <a:endParaRPr/>
          </a:p>
        </p:txBody>
      </p:sp>
      <p:sp>
        <p:nvSpPr>
          <p:cNvPr id="309" name="Google Shape;309;p11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Reported results are task-specific and therefore not directly comparable</a:t>
            </a:r>
            <a:endParaRPr/>
          </a:p>
        </p:txBody>
      </p:sp>
      <p:sp>
        <p:nvSpPr>
          <p:cNvPr id="310" name="Google Shape;310;p11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313" name="Google Shape;313;p11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658368" y="1325880"/>
            <a:ext cx="2011680" cy="1051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 txBox="1"/>
          <p:nvPr/>
        </p:nvSpPr>
        <p:spPr>
          <a:xfrm>
            <a:off x="768096" y="149047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5D68"/>
                </a:solidFill>
                <a:latin typeface="Arial"/>
                <a:ea typeface="Arial"/>
                <a:cs typeface="Arial"/>
                <a:sym typeface="Arial"/>
              </a:rPr>
              <a:t>32.86%</a:t>
            </a:r>
            <a:endParaRPr/>
          </a:p>
        </p:txBody>
      </p:sp>
      <p:sp>
        <p:nvSpPr>
          <p:cNvPr id="316" name="Google Shape;316;p11"/>
          <p:cNvSpPr txBox="1"/>
          <p:nvPr/>
        </p:nvSpPr>
        <p:spPr>
          <a:xfrm>
            <a:off x="768096" y="1947672"/>
            <a:ext cx="1792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Video Fatigue test accuracy</a:t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2880360" y="1325880"/>
            <a:ext cx="2011680" cy="1051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2990088" y="149047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D7CFF"/>
                </a:solidFill>
                <a:latin typeface="Arial"/>
                <a:ea typeface="Arial"/>
                <a:cs typeface="Arial"/>
                <a:sym typeface="Arial"/>
              </a:rPr>
              <a:t>0.831</a:t>
            </a:r>
            <a:endParaRPr/>
          </a:p>
        </p:txBody>
      </p:sp>
      <p:sp>
        <p:nvSpPr>
          <p:cNvPr id="319" name="Google Shape;319;p11"/>
          <p:cNvSpPr txBox="1"/>
          <p:nvPr/>
        </p:nvSpPr>
        <p:spPr>
          <a:xfrm>
            <a:off x="2990088" y="1947672"/>
            <a:ext cx="1792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Landmark confidence in M6 integration test</a:t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5102352" y="1325880"/>
            <a:ext cx="2011680" cy="1051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 txBox="1"/>
          <p:nvPr/>
        </p:nvSpPr>
        <p:spPr>
          <a:xfrm>
            <a:off x="5212080" y="149047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93.14%</a:t>
            </a:r>
            <a:endParaRPr/>
          </a:p>
        </p:txBody>
      </p:sp>
      <p:sp>
        <p:nvSpPr>
          <p:cNvPr id="322" name="Google Shape;322;p11"/>
          <p:cNvSpPr txBox="1"/>
          <p:nvPr/>
        </p:nvSpPr>
        <p:spPr>
          <a:xfrm>
            <a:off x="5212080" y="1947672"/>
            <a:ext cx="1792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Driver Activity test accuracy</a:t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7324344" y="1325880"/>
            <a:ext cx="2011680" cy="1051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7434071" y="149047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BE4B"/>
                </a:solidFill>
                <a:latin typeface="Arial"/>
                <a:ea typeface="Arial"/>
                <a:cs typeface="Arial"/>
                <a:sym typeface="Arial"/>
              </a:rPr>
              <a:t>0.8197</a:t>
            </a:r>
            <a:endParaRPr/>
          </a:p>
        </p:txBody>
      </p:sp>
      <p:sp>
        <p:nvSpPr>
          <p:cNvPr id="325" name="Google Shape;325;p11"/>
          <p:cNvSpPr txBox="1"/>
          <p:nvPr/>
        </p:nvSpPr>
        <p:spPr>
          <a:xfrm>
            <a:off x="7434071" y="1947672"/>
            <a:ext cx="1792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Smoking/Drinking mAP@50</a:t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9546336" y="1325880"/>
            <a:ext cx="2011680" cy="1051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9656063" y="149047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0.9526</a:t>
            </a:r>
            <a:endParaRPr/>
          </a:p>
        </p:txBody>
      </p:sp>
      <p:sp>
        <p:nvSpPr>
          <p:cNvPr id="328" name="Google Shape;328;p11"/>
          <p:cNvSpPr txBox="1"/>
          <p:nvPr/>
        </p:nvSpPr>
        <p:spPr>
          <a:xfrm>
            <a:off x="9656063" y="1947672"/>
            <a:ext cx="1792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Seatbelt/Phone mAP@50</a:t>
            </a:r>
            <a:endParaRPr/>
          </a:p>
        </p:txBody>
      </p:sp>
      <p:sp>
        <p:nvSpPr>
          <p:cNvPr id="329" name="Google Shape;329;p11"/>
          <p:cNvSpPr txBox="1"/>
          <p:nvPr/>
        </p:nvSpPr>
        <p:spPr>
          <a:xfrm>
            <a:off x="658368" y="2788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Performance interpretation</a:t>
            </a:r>
            <a:endParaRPr/>
          </a:p>
        </p:txBody>
      </p:sp>
      <p:sp>
        <p:nvSpPr>
          <p:cNvPr id="330" name="Google Shape;330;p11"/>
          <p:cNvSpPr txBox="1"/>
          <p:nvPr/>
        </p:nvSpPr>
        <p:spPr>
          <a:xfrm>
            <a:off x="685843" y="3500407"/>
            <a:ext cx="10789800" cy="1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Driver Activity and YOLO-based behaviour modules provide the strongest documented quantitative performance.</a:t>
            </a:r>
            <a:endParaRPr b="0" i="0" sz="1500" u="none" cap="none" strike="noStrike">
              <a:solidFill>
                <a:srgbClr val="F2F7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2F7FC"/>
              </a:solidFill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Fatigue models are more sensitive to subject, camera and temporal-domain shift.</a:t>
            </a:r>
            <a:endParaRPr b="0" i="0" sz="1500" u="none" cap="none" strike="noStrike">
              <a:solidFill>
                <a:srgbClr val="F2F7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2F7FC"/>
              </a:solidFill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Metrics describe individual tasks; they should not be averaged into one 'model accuracy'.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775" y="152400"/>
            <a:ext cx="11098456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Risk Fusion — Step 1: Event Risk</a:t>
            </a:r>
            <a:endParaRPr/>
          </a:p>
        </p:txBody>
      </p:sp>
      <p:sp>
        <p:nvSpPr>
          <p:cNvPr id="341" name="Google Shape;341;p13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Every available module contributes only through a standardized PredictionResult</a:t>
            </a:r>
            <a:endParaRPr/>
          </a:p>
        </p:txBody>
      </p:sp>
      <p:sp>
        <p:nvSpPr>
          <p:cNvPr id="342" name="Google Shape;342;p13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345" name="Google Shape;345;p13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658368" y="1325880"/>
            <a:ext cx="3657600" cy="4480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 txBox="1"/>
          <p:nvPr/>
        </p:nvSpPr>
        <p:spPr>
          <a:xfrm>
            <a:off x="841247" y="1435607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1 • EVENT RISK</a:t>
            </a:r>
            <a:endParaRPr/>
          </a:p>
        </p:txBody>
      </p:sp>
      <p:sp>
        <p:nvSpPr>
          <p:cNvPr id="348" name="Google Shape;348;p13"/>
          <p:cNvSpPr txBox="1"/>
          <p:nvPr/>
        </p:nvSpPr>
        <p:spPr>
          <a:xfrm>
            <a:off x="896112" y="1920240"/>
            <a:ext cx="3200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Rᵢ = severityᵢ × confidenceᵢ</a:t>
            </a:r>
            <a:endParaRPr/>
          </a:p>
        </p:txBody>
      </p:sp>
      <p:sp>
        <p:nvSpPr>
          <p:cNvPr id="349" name="Google Shape;349;p13"/>
          <p:cNvSpPr txBox="1"/>
          <p:nvPr/>
        </p:nvSpPr>
        <p:spPr>
          <a:xfrm>
            <a:off x="914400" y="274320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Severity = how dangerous the event is (0–10)</a:t>
            </a:r>
            <a:br>
              <a:rPr b="0" i="0" lang="en-US" sz="140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Confidence = how certain the model is (0–1)</a:t>
            </a:r>
            <a:endParaRPr/>
          </a:p>
        </p:txBody>
      </p:sp>
      <p:sp>
        <p:nvSpPr>
          <p:cNvPr id="350" name="Google Shape;350;p13"/>
          <p:cNvSpPr txBox="1"/>
          <p:nvPr/>
        </p:nvSpPr>
        <p:spPr>
          <a:xfrm>
            <a:off x="914400" y="3977639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Risk = danger × certainty</a:t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4553712" y="1325880"/>
            <a:ext cx="7040880" cy="4480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 txBox="1"/>
          <p:nvPr/>
        </p:nvSpPr>
        <p:spPr>
          <a:xfrm>
            <a:off x="4736592" y="1435607"/>
            <a:ext cx="6675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D7CFF"/>
                </a:solidFill>
                <a:latin typeface="Arial"/>
                <a:ea typeface="Arial"/>
                <a:cs typeface="Arial"/>
                <a:sym typeface="Arial"/>
              </a:rPr>
              <a:t>M6 SEVERITY EXAMPLES</a:t>
            </a:r>
            <a:endParaRPr/>
          </a:p>
        </p:txBody>
      </p:sp>
      <p:graphicFrame>
        <p:nvGraphicFramePr>
          <p:cNvPr id="353" name="Google Shape;353;p13"/>
          <p:cNvGraphicFramePr/>
          <p:nvPr/>
        </p:nvGraphicFramePr>
        <p:xfrm>
          <a:off x="48006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{3A299FB5-00D3-4B0C-A865-E520703983BE}</a:tableStyleId>
              </a:tblPr>
              <a:tblGrid>
                <a:gridCol w="3268975"/>
                <a:gridCol w="3268975"/>
              </a:tblGrid>
              <a:tr h="444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Severity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Texting phone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Talking phone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Drowsy / yawning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Drinking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Smoking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  <a:tr h="44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seatbelt / no detection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</a:tr>
            </a:tbl>
          </a:graphicData>
        </a:graphic>
      </p:graphicFrame>
      <p:sp>
        <p:nvSpPr>
          <p:cNvPr id="354" name="Google Shape;354;p13"/>
          <p:cNvSpPr txBox="1"/>
          <p:nvPr/>
        </p:nvSpPr>
        <p:spPr>
          <a:xfrm>
            <a:off x="4800600" y="5138928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Important: confidence is clamped to [0,1], so an overconfident/malformed module cannot inject an invalid risk value.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Risk Fusion — Step 2 &amp; 3: Safe Events and Total Risk</a:t>
            </a:r>
            <a:endParaRPr/>
          </a:p>
        </p:txBody>
      </p:sp>
      <p:sp>
        <p:nvSpPr>
          <p:cNvPr id="360" name="Google Shape;360;p14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Only genuine risk accumulates—and failed modules are not treated as 'safe'</a:t>
            </a:r>
            <a:endParaRPr/>
          </a:p>
        </p:txBody>
      </p:sp>
      <p:sp>
        <p:nvSpPr>
          <p:cNvPr id="361" name="Google Shape;361;p1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364" name="Google Shape;364;p14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658368" y="1325880"/>
            <a:ext cx="5303520" cy="443484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 txBox="1"/>
          <p:nvPr/>
        </p:nvSpPr>
        <p:spPr>
          <a:xfrm>
            <a:off x="841247" y="1435607"/>
            <a:ext cx="49377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SAFE EVENT RULE</a:t>
            </a:r>
            <a:endParaRPr/>
          </a:p>
        </p:txBody>
      </p:sp>
      <p:sp>
        <p:nvSpPr>
          <p:cNvPr id="367" name="Google Shape;367;p14"/>
          <p:cNvSpPr txBox="1"/>
          <p:nvPr/>
        </p:nvSpPr>
        <p:spPr>
          <a:xfrm>
            <a:off x="914400" y="1828800"/>
            <a:ext cx="4709160" cy="19107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Safe predictions are explicitly mapped to Rᵢ = 0.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Examples: safe driving, alert/normal fatigue state, no smoking/drinking, seatbelt-only state.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Confidence is ignored for safe labels because they are defined as non-risk events.</a:t>
            </a:r>
            <a:endParaRPr/>
          </a:p>
        </p:txBody>
      </p:sp>
      <p:sp>
        <p:nvSpPr>
          <p:cNvPr id="368" name="Google Shape;368;p14"/>
          <p:cNvSpPr txBox="1"/>
          <p:nvPr/>
        </p:nvSpPr>
        <p:spPr>
          <a:xfrm>
            <a:off x="914400" y="41605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Safe ≠ uncertain</a:t>
            </a:r>
            <a:endParaRPr/>
          </a:p>
        </p:txBody>
      </p:sp>
      <p:sp>
        <p:nvSpPr>
          <p:cNvPr id="369" name="Google Shape;369;p14"/>
          <p:cNvSpPr txBox="1"/>
          <p:nvPr/>
        </p:nvSpPr>
        <p:spPr>
          <a:xfrm>
            <a:off x="914400" y="4617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 valid safe result contributes zero.</a:t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6217920" y="1325880"/>
            <a:ext cx="5349240" cy="443484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 txBox="1"/>
          <p:nvPr/>
        </p:nvSpPr>
        <p:spPr>
          <a:xfrm>
            <a:off x="6400800" y="1435607"/>
            <a:ext cx="49834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BE4B"/>
                </a:solidFill>
                <a:latin typeface="Arial"/>
                <a:ea typeface="Arial"/>
                <a:cs typeface="Arial"/>
                <a:sym typeface="Arial"/>
              </a:rPr>
              <a:t>TOTAL RISK</a:t>
            </a:r>
            <a:endParaRPr/>
          </a:p>
        </p:txBody>
      </p:sp>
      <p:sp>
        <p:nvSpPr>
          <p:cNvPr id="372" name="Google Shape;372;p14"/>
          <p:cNvSpPr txBox="1"/>
          <p:nvPr/>
        </p:nvSpPr>
        <p:spPr>
          <a:xfrm>
            <a:off x="6492240" y="182880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R_total = Σ Rᵢ</a:t>
            </a:r>
            <a:endParaRPr/>
          </a:p>
        </p:txBody>
      </p:sp>
      <p:sp>
        <p:nvSpPr>
          <p:cNvPr id="373" name="Google Shape;373;p14"/>
          <p:cNvSpPr txBox="1"/>
          <p:nvPr/>
        </p:nvSpPr>
        <p:spPr>
          <a:xfrm>
            <a:off x="6492240" y="2743200"/>
            <a:ext cx="466344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Sum across AVAILABLE modules only.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Warm-up, crashed or unavailable modules are excluded—not silently assigned zero risk.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This prevents a failed detector from making the driver appear safer.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All adapters therefore share the same status-aware contract.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Risk Fusion — Step 4: Exponential Wellness Score</a:t>
            </a:r>
            <a:endParaRPr/>
          </a:p>
        </p:txBody>
      </p:sp>
      <p:sp>
        <p:nvSpPr>
          <p:cNvPr id="379" name="Google Shape;379;p15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Turning accumulated risk into a bounded 0–100 signal</a:t>
            </a:r>
            <a:endParaRPr/>
          </a:p>
        </p:txBody>
      </p:sp>
      <p:sp>
        <p:nvSpPr>
          <p:cNvPr id="380" name="Google Shape;380;p15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383" name="Google Shape;383;p15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2898643" y="1394472"/>
            <a:ext cx="5486400" cy="466350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 txBox="1"/>
          <p:nvPr/>
        </p:nvSpPr>
        <p:spPr>
          <a:xfrm>
            <a:off x="3081522" y="1504200"/>
            <a:ext cx="5120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CORE FORMULA</a:t>
            </a:r>
            <a:endParaRPr/>
          </a:p>
        </p:txBody>
      </p:sp>
      <p:sp>
        <p:nvSpPr>
          <p:cNvPr id="386" name="Google Shape;386;p15"/>
          <p:cNvSpPr txBox="1"/>
          <p:nvPr/>
        </p:nvSpPr>
        <p:spPr>
          <a:xfrm>
            <a:off x="3200395" y="2080273"/>
            <a:ext cx="4892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Score = 100 × (1 − e^(−k·R_total))</a:t>
            </a:r>
            <a:endParaRPr/>
          </a:p>
        </p:txBody>
      </p:sp>
      <p:sp>
        <p:nvSpPr>
          <p:cNvPr id="387" name="Google Shape;387;p15"/>
          <p:cNvSpPr txBox="1"/>
          <p:nvPr/>
        </p:nvSpPr>
        <p:spPr>
          <a:xfrm>
            <a:off x="4297675" y="2994673"/>
            <a:ext cx="182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k = 0.05</a:t>
            </a:r>
            <a:endParaRPr/>
          </a:p>
        </p:txBody>
      </p:sp>
      <p:sp>
        <p:nvSpPr>
          <p:cNvPr id="388" name="Google Shape;388;p15"/>
          <p:cNvSpPr txBox="1"/>
          <p:nvPr/>
        </p:nvSpPr>
        <p:spPr>
          <a:xfrm>
            <a:off x="3200395" y="3634753"/>
            <a:ext cx="4755000" cy="19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Bounded: the score naturally remains within 0–100.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Additive: concurrent risks compound rather than being diluted by safe modules.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Saturating: once risk is already very high, additional events have a smaller incremental effect.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Risk Fusion — Step 5 &amp; 6: Smooth and Classify</a:t>
            </a:r>
            <a:endParaRPr/>
          </a:p>
        </p:txBody>
      </p:sp>
      <p:sp>
        <p:nvSpPr>
          <p:cNvPr id="394" name="Google Shape;394;p16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Making the live score stable and human-readable</a:t>
            </a:r>
            <a:endParaRPr/>
          </a:p>
        </p:txBody>
      </p:sp>
      <p:sp>
        <p:nvSpPr>
          <p:cNvPr id="395" name="Google Shape;395;p16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398" name="Google Shape;398;p16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658368" y="1325880"/>
            <a:ext cx="5257800" cy="4480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 txBox="1"/>
          <p:nvPr/>
        </p:nvSpPr>
        <p:spPr>
          <a:xfrm>
            <a:off x="841247" y="1435607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TEMPORAL SMOOTHING</a:t>
            </a:r>
            <a:endParaRPr/>
          </a:p>
        </p:txBody>
      </p:sp>
      <p:sp>
        <p:nvSpPr>
          <p:cNvPr id="401" name="Google Shape;401;p16"/>
          <p:cNvSpPr txBox="1"/>
          <p:nvPr/>
        </p:nvSpPr>
        <p:spPr>
          <a:xfrm>
            <a:off x="914400" y="1874519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Displayed score = mean(raw scores over last 3 seconds)</a:t>
            </a:r>
            <a:endParaRPr/>
          </a:p>
        </p:txBody>
      </p:sp>
      <p:sp>
        <p:nvSpPr>
          <p:cNvPr id="402" name="Google Shape;402;p16"/>
          <p:cNvSpPr txBox="1"/>
          <p:nvPr/>
        </p:nvSpPr>
        <p:spPr>
          <a:xfrm>
            <a:off x="914400" y="278892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Why?</a:t>
            </a:r>
            <a:endParaRPr/>
          </a:p>
        </p:txBody>
      </p:sp>
      <p:sp>
        <p:nvSpPr>
          <p:cNvPr id="403" name="Google Shape;403;p16"/>
          <p:cNvSpPr txBox="1"/>
          <p:nvPr/>
        </p:nvSpPr>
        <p:spPr>
          <a:xfrm>
            <a:off x="914400" y="3246120"/>
            <a:ext cx="4663440" cy="2010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Single-frame false positives should not cause the gauge to jump.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Short detector dropouts should not immediately erase sustained risk.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Temporal averaging reflects behavior over a short, human-meaningful interval.</a:t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6199632" y="1325880"/>
            <a:ext cx="5376672" cy="4480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 txBox="1"/>
          <p:nvPr/>
        </p:nvSpPr>
        <p:spPr>
          <a:xfrm>
            <a:off x="6382512" y="1435607"/>
            <a:ext cx="5010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RISK LEVELS</a:t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537960" y="1783080"/>
            <a:ext cx="1325880" cy="475488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49D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 txBox="1"/>
          <p:nvPr/>
        </p:nvSpPr>
        <p:spPr>
          <a:xfrm>
            <a:off x="6611112" y="1856231"/>
            <a:ext cx="11795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0–25</a:t>
            </a:r>
            <a:endParaRPr/>
          </a:p>
        </p:txBody>
      </p:sp>
      <p:sp>
        <p:nvSpPr>
          <p:cNvPr id="408" name="Google Shape;408;p16"/>
          <p:cNvSpPr txBox="1"/>
          <p:nvPr/>
        </p:nvSpPr>
        <p:spPr>
          <a:xfrm>
            <a:off x="8138160" y="1856231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LOW RISK</a:t>
            </a:r>
            <a:endParaRPr/>
          </a:p>
        </p:txBody>
      </p:sp>
      <p:sp>
        <p:nvSpPr>
          <p:cNvPr id="409" name="Google Shape;409;p16"/>
          <p:cNvSpPr/>
          <p:nvPr/>
        </p:nvSpPr>
        <p:spPr>
          <a:xfrm>
            <a:off x="6537960" y="2532888"/>
            <a:ext cx="1325880" cy="475488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F8BE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 txBox="1"/>
          <p:nvPr/>
        </p:nvSpPr>
        <p:spPr>
          <a:xfrm>
            <a:off x="6611112" y="2606040"/>
            <a:ext cx="11795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25–50</a:t>
            </a:r>
            <a:endParaRPr/>
          </a:p>
        </p:txBody>
      </p:sp>
      <p:sp>
        <p:nvSpPr>
          <p:cNvPr id="411" name="Google Shape;411;p16"/>
          <p:cNvSpPr txBox="1"/>
          <p:nvPr/>
        </p:nvSpPr>
        <p:spPr>
          <a:xfrm>
            <a:off x="8138160" y="2606040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8BE4B"/>
                </a:solidFill>
                <a:latin typeface="Arial"/>
                <a:ea typeface="Arial"/>
                <a:cs typeface="Arial"/>
                <a:sym typeface="Arial"/>
              </a:rPr>
              <a:t>MODERATE RISK</a:t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6537960" y="3282696"/>
            <a:ext cx="1325880" cy="475488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F55D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 txBox="1"/>
          <p:nvPr/>
        </p:nvSpPr>
        <p:spPr>
          <a:xfrm>
            <a:off x="6611112" y="3355848"/>
            <a:ext cx="11795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50–75</a:t>
            </a:r>
            <a:endParaRPr/>
          </a:p>
        </p:txBody>
      </p:sp>
      <p:sp>
        <p:nvSpPr>
          <p:cNvPr id="414" name="Google Shape;414;p16"/>
          <p:cNvSpPr txBox="1"/>
          <p:nvPr/>
        </p:nvSpPr>
        <p:spPr>
          <a:xfrm>
            <a:off x="8138160" y="335584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5D68"/>
                </a:solidFill>
                <a:latin typeface="Arial"/>
                <a:ea typeface="Arial"/>
                <a:cs typeface="Arial"/>
                <a:sym typeface="Arial"/>
              </a:rPr>
              <a:t>HIGH RISK</a:t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6537960" y="4032504"/>
            <a:ext cx="1325880" cy="475488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9D7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 txBox="1"/>
          <p:nvPr/>
        </p:nvSpPr>
        <p:spPr>
          <a:xfrm>
            <a:off x="6611112" y="4105656"/>
            <a:ext cx="11795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75–100</a:t>
            </a:r>
            <a:endParaRPr/>
          </a:p>
        </p:txBody>
      </p:sp>
      <p:sp>
        <p:nvSpPr>
          <p:cNvPr id="417" name="Google Shape;417;p16"/>
          <p:cNvSpPr txBox="1"/>
          <p:nvPr/>
        </p:nvSpPr>
        <p:spPr>
          <a:xfrm>
            <a:off x="8138160" y="4105656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D7CFF"/>
                </a:solidFill>
                <a:latin typeface="Arial"/>
                <a:ea typeface="Arial"/>
                <a:cs typeface="Arial"/>
                <a:sym typeface="Arial"/>
              </a:rPr>
              <a:t>CRITICAL RISK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7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Risk Fusion — Worked Example</a:t>
            </a:r>
            <a:endParaRPr/>
          </a:p>
        </p:txBody>
      </p:sp>
      <p:sp>
        <p:nvSpPr>
          <p:cNvPr id="423" name="Google Shape;423;p17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Drowsy + texting + unbelted: how the final score is produced</a:t>
            </a:r>
            <a:endParaRPr/>
          </a:p>
        </p:txBody>
      </p:sp>
      <p:sp>
        <p:nvSpPr>
          <p:cNvPr id="424" name="Google Shape;424;p17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425" name="Google Shape;425;p17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427" name="Google Shape;427;p17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graphicFrame>
        <p:nvGraphicFramePr>
          <p:cNvPr id="428" name="Google Shape;428;p17"/>
          <p:cNvGraphicFramePr/>
          <p:nvPr/>
        </p:nvGraphicFramePr>
        <p:xfrm>
          <a:off x="658368" y="1325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{3A299FB5-00D3-4B0C-A865-E520703983BE}</a:tableStyleId>
              </a:tblPr>
              <a:tblGrid>
                <a:gridCol w="1463050"/>
                <a:gridCol w="1463050"/>
                <a:gridCol w="1463050"/>
                <a:gridCol w="1463050"/>
                <a:gridCol w="1463050"/>
              </a:tblGrid>
              <a:tr h="55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Severity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Confidence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 Risk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</a:tr>
              <a:tr h="55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Landmark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Drowsy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  <a:tr h="55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Driver Activity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texting_phone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</a:tr>
              <a:tr h="55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Seatbelt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Detection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  <a:tr h="55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Video Fatigue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 / Safe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</a:tr>
              <a:tr h="55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Smoking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none / Safe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</a:tbl>
          </a:graphicData>
        </a:graphic>
      </p:graphicFrame>
      <p:sp>
        <p:nvSpPr>
          <p:cNvPr id="429" name="Google Shape;429;p17"/>
          <p:cNvSpPr/>
          <p:nvPr/>
        </p:nvSpPr>
        <p:spPr>
          <a:xfrm>
            <a:off x="8275320" y="1325880"/>
            <a:ext cx="3291840" cy="3337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 txBox="1"/>
          <p:nvPr/>
        </p:nvSpPr>
        <p:spPr>
          <a:xfrm>
            <a:off x="8458200" y="1435607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BE4B"/>
                </a:solidFill>
                <a:latin typeface="Arial"/>
                <a:ea typeface="Arial"/>
                <a:cs typeface="Arial"/>
                <a:sym typeface="Arial"/>
              </a:rPr>
              <a:t>CALCULATION</a:t>
            </a:r>
            <a:endParaRPr/>
          </a:p>
        </p:txBody>
      </p:sp>
      <p:sp>
        <p:nvSpPr>
          <p:cNvPr id="431" name="Google Shape;431;p17"/>
          <p:cNvSpPr txBox="1"/>
          <p:nvPr/>
        </p:nvSpPr>
        <p:spPr>
          <a:xfrm>
            <a:off x="8549640" y="182880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R_total = 6.3 + 7.2 + 6.0</a:t>
            </a:r>
            <a:br>
              <a:rPr b="1" i="0" lang="en-US" sz="18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= 19.5</a:t>
            </a:r>
            <a:endParaRPr/>
          </a:p>
        </p:txBody>
      </p:sp>
      <p:sp>
        <p:nvSpPr>
          <p:cNvPr id="432" name="Google Shape;432;p17"/>
          <p:cNvSpPr txBox="1"/>
          <p:nvPr/>
        </p:nvSpPr>
        <p:spPr>
          <a:xfrm>
            <a:off x="8549640" y="288036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Score = 100 × (1 − e^(−0.05×19.5))</a:t>
            </a:r>
            <a:br>
              <a:rPr b="1" i="0" lang="en-US" sz="17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= 62.29</a:t>
            </a:r>
            <a:endParaRPr/>
          </a:p>
        </p:txBody>
      </p:sp>
      <p:sp>
        <p:nvSpPr>
          <p:cNvPr id="433" name="Google Shape;433;p17"/>
          <p:cNvSpPr txBox="1"/>
          <p:nvPr/>
        </p:nvSpPr>
        <p:spPr>
          <a:xfrm>
            <a:off x="8549640" y="40690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5D68"/>
                </a:solidFill>
                <a:latin typeface="Arial"/>
                <a:ea typeface="Arial"/>
                <a:cs typeface="Arial"/>
                <a:sym typeface="Arial"/>
              </a:rPr>
              <a:t>HIGH RISK</a:t>
            </a:r>
            <a:endParaRPr/>
          </a:p>
        </p:txBody>
      </p:sp>
      <p:sp>
        <p:nvSpPr>
          <p:cNvPr id="434" name="Google Shape;434;p17"/>
          <p:cNvSpPr txBox="1"/>
          <p:nvPr/>
        </p:nvSpPr>
        <p:spPr>
          <a:xfrm>
            <a:off x="868680" y="507492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Two safe modules contribute nothing; three active risks compound.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8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Individual Module → Integrated System Transition</a:t>
            </a:r>
            <a:endParaRPr/>
          </a:p>
        </p:txBody>
      </p:sp>
      <p:sp>
        <p:nvSpPr>
          <p:cNvPr id="440" name="Google Shape;440;p18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How five independent implementations became one pipeline</a:t>
            </a:r>
            <a:endParaRPr/>
          </a:p>
        </p:txBody>
      </p:sp>
      <p:sp>
        <p:nvSpPr>
          <p:cNvPr id="441" name="Google Shape;441;p18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442" name="Google Shape;442;p18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444" name="Google Shape;444;p18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502920" y="1828800"/>
            <a:ext cx="502920" cy="502920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 txBox="1"/>
          <p:nvPr/>
        </p:nvSpPr>
        <p:spPr>
          <a:xfrm>
            <a:off x="576072" y="1901952"/>
            <a:ext cx="35661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47" name="Google Shape;447;p18"/>
          <p:cNvSpPr txBox="1"/>
          <p:nvPr/>
        </p:nvSpPr>
        <p:spPr>
          <a:xfrm>
            <a:off x="338328" y="248716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BaseModelAdapter</a:t>
            </a:r>
            <a:endParaRPr/>
          </a:p>
        </p:txBody>
      </p:sp>
      <p:sp>
        <p:nvSpPr>
          <p:cNvPr id="448" name="Google Shape;448;p18"/>
          <p:cNvSpPr txBox="1"/>
          <p:nvPr/>
        </p:nvSpPr>
        <p:spPr>
          <a:xfrm>
            <a:off x="320040" y="3154680"/>
            <a:ext cx="1691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Common lifecycle / loading contract</a:t>
            </a:r>
            <a:endParaRPr/>
          </a:p>
        </p:txBody>
      </p:sp>
      <p:cxnSp>
        <p:nvCxnSpPr>
          <p:cNvPr id="449" name="Google Shape;449;p18"/>
          <p:cNvCxnSpPr/>
          <p:nvPr/>
        </p:nvCxnSpPr>
        <p:spPr>
          <a:xfrm>
            <a:off x="1069848" y="2084831"/>
            <a:ext cx="1280160" cy="0"/>
          </a:xfrm>
          <a:prstGeom prst="straightConnector1">
            <a:avLst/>
          </a:prstGeom>
          <a:noFill/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50" name="Google Shape;450;p18"/>
          <p:cNvSpPr/>
          <p:nvPr/>
        </p:nvSpPr>
        <p:spPr>
          <a:xfrm>
            <a:off x="2441448" y="1828800"/>
            <a:ext cx="502920" cy="502920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 txBox="1"/>
          <p:nvPr/>
        </p:nvSpPr>
        <p:spPr>
          <a:xfrm>
            <a:off x="2514600" y="1901952"/>
            <a:ext cx="35661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52" name="Google Shape;452;p18"/>
          <p:cNvSpPr txBox="1"/>
          <p:nvPr/>
        </p:nvSpPr>
        <p:spPr>
          <a:xfrm>
            <a:off x="2276856" y="248716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PredictionResult</a:t>
            </a:r>
            <a:endParaRPr/>
          </a:p>
        </p:txBody>
      </p:sp>
      <p:sp>
        <p:nvSpPr>
          <p:cNvPr id="453" name="Google Shape;453;p18"/>
          <p:cNvSpPr txBox="1"/>
          <p:nvPr/>
        </p:nvSpPr>
        <p:spPr>
          <a:xfrm>
            <a:off x="2258568" y="3154680"/>
            <a:ext cx="1691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Common label + confidence + risk metadata</a:t>
            </a:r>
            <a:endParaRPr/>
          </a:p>
        </p:txBody>
      </p:sp>
      <p:cxnSp>
        <p:nvCxnSpPr>
          <p:cNvPr id="454" name="Google Shape;454;p18"/>
          <p:cNvCxnSpPr/>
          <p:nvPr/>
        </p:nvCxnSpPr>
        <p:spPr>
          <a:xfrm>
            <a:off x="3008376" y="2084831"/>
            <a:ext cx="1280160" cy="0"/>
          </a:xfrm>
          <a:prstGeom prst="straightConnector1">
            <a:avLst/>
          </a:prstGeom>
          <a:noFill/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55" name="Google Shape;455;p18"/>
          <p:cNvSpPr/>
          <p:nvPr/>
        </p:nvSpPr>
        <p:spPr>
          <a:xfrm>
            <a:off x="4379976" y="1828800"/>
            <a:ext cx="502920" cy="502920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 txBox="1"/>
          <p:nvPr/>
        </p:nvSpPr>
        <p:spPr>
          <a:xfrm>
            <a:off x="4453128" y="1901952"/>
            <a:ext cx="35661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57" name="Google Shape;457;p18"/>
          <p:cNvSpPr txBox="1"/>
          <p:nvPr/>
        </p:nvSpPr>
        <p:spPr>
          <a:xfrm>
            <a:off x="4215384" y="248716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Module Manager</a:t>
            </a:r>
            <a:endParaRPr/>
          </a:p>
        </p:txBody>
      </p:sp>
      <p:sp>
        <p:nvSpPr>
          <p:cNvPr id="458" name="Google Shape;458;p18"/>
          <p:cNvSpPr txBox="1"/>
          <p:nvPr/>
        </p:nvSpPr>
        <p:spPr>
          <a:xfrm>
            <a:off x="4197096" y="3154680"/>
            <a:ext cx="1691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Registers and initializes all five checkpoints</a:t>
            </a:r>
            <a:endParaRPr/>
          </a:p>
        </p:txBody>
      </p:sp>
      <p:cxnSp>
        <p:nvCxnSpPr>
          <p:cNvPr id="459" name="Google Shape;459;p18"/>
          <p:cNvCxnSpPr/>
          <p:nvPr/>
        </p:nvCxnSpPr>
        <p:spPr>
          <a:xfrm>
            <a:off x="4946904" y="2084831"/>
            <a:ext cx="1280160" cy="0"/>
          </a:xfrm>
          <a:prstGeom prst="straightConnector1">
            <a:avLst/>
          </a:prstGeom>
          <a:noFill/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60" name="Google Shape;460;p18"/>
          <p:cNvSpPr/>
          <p:nvPr/>
        </p:nvSpPr>
        <p:spPr>
          <a:xfrm>
            <a:off x="6318504" y="1828800"/>
            <a:ext cx="502920" cy="502920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 txBox="1"/>
          <p:nvPr/>
        </p:nvSpPr>
        <p:spPr>
          <a:xfrm>
            <a:off x="6391656" y="1901952"/>
            <a:ext cx="35661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62" name="Google Shape;462;p18"/>
          <p:cNvSpPr txBox="1"/>
          <p:nvPr/>
        </p:nvSpPr>
        <p:spPr>
          <a:xfrm>
            <a:off x="6153912" y="248716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Streaming Orchestrator</a:t>
            </a:r>
            <a:endParaRPr/>
          </a:p>
        </p:txBody>
      </p:sp>
      <p:sp>
        <p:nvSpPr>
          <p:cNvPr id="463" name="Google Shape;463;p18"/>
          <p:cNvSpPr txBox="1"/>
          <p:nvPr/>
        </p:nvSpPr>
        <p:spPr>
          <a:xfrm>
            <a:off x="6135624" y="3154680"/>
            <a:ext cx="1691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Decodes frames; applies frame skip / windows</a:t>
            </a:r>
            <a:endParaRPr/>
          </a:p>
        </p:txBody>
      </p:sp>
      <p:cxnSp>
        <p:nvCxnSpPr>
          <p:cNvPr id="464" name="Google Shape;464;p18"/>
          <p:cNvCxnSpPr/>
          <p:nvPr/>
        </p:nvCxnSpPr>
        <p:spPr>
          <a:xfrm>
            <a:off x="6885432" y="2084831"/>
            <a:ext cx="1280160" cy="0"/>
          </a:xfrm>
          <a:prstGeom prst="straightConnector1">
            <a:avLst/>
          </a:prstGeom>
          <a:noFill/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65" name="Google Shape;465;p18"/>
          <p:cNvSpPr/>
          <p:nvPr/>
        </p:nvSpPr>
        <p:spPr>
          <a:xfrm>
            <a:off x="8257032" y="1828800"/>
            <a:ext cx="502920" cy="502920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 txBox="1"/>
          <p:nvPr/>
        </p:nvSpPr>
        <p:spPr>
          <a:xfrm>
            <a:off x="8330184" y="1901952"/>
            <a:ext cx="35661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67" name="Google Shape;467;p18"/>
          <p:cNvSpPr txBox="1"/>
          <p:nvPr/>
        </p:nvSpPr>
        <p:spPr>
          <a:xfrm>
            <a:off x="8092440" y="248716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Risk Fusion</a:t>
            </a:r>
            <a:endParaRPr/>
          </a:p>
        </p:txBody>
      </p:sp>
      <p:sp>
        <p:nvSpPr>
          <p:cNvPr id="468" name="Google Shape;468;p18"/>
          <p:cNvSpPr txBox="1"/>
          <p:nvPr/>
        </p:nvSpPr>
        <p:spPr>
          <a:xfrm>
            <a:off x="8074152" y="3154680"/>
            <a:ext cx="1691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Consumes standardized outputs only</a:t>
            </a:r>
            <a:endParaRPr/>
          </a:p>
        </p:txBody>
      </p:sp>
      <p:cxnSp>
        <p:nvCxnSpPr>
          <p:cNvPr id="469" name="Google Shape;469;p18"/>
          <p:cNvCxnSpPr/>
          <p:nvPr/>
        </p:nvCxnSpPr>
        <p:spPr>
          <a:xfrm>
            <a:off x="8823960" y="2084831"/>
            <a:ext cx="1280160" cy="0"/>
          </a:xfrm>
          <a:prstGeom prst="straightConnector1">
            <a:avLst/>
          </a:prstGeom>
          <a:noFill/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0" name="Google Shape;470;p18"/>
          <p:cNvSpPr/>
          <p:nvPr/>
        </p:nvSpPr>
        <p:spPr>
          <a:xfrm>
            <a:off x="10195560" y="1828800"/>
            <a:ext cx="502920" cy="502920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 txBox="1"/>
          <p:nvPr/>
        </p:nvSpPr>
        <p:spPr>
          <a:xfrm>
            <a:off x="10268712" y="1901952"/>
            <a:ext cx="356616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472" name="Google Shape;472;p18"/>
          <p:cNvSpPr txBox="1"/>
          <p:nvPr/>
        </p:nvSpPr>
        <p:spPr>
          <a:xfrm>
            <a:off x="10030968" y="248716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Gradio</a:t>
            </a:r>
            <a:endParaRPr/>
          </a:p>
        </p:txBody>
      </p:sp>
      <p:sp>
        <p:nvSpPr>
          <p:cNvPr id="473" name="Google Shape;473;p18"/>
          <p:cNvSpPr txBox="1"/>
          <p:nvPr/>
        </p:nvSpPr>
        <p:spPr>
          <a:xfrm>
            <a:off x="10012680" y="3154680"/>
            <a:ext cx="16916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Displays predictions, score and session summary</a:t>
            </a:r>
            <a:endParaRPr/>
          </a:p>
        </p:txBody>
      </p:sp>
      <p:sp>
        <p:nvSpPr>
          <p:cNvPr id="474" name="Google Shape;474;p18"/>
          <p:cNvSpPr txBox="1"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Key engineering idea: each module remains independently maintainable, while the integration layer knows only the standardized contract—not the internal model architecture.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End-to-End Integrated Pipeline</a:t>
            </a:r>
            <a:endParaRPr/>
          </a:p>
        </p:txBody>
      </p:sp>
      <p:sp>
        <p:nvSpPr>
          <p:cNvPr id="480" name="Google Shape;480;p19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One video stream, five adapters, one risk decision</a:t>
            </a:r>
            <a:endParaRPr/>
          </a:p>
        </p:txBody>
      </p:sp>
      <p:sp>
        <p:nvSpPr>
          <p:cNvPr id="481" name="Google Shape;481;p19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484" name="Google Shape;484;p19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485" name="Google Shape;485;p19"/>
          <p:cNvSpPr/>
          <p:nvPr/>
        </p:nvSpPr>
        <p:spPr>
          <a:xfrm>
            <a:off x="640080" y="1920240"/>
            <a:ext cx="1508760" cy="960120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 txBox="1"/>
          <p:nvPr/>
        </p:nvSpPr>
        <p:spPr>
          <a:xfrm>
            <a:off x="713231" y="1993392"/>
            <a:ext cx="1362456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Driver Video</a:t>
            </a:r>
            <a:endParaRPr/>
          </a:p>
        </p:txBody>
      </p:sp>
      <p:cxnSp>
        <p:nvCxnSpPr>
          <p:cNvPr id="487" name="Google Shape;487;p19"/>
          <p:cNvCxnSpPr/>
          <p:nvPr/>
        </p:nvCxnSpPr>
        <p:spPr>
          <a:xfrm>
            <a:off x="2167128" y="2395728"/>
            <a:ext cx="91440" cy="0"/>
          </a:xfrm>
          <a:prstGeom prst="straightConnector1">
            <a:avLst/>
          </a:prstGeom>
          <a:noFill/>
          <a:ln cap="flat" cmpd="sng" w="22850">
            <a:solidFill>
              <a:srgbClr val="A6B7C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8" name="Google Shape;488;p19"/>
          <p:cNvSpPr/>
          <p:nvPr/>
        </p:nvSpPr>
        <p:spPr>
          <a:xfrm>
            <a:off x="2331720" y="1920240"/>
            <a:ext cx="1508760" cy="960120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9D7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 txBox="1"/>
          <p:nvPr/>
        </p:nvSpPr>
        <p:spPr>
          <a:xfrm>
            <a:off x="2404872" y="1993392"/>
            <a:ext cx="1362456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b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Orchestrator</a:t>
            </a:r>
            <a:endParaRPr/>
          </a:p>
        </p:txBody>
      </p:sp>
      <p:cxnSp>
        <p:nvCxnSpPr>
          <p:cNvPr id="490" name="Google Shape;490;p19"/>
          <p:cNvCxnSpPr/>
          <p:nvPr/>
        </p:nvCxnSpPr>
        <p:spPr>
          <a:xfrm>
            <a:off x="3858768" y="2395728"/>
            <a:ext cx="228600" cy="0"/>
          </a:xfrm>
          <a:prstGeom prst="straightConnector1">
            <a:avLst/>
          </a:prstGeom>
          <a:noFill/>
          <a:ln cap="flat" cmpd="sng" w="22850">
            <a:solidFill>
              <a:srgbClr val="A6B7C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1" name="Google Shape;491;p19"/>
          <p:cNvSpPr/>
          <p:nvPr/>
        </p:nvSpPr>
        <p:spPr>
          <a:xfrm>
            <a:off x="4160520" y="1920240"/>
            <a:ext cx="1508760" cy="960120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49D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 txBox="1"/>
          <p:nvPr/>
        </p:nvSpPr>
        <p:spPr>
          <a:xfrm>
            <a:off x="4233672" y="1993392"/>
            <a:ext cx="1362456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5 Model</a:t>
            </a:r>
            <a:b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Adapters</a:t>
            </a:r>
            <a:endParaRPr/>
          </a:p>
        </p:txBody>
      </p:sp>
      <p:cxnSp>
        <p:nvCxnSpPr>
          <p:cNvPr id="493" name="Google Shape;493;p19"/>
          <p:cNvCxnSpPr/>
          <p:nvPr/>
        </p:nvCxnSpPr>
        <p:spPr>
          <a:xfrm>
            <a:off x="5687568" y="2395728"/>
            <a:ext cx="228600" cy="0"/>
          </a:xfrm>
          <a:prstGeom prst="straightConnector1">
            <a:avLst/>
          </a:prstGeom>
          <a:noFill/>
          <a:ln cap="flat" cmpd="sng" w="22850">
            <a:solidFill>
              <a:srgbClr val="A6B7C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4" name="Google Shape;494;p19"/>
          <p:cNvSpPr/>
          <p:nvPr/>
        </p:nvSpPr>
        <p:spPr>
          <a:xfrm>
            <a:off x="5989320" y="1920240"/>
            <a:ext cx="1508760" cy="960120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F8BE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 txBox="1"/>
          <p:nvPr/>
        </p:nvSpPr>
        <p:spPr>
          <a:xfrm>
            <a:off x="6062472" y="1993392"/>
            <a:ext cx="1362456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PredictionResult</a:t>
            </a:r>
            <a:b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endParaRPr/>
          </a:p>
        </p:txBody>
      </p:sp>
      <p:cxnSp>
        <p:nvCxnSpPr>
          <p:cNvPr id="496" name="Google Shape;496;p19"/>
          <p:cNvCxnSpPr/>
          <p:nvPr/>
        </p:nvCxnSpPr>
        <p:spPr>
          <a:xfrm>
            <a:off x="7516367" y="2395728"/>
            <a:ext cx="228601" cy="0"/>
          </a:xfrm>
          <a:prstGeom prst="straightConnector1">
            <a:avLst/>
          </a:prstGeom>
          <a:noFill/>
          <a:ln cap="flat" cmpd="sng" w="22850">
            <a:solidFill>
              <a:srgbClr val="A6B7C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7" name="Google Shape;497;p19"/>
          <p:cNvSpPr/>
          <p:nvPr/>
        </p:nvSpPr>
        <p:spPr>
          <a:xfrm>
            <a:off x="7818120" y="1920240"/>
            <a:ext cx="1508760" cy="960120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F55D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 txBox="1"/>
          <p:nvPr/>
        </p:nvSpPr>
        <p:spPr>
          <a:xfrm>
            <a:off x="7891272" y="1993392"/>
            <a:ext cx="1362456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Risk Fusion</a:t>
            </a:r>
            <a:b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Engine</a:t>
            </a:r>
            <a:endParaRPr/>
          </a:p>
        </p:txBody>
      </p:sp>
      <p:cxnSp>
        <p:nvCxnSpPr>
          <p:cNvPr id="499" name="Google Shape;499;p19"/>
          <p:cNvCxnSpPr/>
          <p:nvPr/>
        </p:nvCxnSpPr>
        <p:spPr>
          <a:xfrm>
            <a:off x="9345168" y="2395728"/>
            <a:ext cx="320040" cy="0"/>
          </a:xfrm>
          <a:prstGeom prst="straightConnector1">
            <a:avLst/>
          </a:prstGeom>
          <a:noFill/>
          <a:ln cap="flat" cmpd="sng" w="22850">
            <a:solidFill>
              <a:srgbClr val="A6B7C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00" name="Google Shape;500;p19"/>
          <p:cNvSpPr/>
          <p:nvPr/>
        </p:nvSpPr>
        <p:spPr>
          <a:xfrm>
            <a:off x="9738360" y="1920240"/>
            <a:ext cx="1508760" cy="960120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 txBox="1"/>
          <p:nvPr/>
        </p:nvSpPr>
        <p:spPr>
          <a:xfrm>
            <a:off x="9811512" y="1993392"/>
            <a:ext cx="1362456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Wellness Score</a:t>
            </a:r>
            <a:b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0–100</a:t>
            </a:r>
            <a:endParaRPr/>
          </a:p>
        </p:txBody>
      </p:sp>
      <p:sp>
        <p:nvSpPr>
          <p:cNvPr id="502" name="Google Shape;502;p19"/>
          <p:cNvSpPr/>
          <p:nvPr/>
        </p:nvSpPr>
        <p:spPr>
          <a:xfrm>
            <a:off x="914400" y="3657600"/>
            <a:ext cx="10149840" cy="132588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 txBox="1"/>
          <p:nvPr/>
        </p:nvSpPr>
        <p:spPr>
          <a:xfrm>
            <a:off x="1097280" y="3767328"/>
            <a:ext cx="9784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STREAMING BEHAVIOUR</a:t>
            </a:r>
            <a:endParaRPr/>
          </a:p>
        </p:txBody>
      </p:sp>
      <p:sp>
        <p:nvSpPr>
          <p:cNvPr id="504" name="Google Shape;504;p19"/>
          <p:cNvSpPr txBox="1"/>
          <p:nvPr/>
        </p:nvSpPr>
        <p:spPr>
          <a:xfrm>
            <a:off x="1188720" y="4133087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Frame decode → module-specific frame sampling → temporal windows / smoothing → standardized result → risk fusion → UI update</a:t>
            </a:r>
            <a:endParaRPr/>
          </a:p>
        </p:txBody>
      </p:sp>
      <p:sp>
        <p:nvSpPr>
          <p:cNvPr id="505" name="Google Shape;505;p19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M6 integration test: 1,760 frames • all five modules active • no module errors • 49.8/100 Moderate Risk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0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End-to-End Validation</a:t>
            </a:r>
            <a:endParaRPr/>
          </a:p>
        </p:txBody>
      </p:sp>
      <p:sp>
        <p:nvSpPr>
          <p:cNvPr id="511" name="Google Shape;511;p20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Demonstrating that the modules actually work together</a:t>
            </a:r>
            <a:endParaRPr/>
          </a:p>
        </p:txBody>
      </p:sp>
      <p:sp>
        <p:nvSpPr>
          <p:cNvPr id="512" name="Google Shape;512;p20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513" name="Google Shape;513;p20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515" name="Google Shape;515;p20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516" name="Google Shape;516;p20"/>
          <p:cNvSpPr/>
          <p:nvPr/>
        </p:nvSpPr>
        <p:spPr>
          <a:xfrm>
            <a:off x="658368" y="1325880"/>
            <a:ext cx="2011680" cy="1051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 txBox="1"/>
          <p:nvPr/>
        </p:nvSpPr>
        <p:spPr>
          <a:xfrm>
            <a:off x="768096" y="149047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1,760</a:t>
            </a:r>
            <a:endParaRPr/>
          </a:p>
        </p:txBody>
      </p:sp>
      <p:sp>
        <p:nvSpPr>
          <p:cNvPr id="518" name="Google Shape;518;p20"/>
          <p:cNvSpPr txBox="1"/>
          <p:nvPr/>
        </p:nvSpPr>
        <p:spPr>
          <a:xfrm>
            <a:off x="768096" y="1947672"/>
            <a:ext cx="1792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Frames processed</a:t>
            </a:r>
            <a:endParaRPr/>
          </a:p>
        </p:txBody>
      </p:sp>
      <p:sp>
        <p:nvSpPr>
          <p:cNvPr id="519" name="Google Shape;519;p20"/>
          <p:cNvSpPr/>
          <p:nvPr/>
        </p:nvSpPr>
        <p:spPr>
          <a:xfrm>
            <a:off x="2880360" y="1325880"/>
            <a:ext cx="2011680" cy="1051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 txBox="1"/>
          <p:nvPr/>
        </p:nvSpPr>
        <p:spPr>
          <a:xfrm>
            <a:off x="2990088" y="149047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D7CFF"/>
                </a:solidFill>
                <a:latin typeface="Arial"/>
                <a:ea typeface="Arial"/>
                <a:cs typeface="Arial"/>
                <a:sym typeface="Arial"/>
              </a:rPr>
              <a:t>106.7 s</a:t>
            </a:r>
            <a:endParaRPr/>
          </a:p>
        </p:txBody>
      </p:sp>
      <p:sp>
        <p:nvSpPr>
          <p:cNvPr id="521" name="Google Shape;521;p20"/>
          <p:cNvSpPr txBox="1"/>
          <p:nvPr/>
        </p:nvSpPr>
        <p:spPr>
          <a:xfrm>
            <a:off x="2990088" y="1947672"/>
            <a:ext cx="1792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Elapsed time</a:t>
            </a:r>
            <a:endParaRPr/>
          </a:p>
        </p:txBody>
      </p:sp>
      <p:sp>
        <p:nvSpPr>
          <p:cNvPr id="522" name="Google Shape;522;p20"/>
          <p:cNvSpPr/>
          <p:nvPr/>
        </p:nvSpPr>
        <p:spPr>
          <a:xfrm>
            <a:off x="5102352" y="1325880"/>
            <a:ext cx="2011680" cy="1051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 txBox="1"/>
          <p:nvPr/>
        </p:nvSpPr>
        <p:spPr>
          <a:xfrm>
            <a:off x="5212080" y="149047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/>
          </a:p>
        </p:txBody>
      </p:sp>
      <p:sp>
        <p:nvSpPr>
          <p:cNvPr id="524" name="Google Shape;524;p20"/>
          <p:cNvSpPr txBox="1"/>
          <p:nvPr/>
        </p:nvSpPr>
        <p:spPr>
          <a:xfrm>
            <a:off x="5212080" y="1947672"/>
            <a:ext cx="1792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Modules active</a:t>
            </a:r>
            <a:endParaRPr/>
          </a:p>
        </p:txBody>
      </p:sp>
      <p:sp>
        <p:nvSpPr>
          <p:cNvPr id="525" name="Google Shape;525;p20"/>
          <p:cNvSpPr/>
          <p:nvPr/>
        </p:nvSpPr>
        <p:spPr>
          <a:xfrm>
            <a:off x="7324344" y="1325880"/>
            <a:ext cx="2011680" cy="1051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 txBox="1"/>
          <p:nvPr/>
        </p:nvSpPr>
        <p:spPr>
          <a:xfrm>
            <a:off x="7434071" y="149047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527" name="Google Shape;527;p20"/>
          <p:cNvSpPr txBox="1"/>
          <p:nvPr/>
        </p:nvSpPr>
        <p:spPr>
          <a:xfrm>
            <a:off x="7434071" y="1947672"/>
            <a:ext cx="1792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Module errors</a:t>
            </a:r>
            <a:endParaRPr/>
          </a:p>
        </p:txBody>
      </p:sp>
      <p:sp>
        <p:nvSpPr>
          <p:cNvPr id="528" name="Google Shape;528;p20"/>
          <p:cNvSpPr/>
          <p:nvPr/>
        </p:nvSpPr>
        <p:spPr>
          <a:xfrm>
            <a:off x="9546336" y="1325880"/>
            <a:ext cx="2011680" cy="105156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0"/>
          <p:cNvSpPr txBox="1"/>
          <p:nvPr/>
        </p:nvSpPr>
        <p:spPr>
          <a:xfrm>
            <a:off x="9656063" y="1490472"/>
            <a:ext cx="17922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BE4B"/>
                </a:solidFill>
                <a:latin typeface="Arial"/>
                <a:ea typeface="Arial"/>
                <a:cs typeface="Arial"/>
                <a:sym typeface="Arial"/>
              </a:rPr>
              <a:t>49.8 / 100</a:t>
            </a:r>
            <a:endParaRPr/>
          </a:p>
        </p:txBody>
      </p:sp>
      <p:sp>
        <p:nvSpPr>
          <p:cNvPr id="530" name="Google Shape;530;p20"/>
          <p:cNvSpPr txBox="1"/>
          <p:nvPr/>
        </p:nvSpPr>
        <p:spPr>
          <a:xfrm>
            <a:off x="9656063" y="1947672"/>
            <a:ext cx="17922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Observed wellness score</a:t>
            </a:r>
            <a:endParaRPr/>
          </a:p>
        </p:txBody>
      </p:sp>
      <p:sp>
        <p:nvSpPr>
          <p:cNvPr id="531" name="Google Shape;531;p20"/>
          <p:cNvSpPr/>
          <p:nvPr/>
        </p:nvSpPr>
        <p:spPr>
          <a:xfrm>
            <a:off x="658368" y="2788920"/>
            <a:ext cx="5257800" cy="251460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 txBox="1"/>
          <p:nvPr/>
        </p:nvSpPr>
        <p:spPr>
          <a:xfrm>
            <a:off x="841247" y="2898648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BE4B"/>
                </a:solidFill>
                <a:latin typeface="Arial"/>
                <a:ea typeface="Arial"/>
                <a:cs typeface="Arial"/>
                <a:sym typeface="Arial"/>
              </a:rPr>
              <a:t>OBSERVED RESULT</a:t>
            </a:r>
            <a:endParaRPr/>
          </a:p>
        </p:txBody>
      </p:sp>
      <p:sp>
        <p:nvSpPr>
          <p:cNvPr id="533" name="Google Shape;533;p20"/>
          <p:cNvSpPr txBox="1"/>
          <p:nvPr/>
        </p:nvSpPr>
        <p:spPr>
          <a:xfrm>
            <a:off x="914400" y="3246120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8BE4B"/>
                </a:solidFill>
                <a:latin typeface="Arial"/>
                <a:ea typeface="Arial"/>
                <a:cs typeface="Arial"/>
                <a:sym typeface="Arial"/>
              </a:rPr>
              <a:t>MODERATE RISK</a:t>
            </a:r>
            <a:endParaRPr/>
          </a:p>
        </p:txBody>
      </p:sp>
      <p:sp>
        <p:nvSpPr>
          <p:cNvPr id="534" name="Google Shape;534;p20"/>
          <p:cNvSpPr txBox="1"/>
          <p:nvPr/>
        </p:nvSpPr>
        <p:spPr>
          <a:xfrm>
            <a:off x="914400" y="3977639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Landmark prediction: Drowsy</a:t>
            </a:r>
            <a:br>
              <a:rPr b="1" i="0" lang="en-US" sz="16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Confidence: 0.831</a:t>
            </a:r>
            <a:endParaRPr/>
          </a:p>
        </p:txBody>
      </p:sp>
      <p:sp>
        <p:nvSpPr>
          <p:cNvPr id="535" name="Google Shape;535;p20"/>
          <p:cNvSpPr/>
          <p:nvPr/>
        </p:nvSpPr>
        <p:spPr>
          <a:xfrm>
            <a:off x="6172200" y="2788920"/>
            <a:ext cx="5394960" cy="251460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0"/>
          <p:cNvSpPr txBox="1"/>
          <p:nvPr/>
        </p:nvSpPr>
        <p:spPr>
          <a:xfrm>
            <a:off x="6355080" y="2898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5D68"/>
                </a:solidFill>
                <a:latin typeface="Arial"/>
                <a:ea typeface="Arial"/>
                <a:cs typeface="Arial"/>
                <a:sym typeface="Arial"/>
              </a:rPr>
              <a:t>IMPORTANT INTERPRETATION</a:t>
            </a:r>
            <a:endParaRPr/>
          </a:p>
        </p:txBody>
      </p:sp>
      <p:sp>
        <p:nvSpPr>
          <p:cNvPr id="537" name="Google Shape;537;p20"/>
          <p:cNvSpPr txBox="1"/>
          <p:nvPr/>
        </p:nvSpPr>
        <p:spPr>
          <a:xfrm>
            <a:off x="6446520" y="3310128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This is an integration / pipeline validation result—not a system-wide accuracy benchmark.</a:t>
            </a:r>
            <a:endParaRPr/>
          </a:p>
        </p:txBody>
      </p:sp>
      <p:sp>
        <p:nvSpPr>
          <p:cNvPr id="538" name="Google Shape;538;p20"/>
          <p:cNvSpPr txBox="1"/>
          <p:nvPr/>
        </p:nvSpPr>
        <p:spPr>
          <a:xfrm>
            <a:off x="6446520" y="443484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The test confirms that all five modules can contribute to the common risk score.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1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Robustness &amp; Failure Handling</a:t>
            </a:r>
            <a:endParaRPr/>
          </a:p>
        </p:txBody>
      </p:sp>
      <p:sp>
        <p:nvSpPr>
          <p:cNvPr id="544" name="Google Shape;544;p21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The integrated system fails safely and reports module state explicitly</a:t>
            </a:r>
            <a:endParaRPr/>
          </a:p>
        </p:txBody>
      </p:sp>
      <p:sp>
        <p:nvSpPr>
          <p:cNvPr id="545" name="Google Shape;545;p21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546" name="Google Shape;546;p21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1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548" name="Google Shape;548;p21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549" name="Google Shape;549;p21"/>
          <p:cNvSpPr/>
          <p:nvPr/>
        </p:nvSpPr>
        <p:spPr>
          <a:xfrm>
            <a:off x="658368" y="1298448"/>
            <a:ext cx="10972800" cy="713232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1"/>
          <p:cNvSpPr txBox="1"/>
          <p:nvPr/>
        </p:nvSpPr>
        <p:spPr>
          <a:xfrm>
            <a:off x="896112" y="1463039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Unavailable face</a:t>
            </a:r>
            <a:endParaRPr/>
          </a:p>
        </p:txBody>
      </p:sp>
      <p:sp>
        <p:nvSpPr>
          <p:cNvPr id="551" name="Google Shape;551;p21"/>
          <p:cNvSpPr txBox="1"/>
          <p:nvPr/>
        </p:nvSpPr>
        <p:spPr>
          <a:xfrm>
            <a:off x="3246120" y="1463039"/>
            <a:ext cx="8001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Landmark module reports a structured unavailable/error state.</a:t>
            </a:r>
            <a:endParaRPr/>
          </a:p>
        </p:txBody>
      </p:sp>
      <p:sp>
        <p:nvSpPr>
          <p:cNvPr id="552" name="Google Shape;552;p21"/>
          <p:cNvSpPr/>
          <p:nvPr/>
        </p:nvSpPr>
        <p:spPr>
          <a:xfrm>
            <a:off x="658368" y="2231136"/>
            <a:ext cx="10972800" cy="713232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1"/>
          <p:cNvSpPr txBox="1"/>
          <p:nvPr/>
        </p:nvSpPr>
        <p:spPr>
          <a:xfrm>
            <a:off x="896112" y="239572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Short video</a:t>
            </a:r>
            <a:endParaRPr/>
          </a:p>
        </p:txBody>
      </p:sp>
      <p:sp>
        <p:nvSpPr>
          <p:cNvPr id="554" name="Google Shape;554;p21"/>
          <p:cNvSpPr txBox="1"/>
          <p:nvPr/>
        </p:nvSpPr>
        <p:spPr>
          <a:xfrm>
            <a:off x="3246120" y="2395728"/>
            <a:ext cx="8001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Insufficient temporal input is handled gracefully.</a:t>
            </a:r>
            <a:endParaRPr/>
          </a:p>
        </p:txBody>
      </p:sp>
      <p:sp>
        <p:nvSpPr>
          <p:cNvPr id="555" name="Google Shape;555;p21"/>
          <p:cNvSpPr/>
          <p:nvPr/>
        </p:nvSpPr>
        <p:spPr>
          <a:xfrm>
            <a:off x="658368" y="3163824"/>
            <a:ext cx="10972800" cy="713232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1"/>
          <p:cNvSpPr txBox="1"/>
          <p:nvPr/>
        </p:nvSpPr>
        <p:spPr>
          <a:xfrm>
            <a:off x="896112" y="332841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Model warm-up / failure</a:t>
            </a:r>
            <a:endParaRPr/>
          </a:p>
        </p:txBody>
      </p:sp>
      <p:sp>
        <p:nvSpPr>
          <p:cNvPr id="557" name="Google Shape;557;p21"/>
          <p:cNvSpPr txBox="1"/>
          <p:nvPr/>
        </p:nvSpPr>
        <p:spPr>
          <a:xfrm>
            <a:off x="3246120" y="3328416"/>
            <a:ext cx="8001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Unavailable modules are excluded from fusion rather than treated as safe.</a:t>
            </a:r>
            <a:endParaRPr/>
          </a:p>
        </p:txBody>
      </p:sp>
      <p:sp>
        <p:nvSpPr>
          <p:cNvPr id="558" name="Google Shape;558;p21"/>
          <p:cNvSpPr/>
          <p:nvPr/>
        </p:nvSpPr>
        <p:spPr>
          <a:xfrm>
            <a:off x="658368" y="4096512"/>
            <a:ext cx="10972800" cy="713232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1"/>
          <p:cNvSpPr txBox="1"/>
          <p:nvPr/>
        </p:nvSpPr>
        <p:spPr>
          <a:xfrm>
            <a:off x="896112" y="426110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YOLO flicker</a:t>
            </a:r>
            <a:endParaRPr/>
          </a:p>
        </p:txBody>
      </p:sp>
      <p:sp>
        <p:nvSpPr>
          <p:cNvPr id="560" name="Google Shape;560;p21"/>
          <p:cNvSpPr txBox="1"/>
          <p:nvPr/>
        </p:nvSpPr>
        <p:spPr>
          <a:xfrm>
            <a:off x="3246120" y="4261104"/>
            <a:ext cx="8001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Confidence filtering, NMS and temporal stabilization reduce transient detections.</a:t>
            </a:r>
            <a:endParaRPr/>
          </a:p>
        </p:txBody>
      </p:sp>
      <p:sp>
        <p:nvSpPr>
          <p:cNvPr id="561" name="Google Shape;561;p21"/>
          <p:cNvSpPr/>
          <p:nvPr/>
        </p:nvSpPr>
        <p:spPr>
          <a:xfrm>
            <a:off x="658368" y="5029200"/>
            <a:ext cx="10972800" cy="713232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1"/>
          <p:cNvSpPr txBox="1"/>
          <p:nvPr/>
        </p:nvSpPr>
        <p:spPr>
          <a:xfrm>
            <a:off x="896112" y="519379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Streaming load</a:t>
            </a:r>
            <a:endParaRPr/>
          </a:p>
        </p:txBody>
      </p:sp>
      <p:sp>
        <p:nvSpPr>
          <p:cNvPr id="563" name="Google Shape;563;p21"/>
          <p:cNvSpPr txBox="1"/>
          <p:nvPr/>
        </p:nvSpPr>
        <p:spPr>
          <a:xfrm>
            <a:off x="3246120" y="5193792"/>
            <a:ext cx="8001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Frame skipping and rolling histories reduce redundant computation.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2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Gradio Interface</a:t>
            </a:r>
            <a:endParaRPr/>
          </a:p>
        </p:txBody>
      </p:sp>
      <p:sp>
        <p:nvSpPr>
          <p:cNvPr id="569" name="Google Shape;569;p22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Turning the ML pipeline into a usable driver-monitoring application</a:t>
            </a:r>
            <a:endParaRPr/>
          </a:p>
        </p:txBody>
      </p:sp>
      <p:sp>
        <p:nvSpPr>
          <p:cNvPr id="570" name="Google Shape;570;p22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sp>
        <p:nvSpPr>
          <p:cNvPr id="571" name="Google Shape;571;p22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2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573" name="Google Shape;573;p22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574" name="Google Shape;574;p22"/>
          <p:cNvSpPr/>
          <p:nvPr/>
        </p:nvSpPr>
        <p:spPr>
          <a:xfrm>
            <a:off x="658368" y="1280160"/>
            <a:ext cx="5303520" cy="475488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2"/>
          <p:cNvSpPr txBox="1"/>
          <p:nvPr/>
        </p:nvSpPr>
        <p:spPr>
          <a:xfrm>
            <a:off x="841247" y="1389888"/>
            <a:ext cx="49377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RECORDED VIDEO</a:t>
            </a:r>
            <a:endParaRPr/>
          </a:p>
        </p:txBody>
      </p:sp>
      <p:sp>
        <p:nvSpPr>
          <p:cNvPr id="576" name="Google Shape;576;p22"/>
          <p:cNvSpPr/>
          <p:nvPr/>
        </p:nvSpPr>
        <p:spPr>
          <a:xfrm>
            <a:off x="960120" y="1783080"/>
            <a:ext cx="4617720" cy="420624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2"/>
          <p:cNvSpPr txBox="1"/>
          <p:nvPr/>
        </p:nvSpPr>
        <p:spPr>
          <a:xfrm>
            <a:off x="1033272" y="1856231"/>
            <a:ext cx="44714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Upload driver video</a:t>
            </a:r>
            <a:endParaRPr/>
          </a:p>
        </p:txBody>
      </p:sp>
      <p:sp>
        <p:nvSpPr>
          <p:cNvPr id="578" name="Google Shape;578;p22"/>
          <p:cNvSpPr/>
          <p:nvPr/>
        </p:nvSpPr>
        <p:spPr>
          <a:xfrm>
            <a:off x="960120" y="2386584"/>
            <a:ext cx="4617720" cy="420624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2"/>
          <p:cNvSpPr txBox="1"/>
          <p:nvPr/>
        </p:nvSpPr>
        <p:spPr>
          <a:xfrm>
            <a:off x="1033272" y="2459736"/>
            <a:ext cx="44714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endParaRPr/>
          </a:p>
        </p:txBody>
      </p:sp>
      <p:sp>
        <p:nvSpPr>
          <p:cNvPr id="580" name="Google Shape;580;p22"/>
          <p:cNvSpPr/>
          <p:nvPr/>
        </p:nvSpPr>
        <p:spPr>
          <a:xfrm>
            <a:off x="960120" y="2990088"/>
            <a:ext cx="4617720" cy="420624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2"/>
          <p:cNvSpPr txBox="1"/>
          <p:nvPr/>
        </p:nvSpPr>
        <p:spPr>
          <a:xfrm>
            <a:off x="1033272" y="3063240"/>
            <a:ext cx="44714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Annotated output</a:t>
            </a:r>
            <a:endParaRPr/>
          </a:p>
        </p:txBody>
      </p:sp>
      <p:sp>
        <p:nvSpPr>
          <p:cNvPr id="582" name="Google Shape;582;p22"/>
          <p:cNvSpPr/>
          <p:nvPr/>
        </p:nvSpPr>
        <p:spPr>
          <a:xfrm>
            <a:off x="960120" y="3593591"/>
            <a:ext cx="4617720" cy="420624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49D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2"/>
          <p:cNvSpPr txBox="1"/>
          <p:nvPr/>
        </p:nvSpPr>
        <p:spPr>
          <a:xfrm>
            <a:off x="1033272" y="3666744"/>
            <a:ext cx="44714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Module predictions</a:t>
            </a:r>
            <a:endParaRPr/>
          </a:p>
        </p:txBody>
      </p:sp>
      <p:sp>
        <p:nvSpPr>
          <p:cNvPr id="584" name="Google Shape;584;p22"/>
          <p:cNvSpPr/>
          <p:nvPr/>
        </p:nvSpPr>
        <p:spPr>
          <a:xfrm>
            <a:off x="960120" y="4197096"/>
            <a:ext cx="4617720" cy="420624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49D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2"/>
          <p:cNvSpPr txBox="1"/>
          <p:nvPr/>
        </p:nvSpPr>
        <p:spPr>
          <a:xfrm>
            <a:off x="1033272" y="4270248"/>
            <a:ext cx="44714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Wellness gauge</a:t>
            </a:r>
            <a:endParaRPr/>
          </a:p>
        </p:txBody>
      </p:sp>
      <p:sp>
        <p:nvSpPr>
          <p:cNvPr id="586" name="Google Shape;586;p22"/>
          <p:cNvSpPr/>
          <p:nvPr/>
        </p:nvSpPr>
        <p:spPr>
          <a:xfrm>
            <a:off x="960120" y="4800600"/>
            <a:ext cx="4617720" cy="420624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49D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2"/>
          <p:cNvSpPr txBox="1"/>
          <p:nvPr/>
        </p:nvSpPr>
        <p:spPr>
          <a:xfrm>
            <a:off x="1033272" y="4873752"/>
            <a:ext cx="44714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Session summary</a:t>
            </a:r>
            <a:endParaRPr/>
          </a:p>
        </p:txBody>
      </p:sp>
      <p:sp>
        <p:nvSpPr>
          <p:cNvPr id="588" name="Google Shape;588;p22"/>
          <p:cNvSpPr/>
          <p:nvPr/>
        </p:nvSpPr>
        <p:spPr>
          <a:xfrm>
            <a:off x="6199632" y="1280160"/>
            <a:ext cx="5376672" cy="475488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2"/>
          <p:cNvSpPr txBox="1"/>
          <p:nvPr/>
        </p:nvSpPr>
        <p:spPr>
          <a:xfrm>
            <a:off x="6382512" y="1389888"/>
            <a:ext cx="5010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D7CFF"/>
                </a:solidFill>
                <a:latin typeface="Arial"/>
                <a:ea typeface="Arial"/>
                <a:cs typeface="Arial"/>
                <a:sym typeface="Arial"/>
              </a:rPr>
              <a:t>LIVE WEBCAM</a:t>
            </a:r>
            <a:endParaRPr/>
          </a:p>
        </p:txBody>
      </p:sp>
      <p:sp>
        <p:nvSpPr>
          <p:cNvPr id="590" name="Google Shape;590;p22"/>
          <p:cNvSpPr/>
          <p:nvPr/>
        </p:nvSpPr>
        <p:spPr>
          <a:xfrm>
            <a:off x="6492240" y="1783080"/>
            <a:ext cx="4709160" cy="420624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9D7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2"/>
          <p:cNvSpPr txBox="1"/>
          <p:nvPr/>
        </p:nvSpPr>
        <p:spPr>
          <a:xfrm>
            <a:off x="6565392" y="1856231"/>
            <a:ext cx="4562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Start webcam</a:t>
            </a:r>
            <a:endParaRPr/>
          </a:p>
        </p:txBody>
      </p:sp>
      <p:sp>
        <p:nvSpPr>
          <p:cNvPr id="592" name="Google Shape;592;p22"/>
          <p:cNvSpPr/>
          <p:nvPr/>
        </p:nvSpPr>
        <p:spPr>
          <a:xfrm>
            <a:off x="6492240" y="2386584"/>
            <a:ext cx="4709160" cy="420624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9D7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2"/>
          <p:cNvSpPr txBox="1"/>
          <p:nvPr/>
        </p:nvSpPr>
        <p:spPr>
          <a:xfrm>
            <a:off x="6565392" y="2459736"/>
            <a:ext cx="4562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Streaming inference</a:t>
            </a:r>
            <a:endParaRPr/>
          </a:p>
        </p:txBody>
      </p:sp>
      <p:sp>
        <p:nvSpPr>
          <p:cNvPr id="594" name="Google Shape;594;p22"/>
          <p:cNvSpPr/>
          <p:nvPr/>
        </p:nvSpPr>
        <p:spPr>
          <a:xfrm>
            <a:off x="6492240" y="2990088"/>
            <a:ext cx="4709160" cy="420624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9D7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2"/>
          <p:cNvSpPr txBox="1"/>
          <p:nvPr/>
        </p:nvSpPr>
        <p:spPr>
          <a:xfrm>
            <a:off x="6565392" y="3063240"/>
            <a:ext cx="4562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Live annotations</a:t>
            </a:r>
            <a:endParaRPr/>
          </a:p>
        </p:txBody>
      </p:sp>
      <p:sp>
        <p:nvSpPr>
          <p:cNvPr id="596" name="Google Shape;596;p22"/>
          <p:cNvSpPr/>
          <p:nvPr/>
        </p:nvSpPr>
        <p:spPr>
          <a:xfrm>
            <a:off x="6492240" y="3593591"/>
            <a:ext cx="4709160" cy="420624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F8BE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2"/>
          <p:cNvSpPr txBox="1"/>
          <p:nvPr/>
        </p:nvSpPr>
        <p:spPr>
          <a:xfrm>
            <a:off x="6565392" y="3666744"/>
            <a:ext cx="4562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Real-time score</a:t>
            </a:r>
            <a:endParaRPr/>
          </a:p>
        </p:txBody>
      </p:sp>
      <p:sp>
        <p:nvSpPr>
          <p:cNvPr id="598" name="Google Shape;598;p22"/>
          <p:cNvSpPr/>
          <p:nvPr/>
        </p:nvSpPr>
        <p:spPr>
          <a:xfrm>
            <a:off x="6492240" y="4197096"/>
            <a:ext cx="4709160" cy="420624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F8BE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2"/>
          <p:cNvSpPr txBox="1"/>
          <p:nvPr/>
        </p:nvSpPr>
        <p:spPr>
          <a:xfrm>
            <a:off x="6565392" y="4270248"/>
            <a:ext cx="4562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Risk-level updates</a:t>
            </a:r>
            <a:endParaRPr/>
          </a:p>
        </p:txBody>
      </p:sp>
      <p:sp>
        <p:nvSpPr>
          <p:cNvPr id="600" name="Google Shape;600;p22"/>
          <p:cNvSpPr/>
          <p:nvPr/>
        </p:nvSpPr>
        <p:spPr>
          <a:xfrm>
            <a:off x="6492240" y="4800600"/>
            <a:ext cx="4709160" cy="420624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F8BE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2"/>
          <p:cNvSpPr txBox="1"/>
          <p:nvPr/>
        </p:nvSpPr>
        <p:spPr>
          <a:xfrm>
            <a:off x="6565392" y="4873752"/>
            <a:ext cx="4562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Stop + summary</a:t>
            </a:r>
            <a:endParaRPr/>
          </a:p>
        </p:txBody>
      </p:sp>
      <p:sp>
        <p:nvSpPr>
          <p:cNvPr id="602" name="Google Shape;602;p22"/>
          <p:cNvSpPr txBox="1"/>
          <p:nvPr/>
        </p:nvSpPr>
        <p:spPr>
          <a:xfrm>
            <a:off x="822960" y="6172200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Cockpit-style dashboard • module status chips • risk gauge • visual hierarchy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3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Deployment — Lightning AI + Gradio</a:t>
            </a:r>
            <a:endParaRPr/>
          </a:p>
        </p:txBody>
      </p:sp>
      <p:sp>
        <p:nvSpPr>
          <p:cNvPr id="608" name="Google Shape;608;p23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Packaging the integrated application for hosted inference</a:t>
            </a:r>
            <a:endParaRPr/>
          </a:p>
        </p:txBody>
      </p:sp>
      <p:sp>
        <p:nvSpPr>
          <p:cNvPr id="609" name="Google Shape;609;p23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610" name="Google Shape;610;p23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3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612" name="Google Shape;612;p23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613" name="Google Shape;613;p23"/>
          <p:cNvSpPr txBox="1"/>
          <p:nvPr/>
        </p:nvSpPr>
        <p:spPr>
          <a:xfrm>
            <a:off x="685800" y="129844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FINAL DEPLOYMENT FLOW</a:t>
            </a:r>
            <a:endParaRPr/>
          </a:p>
        </p:txBody>
      </p:sp>
      <p:sp>
        <p:nvSpPr>
          <p:cNvPr id="614" name="Google Shape;614;p23"/>
          <p:cNvSpPr/>
          <p:nvPr/>
        </p:nvSpPr>
        <p:spPr>
          <a:xfrm>
            <a:off x="594360" y="1874519"/>
            <a:ext cx="1691640" cy="658368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3"/>
          <p:cNvSpPr txBox="1"/>
          <p:nvPr/>
        </p:nvSpPr>
        <p:spPr>
          <a:xfrm>
            <a:off x="667512" y="1947672"/>
            <a:ext cx="1545336" cy="512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Git / Project</a:t>
            </a:r>
            <a:endParaRPr/>
          </a:p>
        </p:txBody>
      </p:sp>
      <p:sp>
        <p:nvSpPr>
          <p:cNvPr id="616" name="Google Shape;616;p23"/>
          <p:cNvSpPr txBox="1"/>
          <p:nvPr/>
        </p:nvSpPr>
        <p:spPr>
          <a:xfrm>
            <a:off x="594360" y="269748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Code + checkpoints</a:t>
            </a:r>
            <a:endParaRPr/>
          </a:p>
        </p:txBody>
      </p:sp>
      <p:cxnSp>
        <p:nvCxnSpPr>
          <p:cNvPr id="617" name="Google Shape;617;p23"/>
          <p:cNvCxnSpPr/>
          <p:nvPr/>
        </p:nvCxnSpPr>
        <p:spPr>
          <a:xfrm>
            <a:off x="2313432" y="2203704"/>
            <a:ext cx="438912" cy="0"/>
          </a:xfrm>
          <a:prstGeom prst="straightConnector1">
            <a:avLst/>
          </a:prstGeom>
          <a:noFill/>
          <a:ln cap="flat" cmpd="sng" w="21575">
            <a:solidFill>
              <a:srgbClr val="A6B7C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18" name="Google Shape;618;p23"/>
          <p:cNvSpPr/>
          <p:nvPr/>
        </p:nvSpPr>
        <p:spPr>
          <a:xfrm>
            <a:off x="2834640" y="1874519"/>
            <a:ext cx="1691640" cy="658368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9D7C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3"/>
          <p:cNvSpPr txBox="1"/>
          <p:nvPr/>
        </p:nvSpPr>
        <p:spPr>
          <a:xfrm>
            <a:off x="2907792" y="1947672"/>
            <a:ext cx="1545336" cy="512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Lightning AI</a:t>
            </a:r>
            <a:endParaRPr/>
          </a:p>
        </p:txBody>
      </p:sp>
      <p:sp>
        <p:nvSpPr>
          <p:cNvPr id="620" name="Google Shape;620;p23"/>
          <p:cNvSpPr txBox="1"/>
          <p:nvPr/>
        </p:nvSpPr>
        <p:spPr>
          <a:xfrm>
            <a:off x="2834640" y="269748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Hosted runtime</a:t>
            </a:r>
            <a:endParaRPr/>
          </a:p>
        </p:txBody>
      </p:sp>
      <p:cxnSp>
        <p:nvCxnSpPr>
          <p:cNvPr id="621" name="Google Shape;621;p23"/>
          <p:cNvCxnSpPr/>
          <p:nvPr/>
        </p:nvCxnSpPr>
        <p:spPr>
          <a:xfrm>
            <a:off x="4553712" y="2203704"/>
            <a:ext cx="438912" cy="0"/>
          </a:xfrm>
          <a:prstGeom prst="straightConnector1">
            <a:avLst/>
          </a:prstGeom>
          <a:noFill/>
          <a:ln cap="flat" cmpd="sng" w="21575">
            <a:solidFill>
              <a:srgbClr val="A6B7C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2" name="Google Shape;622;p23"/>
          <p:cNvSpPr/>
          <p:nvPr/>
        </p:nvSpPr>
        <p:spPr>
          <a:xfrm>
            <a:off x="5074920" y="1874519"/>
            <a:ext cx="1691640" cy="658368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49DC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3"/>
          <p:cNvSpPr txBox="1"/>
          <p:nvPr/>
        </p:nvSpPr>
        <p:spPr>
          <a:xfrm>
            <a:off x="5148072" y="1947672"/>
            <a:ext cx="1545336" cy="512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Gradio App</a:t>
            </a:r>
            <a:endParaRPr/>
          </a:p>
        </p:txBody>
      </p:sp>
      <p:sp>
        <p:nvSpPr>
          <p:cNvPr id="624" name="Google Shape;624;p23"/>
          <p:cNvSpPr txBox="1"/>
          <p:nvPr/>
        </p:nvSpPr>
        <p:spPr>
          <a:xfrm>
            <a:off x="5074920" y="269748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User-facing UI</a:t>
            </a:r>
            <a:endParaRPr/>
          </a:p>
        </p:txBody>
      </p:sp>
      <p:cxnSp>
        <p:nvCxnSpPr>
          <p:cNvPr id="625" name="Google Shape;625;p23"/>
          <p:cNvCxnSpPr/>
          <p:nvPr/>
        </p:nvCxnSpPr>
        <p:spPr>
          <a:xfrm>
            <a:off x="6793992" y="2203704"/>
            <a:ext cx="438912" cy="0"/>
          </a:xfrm>
          <a:prstGeom prst="straightConnector1">
            <a:avLst/>
          </a:prstGeom>
          <a:noFill/>
          <a:ln cap="flat" cmpd="sng" w="21575">
            <a:solidFill>
              <a:srgbClr val="A6B7C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6" name="Google Shape;626;p23"/>
          <p:cNvSpPr/>
          <p:nvPr/>
        </p:nvSpPr>
        <p:spPr>
          <a:xfrm>
            <a:off x="7315200" y="1874519"/>
            <a:ext cx="1691640" cy="658368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F8BE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3"/>
          <p:cNvSpPr txBox="1"/>
          <p:nvPr/>
        </p:nvSpPr>
        <p:spPr>
          <a:xfrm>
            <a:off x="7388352" y="1947672"/>
            <a:ext cx="1545336" cy="512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Driver Video</a:t>
            </a:r>
            <a:endParaRPr/>
          </a:p>
        </p:txBody>
      </p:sp>
      <p:sp>
        <p:nvSpPr>
          <p:cNvPr id="628" name="Google Shape;628;p23"/>
          <p:cNvSpPr txBox="1"/>
          <p:nvPr/>
        </p:nvSpPr>
        <p:spPr>
          <a:xfrm>
            <a:off x="7315200" y="269748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Upload / webcam</a:t>
            </a:r>
            <a:endParaRPr/>
          </a:p>
        </p:txBody>
      </p:sp>
      <p:cxnSp>
        <p:nvCxnSpPr>
          <p:cNvPr id="629" name="Google Shape;629;p23"/>
          <p:cNvCxnSpPr/>
          <p:nvPr/>
        </p:nvCxnSpPr>
        <p:spPr>
          <a:xfrm>
            <a:off x="9034272" y="2203704"/>
            <a:ext cx="438912" cy="0"/>
          </a:xfrm>
          <a:prstGeom prst="straightConnector1">
            <a:avLst/>
          </a:prstGeom>
          <a:noFill/>
          <a:ln cap="flat" cmpd="sng" w="21575">
            <a:solidFill>
              <a:srgbClr val="A6B7C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30" name="Google Shape;630;p23"/>
          <p:cNvSpPr/>
          <p:nvPr/>
        </p:nvSpPr>
        <p:spPr>
          <a:xfrm>
            <a:off x="9555480" y="1874519"/>
            <a:ext cx="1691640" cy="658368"/>
          </a:xfrm>
          <a:prstGeom prst="roundRect">
            <a:avLst>
              <a:gd fmla="val 16667" name="adj"/>
            </a:avLst>
          </a:prstGeom>
          <a:solidFill>
            <a:srgbClr val="16263D"/>
          </a:solidFill>
          <a:ln cap="flat" cmpd="sng" w="19050">
            <a:solidFill>
              <a:srgbClr val="37D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3"/>
          <p:cNvSpPr txBox="1"/>
          <p:nvPr/>
        </p:nvSpPr>
        <p:spPr>
          <a:xfrm>
            <a:off x="9628632" y="1947672"/>
            <a:ext cx="1545336" cy="512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Integrated Output</a:t>
            </a:r>
            <a:endParaRPr/>
          </a:p>
        </p:txBody>
      </p:sp>
      <p:sp>
        <p:nvSpPr>
          <p:cNvPr id="632" name="Google Shape;632;p23"/>
          <p:cNvSpPr txBox="1"/>
          <p:nvPr/>
        </p:nvSpPr>
        <p:spPr>
          <a:xfrm>
            <a:off x="9555480" y="269748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Annotations + score</a:t>
            </a:r>
            <a:endParaRPr/>
          </a:p>
        </p:txBody>
      </p:sp>
      <p:sp>
        <p:nvSpPr>
          <p:cNvPr id="633" name="Google Shape;633;p23"/>
          <p:cNvSpPr/>
          <p:nvPr/>
        </p:nvSpPr>
        <p:spPr>
          <a:xfrm>
            <a:off x="658368" y="3794760"/>
            <a:ext cx="10972800" cy="141732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3"/>
          <p:cNvSpPr txBox="1"/>
          <p:nvPr/>
        </p:nvSpPr>
        <p:spPr>
          <a:xfrm>
            <a:off x="841247" y="3904488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DEPLOYMENT ENGINEERING</a:t>
            </a:r>
            <a:endParaRPr/>
          </a:p>
        </p:txBody>
      </p:sp>
      <p:sp>
        <p:nvSpPr>
          <p:cNvPr id="635" name="Google Shape;635;p23"/>
          <p:cNvSpPr txBox="1"/>
          <p:nvPr/>
        </p:nvSpPr>
        <p:spPr>
          <a:xfrm>
            <a:off x="914400" y="4187952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Thin application wrapper + centralized inference core.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Model caching / lazy loading and frame skipping reduce startup and runtime resource pressure.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requirements.txt and README.md document the reproducible runtime.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Gradio exposes the same integrated inference pipeline rather than separate module demos.</a:t>
            </a:r>
            <a:endParaRPr/>
          </a:p>
        </p:txBody>
      </p:sp>
      <p:sp>
        <p:nvSpPr>
          <p:cNvPr id="636" name="Google Shape;636;p23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BE4B"/>
                </a:solidFill>
                <a:latin typeface="Arial"/>
                <a:ea typeface="Arial"/>
                <a:cs typeface="Arial"/>
                <a:sym typeface="Arial"/>
              </a:rPr>
              <a:t>Platform note: the consolidated M6 documentation records a hosted Space deployment with runtime quota constraints; this presentation reflects the team's final Lightning AI hosting update.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4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Deployment Challenges &amp; Mitigations</a:t>
            </a:r>
            <a:endParaRPr/>
          </a:p>
        </p:txBody>
      </p:sp>
      <p:sp>
        <p:nvSpPr>
          <p:cNvPr id="642" name="Google Shape;642;p24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What had to be considered beyond model accuracy</a:t>
            </a:r>
            <a:endParaRPr/>
          </a:p>
        </p:txBody>
      </p:sp>
      <p:sp>
        <p:nvSpPr>
          <p:cNvPr id="643" name="Google Shape;643;p2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  <p:sp>
        <p:nvSpPr>
          <p:cNvPr id="644" name="Google Shape;644;p24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4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646" name="Google Shape;646;p24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graphicFrame>
        <p:nvGraphicFramePr>
          <p:cNvPr id="647" name="Google Shape;647;p24"/>
          <p:cNvGraphicFramePr/>
          <p:nvPr/>
        </p:nvGraphicFramePr>
        <p:xfrm>
          <a:off x="64008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{3A299FB5-00D3-4B0C-A865-E520703983BE}</a:tableStyleId>
              </a:tblPr>
              <a:tblGrid>
                <a:gridCol w="3657600"/>
                <a:gridCol w="3657600"/>
                <a:gridCol w="3657600"/>
              </a:tblGrid>
              <a:tr h="67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8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Challenge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8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Impact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80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Mitigation / direction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 / runtime quota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Inference may be interrupted or unavailable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Caching, lazy loading, lighter models, dedicated GPU option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Five-model memory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Simultaneous checkpoints increase VRAM demand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Lazy initialization; optimize model lifecycle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Long videos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 execution time can grow quickly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Frame skipping; shorter windows; future chunking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Landmark throughput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Face-landmark extraction can bottleneck webcam FPS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Optimize MediaPipe / asynchronous processing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</a:tr>
              <a:tr h="67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Domain shift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Cabin lighting, glare, camera angle affect performance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80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Broader real-world validation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</a:tbl>
          </a:graphicData>
        </a:graphic>
      </p:graphicFrame>
      <p:sp>
        <p:nvSpPr>
          <p:cNvPr id="648" name="Google Shape;648;p24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Deployment readiness is therefore an engineering problem as well as a machine-learning problem.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5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Individual Contributions — Member Ownership</a:t>
            </a:r>
            <a:endParaRPr/>
          </a:p>
        </p:txBody>
      </p:sp>
      <p:sp>
        <p:nvSpPr>
          <p:cNvPr id="654" name="Google Shape;654;p25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contributions across the project lifecycle</a:t>
            </a:r>
            <a:endParaRPr/>
          </a:p>
        </p:txBody>
      </p:sp>
      <p:sp>
        <p:nvSpPr>
          <p:cNvPr id="655" name="Google Shape;655;p25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sp>
        <p:nvSpPr>
          <p:cNvPr id="656" name="Google Shape;656;p25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5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658" name="Google Shape;658;p25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graphicFrame>
        <p:nvGraphicFramePr>
          <p:cNvPr id="659" name="Google Shape;659;p25"/>
          <p:cNvGraphicFramePr/>
          <p:nvPr/>
        </p:nvGraphicFramePr>
        <p:xfrm>
          <a:off x="502920" y="1325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{3A299FB5-00D3-4B0C-A865-E520703983BE}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9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Member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9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9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technical ownership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69" u="none" cap="none" strike="noStrike">
                          <a:solidFill>
                            <a:srgbClr val="37D3E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Integration contribution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263D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Kushagra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Video Fatigue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Sequence modeling; EfficientNet-B0 + BiLSTM; fatigue evaluation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Checkpoint + standardized fatigue output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Shiwani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Landmark Fatigue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MediaPipe features; LSTM; temporal fatigue logic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Landmark adapter; temporal state + failure handling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Shubham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Driver Activity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MobileNetV3-Large; activity evaluation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DriverActivityAdapter; Gradio lead; streaming API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Ravina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Smoking &amp; Drinking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YOLOv8n; dataset cleaning; tuning; held-out evaluation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Detection adapter + deployment-oriented consolidation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92A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Sohini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Seatbelt &amp; Phone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YOLOv8n; robustness; temporal consensus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69" u="none" cap="none" strike="noStrike">
                          <a:solidFill>
                            <a:srgbClr val="F2F7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Adapter; Risk Fusion integration; final documentation/consolidation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11D30"/>
                    </a:solidFill>
                  </a:tcPr>
                </a:tc>
              </a:tr>
            </a:tbl>
          </a:graphicData>
        </a:graphic>
      </p:graphicFrame>
      <p:sp>
        <p:nvSpPr>
          <p:cNvPr id="660" name="Google Shape;660;p25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Shared responsibility: consistent interfaces, common inference flow, integration testing, documentation and final project delivery.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6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Project-Level Limitations</a:t>
            </a:r>
            <a:endParaRPr/>
          </a:p>
        </p:txBody>
      </p:sp>
      <p:sp>
        <p:nvSpPr>
          <p:cNvPr id="666" name="Google Shape;666;p26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What prevents us from calling this a production safety-certified system</a:t>
            </a:r>
            <a:endParaRPr/>
          </a:p>
        </p:txBody>
      </p:sp>
      <p:sp>
        <p:nvSpPr>
          <p:cNvPr id="667" name="Google Shape;667;p26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6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670" name="Google Shape;670;p26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671" name="Google Shape;671;p26"/>
          <p:cNvSpPr/>
          <p:nvPr/>
        </p:nvSpPr>
        <p:spPr>
          <a:xfrm>
            <a:off x="658368" y="1298448"/>
            <a:ext cx="5303520" cy="466344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6"/>
          <p:cNvSpPr txBox="1"/>
          <p:nvPr/>
        </p:nvSpPr>
        <p:spPr>
          <a:xfrm>
            <a:off x="841247" y="1408176"/>
            <a:ext cx="49377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5D68"/>
                </a:solidFill>
                <a:latin typeface="Arial"/>
                <a:ea typeface="Arial"/>
                <a:cs typeface="Arial"/>
                <a:sym typeface="Arial"/>
              </a:rPr>
              <a:t>MODEL LIMITATIONS</a:t>
            </a:r>
            <a:endParaRPr/>
          </a:p>
        </p:txBody>
      </p:sp>
      <p:sp>
        <p:nvSpPr>
          <p:cNvPr id="673" name="Google Shape;673;p26"/>
          <p:cNvSpPr txBox="1"/>
          <p:nvPr/>
        </p:nvSpPr>
        <p:spPr>
          <a:xfrm>
            <a:off x="914400" y="1783080"/>
            <a:ext cx="4709160" cy="3406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Fatigue generalization across unseen drivers remains the largest technical gap.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Landmark fatigue depends on face visibility and camera orientation.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Drinking detection is weaker than smoking detection.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Small-object localization and real-world cabin conditions remain challenging.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Metrics across modules are task-specific and not directly comparable.</a:t>
            </a:r>
            <a:endParaRPr/>
          </a:p>
        </p:txBody>
      </p:sp>
      <p:sp>
        <p:nvSpPr>
          <p:cNvPr id="674" name="Google Shape;674;p26"/>
          <p:cNvSpPr/>
          <p:nvPr/>
        </p:nvSpPr>
        <p:spPr>
          <a:xfrm>
            <a:off x="6199632" y="1298448"/>
            <a:ext cx="5376672" cy="466344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6"/>
          <p:cNvSpPr txBox="1"/>
          <p:nvPr/>
        </p:nvSpPr>
        <p:spPr>
          <a:xfrm>
            <a:off x="6382512" y="1408176"/>
            <a:ext cx="5010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BE4B"/>
                </a:solidFill>
                <a:latin typeface="Arial"/>
                <a:ea typeface="Arial"/>
                <a:cs typeface="Arial"/>
                <a:sym typeface="Arial"/>
              </a:rPr>
              <a:t>SYSTEM / DEPLOYMENT LIMITATIONS</a:t>
            </a:r>
            <a:endParaRPr/>
          </a:p>
        </p:txBody>
      </p:sp>
      <p:sp>
        <p:nvSpPr>
          <p:cNvPr id="676" name="Google Shape;676;p26"/>
          <p:cNvSpPr txBox="1"/>
          <p:nvPr/>
        </p:nvSpPr>
        <p:spPr>
          <a:xfrm>
            <a:off x="6446520" y="1783080"/>
            <a:ext cx="4709160" cy="3621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Five simultaneous models can require significant GPU memory.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Live webcam throughput is constrained by landmark extraction.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Deployment runtime can be constrained by hosted GPU quota/time limits.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More diverse real-world and longer-duration validation is needed.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• Not safety-certified; intended as a research/engineering prototype.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7"/>
          <p:cNvSpPr txBox="1"/>
          <p:nvPr/>
        </p:nvSpPr>
        <p:spPr>
          <a:xfrm>
            <a:off x="594360" y="34747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/>
          </a:p>
        </p:txBody>
      </p:sp>
      <p:sp>
        <p:nvSpPr>
          <p:cNvPr id="682" name="Google Shape;682;p27"/>
          <p:cNvSpPr txBox="1"/>
          <p:nvPr/>
        </p:nvSpPr>
        <p:spPr>
          <a:xfrm>
            <a:off x="612648" y="89611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From a strong integrated prototype toward robust real-world deployment</a:t>
            </a:r>
            <a:endParaRPr/>
          </a:p>
        </p:txBody>
      </p:sp>
      <p:sp>
        <p:nvSpPr>
          <p:cNvPr id="683" name="Google Shape;683;p27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  <p:sp>
        <p:nvSpPr>
          <p:cNvPr id="684" name="Google Shape;684;p27"/>
          <p:cNvSpPr/>
          <p:nvPr/>
        </p:nvSpPr>
        <p:spPr>
          <a:xfrm>
            <a:off x="594360" y="6565392"/>
            <a:ext cx="10972800" cy="9144"/>
          </a:xfrm>
          <a:prstGeom prst="rect">
            <a:avLst/>
          </a:prstGeom>
          <a:solidFill>
            <a:srgbClr val="3046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7"/>
          <p:cNvSpPr txBox="1"/>
          <p:nvPr/>
        </p:nvSpPr>
        <p:spPr>
          <a:xfrm>
            <a:off x="612648" y="660196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AI-Powered Driver Wellness &amp; Safety Monitoring System</a:t>
            </a:r>
            <a:endParaRPr/>
          </a:p>
        </p:txBody>
      </p:sp>
      <p:sp>
        <p:nvSpPr>
          <p:cNvPr id="686" name="Google Shape;686;p27"/>
          <p:cNvSpPr txBox="1"/>
          <p:nvPr/>
        </p:nvSpPr>
        <p:spPr>
          <a:xfrm>
            <a:off x="9144000" y="6601968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Final Project Presentation • 2026</a:t>
            </a:r>
            <a:endParaRPr/>
          </a:p>
        </p:txBody>
      </p:sp>
      <p:sp>
        <p:nvSpPr>
          <p:cNvPr id="687" name="Google Shape;687;p27"/>
          <p:cNvSpPr/>
          <p:nvPr/>
        </p:nvSpPr>
        <p:spPr>
          <a:xfrm>
            <a:off x="658368" y="1280160"/>
            <a:ext cx="10972800" cy="694944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7"/>
          <p:cNvSpPr txBox="1"/>
          <p:nvPr/>
        </p:nvSpPr>
        <p:spPr>
          <a:xfrm>
            <a:off x="896112" y="1444751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</p:txBody>
      </p:sp>
      <p:sp>
        <p:nvSpPr>
          <p:cNvPr id="689" name="Google Shape;689;p27"/>
          <p:cNvSpPr txBox="1"/>
          <p:nvPr/>
        </p:nvSpPr>
        <p:spPr>
          <a:xfrm>
            <a:off x="2331720" y="1444751"/>
            <a:ext cx="8869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Cross-subject fatigue validation; confidence calibration; improved drinking detection</a:t>
            </a:r>
            <a:endParaRPr/>
          </a:p>
        </p:txBody>
      </p:sp>
      <p:sp>
        <p:nvSpPr>
          <p:cNvPr id="690" name="Google Shape;690;p27"/>
          <p:cNvSpPr/>
          <p:nvPr/>
        </p:nvSpPr>
        <p:spPr>
          <a:xfrm>
            <a:off x="658368" y="2194560"/>
            <a:ext cx="10972800" cy="694944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7"/>
          <p:cNvSpPr txBox="1"/>
          <p:nvPr/>
        </p:nvSpPr>
        <p:spPr>
          <a:xfrm>
            <a:off x="896112" y="235915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Efficiency</a:t>
            </a:r>
            <a:endParaRPr/>
          </a:p>
        </p:txBody>
      </p:sp>
      <p:sp>
        <p:nvSpPr>
          <p:cNvPr id="692" name="Google Shape;692;p27"/>
          <p:cNvSpPr txBox="1"/>
          <p:nvPr/>
        </p:nvSpPr>
        <p:spPr>
          <a:xfrm>
            <a:off x="2331720" y="2359152"/>
            <a:ext cx="8869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Quantization, pruning, distillation, asynchronous execution</a:t>
            </a:r>
            <a:endParaRPr/>
          </a:p>
        </p:txBody>
      </p:sp>
      <p:sp>
        <p:nvSpPr>
          <p:cNvPr id="693" name="Google Shape;693;p27"/>
          <p:cNvSpPr/>
          <p:nvPr/>
        </p:nvSpPr>
        <p:spPr>
          <a:xfrm>
            <a:off x="658368" y="3108960"/>
            <a:ext cx="10972800" cy="694944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7"/>
          <p:cNvSpPr txBox="1"/>
          <p:nvPr/>
        </p:nvSpPr>
        <p:spPr>
          <a:xfrm>
            <a:off x="896112" y="327355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endParaRPr/>
          </a:p>
        </p:txBody>
      </p:sp>
      <p:sp>
        <p:nvSpPr>
          <p:cNvPr id="695" name="Google Shape;695;p27"/>
          <p:cNvSpPr txBox="1"/>
          <p:nvPr/>
        </p:nvSpPr>
        <p:spPr>
          <a:xfrm>
            <a:off x="2331720" y="3273552"/>
            <a:ext cx="8869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Faster landmark processing; optimized decoding; WebRTC</a:t>
            </a:r>
            <a:endParaRPr/>
          </a:p>
        </p:txBody>
      </p:sp>
      <p:sp>
        <p:nvSpPr>
          <p:cNvPr id="696" name="Google Shape;696;p27"/>
          <p:cNvSpPr/>
          <p:nvPr/>
        </p:nvSpPr>
        <p:spPr>
          <a:xfrm>
            <a:off x="658368" y="4023360"/>
            <a:ext cx="10972800" cy="694944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7"/>
          <p:cNvSpPr txBox="1"/>
          <p:nvPr/>
        </p:nvSpPr>
        <p:spPr>
          <a:xfrm>
            <a:off x="896112" y="418795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/>
          </a:p>
        </p:txBody>
      </p:sp>
      <p:sp>
        <p:nvSpPr>
          <p:cNvPr id="698" name="Google Shape;698;p27"/>
          <p:cNvSpPr txBox="1"/>
          <p:nvPr/>
        </p:nvSpPr>
        <p:spPr>
          <a:xfrm>
            <a:off x="2331720" y="4187952"/>
            <a:ext cx="8869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Dedicated GPU-backed hosting; health monitoring; model versioning</a:t>
            </a:r>
            <a:endParaRPr/>
          </a:p>
        </p:txBody>
      </p:sp>
      <p:sp>
        <p:nvSpPr>
          <p:cNvPr id="699" name="Google Shape;699;p27"/>
          <p:cNvSpPr/>
          <p:nvPr/>
        </p:nvSpPr>
        <p:spPr>
          <a:xfrm>
            <a:off x="658368" y="4937760"/>
            <a:ext cx="10972800" cy="694944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7"/>
          <p:cNvSpPr txBox="1"/>
          <p:nvPr/>
        </p:nvSpPr>
        <p:spPr>
          <a:xfrm>
            <a:off x="896112" y="510235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/>
          </a:p>
        </p:txBody>
      </p:sp>
      <p:sp>
        <p:nvSpPr>
          <p:cNvPr id="701" name="Google Shape;701;p27"/>
          <p:cNvSpPr txBox="1"/>
          <p:nvPr/>
        </p:nvSpPr>
        <p:spPr>
          <a:xfrm>
            <a:off x="2331720" y="5102352"/>
            <a:ext cx="8869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Night/glare/occlusion; camera positions; longer live sessions; independent end-to-end ground truth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F1C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8"/>
          <p:cNvSpPr txBox="1"/>
          <p:nvPr/>
        </p:nvSpPr>
        <p:spPr>
          <a:xfrm>
            <a:off x="658368" y="7315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707" name="Google Shape;707;p28"/>
          <p:cNvSpPr txBox="1"/>
          <p:nvPr/>
        </p:nvSpPr>
        <p:spPr>
          <a:xfrm>
            <a:off x="658368" y="1325880"/>
            <a:ext cx="65836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Five models.</a:t>
            </a:r>
            <a:br>
              <a:rPr b="1" i="0" lang="en-US" sz="31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1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One pipeline.</a:t>
            </a:r>
            <a:br>
              <a:rPr b="1" i="0" lang="en-US" sz="31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100" u="none" cap="none" strike="noStrike">
                <a:solidFill>
                  <a:srgbClr val="F2F7FC"/>
                </a:solidFill>
                <a:latin typeface="Arial"/>
                <a:ea typeface="Arial"/>
                <a:cs typeface="Arial"/>
                <a:sym typeface="Arial"/>
              </a:rPr>
              <a:t>One wellness signal.</a:t>
            </a:r>
            <a:endParaRPr/>
          </a:p>
        </p:txBody>
      </p:sp>
      <p:sp>
        <p:nvSpPr>
          <p:cNvPr id="708" name="Google Shape;708;p28"/>
          <p:cNvSpPr txBox="1"/>
          <p:nvPr/>
        </p:nvSpPr>
        <p:spPr>
          <a:xfrm>
            <a:off x="685800" y="361188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The project evolved from independent module research into a unified, interpretable and deployable driver-monitoring prototype.</a:t>
            </a:r>
            <a:endParaRPr/>
          </a:p>
        </p:txBody>
      </p:sp>
      <p:sp>
        <p:nvSpPr>
          <p:cNvPr id="709" name="Google Shape;709;p28"/>
          <p:cNvSpPr/>
          <p:nvPr/>
        </p:nvSpPr>
        <p:spPr>
          <a:xfrm>
            <a:off x="7635240" y="1143000"/>
            <a:ext cx="3840480" cy="4389120"/>
          </a:xfrm>
          <a:prstGeom prst="roundRect">
            <a:avLst>
              <a:gd fmla="val 16667" name="adj"/>
            </a:avLst>
          </a:prstGeom>
          <a:solidFill>
            <a:srgbClr val="111D30"/>
          </a:solidFill>
          <a:ln cap="flat" cmpd="sng" w="12700">
            <a:solidFill>
              <a:srgbClr val="3046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8"/>
          <p:cNvSpPr txBox="1"/>
          <p:nvPr/>
        </p:nvSpPr>
        <p:spPr>
          <a:xfrm>
            <a:off x="8001000" y="160020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✓ Five trained modules</a:t>
            </a:r>
            <a:endParaRPr/>
          </a:p>
        </p:txBody>
      </p:sp>
      <p:sp>
        <p:nvSpPr>
          <p:cNvPr id="711" name="Google Shape;711;p28"/>
          <p:cNvSpPr txBox="1"/>
          <p:nvPr/>
        </p:nvSpPr>
        <p:spPr>
          <a:xfrm>
            <a:off x="8001000" y="216712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✓ Standardized adapters</a:t>
            </a:r>
            <a:endParaRPr/>
          </a:p>
        </p:txBody>
      </p:sp>
      <p:sp>
        <p:nvSpPr>
          <p:cNvPr id="712" name="Google Shape;712;p28"/>
          <p:cNvSpPr txBox="1"/>
          <p:nvPr/>
        </p:nvSpPr>
        <p:spPr>
          <a:xfrm>
            <a:off x="8001000" y="2734056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✓ Updated M6 risk fusion</a:t>
            </a:r>
            <a:endParaRPr/>
          </a:p>
        </p:txBody>
      </p:sp>
      <p:sp>
        <p:nvSpPr>
          <p:cNvPr id="713" name="Google Shape;713;p28"/>
          <p:cNvSpPr txBox="1"/>
          <p:nvPr/>
        </p:nvSpPr>
        <p:spPr>
          <a:xfrm>
            <a:off x="8001000" y="3300984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✓ End-to-end integration</a:t>
            </a:r>
            <a:endParaRPr/>
          </a:p>
        </p:txBody>
      </p:sp>
      <p:sp>
        <p:nvSpPr>
          <p:cNvPr id="714" name="Google Shape;714;p28"/>
          <p:cNvSpPr txBox="1"/>
          <p:nvPr/>
        </p:nvSpPr>
        <p:spPr>
          <a:xfrm>
            <a:off x="8001000" y="3867912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9DC99"/>
                </a:solidFill>
                <a:latin typeface="Arial"/>
                <a:ea typeface="Arial"/>
                <a:cs typeface="Arial"/>
                <a:sym typeface="Arial"/>
              </a:rPr>
              <a:t>✓ Gradio interface</a:t>
            </a:r>
            <a:endParaRPr/>
          </a:p>
        </p:txBody>
      </p:sp>
      <p:sp>
        <p:nvSpPr>
          <p:cNvPr id="715" name="Google Shape;715;p28"/>
          <p:cNvSpPr txBox="1"/>
          <p:nvPr/>
        </p:nvSpPr>
        <p:spPr>
          <a:xfrm>
            <a:off x="8001000" y="443484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✓ Hosted deployment pathway</a:t>
            </a:r>
            <a:endParaRPr/>
          </a:p>
        </p:txBody>
      </p:sp>
      <p:sp>
        <p:nvSpPr>
          <p:cNvPr id="716" name="Google Shape;716;p28"/>
          <p:cNvSpPr txBox="1"/>
          <p:nvPr/>
        </p:nvSpPr>
        <p:spPr>
          <a:xfrm>
            <a:off x="685800" y="57150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7D3E6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717" name="Google Shape;717;p28"/>
          <p:cNvSpPr txBox="1"/>
          <p:nvPr/>
        </p:nvSpPr>
        <p:spPr>
          <a:xfrm>
            <a:off x="685800" y="614476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6B7CA"/>
                </a:solidFill>
                <a:latin typeface="Arial"/>
                <a:ea typeface="Arial"/>
                <a:cs typeface="Arial"/>
                <a:sym typeface="Arial"/>
              </a:rPr>
              <a:t>Questions &amp;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