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Normal blink</c:v>
                </c:pt>
              </c:strCache>
            </c:strRef>
          </c:tx>
          <c:spPr>
            <a:ln w="31750" cap="flat">
              <a:solidFill>
                <a:srgbClr val="1B2A4A"/>
              </a:solidFill>
              <a:prstDash val="solid"/>
              <a:round/>
            </a:ln>
            <a:effectLst/>
          </c:spPr>
          <c:marker>
            <c:symbol val="none"/>
          </c:marker>
          <c:cat>
            <c:strRef>
              <c:f>Sheet1!$A$2:$A$14</c:f>
              <c:strCache>
                <c:ptCount val="13"/>
                <c:pt idx="0">
                  <c:v>0</c:v>
                </c:pt>
                <c:pt idx="1">
                  <c:v>0.5</c:v>
                </c:pt>
                <c:pt idx="2">
                  <c:v>1</c:v>
                </c:pt>
                <c:pt idx="3">
                  <c:v>1.5</c:v>
                </c:pt>
                <c:pt idx="4">
                  <c:v>2</c:v>
                </c:pt>
                <c:pt idx="5">
                  <c:v>2.5</c:v>
                </c:pt>
                <c:pt idx="6">
                  <c:v>3</c:v>
                </c:pt>
                <c:pt idx="7">
                  <c:v>3.5</c:v>
                </c:pt>
                <c:pt idx="8">
                  <c:v>4</c:v>
                </c:pt>
                <c:pt idx="9">
                  <c:v>4.5</c:v>
                </c:pt>
                <c:pt idx="10">
                  <c:v>5</c:v>
                </c:pt>
                <c:pt idx="11">
                  <c:v>5.5</c:v>
                </c:pt>
                <c:pt idx="12">
                  <c:v>6</c:v>
                </c:pt>
              </c:strCache>
            </c:strRef>
          </c:cat>
          <c:val>
            <c:numRef>
              <c:f>Sheet1!$B$2:$B$14</c:f>
              <c:numCache>
                <c:formatCode>General</c:formatCode>
                <c:ptCount val="13"/>
                <c:pt idx="0">
                  <c:v>0.32</c:v>
                </c:pt>
                <c:pt idx="1">
                  <c:v>0.31</c:v>
                </c:pt>
                <c:pt idx="2">
                  <c:v>0.32</c:v>
                </c:pt>
                <c:pt idx="3">
                  <c:v>0.1</c:v>
                </c:pt>
                <c:pt idx="4">
                  <c:v>0.31</c:v>
                </c:pt>
                <c:pt idx="5">
                  <c:v>0.32</c:v>
                </c:pt>
                <c:pt idx="6">
                  <c:v>0.31</c:v>
                </c:pt>
                <c:pt idx="7">
                  <c:v>0.32</c:v>
                </c:pt>
                <c:pt idx="8">
                  <c:v>0.11</c:v>
                </c:pt>
                <c:pt idx="9">
                  <c:v>0.32</c:v>
                </c:pt>
                <c:pt idx="10">
                  <c:v>0.31</c:v>
                </c:pt>
                <c:pt idx="11">
                  <c:v>0.32</c:v>
                </c:pt>
                <c:pt idx="12">
                  <c:v>0.31</c:v>
                </c:pt>
              </c:numCache>
            </c:numRef>
          </c:val>
          <c:smooth val="1"/>
          <c:extLst>
            <c:ext xmlns:c16="http://schemas.microsoft.com/office/drawing/2014/chart" uri="{C3380CC4-5D6E-409C-BE32-E72D297353CC}">
              <c16:uniqueId val="{00000000-551D-40CF-9646-D269E8CFE126}"/>
            </c:ext>
          </c:extLst>
        </c:ser>
        <c:ser>
          <c:idx val="1"/>
          <c:order val="1"/>
          <c:tx>
            <c:strRef>
              <c:f>Sheet1!$C$1</c:f>
              <c:strCache>
                <c:ptCount val="1"/>
                <c:pt idx="0">
                  <c:v>Drowsiness episode</c:v>
                </c:pt>
              </c:strCache>
            </c:strRef>
          </c:tx>
          <c:spPr>
            <a:ln w="31750" cap="flat">
              <a:solidFill>
                <a:srgbClr val="E8930C"/>
              </a:solidFill>
              <a:prstDash val="solid"/>
              <a:round/>
            </a:ln>
            <a:effectLst/>
          </c:spPr>
          <c:marker>
            <c:symbol val="none"/>
          </c:marker>
          <c:cat>
            <c:strRef>
              <c:f>Sheet1!$A$2:$A$14</c:f>
              <c:strCache>
                <c:ptCount val="13"/>
                <c:pt idx="0">
                  <c:v>0</c:v>
                </c:pt>
                <c:pt idx="1">
                  <c:v>0.5</c:v>
                </c:pt>
                <c:pt idx="2">
                  <c:v>1</c:v>
                </c:pt>
                <c:pt idx="3">
                  <c:v>1.5</c:v>
                </c:pt>
                <c:pt idx="4">
                  <c:v>2</c:v>
                </c:pt>
                <c:pt idx="5">
                  <c:v>2.5</c:v>
                </c:pt>
                <c:pt idx="6">
                  <c:v>3</c:v>
                </c:pt>
                <c:pt idx="7">
                  <c:v>3.5</c:v>
                </c:pt>
                <c:pt idx="8">
                  <c:v>4</c:v>
                </c:pt>
                <c:pt idx="9">
                  <c:v>4.5</c:v>
                </c:pt>
                <c:pt idx="10">
                  <c:v>5</c:v>
                </c:pt>
                <c:pt idx="11">
                  <c:v>5.5</c:v>
                </c:pt>
                <c:pt idx="12">
                  <c:v>6</c:v>
                </c:pt>
              </c:strCache>
            </c:strRef>
          </c:cat>
          <c:val>
            <c:numRef>
              <c:f>Sheet1!$C$2:$C$14</c:f>
              <c:numCache>
                <c:formatCode>General</c:formatCode>
                <c:ptCount val="13"/>
                <c:pt idx="0">
                  <c:v>0.3</c:v>
                </c:pt>
                <c:pt idx="1">
                  <c:v>0.28999999999999998</c:v>
                </c:pt>
                <c:pt idx="2">
                  <c:v>0.27</c:v>
                </c:pt>
                <c:pt idx="3">
                  <c:v>0.26</c:v>
                </c:pt>
                <c:pt idx="4">
                  <c:v>0.24</c:v>
                </c:pt>
                <c:pt idx="5">
                  <c:v>0.21</c:v>
                </c:pt>
                <c:pt idx="6">
                  <c:v>0.12</c:v>
                </c:pt>
                <c:pt idx="7">
                  <c:v>0.09</c:v>
                </c:pt>
                <c:pt idx="8">
                  <c:v>0.08</c:v>
                </c:pt>
                <c:pt idx="9">
                  <c:v>0.08</c:v>
                </c:pt>
                <c:pt idx="10">
                  <c:v>0.1</c:v>
                </c:pt>
                <c:pt idx="11">
                  <c:v>0.14000000000000001</c:v>
                </c:pt>
                <c:pt idx="12">
                  <c:v>0.13</c:v>
                </c:pt>
              </c:numCache>
            </c:numRef>
          </c:val>
          <c:smooth val="1"/>
          <c:extLst>
            <c:ext xmlns:c16="http://schemas.microsoft.com/office/drawing/2014/chart" uri="{C3380CC4-5D6E-409C-BE32-E72D297353CC}">
              <c16:uniqueId val="{00000001-551D-40CF-9646-D269E8CFE126}"/>
            </c:ext>
          </c:extLst>
        </c:ser>
        <c:ser>
          <c:idx val="2"/>
          <c:order val="2"/>
          <c:tx>
            <c:strRef>
              <c:f>Sheet1!$D$1</c:f>
              <c:strCache>
                <c:ptCount val="1"/>
                <c:pt idx="0">
                  <c:v>Closure threshold</c:v>
                </c:pt>
              </c:strCache>
            </c:strRef>
          </c:tx>
          <c:spPr>
            <a:ln w="31750" cap="flat">
              <a:solidFill>
                <a:srgbClr val="9AA7BD"/>
              </a:solidFill>
              <a:prstDash val="solid"/>
              <a:round/>
            </a:ln>
            <a:effectLst/>
          </c:spPr>
          <c:marker>
            <c:symbol val="none"/>
          </c:marker>
          <c:cat>
            <c:strRef>
              <c:f>Sheet1!$A$2:$A$14</c:f>
              <c:strCache>
                <c:ptCount val="13"/>
                <c:pt idx="0">
                  <c:v>0</c:v>
                </c:pt>
                <c:pt idx="1">
                  <c:v>0.5</c:v>
                </c:pt>
                <c:pt idx="2">
                  <c:v>1</c:v>
                </c:pt>
                <c:pt idx="3">
                  <c:v>1.5</c:v>
                </c:pt>
                <c:pt idx="4">
                  <c:v>2</c:v>
                </c:pt>
                <c:pt idx="5">
                  <c:v>2.5</c:v>
                </c:pt>
                <c:pt idx="6">
                  <c:v>3</c:v>
                </c:pt>
                <c:pt idx="7">
                  <c:v>3.5</c:v>
                </c:pt>
                <c:pt idx="8">
                  <c:v>4</c:v>
                </c:pt>
                <c:pt idx="9">
                  <c:v>4.5</c:v>
                </c:pt>
                <c:pt idx="10">
                  <c:v>5</c:v>
                </c:pt>
                <c:pt idx="11">
                  <c:v>5.5</c:v>
                </c:pt>
                <c:pt idx="12">
                  <c:v>6</c:v>
                </c:pt>
              </c:strCache>
            </c:strRef>
          </c:cat>
          <c:val>
            <c:numRef>
              <c:f>Sheet1!$D$2:$D$14</c:f>
              <c:numCache>
                <c:formatCode>General</c:formatCode>
                <c:ptCount val="13"/>
                <c:pt idx="0">
                  <c:v>0.2</c:v>
                </c:pt>
                <c:pt idx="1">
                  <c:v>0.2</c:v>
                </c:pt>
                <c:pt idx="2">
                  <c:v>0.2</c:v>
                </c:pt>
                <c:pt idx="3">
                  <c:v>0.2</c:v>
                </c:pt>
                <c:pt idx="4">
                  <c:v>0.2</c:v>
                </c:pt>
                <c:pt idx="5">
                  <c:v>0.2</c:v>
                </c:pt>
                <c:pt idx="6">
                  <c:v>0.2</c:v>
                </c:pt>
                <c:pt idx="7">
                  <c:v>0.2</c:v>
                </c:pt>
                <c:pt idx="8">
                  <c:v>0.2</c:v>
                </c:pt>
                <c:pt idx="9">
                  <c:v>0.2</c:v>
                </c:pt>
                <c:pt idx="10">
                  <c:v>0.2</c:v>
                </c:pt>
                <c:pt idx="11">
                  <c:v>0.2</c:v>
                </c:pt>
                <c:pt idx="12">
                  <c:v>0.2</c:v>
                </c:pt>
              </c:numCache>
            </c:numRef>
          </c:val>
          <c:smooth val="1"/>
          <c:extLst>
            <c:ext xmlns:c16="http://schemas.microsoft.com/office/drawing/2014/chart" uri="{C3380CC4-5D6E-409C-BE32-E72D297353CC}">
              <c16:uniqueId val="{00000002-551D-40CF-9646-D269E8CFE12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2809B"/>
                </a:solidFill>
                <a:latin typeface="Arial"/>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E3EA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2809B"/>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850">
              <a:solidFill>
                <a:srgbClr val="3A4A66"/>
              </a:solidFill>
            </a:defRPr>
          </a:pPr>
          <a:endParaRPr lang="en-US"/>
        </a:p>
      </c:txPr>
    </c:legend>
    <c:plotVisOnly val="1"/>
    <c:dispBlanksAs val="span"/>
    <c:showDLblsOverMax val="1"/>
  </c:chart>
  <c:spPr>
    <a:solidFill>
      <a:srgbClr val="FFFFFF"/>
    </a:solidFill>
    <a:ln w="12700" cap="flat">
      <a:solidFill>
        <a:srgbClr val="D5DEEC"/>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245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revised project title. Explain that Milestone 1 feedback pushed the project from a basic drowsiness detector toward a full driver wellness and safety monitoring system. Set the agenda: problem, data, models, architecture, and evaluation.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Fatigue is a time-based condition: slow blinks, prolonged closures, yawning and nodding only show up across frames. A driver can look normal in one frame, so the system analyzes continuous video. Outputs feed a wellness score and trip reports for drivers, fleets, cab agencies and logistics operators.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frame-level YOLO plus fixed thresholds could not separate a blink from drowsiness, causing false alerts on talking or laughing. The revised system learns temporal patterns from video sequences, keeps MediaPipe as an auxiliary feature extractor, and reserves YOLO for object-level tasks. A fusion layer classifies the driver as Safe, Caution or High Risk.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motivations: road safety impact, course learning goals, and practical relevance. The revised scope forces the complete ML lifecycle instead of a plug-and-play detector. Fleets, cab agencies, logistics companies and individual drivers can all use the outputs.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an academic software prototype using recorded datasets, uploaded videos and a local webcam, framed for a dash-cam style deployment. We explicitly exclude vehicle control, certified products, hardware or cloud deployment, and any physiological sensing or medical diagnosis.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users are drivers and vehicle operators; passengers and road-safety stakeholders benefit indirectly. Fleet owners and agencies get wellness scores and trip reports to spot risky trends. Reviewers can use event logs to trace repeated safety issues.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objectives grouped into three phases: data foundation, model development, and system plus evaluation. Emphasize that they cover the complete lifecycle — from dataset collection and EDA through fusion, reporting and metrics.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modules need different data: video for fatigue, activity data for distraction, object-detection sets for compliance, while trip reports reuse our own structured logs. EDA checks balance, duration, lighting and annotation quality before committing. Final choices depend on access, licensing and what Colab can realistically train.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deep-learning component: sequences of 16 to 64 frames instead of isolated images. The strip shows how prolonged eye closure only becomes visible across frames. Candidates range from CNN-LSTM and CNN-GRU to TCN, lightweight 3D CNNs and attention; we start with CNN-LSTM or CNN-GRU as most feasible on Colab.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MediaPipe and OpenCV extract interpretable per-frame signals: EAR, MAR, head pose, blink pattern and gaze. The chart contrasts a brief blink dip with a sustained drowsiness episode — the shape over time is what matters. These time-series feed LSTM, GRU or TCN models and double as explainability behind each prediction.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Distraction uses a lightweight CNN classifier over classes like texting, phone calls, drinking and reaching, starting from an image baseline. YOLO handles frame-visible objects: seat belt, phone, cigarette, bottle. YOLO never decides fatigue on its 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input, preprocessing, four parallel analysis branches, fusion, wellness score, then alerts and reporting. Highlight the shift from frame-level rules to learned temporal modeling, and the new reporting layer that did not exist in the old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module outputs fuse into one wellness score with three levels: Safe, Caution and High Risk. Trip reports are an add-on LLM layer reading structured JSON or CSV logs — never raw video. Reports summarize trips, trends and compliance, and suggest safer driving.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gets its own metrics; recall is prioritized because missed fatigue is dangerous, while precision keeps alerts trustworthy. Real-time viability is judged by FPS and latency on the webcam demo. Testing spans lighting conditions, eyewear, natural behaviors and compliance scenarios.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responsibilities across the five members and the key datasets, tools and research areas referenced. End on the one-line takeaway: from drowsiness detection to complete driver wellness monitoring. Invite questions on scope or feasibility.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5E6F8F"/>
                </a:solidFill>
                <a:latin typeface="Courier New" pitchFamily="34" charset="0"/>
                <a:ea typeface="Courier New" pitchFamily="34" charset="-122"/>
                <a:cs typeface="Courier New" pitchFamily="34" charset="-120"/>
              </a:rPr>
              <a:t>01 / 15</a:t>
            </a:r>
            <a:endParaRPr lang="en-US" sz="850" dirty="0"/>
          </a:p>
        </p:txBody>
      </p:sp>
      <p:sp>
        <p:nvSpPr>
          <p:cNvPr id="3" name="Text 1"/>
          <p:cNvSpPr/>
          <p:nvPr/>
        </p:nvSpPr>
        <p:spPr>
          <a:xfrm>
            <a:off x="502920" y="777240"/>
            <a:ext cx="4846320" cy="274320"/>
          </a:xfrm>
          <a:prstGeom prst="rect">
            <a:avLst/>
          </a:prstGeom>
          <a:noFill/>
          <a:ln/>
        </p:spPr>
        <p:txBody>
          <a:bodyPr wrap="square" lIns="0" tIns="0" rIns="0" bIns="0" rtlCol="0" anchor="ctr"/>
          <a:lstStyle/>
          <a:p>
            <a:pPr marL="0" indent="0">
              <a:buNone/>
            </a:pPr>
            <a:r>
              <a:rPr lang="en-US" sz="1100" b="1" kern="0" spc="300" dirty="0">
                <a:solidFill>
                  <a:srgbClr val="E8930C"/>
                </a:solidFill>
                <a:latin typeface="Courier New" pitchFamily="34" charset="0"/>
                <a:ea typeface="Courier New" pitchFamily="34" charset="-122"/>
                <a:cs typeface="Courier New" pitchFamily="34" charset="-120"/>
              </a:rPr>
              <a:t>BSDA4001</a:t>
            </a:r>
          </a:p>
          <a:p>
            <a:pPr marL="0" indent="0">
              <a:buNone/>
            </a:pPr>
            <a:r>
              <a:rPr lang="en-US" sz="1100" b="1" kern="0" spc="300" dirty="0">
                <a:solidFill>
                  <a:srgbClr val="E8930C"/>
                </a:solidFill>
                <a:latin typeface="Courier New" pitchFamily="34" charset="0"/>
                <a:ea typeface="Courier New" pitchFamily="34" charset="-122"/>
                <a:cs typeface="Courier New" pitchFamily="34" charset="-120"/>
              </a:rPr>
              <a:t>DS/AI LAB COURSE·  MILESTONE 1</a:t>
            </a:r>
            <a:endParaRPr lang="en-US" sz="1100" dirty="0"/>
          </a:p>
        </p:txBody>
      </p:sp>
      <p:sp>
        <p:nvSpPr>
          <p:cNvPr id="4" name="Text 2"/>
          <p:cNvSpPr/>
          <p:nvPr/>
        </p:nvSpPr>
        <p:spPr>
          <a:xfrm>
            <a:off x="502920" y="1143000"/>
            <a:ext cx="4617720" cy="1828800"/>
          </a:xfrm>
          <a:prstGeom prst="rect">
            <a:avLst/>
          </a:prstGeom>
          <a:noFill/>
          <a:ln/>
        </p:spPr>
        <p:txBody>
          <a:bodyPr wrap="square" lIns="0" tIns="0" rIns="0" bIns="0" rtlCol="0" anchor="t"/>
          <a:lstStyle/>
          <a:p>
            <a:pPr marL="0" indent="0">
              <a:buNone/>
            </a:pPr>
            <a:r>
              <a:rPr lang="en-US" sz="3000" b="1" dirty="0">
                <a:solidFill>
                  <a:srgbClr val="FFFFFF"/>
                </a:solidFill>
                <a:latin typeface="Arial" pitchFamily="34" charset="0"/>
                <a:ea typeface="Arial" pitchFamily="34" charset="-122"/>
                <a:cs typeface="Arial" pitchFamily="34" charset="-120"/>
              </a:rPr>
              <a:t>AI-Powered Driver Wellness and Safety Monitoring System</a:t>
            </a:r>
            <a:endParaRPr lang="en-US" sz="3000" dirty="0"/>
          </a:p>
        </p:txBody>
      </p:sp>
      <p:sp>
        <p:nvSpPr>
          <p:cNvPr id="5" name="Text 3"/>
          <p:cNvSpPr/>
          <p:nvPr/>
        </p:nvSpPr>
        <p:spPr>
          <a:xfrm>
            <a:off x="502920" y="2971800"/>
            <a:ext cx="4480560" cy="868680"/>
          </a:xfrm>
          <a:prstGeom prst="rect">
            <a:avLst/>
          </a:prstGeom>
          <a:noFill/>
          <a:ln/>
        </p:spPr>
        <p:txBody>
          <a:bodyPr wrap="square" lIns="0" tIns="0" rIns="0" bIns="0" rtlCol="0" anchor="t"/>
          <a:lstStyle/>
          <a:p>
            <a:pPr marL="0" indent="0">
              <a:buNone/>
            </a:pPr>
            <a:r>
              <a:rPr lang="en-US" sz="1250" dirty="0">
                <a:solidFill>
                  <a:srgbClr val="8FA1C4"/>
                </a:solidFill>
                <a:latin typeface="Calibri" pitchFamily="34" charset="0"/>
                <a:ea typeface="Calibri" pitchFamily="34" charset="-122"/>
                <a:cs typeface="Calibri" pitchFamily="34" charset="-120"/>
              </a:rPr>
              <a:t>Beyond drowsiness detection — a video-based, multi-model driver safety system with temporal deep learning, object-level compliance and trip intelligence.</a:t>
            </a:r>
            <a:endParaRPr lang="en-US" sz="1250" dirty="0"/>
          </a:p>
        </p:txBody>
      </p:sp>
      <p:sp>
        <p:nvSpPr>
          <p:cNvPr id="6" name="Shape 4"/>
          <p:cNvSpPr/>
          <p:nvPr/>
        </p:nvSpPr>
        <p:spPr>
          <a:xfrm>
            <a:off x="502920" y="4114800"/>
            <a:ext cx="822960" cy="310896"/>
          </a:xfrm>
          <a:prstGeom prst="roundRect">
            <a:avLst>
              <a:gd name="adj" fmla="val 50000"/>
            </a:avLst>
          </a:prstGeom>
          <a:solidFill>
            <a:srgbClr val="1B2A4A"/>
          </a:solidFill>
          <a:ln w="12700">
            <a:solidFill>
              <a:srgbClr val="2A3D66"/>
            </a:solidFill>
            <a:prstDash val="solid"/>
          </a:ln>
        </p:spPr>
        <p:txBody>
          <a:bodyPr/>
          <a:lstStyle/>
          <a:p>
            <a:endParaRPr lang="en-IN"/>
          </a:p>
        </p:txBody>
      </p:sp>
      <p:sp>
        <p:nvSpPr>
          <p:cNvPr id="7" name="Text 5"/>
          <p:cNvSpPr/>
          <p:nvPr/>
        </p:nvSpPr>
        <p:spPr>
          <a:xfrm>
            <a:off x="502920" y="4114800"/>
            <a:ext cx="822960" cy="310896"/>
          </a:xfrm>
          <a:prstGeom prst="rect">
            <a:avLst/>
          </a:prstGeom>
          <a:noFill/>
          <a:ln/>
        </p:spPr>
        <p:txBody>
          <a:bodyPr wrap="square" lIns="0" tIns="0" rIns="0" bIns="0" rtlCol="0" anchor="ctr"/>
          <a:lstStyle/>
          <a:p>
            <a:pPr marL="0" indent="0" algn="ctr">
              <a:buNone/>
            </a:pPr>
            <a:r>
              <a:rPr lang="en-US" sz="950" b="1" dirty="0">
                <a:solidFill>
                  <a:srgbClr val="E9EFF9"/>
                </a:solidFill>
                <a:latin typeface="Calibri" pitchFamily="34" charset="0"/>
                <a:ea typeface="Calibri" pitchFamily="34" charset="-122"/>
                <a:cs typeface="Calibri" pitchFamily="34" charset="-120"/>
              </a:rPr>
              <a:t>Kushagra</a:t>
            </a:r>
            <a:endParaRPr lang="en-US" sz="950" dirty="0"/>
          </a:p>
        </p:txBody>
      </p:sp>
      <p:sp>
        <p:nvSpPr>
          <p:cNvPr id="8" name="Shape 6"/>
          <p:cNvSpPr/>
          <p:nvPr/>
        </p:nvSpPr>
        <p:spPr>
          <a:xfrm>
            <a:off x="1399032" y="4114800"/>
            <a:ext cx="822960" cy="310896"/>
          </a:xfrm>
          <a:prstGeom prst="roundRect">
            <a:avLst>
              <a:gd name="adj" fmla="val 50000"/>
            </a:avLst>
          </a:prstGeom>
          <a:solidFill>
            <a:srgbClr val="1B2A4A"/>
          </a:solidFill>
          <a:ln w="12700">
            <a:solidFill>
              <a:srgbClr val="2A3D66"/>
            </a:solidFill>
            <a:prstDash val="solid"/>
          </a:ln>
        </p:spPr>
        <p:txBody>
          <a:bodyPr/>
          <a:lstStyle/>
          <a:p>
            <a:endParaRPr lang="en-IN"/>
          </a:p>
        </p:txBody>
      </p:sp>
      <p:sp>
        <p:nvSpPr>
          <p:cNvPr id="9" name="Text 7"/>
          <p:cNvSpPr/>
          <p:nvPr/>
        </p:nvSpPr>
        <p:spPr>
          <a:xfrm>
            <a:off x="1399032" y="4114800"/>
            <a:ext cx="822960" cy="310896"/>
          </a:xfrm>
          <a:prstGeom prst="rect">
            <a:avLst/>
          </a:prstGeom>
          <a:noFill/>
          <a:ln/>
        </p:spPr>
        <p:txBody>
          <a:bodyPr wrap="square" lIns="0" tIns="0" rIns="0" bIns="0" rtlCol="0" anchor="ctr"/>
          <a:lstStyle/>
          <a:p>
            <a:pPr marL="0" indent="0" algn="ctr">
              <a:buNone/>
            </a:pPr>
            <a:r>
              <a:rPr lang="en-US" sz="950" b="1" dirty="0">
                <a:solidFill>
                  <a:srgbClr val="E9EFF9"/>
                </a:solidFill>
                <a:latin typeface="Calibri" pitchFamily="34" charset="0"/>
                <a:ea typeface="Calibri" pitchFamily="34" charset="-122"/>
                <a:cs typeface="Calibri" pitchFamily="34" charset="-120"/>
              </a:rPr>
              <a:t>Shiwani</a:t>
            </a:r>
            <a:endParaRPr lang="en-US" sz="950" dirty="0"/>
          </a:p>
        </p:txBody>
      </p:sp>
      <p:sp>
        <p:nvSpPr>
          <p:cNvPr id="10" name="Shape 8"/>
          <p:cNvSpPr/>
          <p:nvPr/>
        </p:nvSpPr>
        <p:spPr>
          <a:xfrm>
            <a:off x="2295144" y="4114800"/>
            <a:ext cx="822960" cy="310896"/>
          </a:xfrm>
          <a:prstGeom prst="roundRect">
            <a:avLst>
              <a:gd name="adj" fmla="val 50000"/>
            </a:avLst>
          </a:prstGeom>
          <a:solidFill>
            <a:srgbClr val="1B2A4A"/>
          </a:solidFill>
          <a:ln w="12700">
            <a:solidFill>
              <a:srgbClr val="2A3D66"/>
            </a:solidFill>
            <a:prstDash val="solid"/>
          </a:ln>
        </p:spPr>
        <p:txBody>
          <a:bodyPr/>
          <a:lstStyle/>
          <a:p>
            <a:endParaRPr lang="en-IN"/>
          </a:p>
        </p:txBody>
      </p:sp>
      <p:sp>
        <p:nvSpPr>
          <p:cNvPr id="11" name="Text 9"/>
          <p:cNvSpPr/>
          <p:nvPr/>
        </p:nvSpPr>
        <p:spPr>
          <a:xfrm>
            <a:off x="2295144" y="4114800"/>
            <a:ext cx="822960" cy="310896"/>
          </a:xfrm>
          <a:prstGeom prst="rect">
            <a:avLst/>
          </a:prstGeom>
          <a:noFill/>
          <a:ln/>
        </p:spPr>
        <p:txBody>
          <a:bodyPr wrap="square" lIns="0" tIns="0" rIns="0" bIns="0" rtlCol="0" anchor="ctr"/>
          <a:lstStyle/>
          <a:p>
            <a:pPr marL="0" indent="0" algn="ctr">
              <a:buNone/>
            </a:pPr>
            <a:r>
              <a:rPr lang="en-US" sz="950" b="1" dirty="0">
                <a:solidFill>
                  <a:srgbClr val="E9EFF9"/>
                </a:solidFill>
                <a:latin typeface="Calibri" pitchFamily="34" charset="0"/>
                <a:ea typeface="Calibri" pitchFamily="34" charset="-122"/>
                <a:cs typeface="Calibri" pitchFamily="34" charset="-120"/>
              </a:rPr>
              <a:t>Sohini</a:t>
            </a:r>
            <a:endParaRPr lang="en-US" sz="950" dirty="0"/>
          </a:p>
        </p:txBody>
      </p:sp>
      <p:sp>
        <p:nvSpPr>
          <p:cNvPr id="12" name="Shape 10"/>
          <p:cNvSpPr/>
          <p:nvPr/>
        </p:nvSpPr>
        <p:spPr>
          <a:xfrm>
            <a:off x="3191256" y="4114800"/>
            <a:ext cx="822960" cy="310896"/>
          </a:xfrm>
          <a:prstGeom prst="roundRect">
            <a:avLst>
              <a:gd name="adj" fmla="val 50000"/>
            </a:avLst>
          </a:prstGeom>
          <a:solidFill>
            <a:srgbClr val="1B2A4A"/>
          </a:solidFill>
          <a:ln w="12700">
            <a:solidFill>
              <a:srgbClr val="2A3D66"/>
            </a:solidFill>
            <a:prstDash val="solid"/>
          </a:ln>
        </p:spPr>
        <p:txBody>
          <a:bodyPr/>
          <a:lstStyle/>
          <a:p>
            <a:endParaRPr lang="en-IN"/>
          </a:p>
        </p:txBody>
      </p:sp>
      <p:sp>
        <p:nvSpPr>
          <p:cNvPr id="13" name="Text 11"/>
          <p:cNvSpPr/>
          <p:nvPr/>
        </p:nvSpPr>
        <p:spPr>
          <a:xfrm>
            <a:off x="3191256" y="4114800"/>
            <a:ext cx="822960" cy="310896"/>
          </a:xfrm>
          <a:prstGeom prst="rect">
            <a:avLst/>
          </a:prstGeom>
          <a:noFill/>
          <a:ln/>
        </p:spPr>
        <p:txBody>
          <a:bodyPr wrap="square" lIns="0" tIns="0" rIns="0" bIns="0" rtlCol="0" anchor="ctr"/>
          <a:lstStyle/>
          <a:p>
            <a:pPr marL="0" indent="0" algn="ctr">
              <a:buNone/>
            </a:pPr>
            <a:r>
              <a:rPr lang="en-US" sz="950" b="1" dirty="0">
                <a:solidFill>
                  <a:srgbClr val="E9EFF9"/>
                </a:solidFill>
                <a:latin typeface="Calibri" pitchFamily="34" charset="0"/>
                <a:ea typeface="Calibri" pitchFamily="34" charset="-122"/>
                <a:cs typeface="Calibri" pitchFamily="34" charset="-120"/>
              </a:rPr>
              <a:t>Shubham</a:t>
            </a:r>
            <a:endParaRPr lang="en-US" sz="950" dirty="0"/>
          </a:p>
        </p:txBody>
      </p:sp>
      <p:sp>
        <p:nvSpPr>
          <p:cNvPr id="14" name="Shape 12"/>
          <p:cNvSpPr/>
          <p:nvPr/>
        </p:nvSpPr>
        <p:spPr>
          <a:xfrm>
            <a:off x="4087368" y="4114800"/>
            <a:ext cx="822960" cy="310896"/>
          </a:xfrm>
          <a:prstGeom prst="roundRect">
            <a:avLst>
              <a:gd name="adj" fmla="val 50000"/>
            </a:avLst>
          </a:prstGeom>
          <a:solidFill>
            <a:srgbClr val="1B2A4A"/>
          </a:solidFill>
          <a:ln w="12700">
            <a:solidFill>
              <a:srgbClr val="2A3D66"/>
            </a:solidFill>
            <a:prstDash val="solid"/>
          </a:ln>
        </p:spPr>
        <p:txBody>
          <a:bodyPr/>
          <a:lstStyle/>
          <a:p>
            <a:endParaRPr lang="en-IN"/>
          </a:p>
        </p:txBody>
      </p:sp>
      <p:sp>
        <p:nvSpPr>
          <p:cNvPr id="15" name="Text 13"/>
          <p:cNvSpPr/>
          <p:nvPr/>
        </p:nvSpPr>
        <p:spPr>
          <a:xfrm>
            <a:off x="4087368" y="4114800"/>
            <a:ext cx="822960" cy="310896"/>
          </a:xfrm>
          <a:prstGeom prst="rect">
            <a:avLst/>
          </a:prstGeom>
          <a:noFill/>
          <a:ln/>
        </p:spPr>
        <p:txBody>
          <a:bodyPr wrap="square" lIns="0" tIns="0" rIns="0" bIns="0" rtlCol="0" anchor="ctr"/>
          <a:lstStyle/>
          <a:p>
            <a:pPr marL="0" indent="0" algn="ctr">
              <a:buNone/>
            </a:pPr>
            <a:r>
              <a:rPr lang="en-US" sz="950" b="1" dirty="0">
                <a:solidFill>
                  <a:srgbClr val="E9EFF9"/>
                </a:solidFill>
                <a:latin typeface="Calibri" pitchFamily="34" charset="0"/>
                <a:ea typeface="Calibri" pitchFamily="34" charset="-122"/>
                <a:cs typeface="Calibri" pitchFamily="34" charset="-120"/>
              </a:rPr>
              <a:t>Ravina</a:t>
            </a:r>
            <a:endParaRPr lang="en-US" sz="950" dirty="0"/>
          </a:p>
        </p:txBody>
      </p:sp>
      <p:pic>
        <p:nvPicPr>
          <p:cNvPr id="16" name="Image 0" descr="preencoded.png"/>
          <p:cNvPicPr>
            <a:picLocks noChangeAspect="1"/>
          </p:cNvPicPr>
          <p:nvPr/>
        </p:nvPicPr>
        <p:blipFill>
          <a:blip r:embed="rId4"/>
          <a:stretch>
            <a:fillRect/>
          </a:stretch>
        </p:blipFill>
        <p:spPr>
          <a:xfrm>
            <a:off x="5257800" y="777240"/>
            <a:ext cx="3520440" cy="2642616"/>
          </a:xfrm>
          <a:prstGeom prst="rect">
            <a:avLst/>
          </a:prstGeom>
        </p:spPr>
      </p:pic>
      <p:sp>
        <p:nvSpPr>
          <p:cNvPr id="17" name="Text 14"/>
          <p:cNvSpPr/>
          <p:nvPr/>
        </p:nvSpPr>
        <p:spPr>
          <a:xfrm>
            <a:off x="5257800" y="3493008"/>
            <a:ext cx="3520440" cy="274320"/>
          </a:xfrm>
          <a:prstGeom prst="rect">
            <a:avLst/>
          </a:prstGeom>
          <a:noFill/>
          <a:ln/>
        </p:spPr>
        <p:txBody>
          <a:bodyPr wrap="square" lIns="0" tIns="0" rIns="0" bIns="0" rtlCol="0" anchor="ctr"/>
          <a:lstStyle/>
          <a:p>
            <a:pPr marL="0" indent="0" algn="ctr">
              <a:buNone/>
            </a:pPr>
            <a:r>
              <a:rPr lang="en-US" sz="850" dirty="0">
                <a:solidFill>
                  <a:srgbClr val="8FA1C4"/>
                </a:solidFill>
                <a:latin typeface="Courier New" pitchFamily="34" charset="0"/>
                <a:ea typeface="Courier New" pitchFamily="34" charset="-122"/>
                <a:cs typeface="Courier New" pitchFamily="34" charset="-120"/>
              </a:rPr>
              <a:t>LIVE MONITORING CONCEPT — dash-camera view with real-time detections</a:t>
            </a:r>
            <a:endParaRPr lang="en-US" sz="850" dirty="0"/>
          </a:p>
        </p:txBody>
      </p:sp>
      <p:sp>
        <p:nvSpPr>
          <p:cNvPr id="18" name="Text 15"/>
          <p:cNvSpPr/>
          <p:nvPr/>
        </p:nvSpPr>
        <p:spPr>
          <a:xfrm>
            <a:off x="502920" y="4572000"/>
            <a:ext cx="5943600" cy="256032"/>
          </a:xfrm>
          <a:prstGeom prst="rect">
            <a:avLst/>
          </a:prstGeom>
          <a:noFill/>
          <a:ln/>
        </p:spPr>
        <p:txBody>
          <a:bodyPr wrap="square" lIns="0" tIns="0" rIns="0" bIns="0" rtlCol="0" anchor="ctr"/>
          <a:lstStyle/>
          <a:p>
            <a:pPr marL="0" indent="0">
              <a:buNone/>
            </a:pPr>
            <a:r>
              <a:rPr lang="en-US" sz="1050" i="1" dirty="0">
                <a:solidFill>
                  <a:srgbClr val="5E6F8F"/>
                </a:solidFill>
                <a:latin typeface="Calibri" pitchFamily="34" charset="0"/>
                <a:ea typeface="Calibri" pitchFamily="34" charset="-122"/>
                <a:cs typeface="Calibri" pitchFamily="34" charset="-120"/>
              </a:rPr>
              <a:t>Revised project direction after Milestone </a:t>
            </a:r>
            <a:r>
              <a:rPr lang="en-US" sz="1050" i="1">
                <a:solidFill>
                  <a:srgbClr val="5E6F8F"/>
                </a:solidFill>
                <a:latin typeface="Calibri" pitchFamily="34" charset="0"/>
                <a:ea typeface="Calibri" pitchFamily="34" charset="-122"/>
                <a:cs typeface="Calibri" pitchFamily="34" charset="-120"/>
              </a:rPr>
              <a:t>1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02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02  ·  INTRODUCTION</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One System for the Whole Driver State</a:t>
            </a:r>
            <a:endParaRPr lang="en-US" sz="2600" dirty="0"/>
          </a:p>
        </p:txBody>
      </p:sp>
      <p:sp>
        <p:nvSpPr>
          <p:cNvPr id="6" name="Text 4"/>
          <p:cNvSpPr/>
          <p:nvPr/>
        </p:nvSpPr>
        <p:spPr>
          <a:xfrm>
            <a:off x="457200" y="1371600"/>
            <a:ext cx="4343400" cy="2377440"/>
          </a:xfrm>
          <a:prstGeom prst="rect">
            <a:avLst/>
          </a:prstGeom>
          <a:noFill/>
          <a:ln/>
        </p:spPr>
        <p:txBody>
          <a:bodyPr wrap="square" lIns="0" tIns="0" rIns="0" bIns="0" rtlCol="0" anchor="t"/>
          <a:lstStyle/>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Monitors overall driver state from continuous video</a:t>
            </a:r>
            <a:endParaRPr lang="en-US" sz="1200" dirty="0"/>
          </a:p>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Moves beyond a basic drowsiness detector</a:t>
            </a:r>
            <a:endParaRPr lang="en-US" sz="1200" dirty="0"/>
          </a:p>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Detects fatigue, distraction, seat belt, phone, smoking, drinking</a:t>
            </a:r>
            <a:endParaRPr lang="en-US" sz="1200" dirty="0"/>
          </a:p>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Tracks head pose and gaze-away behavior</a:t>
            </a:r>
            <a:endParaRPr lang="en-US" sz="1200" dirty="0"/>
          </a:p>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Fuses module outputs into one driver wellness score</a:t>
            </a:r>
            <a:endParaRPr lang="en-US" sz="1200" dirty="0"/>
          </a:p>
          <a:p>
            <a:pPr marL="152400" indent="-152400">
              <a:spcAft>
                <a:spcPts val="900"/>
              </a:spcAft>
              <a:buSzPct val="100000"/>
              <a:buChar char="▪"/>
            </a:pPr>
            <a:r>
              <a:rPr lang="en-US" sz="1200" dirty="0">
                <a:solidFill>
                  <a:srgbClr val="3A4A66"/>
                </a:solidFill>
                <a:latin typeface="Calibri" pitchFamily="34" charset="0"/>
                <a:ea typeface="Calibri" pitchFamily="34" charset="-122"/>
                <a:cs typeface="Calibri" pitchFamily="34" charset="-120"/>
              </a:rPr>
              <a:t>Generates trip-level and weekly/monthly driver reports</a:t>
            </a:r>
            <a:endParaRPr lang="en-US" sz="1200" dirty="0"/>
          </a:p>
        </p:txBody>
      </p:sp>
      <p:sp>
        <p:nvSpPr>
          <p:cNvPr id="7" name="Text 5"/>
          <p:cNvSpPr/>
          <p:nvPr/>
        </p:nvSpPr>
        <p:spPr>
          <a:xfrm>
            <a:off x="457200" y="3931920"/>
            <a:ext cx="1554480" cy="384048"/>
          </a:xfrm>
          <a:prstGeom prst="rect">
            <a:avLst/>
          </a:prstGeom>
          <a:noFill/>
          <a:ln/>
        </p:spPr>
        <p:txBody>
          <a:bodyPr wrap="square" lIns="0" tIns="0" rIns="0" bIns="0" rtlCol="0" anchor="ctr"/>
          <a:lstStyle/>
          <a:p>
            <a:pPr marL="0" indent="0">
              <a:buNone/>
            </a:pPr>
            <a:r>
              <a:rPr lang="en-US" sz="2400" b="1" dirty="0">
                <a:solidFill>
                  <a:srgbClr val="B36F05"/>
                </a:solidFill>
                <a:latin typeface="Arial" pitchFamily="34" charset="0"/>
                <a:ea typeface="Arial" pitchFamily="34" charset="-122"/>
                <a:cs typeface="Arial" pitchFamily="34" charset="-120"/>
              </a:rPr>
              <a:t>16–64</a:t>
            </a:r>
            <a:endParaRPr lang="en-US" sz="2400" dirty="0"/>
          </a:p>
        </p:txBody>
      </p:sp>
      <p:sp>
        <p:nvSpPr>
          <p:cNvPr id="8" name="Text 6"/>
          <p:cNvSpPr/>
          <p:nvPr/>
        </p:nvSpPr>
        <p:spPr>
          <a:xfrm>
            <a:off x="457200" y="4315968"/>
            <a:ext cx="1554480" cy="365760"/>
          </a:xfrm>
          <a:prstGeom prst="rect">
            <a:avLst/>
          </a:prstGeom>
          <a:noFill/>
          <a:ln/>
        </p:spPr>
        <p:txBody>
          <a:bodyPr wrap="square" lIns="0" tIns="0" rIns="0" bIns="0" rtlCol="0" anchor="ctr"/>
          <a:lstStyle/>
          <a:p>
            <a:pPr marL="0" indent="0">
              <a:buNone/>
            </a:pPr>
            <a:r>
              <a:rPr lang="en-US" sz="800" kern="0" spc="50" dirty="0">
                <a:solidFill>
                  <a:srgbClr val="72809B"/>
                </a:solidFill>
                <a:latin typeface="Courier New" pitchFamily="34" charset="0"/>
                <a:ea typeface="Courier New" pitchFamily="34" charset="-122"/>
                <a:cs typeface="Courier New" pitchFamily="34" charset="-120"/>
              </a:rPr>
              <a:t>FRAME SEQUENCE WINDOWS</a:t>
            </a:r>
            <a:endParaRPr lang="en-US" sz="800" dirty="0"/>
          </a:p>
        </p:txBody>
      </p:sp>
      <p:sp>
        <p:nvSpPr>
          <p:cNvPr id="9" name="Text 7"/>
          <p:cNvSpPr/>
          <p:nvPr/>
        </p:nvSpPr>
        <p:spPr>
          <a:xfrm>
            <a:off x="2057400" y="3931920"/>
            <a:ext cx="1554480" cy="384048"/>
          </a:xfrm>
          <a:prstGeom prst="rect">
            <a:avLst/>
          </a:prstGeom>
          <a:noFill/>
          <a:ln/>
        </p:spPr>
        <p:txBody>
          <a:bodyPr wrap="square" lIns="0" tIns="0" rIns="0" bIns="0" rtlCol="0" anchor="ctr"/>
          <a:lstStyle/>
          <a:p>
            <a:pPr marL="0" indent="0">
              <a:buNone/>
            </a:pPr>
            <a:r>
              <a:rPr lang="en-US" sz="2400" b="1" dirty="0">
                <a:solidFill>
                  <a:srgbClr val="B36F05"/>
                </a:solidFill>
                <a:latin typeface="Arial" pitchFamily="34" charset="0"/>
                <a:ea typeface="Arial" pitchFamily="34" charset="-122"/>
                <a:cs typeface="Arial" pitchFamily="34" charset="-120"/>
              </a:rPr>
              <a:t>10</a:t>
            </a:r>
            <a:endParaRPr lang="en-US" sz="2400" dirty="0"/>
          </a:p>
        </p:txBody>
      </p:sp>
      <p:sp>
        <p:nvSpPr>
          <p:cNvPr id="10" name="Text 8"/>
          <p:cNvSpPr/>
          <p:nvPr/>
        </p:nvSpPr>
        <p:spPr>
          <a:xfrm>
            <a:off x="2057400" y="4315968"/>
            <a:ext cx="1554480" cy="365760"/>
          </a:xfrm>
          <a:prstGeom prst="rect">
            <a:avLst/>
          </a:prstGeom>
          <a:noFill/>
          <a:ln/>
        </p:spPr>
        <p:txBody>
          <a:bodyPr wrap="square" lIns="0" tIns="0" rIns="0" bIns="0" rtlCol="0" anchor="ctr"/>
          <a:lstStyle/>
          <a:p>
            <a:pPr marL="0" indent="0">
              <a:buNone/>
            </a:pPr>
            <a:r>
              <a:rPr lang="en-US" sz="800" kern="0" spc="50" dirty="0">
                <a:solidFill>
                  <a:srgbClr val="72809B"/>
                </a:solidFill>
                <a:latin typeface="Courier New" pitchFamily="34" charset="0"/>
                <a:ea typeface="Courier New" pitchFamily="34" charset="-122"/>
                <a:cs typeface="Courier New" pitchFamily="34" charset="-120"/>
              </a:rPr>
              <a:t>SYSTEM OUTPUTS</a:t>
            </a:r>
            <a:endParaRPr lang="en-US" sz="800" dirty="0"/>
          </a:p>
        </p:txBody>
      </p:sp>
      <p:sp>
        <p:nvSpPr>
          <p:cNvPr id="11" name="Text 9"/>
          <p:cNvSpPr/>
          <p:nvPr/>
        </p:nvSpPr>
        <p:spPr>
          <a:xfrm>
            <a:off x="3657600" y="3931920"/>
            <a:ext cx="1554480" cy="384048"/>
          </a:xfrm>
          <a:prstGeom prst="rect">
            <a:avLst/>
          </a:prstGeom>
          <a:noFill/>
          <a:ln/>
        </p:spPr>
        <p:txBody>
          <a:bodyPr wrap="square" lIns="0" tIns="0" rIns="0" bIns="0" rtlCol="0" anchor="ctr"/>
          <a:lstStyle/>
          <a:p>
            <a:pPr marL="0" indent="0">
              <a:buNone/>
            </a:pPr>
            <a:r>
              <a:rPr lang="en-US" sz="2400" b="1" dirty="0">
                <a:solidFill>
                  <a:srgbClr val="B36F05"/>
                </a:solidFill>
                <a:latin typeface="Arial" pitchFamily="34" charset="0"/>
                <a:ea typeface="Arial" pitchFamily="34" charset="-122"/>
                <a:cs typeface="Arial" pitchFamily="34" charset="-120"/>
              </a:rPr>
              <a:t>3</a:t>
            </a:r>
            <a:endParaRPr lang="en-US" sz="2400" dirty="0"/>
          </a:p>
        </p:txBody>
      </p:sp>
      <p:sp>
        <p:nvSpPr>
          <p:cNvPr id="12" name="Text 10"/>
          <p:cNvSpPr/>
          <p:nvPr/>
        </p:nvSpPr>
        <p:spPr>
          <a:xfrm>
            <a:off x="3657600" y="4315968"/>
            <a:ext cx="1554480" cy="365760"/>
          </a:xfrm>
          <a:prstGeom prst="rect">
            <a:avLst/>
          </a:prstGeom>
          <a:noFill/>
          <a:ln/>
        </p:spPr>
        <p:txBody>
          <a:bodyPr wrap="square" lIns="0" tIns="0" rIns="0" bIns="0" rtlCol="0" anchor="ctr"/>
          <a:lstStyle/>
          <a:p>
            <a:pPr marL="0" indent="0">
              <a:buNone/>
            </a:pPr>
            <a:r>
              <a:rPr lang="en-US" sz="800" kern="0" spc="50" dirty="0">
                <a:solidFill>
                  <a:srgbClr val="72809B"/>
                </a:solidFill>
                <a:latin typeface="Courier New" pitchFamily="34" charset="0"/>
                <a:ea typeface="Courier New" pitchFamily="34" charset="-122"/>
                <a:cs typeface="Courier New" pitchFamily="34" charset="-120"/>
              </a:rPr>
              <a:t>RISK LEVELS</a:t>
            </a:r>
            <a:endParaRPr lang="en-US" sz="800" dirty="0"/>
          </a:p>
        </p:txBody>
      </p:sp>
      <p:sp>
        <p:nvSpPr>
          <p:cNvPr id="13" name="Shape 11"/>
          <p:cNvSpPr/>
          <p:nvPr/>
        </p:nvSpPr>
        <p:spPr>
          <a:xfrm>
            <a:off x="5074920" y="1298448"/>
            <a:ext cx="3611880" cy="3429000"/>
          </a:xfrm>
          <a:prstGeom prst="roundRect">
            <a:avLst>
              <a:gd name="adj" fmla="val 2400"/>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pic>
        <p:nvPicPr>
          <p:cNvPr id="14" name="Image 0" descr="preencoded.png"/>
          <p:cNvPicPr>
            <a:picLocks noChangeAspect="1"/>
          </p:cNvPicPr>
          <p:nvPr/>
        </p:nvPicPr>
        <p:blipFill>
          <a:blip r:embed="rId3"/>
          <a:stretch>
            <a:fillRect/>
          </a:stretch>
        </p:blipFill>
        <p:spPr>
          <a:xfrm>
            <a:off x="5349240" y="1572768"/>
            <a:ext cx="3063240" cy="1600200"/>
          </a:xfrm>
          <a:prstGeom prst="rect">
            <a:avLst/>
          </a:prstGeom>
        </p:spPr>
      </p:pic>
      <p:sp>
        <p:nvSpPr>
          <p:cNvPr id="15" name="Text 12"/>
          <p:cNvSpPr/>
          <p:nvPr/>
        </p:nvSpPr>
        <p:spPr>
          <a:xfrm>
            <a:off x="5349240" y="3337560"/>
            <a:ext cx="3063240" cy="685800"/>
          </a:xfrm>
          <a:prstGeom prst="rect">
            <a:avLst/>
          </a:prstGeom>
          <a:noFill/>
          <a:ln/>
        </p:spPr>
        <p:txBody>
          <a:bodyPr wrap="square" lIns="0" tIns="0" rIns="0" bIns="0" rtlCol="0" anchor="ctr"/>
          <a:lstStyle/>
          <a:p>
            <a:pPr marL="0" indent="0" algn="ctr">
              <a:buNone/>
            </a:pPr>
            <a:r>
              <a:rPr lang="en-US" sz="1100" i="1" dirty="0">
                <a:solidFill>
                  <a:srgbClr val="3A4A66"/>
                </a:solidFill>
                <a:latin typeface="Calibri" pitchFamily="34" charset="0"/>
                <a:ea typeface="Calibri" pitchFamily="34" charset="-122"/>
                <a:cs typeface="Calibri" pitchFamily="34" charset="-120"/>
              </a:rPr>
              <a:t>The end product: every module feeds a single, continuously updated driver wellness state.</a:t>
            </a:r>
            <a:endParaRPr lang="en-US" sz="1100" dirty="0"/>
          </a:p>
        </p:txBody>
      </p:sp>
      <p:sp>
        <p:nvSpPr>
          <p:cNvPr id="16" name="Text 13"/>
          <p:cNvSpPr/>
          <p:nvPr/>
        </p:nvSpPr>
        <p:spPr>
          <a:xfrm>
            <a:off x="5349240" y="4114800"/>
            <a:ext cx="3063240" cy="237744"/>
          </a:xfrm>
          <a:prstGeom prst="rect">
            <a:avLst/>
          </a:prstGeom>
          <a:noFill/>
          <a:ln/>
        </p:spPr>
        <p:txBody>
          <a:bodyPr wrap="square" lIns="0" tIns="0" rIns="0" bIns="0" rtlCol="0" anchor="ctr"/>
          <a:lstStyle/>
          <a:p>
            <a:pPr marL="0" indent="0" algn="ctr">
              <a:buNone/>
            </a:pPr>
            <a:r>
              <a:rPr lang="en-US" sz="900" kern="0" spc="200" dirty="0">
                <a:solidFill>
                  <a:srgbClr val="72809B"/>
                </a:solidFill>
                <a:latin typeface="Courier New" pitchFamily="34" charset="0"/>
                <a:ea typeface="Courier New" pitchFamily="34" charset="-122"/>
                <a:cs typeface="Courier New" pitchFamily="34" charset="-120"/>
              </a:rPr>
              <a:t>SAFE · CAUTION · HIGH RISK</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03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03  ·  PROBLEM STATEMENT</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Single Frames Cannot Explain Fatigue</a:t>
            </a:r>
            <a:endParaRPr lang="en-US" sz="2600" dirty="0"/>
          </a:p>
        </p:txBody>
      </p:sp>
      <p:sp>
        <p:nvSpPr>
          <p:cNvPr id="6" name="Text 4"/>
          <p:cNvSpPr/>
          <p:nvPr/>
        </p:nvSpPr>
        <p:spPr>
          <a:xfrm>
            <a:off x="457200" y="1170432"/>
            <a:ext cx="8229600" cy="274320"/>
          </a:xfrm>
          <a:prstGeom prst="rect">
            <a:avLst/>
          </a:prstGeom>
          <a:noFill/>
          <a:ln/>
        </p:spPr>
        <p:txBody>
          <a:bodyPr wrap="square" lIns="0" tIns="0" rIns="0" bIns="0" rtlCol="0" anchor="ctr"/>
          <a:lstStyle/>
          <a:p>
            <a:pPr marL="0" indent="0">
              <a:buNone/>
            </a:pPr>
            <a:r>
              <a:rPr lang="en-US" sz="1150" i="1" dirty="0">
                <a:solidFill>
                  <a:srgbClr val="72809B"/>
                </a:solidFill>
                <a:latin typeface="Calibri" pitchFamily="34" charset="0"/>
                <a:ea typeface="Calibri" pitchFamily="34" charset="-122"/>
                <a:cs typeface="Calibri" pitchFamily="34" charset="-120"/>
              </a:rPr>
              <a:t>Goal: real-time, video-based monitoring of fatigue, distraction, unsafe behavior and safety compliance.</a:t>
            </a:r>
            <a:endParaRPr lang="en-US" sz="1150" dirty="0"/>
          </a:p>
        </p:txBody>
      </p:sp>
      <p:sp>
        <p:nvSpPr>
          <p:cNvPr id="7" name="Shape 5"/>
          <p:cNvSpPr/>
          <p:nvPr/>
        </p:nvSpPr>
        <p:spPr>
          <a:xfrm>
            <a:off x="457200" y="1572768"/>
            <a:ext cx="3977640" cy="3108960"/>
          </a:xfrm>
          <a:prstGeom prst="roundRect">
            <a:avLst>
              <a:gd name="adj" fmla="val 2647"/>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8" name="Text 6"/>
          <p:cNvSpPr/>
          <p:nvPr/>
        </p:nvSpPr>
        <p:spPr>
          <a:xfrm>
            <a:off x="713232" y="1773936"/>
            <a:ext cx="3474720" cy="256032"/>
          </a:xfrm>
          <a:prstGeom prst="rect">
            <a:avLst/>
          </a:prstGeom>
          <a:noFill/>
          <a:ln/>
        </p:spPr>
        <p:txBody>
          <a:bodyPr wrap="square" lIns="0" tIns="0" rIns="0" bIns="0" rtlCol="0" anchor="ctr"/>
          <a:lstStyle/>
          <a:p>
            <a:pPr marL="0" indent="0">
              <a:buNone/>
            </a:pPr>
            <a:r>
              <a:rPr lang="en-US" sz="1000" b="1" kern="0" spc="200" dirty="0">
                <a:solidFill>
                  <a:srgbClr val="72809B"/>
                </a:solidFill>
                <a:latin typeface="Courier New" pitchFamily="34" charset="0"/>
                <a:ea typeface="Courier New" pitchFamily="34" charset="-122"/>
                <a:cs typeface="Courier New" pitchFamily="34" charset="-120"/>
              </a:rPr>
              <a:t>WHY THE OLD APPROACH FAILS</a:t>
            </a:r>
            <a:endParaRPr lang="en-US" sz="1000" dirty="0"/>
          </a:p>
        </p:txBody>
      </p:sp>
      <p:pic>
        <p:nvPicPr>
          <p:cNvPr id="9" name="Image 0" descr="preencoded.png"/>
          <p:cNvPicPr>
            <a:picLocks noChangeAspect="1"/>
          </p:cNvPicPr>
          <p:nvPr/>
        </p:nvPicPr>
        <p:blipFill>
          <a:blip r:embed="rId3"/>
          <a:stretch>
            <a:fillRect/>
          </a:stretch>
        </p:blipFill>
        <p:spPr>
          <a:xfrm>
            <a:off x="713232" y="2249424"/>
            <a:ext cx="155448" cy="155448"/>
          </a:xfrm>
          <a:prstGeom prst="rect">
            <a:avLst/>
          </a:prstGeom>
        </p:spPr>
      </p:pic>
      <p:sp>
        <p:nvSpPr>
          <p:cNvPr id="10" name="Text 7"/>
          <p:cNvSpPr/>
          <p:nvPr/>
        </p:nvSpPr>
        <p:spPr>
          <a:xfrm>
            <a:off x="1005840" y="218541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Single frames: a blink and drowsiness look identical</a:t>
            </a:r>
            <a:endParaRPr lang="en-US" sz="1150" dirty="0"/>
          </a:p>
        </p:txBody>
      </p:sp>
      <p:pic>
        <p:nvPicPr>
          <p:cNvPr id="11" name="Image 1" descr="preencoded.png"/>
          <p:cNvPicPr>
            <a:picLocks noChangeAspect="1"/>
          </p:cNvPicPr>
          <p:nvPr/>
        </p:nvPicPr>
        <p:blipFill>
          <a:blip r:embed="rId3"/>
          <a:stretch>
            <a:fillRect/>
          </a:stretch>
        </p:blipFill>
        <p:spPr>
          <a:xfrm>
            <a:off x="713232" y="2852928"/>
            <a:ext cx="155448" cy="155448"/>
          </a:xfrm>
          <a:prstGeom prst="rect">
            <a:avLst/>
          </a:prstGeom>
        </p:spPr>
      </p:pic>
      <p:sp>
        <p:nvSpPr>
          <p:cNvPr id="12" name="Text 8"/>
          <p:cNvSpPr/>
          <p:nvPr/>
        </p:nvSpPr>
        <p:spPr>
          <a:xfrm>
            <a:off x="1005840" y="2788920"/>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Static frame counts and hardcoded thresholds</a:t>
            </a:r>
            <a:endParaRPr lang="en-US" sz="1150" dirty="0"/>
          </a:p>
        </p:txBody>
      </p:sp>
      <p:pic>
        <p:nvPicPr>
          <p:cNvPr id="13" name="Image 2" descr="preencoded.png"/>
          <p:cNvPicPr>
            <a:picLocks noChangeAspect="1"/>
          </p:cNvPicPr>
          <p:nvPr/>
        </p:nvPicPr>
        <p:blipFill>
          <a:blip r:embed="rId3"/>
          <a:stretch>
            <a:fillRect/>
          </a:stretch>
        </p:blipFill>
        <p:spPr>
          <a:xfrm>
            <a:off x="713232" y="3456432"/>
            <a:ext cx="155448" cy="155448"/>
          </a:xfrm>
          <a:prstGeom prst="rect">
            <a:avLst/>
          </a:prstGeom>
        </p:spPr>
      </p:pic>
      <p:sp>
        <p:nvSpPr>
          <p:cNvPr id="14" name="Text 9"/>
          <p:cNvSpPr/>
          <p:nvPr/>
        </p:nvSpPr>
        <p:spPr>
          <a:xfrm>
            <a:off x="1005840" y="3392424"/>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Talking, singing or laughing trigger false alerts</a:t>
            </a:r>
            <a:endParaRPr lang="en-US" sz="1150" dirty="0"/>
          </a:p>
        </p:txBody>
      </p:sp>
      <p:pic>
        <p:nvPicPr>
          <p:cNvPr id="15" name="Image 3" descr="preencoded.png"/>
          <p:cNvPicPr>
            <a:picLocks noChangeAspect="1"/>
          </p:cNvPicPr>
          <p:nvPr/>
        </p:nvPicPr>
        <p:blipFill>
          <a:blip r:embed="rId3"/>
          <a:stretch>
            <a:fillRect/>
          </a:stretch>
        </p:blipFill>
        <p:spPr>
          <a:xfrm>
            <a:off x="713232" y="4059936"/>
            <a:ext cx="155448" cy="155448"/>
          </a:xfrm>
          <a:prstGeom prst="rect">
            <a:avLst/>
          </a:prstGeom>
        </p:spPr>
      </p:pic>
      <p:sp>
        <p:nvSpPr>
          <p:cNvPr id="16" name="Text 10"/>
          <p:cNvSpPr/>
          <p:nvPr/>
        </p:nvSpPr>
        <p:spPr>
          <a:xfrm>
            <a:off x="1005840" y="3995928"/>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Frame-level YOLO has no sense of time</a:t>
            </a:r>
            <a:endParaRPr lang="en-US" sz="1150" dirty="0"/>
          </a:p>
        </p:txBody>
      </p:sp>
      <p:sp>
        <p:nvSpPr>
          <p:cNvPr id="17" name="Shape 11"/>
          <p:cNvSpPr/>
          <p:nvPr/>
        </p:nvSpPr>
        <p:spPr>
          <a:xfrm>
            <a:off x="4709160" y="1572768"/>
            <a:ext cx="3977640" cy="3108960"/>
          </a:xfrm>
          <a:prstGeom prst="roundRect">
            <a:avLst>
              <a:gd name="adj" fmla="val 2647"/>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8" name="Text 12"/>
          <p:cNvSpPr/>
          <p:nvPr/>
        </p:nvSpPr>
        <p:spPr>
          <a:xfrm>
            <a:off x="4965192" y="1773936"/>
            <a:ext cx="3474720" cy="256032"/>
          </a:xfrm>
          <a:prstGeom prst="rect">
            <a:avLst/>
          </a:prstGeom>
          <a:noFill/>
          <a:ln/>
        </p:spPr>
        <p:txBody>
          <a:bodyPr wrap="square" lIns="0" tIns="0" rIns="0" bIns="0" rtlCol="0" anchor="ctr"/>
          <a:lstStyle/>
          <a:p>
            <a:pPr marL="0" indent="0">
              <a:buNone/>
            </a:pPr>
            <a:r>
              <a:rPr lang="en-US" sz="1000" b="1" kern="0" spc="200" dirty="0">
                <a:solidFill>
                  <a:srgbClr val="B36F05"/>
                </a:solidFill>
                <a:latin typeface="Courier New" pitchFamily="34" charset="0"/>
                <a:ea typeface="Courier New" pitchFamily="34" charset="-122"/>
                <a:cs typeface="Courier New" pitchFamily="34" charset="-120"/>
              </a:rPr>
              <a:t>THE REVISED SYSTEM</a:t>
            </a:r>
            <a:endParaRPr lang="en-US" sz="1000" dirty="0"/>
          </a:p>
        </p:txBody>
      </p:sp>
      <p:pic>
        <p:nvPicPr>
          <p:cNvPr id="19" name="Image 4" descr="preencoded.png"/>
          <p:cNvPicPr>
            <a:picLocks noChangeAspect="1"/>
          </p:cNvPicPr>
          <p:nvPr/>
        </p:nvPicPr>
        <p:blipFill>
          <a:blip r:embed="rId4"/>
          <a:stretch>
            <a:fillRect/>
          </a:stretch>
        </p:blipFill>
        <p:spPr>
          <a:xfrm>
            <a:off x="4965192" y="2249424"/>
            <a:ext cx="155448" cy="155448"/>
          </a:xfrm>
          <a:prstGeom prst="rect">
            <a:avLst/>
          </a:prstGeom>
        </p:spPr>
      </p:pic>
      <p:sp>
        <p:nvSpPr>
          <p:cNvPr id="20" name="Text 13"/>
          <p:cNvSpPr/>
          <p:nvPr/>
        </p:nvSpPr>
        <p:spPr>
          <a:xfrm>
            <a:off x="5257800" y="218541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Learns fatigue as it develops across video sequences</a:t>
            </a:r>
            <a:endParaRPr lang="en-US" sz="1150" dirty="0"/>
          </a:p>
        </p:txBody>
      </p:sp>
      <p:pic>
        <p:nvPicPr>
          <p:cNvPr id="21" name="Image 5" descr="preencoded.png"/>
          <p:cNvPicPr>
            <a:picLocks noChangeAspect="1"/>
          </p:cNvPicPr>
          <p:nvPr/>
        </p:nvPicPr>
        <p:blipFill>
          <a:blip r:embed="rId4"/>
          <a:stretch>
            <a:fillRect/>
          </a:stretch>
        </p:blipFill>
        <p:spPr>
          <a:xfrm>
            <a:off x="4965192" y="2752344"/>
            <a:ext cx="155448" cy="155448"/>
          </a:xfrm>
          <a:prstGeom prst="rect">
            <a:avLst/>
          </a:prstGeom>
        </p:spPr>
      </p:pic>
      <p:sp>
        <p:nvSpPr>
          <p:cNvPr id="22" name="Text 14"/>
          <p:cNvSpPr/>
          <p:nvPr/>
        </p:nvSpPr>
        <p:spPr>
          <a:xfrm>
            <a:off x="5257800" y="268833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CNN-LSTM, CNN-GRU, TCN or lightweight 3D CNN</a:t>
            </a:r>
            <a:endParaRPr lang="en-US" sz="1150" dirty="0"/>
          </a:p>
        </p:txBody>
      </p:sp>
      <p:pic>
        <p:nvPicPr>
          <p:cNvPr id="23" name="Image 6" descr="preencoded.png"/>
          <p:cNvPicPr>
            <a:picLocks noChangeAspect="1"/>
          </p:cNvPicPr>
          <p:nvPr/>
        </p:nvPicPr>
        <p:blipFill>
          <a:blip r:embed="rId4"/>
          <a:stretch>
            <a:fillRect/>
          </a:stretch>
        </p:blipFill>
        <p:spPr>
          <a:xfrm>
            <a:off x="4965192" y="3255264"/>
            <a:ext cx="155448" cy="155448"/>
          </a:xfrm>
          <a:prstGeom prst="rect">
            <a:avLst/>
          </a:prstGeom>
        </p:spPr>
      </p:pic>
      <p:sp>
        <p:nvSpPr>
          <p:cNvPr id="24" name="Text 15"/>
          <p:cNvSpPr/>
          <p:nvPr/>
        </p:nvSpPr>
        <p:spPr>
          <a:xfrm>
            <a:off x="5257800" y="319125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MediaPipe/OpenCV: auxiliary features, not decision logic</a:t>
            </a:r>
            <a:endParaRPr lang="en-US" sz="1150" dirty="0"/>
          </a:p>
        </p:txBody>
      </p:sp>
      <p:pic>
        <p:nvPicPr>
          <p:cNvPr id="25" name="Image 7" descr="preencoded.png"/>
          <p:cNvPicPr>
            <a:picLocks noChangeAspect="1"/>
          </p:cNvPicPr>
          <p:nvPr/>
        </p:nvPicPr>
        <p:blipFill>
          <a:blip r:embed="rId4"/>
          <a:stretch>
            <a:fillRect/>
          </a:stretch>
        </p:blipFill>
        <p:spPr>
          <a:xfrm>
            <a:off x="4965192" y="3758184"/>
            <a:ext cx="155448" cy="155448"/>
          </a:xfrm>
          <a:prstGeom prst="rect">
            <a:avLst/>
          </a:prstGeom>
        </p:spPr>
      </p:pic>
      <p:sp>
        <p:nvSpPr>
          <p:cNvPr id="26" name="Text 16"/>
          <p:cNvSpPr/>
          <p:nvPr/>
        </p:nvSpPr>
        <p:spPr>
          <a:xfrm>
            <a:off x="5257800" y="369417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YOLO reserved for object-level safety tasks</a:t>
            </a:r>
            <a:endParaRPr lang="en-US" sz="1150" dirty="0"/>
          </a:p>
        </p:txBody>
      </p:sp>
      <p:pic>
        <p:nvPicPr>
          <p:cNvPr id="27" name="Image 8" descr="preencoded.png"/>
          <p:cNvPicPr>
            <a:picLocks noChangeAspect="1"/>
          </p:cNvPicPr>
          <p:nvPr/>
        </p:nvPicPr>
        <p:blipFill>
          <a:blip r:embed="rId4"/>
          <a:stretch>
            <a:fillRect/>
          </a:stretch>
        </p:blipFill>
        <p:spPr>
          <a:xfrm>
            <a:off x="4965192" y="4261104"/>
            <a:ext cx="155448" cy="155448"/>
          </a:xfrm>
          <a:prstGeom prst="rect">
            <a:avLst/>
          </a:prstGeom>
        </p:spPr>
      </p:pic>
      <p:sp>
        <p:nvSpPr>
          <p:cNvPr id="28" name="Text 17"/>
          <p:cNvSpPr/>
          <p:nvPr/>
        </p:nvSpPr>
        <p:spPr>
          <a:xfrm>
            <a:off x="5257800" y="4197096"/>
            <a:ext cx="3227832" cy="402336"/>
          </a:xfrm>
          <a:prstGeom prst="rect">
            <a:avLst/>
          </a:prstGeom>
          <a:noFill/>
          <a:ln/>
        </p:spPr>
        <p:txBody>
          <a:bodyPr wrap="square" lIns="0" tIns="0" rIns="0" bIns="0" rtlCol="0" anchor="t"/>
          <a:lstStyle/>
          <a:p>
            <a:pPr marL="0" indent="0">
              <a:buNone/>
            </a:pPr>
            <a:r>
              <a:rPr lang="en-US" sz="1150" dirty="0">
                <a:solidFill>
                  <a:srgbClr val="3A4A66"/>
                </a:solidFill>
                <a:latin typeface="Calibri" pitchFamily="34" charset="0"/>
                <a:ea typeface="Calibri" pitchFamily="34" charset="-122"/>
                <a:cs typeface="Calibri" pitchFamily="34" charset="-120"/>
              </a:rPr>
              <a:t>Fusion layer → Safe / Caution / High Risk</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04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04  ·  MOTIVATION</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Why This Project, Why Now</a:t>
            </a:r>
            <a:endParaRPr lang="en-US" sz="2600" dirty="0"/>
          </a:p>
        </p:txBody>
      </p:sp>
      <p:sp>
        <p:nvSpPr>
          <p:cNvPr id="6" name="Shape 4"/>
          <p:cNvSpPr/>
          <p:nvPr/>
        </p:nvSpPr>
        <p:spPr>
          <a:xfrm>
            <a:off x="457200" y="1325880"/>
            <a:ext cx="2679192" cy="3383280"/>
          </a:xfrm>
          <a:prstGeom prst="roundRect">
            <a:avLst>
              <a:gd name="adj" fmla="val 3072"/>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7" name="Text 5"/>
          <p:cNvSpPr/>
          <p:nvPr/>
        </p:nvSpPr>
        <p:spPr>
          <a:xfrm>
            <a:off x="2011680" y="1371600"/>
            <a:ext cx="1005840" cy="685800"/>
          </a:xfrm>
          <a:prstGeom prst="rect">
            <a:avLst/>
          </a:prstGeom>
          <a:noFill/>
          <a:ln/>
        </p:spPr>
        <p:txBody>
          <a:bodyPr wrap="square" lIns="0" tIns="0" rIns="0" bIns="0" rtlCol="0" anchor="ctr"/>
          <a:lstStyle/>
          <a:p>
            <a:pPr marL="0" indent="0" algn="r">
              <a:buNone/>
            </a:pPr>
            <a:r>
              <a:rPr lang="en-US" sz="4000" b="1" dirty="0">
                <a:solidFill>
                  <a:srgbClr val="DCE7F6"/>
                </a:solidFill>
                <a:latin typeface="Courier New" pitchFamily="34" charset="0"/>
                <a:ea typeface="Courier New" pitchFamily="34" charset="-122"/>
                <a:cs typeface="Courier New" pitchFamily="34" charset="-120"/>
              </a:rPr>
              <a:t>01</a:t>
            </a:r>
            <a:endParaRPr lang="en-US" sz="4000" dirty="0"/>
          </a:p>
        </p:txBody>
      </p:sp>
      <p:sp>
        <p:nvSpPr>
          <p:cNvPr id="8" name="Shape 6"/>
          <p:cNvSpPr/>
          <p:nvPr/>
        </p:nvSpPr>
        <p:spPr>
          <a:xfrm>
            <a:off x="713232" y="1572768"/>
            <a:ext cx="457200" cy="457200"/>
          </a:xfrm>
          <a:prstGeom prst="ellipse">
            <a:avLst/>
          </a:prstGeom>
          <a:solidFill>
            <a:srgbClr val="FBF1DF"/>
          </a:solidFill>
          <a:ln w="12700">
            <a:solidFill>
              <a:srgbClr val="E8930C"/>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832104" y="1691640"/>
            <a:ext cx="219456" cy="219456"/>
          </a:xfrm>
          <a:prstGeom prst="rect">
            <a:avLst/>
          </a:prstGeom>
        </p:spPr>
      </p:pic>
      <p:sp>
        <p:nvSpPr>
          <p:cNvPr id="10" name="Text 7"/>
          <p:cNvSpPr/>
          <p:nvPr/>
        </p:nvSpPr>
        <p:spPr>
          <a:xfrm>
            <a:off x="713232" y="2176272"/>
            <a:ext cx="2194560" cy="310896"/>
          </a:xfrm>
          <a:prstGeom prst="rect">
            <a:avLst/>
          </a:prstGeom>
          <a:noFill/>
          <a:ln/>
        </p:spPr>
        <p:txBody>
          <a:bodyPr wrap="square" lIns="0" tIns="0" rIns="0" bIns="0" rtlCol="0" anchor="ctr"/>
          <a:lstStyle/>
          <a:p>
            <a:pPr marL="0" indent="0">
              <a:buNone/>
            </a:pPr>
            <a:r>
              <a:rPr lang="en-US" sz="1450" b="1" dirty="0">
                <a:solidFill>
                  <a:srgbClr val="1B2A4A"/>
                </a:solidFill>
                <a:latin typeface="Arial" pitchFamily="34" charset="0"/>
                <a:ea typeface="Arial" pitchFamily="34" charset="-122"/>
                <a:cs typeface="Arial" pitchFamily="34" charset="-120"/>
              </a:rPr>
              <a:t>Road safety need</a:t>
            </a:r>
            <a:endParaRPr lang="en-US" sz="1450" dirty="0"/>
          </a:p>
        </p:txBody>
      </p:sp>
      <p:sp>
        <p:nvSpPr>
          <p:cNvPr id="11" name="Text 8"/>
          <p:cNvSpPr/>
          <p:nvPr/>
        </p:nvSpPr>
        <p:spPr>
          <a:xfrm>
            <a:off x="713232" y="2578608"/>
            <a:ext cx="2212848" cy="1920240"/>
          </a:xfrm>
          <a:prstGeom prst="rect">
            <a:avLst/>
          </a:prstGeom>
          <a:noFill/>
          <a:ln/>
        </p:spPr>
        <p:txBody>
          <a:bodyPr wrap="square" lIns="0" tIns="0" rIns="0" bIns="0" rtlCol="0" anchor="t"/>
          <a:lstStyle/>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Fatigue drives crashes on night and long-distance routes</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Drowsiness is not the only unsafe state</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Phone use, missing seat belt, smoking, gaze-away</a:t>
            </a:r>
            <a:endParaRPr lang="en-US" sz="1050" dirty="0"/>
          </a:p>
        </p:txBody>
      </p:sp>
      <p:sp>
        <p:nvSpPr>
          <p:cNvPr id="12" name="Shape 9"/>
          <p:cNvSpPr/>
          <p:nvPr/>
        </p:nvSpPr>
        <p:spPr>
          <a:xfrm>
            <a:off x="3278124" y="1325880"/>
            <a:ext cx="2679192" cy="3383280"/>
          </a:xfrm>
          <a:prstGeom prst="roundRect">
            <a:avLst>
              <a:gd name="adj" fmla="val 3072"/>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3" name="Text 10"/>
          <p:cNvSpPr/>
          <p:nvPr/>
        </p:nvSpPr>
        <p:spPr>
          <a:xfrm>
            <a:off x="4832604" y="1371600"/>
            <a:ext cx="1005840" cy="685800"/>
          </a:xfrm>
          <a:prstGeom prst="rect">
            <a:avLst/>
          </a:prstGeom>
          <a:noFill/>
          <a:ln/>
        </p:spPr>
        <p:txBody>
          <a:bodyPr wrap="square" lIns="0" tIns="0" rIns="0" bIns="0" rtlCol="0" anchor="ctr"/>
          <a:lstStyle/>
          <a:p>
            <a:pPr marL="0" indent="0" algn="r">
              <a:buNone/>
            </a:pPr>
            <a:r>
              <a:rPr lang="en-US" sz="4000" b="1" dirty="0">
                <a:solidFill>
                  <a:srgbClr val="DCE7F6"/>
                </a:solidFill>
                <a:latin typeface="Courier New" pitchFamily="34" charset="0"/>
                <a:ea typeface="Courier New" pitchFamily="34" charset="-122"/>
                <a:cs typeface="Courier New" pitchFamily="34" charset="-120"/>
              </a:rPr>
              <a:t>02</a:t>
            </a:r>
            <a:endParaRPr lang="en-US" sz="4000" dirty="0"/>
          </a:p>
        </p:txBody>
      </p:sp>
      <p:sp>
        <p:nvSpPr>
          <p:cNvPr id="14" name="Shape 11"/>
          <p:cNvSpPr/>
          <p:nvPr/>
        </p:nvSpPr>
        <p:spPr>
          <a:xfrm>
            <a:off x="3534156" y="1572768"/>
            <a:ext cx="457200" cy="457200"/>
          </a:xfrm>
          <a:prstGeom prst="ellipse">
            <a:avLst/>
          </a:prstGeom>
          <a:solidFill>
            <a:srgbClr val="FBF1DF"/>
          </a:solidFill>
          <a:ln w="12700">
            <a:solidFill>
              <a:srgbClr val="E8930C"/>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3653028" y="1691640"/>
            <a:ext cx="219456" cy="219456"/>
          </a:xfrm>
          <a:prstGeom prst="rect">
            <a:avLst/>
          </a:prstGeom>
        </p:spPr>
      </p:pic>
      <p:sp>
        <p:nvSpPr>
          <p:cNvPr id="16" name="Text 12"/>
          <p:cNvSpPr/>
          <p:nvPr/>
        </p:nvSpPr>
        <p:spPr>
          <a:xfrm>
            <a:off x="3534156" y="2176272"/>
            <a:ext cx="2194560" cy="310896"/>
          </a:xfrm>
          <a:prstGeom prst="rect">
            <a:avLst/>
          </a:prstGeom>
          <a:noFill/>
          <a:ln/>
        </p:spPr>
        <p:txBody>
          <a:bodyPr wrap="square" lIns="0" tIns="0" rIns="0" bIns="0" rtlCol="0" anchor="ctr"/>
          <a:lstStyle/>
          <a:p>
            <a:pPr marL="0" indent="0">
              <a:buNone/>
            </a:pPr>
            <a:r>
              <a:rPr lang="en-US" sz="1450" b="1" dirty="0">
                <a:solidFill>
                  <a:srgbClr val="1B2A4A"/>
                </a:solidFill>
                <a:latin typeface="Arial" pitchFamily="34" charset="0"/>
                <a:ea typeface="Arial" pitchFamily="34" charset="-122"/>
                <a:cs typeface="Arial" pitchFamily="34" charset="-120"/>
              </a:rPr>
              <a:t>Course learning goals</a:t>
            </a:r>
            <a:endParaRPr lang="en-US" sz="1450" dirty="0"/>
          </a:p>
        </p:txBody>
      </p:sp>
      <p:sp>
        <p:nvSpPr>
          <p:cNvPr id="17" name="Text 13"/>
          <p:cNvSpPr/>
          <p:nvPr/>
        </p:nvSpPr>
        <p:spPr>
          <a:xfrm>
            <a:off x="3534156" y="2578608"/>
            <a:ext cx="2212848" cy="1920240"/>
          </a:xfrm>
          <a:prstGeom prst="rect">
            <a:avLst/>
          </a:prstGeom>
          <a:noFill/>
          <a:ln/>
        </p:spPr>
        <p:txBody>
          <a:bodyPr wrap="square" lIns="0" tIns="0" rIns="0" bIns="0" rtlCol="0" anchor="t"/>
          <a:lstStyle/>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Full ML lifecycle, not plug-and-play detection</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Dataset collection, EDA, video preprocessing</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Sequences, training, evaluation, local deployment</a:t>
            </a:r>
            <a:endParaRPr lang="en-US" sz="1050" dirty="0"/>
          </a:p>
        </p:txBody>
      </p:sp>
      <p:sp>
        <p:nvSpPr>
          <p:cNvPr id="18" name="Shape 14"/>
          <p:cNvSpPr/>
          <p:nvPr/>
        </p:nvSpPr>
        <p:spPr>
          <a:xfrm>
            <a:off x="6099048" y="1325880"/>
            <a:ext cx="2679192" cy="3383280"/>
          </a:xfrm>
          <a:prstGeom prst="roundRect">
            <a:avLst>
              <a:gd name="adj" fmla="val 3072"/>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9" name="Text 15"/>
          <p:cNvSpPr/>
          <p:nvPr/>
        </p:nvSpPr>
        <p:spPr>
          <a:xfrm>
            <a:off x="7653528" y="1371600"/>
            <a:ext cx="1005840" cy="685800"/>
          </a:xfrm>
          <a:prstGeom prst="rect">
            <a:avLst/>
          </a:prstGeom>
          <a:noFill/>
          <a:ln/>
        </p:spPr>
        <p:txBody>
          <a:bodyPr wrap="square" lIns="0" tIns="0" rIns="0" bIns="0" rtlCol="0" anchor="ctr"/>
          <a:lstStyle/>
          <a:p>
            <a:pPr marL="0" indent="0" algn="r">
              <a:buNone/>
            </a:pPr>
            <a:r>
              <a:rPr lang="en-US" sz="4000" b="1" dirty="0">
                <a:solidFill>
                  <a:srgbClr val="DCE7F6"/>
                </a:solidFill>
                <a:latin typeface="Courier New" pitchFamily="34" charset="0"/>
                <a:ea typeface="Courier New" pitchFamily="34" charset="-122"/>
                <a:cs typeface="Courier New" pitchFamily="34" charset="-120"/>
              </a:rPr>
              <a:t>03</a:t>
            </a:r>
            <a:endParaRPr lang="en-US" sz="4000" dirty="0"/>
          </a:p>
        </p:txBody>
      </p:sp>
      <p:sp>
        <p:nvSpPr>
          <p:cNvPr id="20" name="Shape 16"/>
          <p:cNvSpPr/>
          <p:nvPr/>
        </p:nvSpPr>
        <p:spPr>
          <a:xfrm>
            <a:off x="6355080" y="1572768"/>
            <a:ext cx="457200" cy="457200"/>
          </a:xfrm>
          <a:prstGeom prst="ellipse">
            <a:avLst/>
          </a:prstGeom>
          <a:solidFill>
            <a:srgbClr val="FBF1DF"/>
          </a:solidFill>
          <a:ln w="12700">
            <a:solidFill>
              <a:srgbClr val="E8930C"/>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473952" y="1691640"/>
            <a:ext cx="219456" cy="219456"/>
          </a:xfrm>
          <a:prstGeom prst="rect">
            <a:avLst/>
          </a:prstGeom>
        </p:spPr>
      </p:pic>
      <p:sp>
        <p:nvSpPr>
          <p:cNvPr id="22" name="Text 17"/>
          <p:cNvSpPr/>
          <p:nvPr/>
        </p:nvSpPr>
        <p:spPr>
          <a:xfrm>
            <a:off x="6355080" y="2176272"/>
            <a:ext cx="2194560" cy="310896"/>
          </a:xfrm>
          <a:prstGeom prst="rect">
            <a:avLst/>
          </a:prstGeom>
          <a:noFill/>
          <a:ln/>
        </p:spPr>
        <p:txBody>
          <a:bodyPr wrap="square" lIns="0" tIns="0" rIns="0" bIns="0" rtlCol="0" anchor="ctr"/>
          <a:lstStyle/>
          <a:p>
            <a:pPr marL="0" indent="0">
              <a:buNone/>
            </a:pPr>
            <a:r>
              <a:rPr lang="en-US" sz="1450" b="1" dirty="0">
                <a:solidFill>
                  <a:srgbClr val="1B2A4A"/>
                </a:solidFill>
                <a:latin typeface="Arial" pitchFamily="34" charset="0"/>
                <a:ea typeface="Arial" pitchFamily="34" charset="-122"/>
                <a:cs typeface="Arial" pitchFamily="34" charset="-120"/>
              </a:rPr>
              <a:t>Practical relevance</a:t>
            </a:r>
            <a:endParaRPr lang="en-US" sz="1450" dirty="0"/>
          </a:p>
        </p:txBody>
      </p:sp>
      <p:sp>
        <p:nvSpPr>
          <p:cNvPr id="23" name="Text 18"/>
          <p:cNvSpPr/>
          <p:nvPr/>
        </p:nvSpPr>
        <p:spPr>
          <a:xfrm>
            <a:off x="6355080" y="2578608"/>
            <a:ext cx="2212848" cy="1920240"/>
          </a:xfrm>
          <a:prstGeom prst="rect">
            <a:avLst/>
          </a:prstGeom>
          <a:noFill/>
          <a:ln/>
        </p:spPr>
        <p:txBody>
          <a:bodyPr wrap="square" lIns="0" tIns="0" rIns="0" bIns="0" rtlCol="0" anchor="t"/>
          <a:lstStyle/>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Fleets monitor wellness and risky behavior</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Cab agencies and logistics: safer operations</a:t>
            </a:r>
            <a:endParaRPr lang="en-US" sz="1050" dirty="0"/>
          </a:p>
          <a:p>
            <a:pPr marL="152400" indent="-152400">
              <a:spcAft>
                <a:spcPts val="800"/>
              </a:spcAft>
              <a:buSzPct val="100000"/>
              <a:buChar char="▪"/>
            </a:pPr>
            <a:r>
              <a:rPr lang="en-US" sz="1050" dirty="0">
                <a:solidFill>
                  <a:srgbClr val="3A4A66"/>
                </a:solidFill>
                <a:latin typeface="Calibri" pitchFamily="34" charset="0"/>
                <a:ea typeface="Calibri" pitchFamily="34" charset="-122"/>
                <a:cs typeface="Calibri" pitchFamily="34" charset="-120"/>
              </a:rPr>
              <a:t>Drivers get early warnings; reports reveal trends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05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05  ·  SCOPE &amp; BOUNDARIES</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We Build — and Deliberately Don't</a:t>
            </a:r>
            <a:endParaRPr lang="en-US" sz="2600" dirty="0"/>
          </a:p>
        </p:txBody>
      </p:sp>
      <p:sp>
        <p:nvSpPr>
          <p:cNvPr id="6" name="Shape 4"/>
          <p:cNvSpPr/>
          <p:nvPr/>
        </p:nvSpPr>
        <p:spPr>
          <a:xfrm>
            <a:off x="457200" y="1325880"/>
            <a:ext cx="3977640" cy="3063240"/>
          </a:xfrm>
          <a:prstGeom prst="roundRect">
            <a:avLst>
              <a:gd name="adj" fmla="val 2687"/>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7" name="Text 5"/>
          <p:cNvSpPr/>
          <p:nvPr/>
        </p:nvSpPr>
        <p:spPr>
          <a:xfrm>
            <a:off x="713232" y="1508760"/>
            <a:ext cx="3474720" cy="256032"/>
          </a:xfrm>
          <a:prstGeom prst="rect">
            <a:avLst/>
          </a:prstGeom>
          <a:noFill/>
          <a:ln/>
        </p:spPr>
        <p:txBody>
          <a:bodyPr wrap="square" lIns="0" tIns="0" rIns="0" bIns="0" rtlCol="0" anchor="ctr"/>
          <a:lstStyle/>
          <a:p>
            <a:pPr marL="0" indent="0">
              <a:buNone/>
            </a:pPr>
            <a:r>
              <a:rPr lang="en-US" sz="1000" b="1" kern="0" spc="300" dirty="0">
                <a:solidFill>
                  <a:srgbClr val="B36F05"/>
                </a:solidFill>
                <a:latin typeface="Courier New" pitchFamily="34" charset="0"/>
                <a:ea typeface="Courier New" pitchFamily="34" charset="-122"/>
                <a:cs typeface="Courier New" pitchFamily="34" charset="-120"/>
              </a:rPr>
              <a:t>IN SCOPE</a:t>
            </a:r>
            <a:endParaRPr lang="en-US" sz="1000" dirty="0"/>
          </a:p>
        </p:txBody>
      </p:sp>
      <p:pic>
        <p:nvPicPr>
          <p:cNvPr id="8" name="Image 0" descr="preencoded.png"/>
          <p:cNvPicPr>
            <a:picLocks noChangeAspect="1"/>
          </p:cNvPicPr>
          <p:nvPr/>
        </p:nvPicPr>
        <p:blipFill>
          <a:blip r:embed="rId3"/>
          <a:stretch>
            <a:fillRect/>
          </a:stretch>
        </p:blipFill>
        <p:spPr>
          <a:xfrm>
            <a:off x="713232" y="1938528"/>
            <a:ext cx="155448" cy="155448"/>
          </a:xfrm>
          <a:prstGeom prst="rect">
            <a:avLst/>
          </a:prstGeom>
        </p:spPr>
      </p:pic>
      <p:sp>
        <p:nvSpPr>
          <p:cNvPr id="9" name="Text 6"/>
          <p:cNvSpPr/>
          <p:nvPr/>
        </p:nvSpPr>
        <p:spPr>
          <a:xfrm>
            <a:off x="1005840" y="187452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Video-based fatigue detection with temporal models</a:t>
            </a:r>
            <a:endParaRPr lang="en-US" sz="1100" dirty="0"/>
          </a:p>
        </p:txBody>
      </p:sp>
      <p:pic>
        <p:nvPicPr>
          <p:cNvPr id="10" name="Image 1" descr="preencoded.png"/>
          <p:cNvPicPr>
            <a:picLocks noChangeAspect="1"/>
          </p:cNvPicPr>
          <p:nvPr/>
        </p:nvPicPr>
        <p:blipFill>
          <a:blip r:embed="rId3"/>
          <a:stretch>
            <a:fillRect/>
          </a:stretch>
        </p:blipFill>
        <p:spPr>
          <a:xfrm>
            <a:off x="713232" y="2350008"/>
            <a:ext cx="155448" cy="155448"/>
          </a:xfrm>
          <a:prstGeom prst="rect">
            <a:avLst/>
          </a:prstGeom>
        </p:spPr>
      </p:pic>
      <p:sp>
        <p:nvSpPr>
          <p:cNvPr id="11" name="Text 7"/>
          <p:cNvSpPr/>
          <p:nvPr/>
        </p:nvSpPr>
        <p:spPr>
          <a:xfrm>
            <a:off x="1005840" y="228600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Landmark temporal features via MediaPipe/OpenCV</a:t>
            </a:r>
            <a:endParaRPr lang="en-US" sz="1100" dirty="0"/>
          </a:p>
        </p:txBody>
      </p:sp>
      <p:pic>
        <p:nvPicPr>
          <p:cNvPr id="12" name="Image 2" descr="preencoded.png"/>
          <p:cNvPicPr>
            <a:picLocks noChangeAspect="1"/>
          </p:cNvPicPr>
          <p:nvPr/>
        </p:nvPicPr>
        <p:blipFill>
          <a:blip r:embed="rId3"/>
          <a:stretch>
            <a:fillRect/>
          </a:stretch>
        </p:blipFill>
        <p:spPr>
          <a:xfrm>
            <a:off x="713232" y="2761488"/>
            <a:ext cx="155448" cy="155448"/>
          </a:xfrm>
          <a:prstGeom prst="rect">
            <a:avLst/>
          </a:prstGeom>
        </p:spPr>
      </p:pic>
      <p:sp>
        <p:nvSpPr>
          <p:cNvPr id="13" name="Text 8"/>
          <p:cNvSpPr/>
          <p:nvPr/>
        </p:nvSpPr>
        <p:spPr>
          <a:xfrm>
            <a:off x="1005840" y="269748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Distraction and driver activity classification</a:t>
            </a:r>
            <a:endParaRPr lang="en-US" sz="1100" dirty="0"/>
          </a:p>
        </p:txBody>
      </p:sp>
      <p:pic>
        <p:nvPicPr>
          <p:cNvPr id="14" name="Image 3" descr="preencoded.png"/>
          <p:cNvPicPr>
            <a:picLocks noChangeAspect="1"/>
          </p:cNvPicPr>
          <p:nvPr/>
        </p:nvPicPr>
        <p:blipFill>
          <a:blip r:embed="rId3"/>
          <a:stretch>
            <a:fillRect/>
          </a:stretch>
        </p:blipFill>
        <p:spPr>
          <a:xfrm>
            <a:off x="713232" y="3172968"/>
            <a:ext cx="155448" cy="155448"/>
          </a:xfrm>
          <a:prstGeom prst="rect">
            <a:avLst/>
          </a:prstGeom>
        </p:spPr>
      </p:pic>
      <p:sp>
        <p:nvSpPr>
          <p:cNvPr id="15" name="Text 9"/>
          <p:cNvSpPr/>
          <p:nvPr/>
        </p:nvSpPr>
        <p:spPr>
          <a:xfrm>
            <a:off x="1005840" y="310896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YOLO: seat belt, phone, smoking, drinking</a:t>
            </a:r>
            <a:endParaRPr lang="en-US" sz="1100" dirty="0"/>
          </a:p>
        </p:txBody>
      </p:sp>
      <p:pic>
        <p:nvPicPr>
          <p:cNvPr id="16" name="Image 4" descr="preencoded.png"/>
          <p:cNvPicPr>
            <a:picLocks noChangeAspect="1"/>
          </p:cNvPicPr>
          <p:nvPr/>
        </p:nvPicPr>
        <p:blipFill>
          <a:blip r:embed="rId3"/>
          <a:stretch>
            <a:fillRect/>
          </a:stretch>
        </p:blipFill>
        <p:spPr>
          <a:xfrm>
            <a:off x="713232" y="3584448"/>
            <a:ext cx="155448" cy="155448"/>
          </a:xfrm>
          <a:prstGeom prst="rect">
            <a:avLst/>
          </a:prstGeom>
        </p:spPr>
      </p:pic>
      <p:sp>
        <p:nvSpPr>
          <p:cNvPr id="17" name="Text 10"/>
          <p:cNvSpPr/>
          <p:nvPr/>
        </p:nvSpPr>
        <p:spPr>
          <a:xfrm>
            <a:off x="1005840" y="352044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Wellness score, event logs, trip reports</a:t>
            </a:r>
            <a:endParaRPr lang="en-US" sz="1100" dirty="0"/>
          </a:p>
        </p:txBody>
      </p:sp>
      <p:pic>
        <p:nvPicPr>
          <p:cNvPr id="18" name="Image 5" descr="preencoded.png"/>
          <p:cNvPicPr>
            <a:picLocks noChangeAspect="1"/>
          </p:cNvPicPr>
          <p:nvPr/>
        </p:nvPicPr>
        <p:blipFill>
          <a:blip r:embed="rId3"/>
          <a:stretch>
            <a:fillRect/>
          </a:stretch>
        </p:blipFill>
        <p:spPr>
          <a:xfrm>
            <a:off x="713232" y="3995928"/>
            <a:ext cx="155448" cy="155448"/>
          </a:xfrm>
          <a:prstGeom prst="rect">
            <a:avLst/>
          </a:prstGeom>
        </p:spPr>
      </p:pic>
      <p:sp>
        <p:nvSpPr>
          <p:cNvPr id="19" name="Text 11"/>
          <p:cNvSpPr/>
          <p:nvPr/>
        </p:nvSpPr>
        <p:spPr>
          <a:xfrm>
            <a:off x="1005840" y="393192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Local dashboard demo + full dataset lifecycle</a:t>
            </a:r>
            <a:endParaRPr lang="en-US" sz="1100" dirty="0"/>
          </a:p>
        </p:txBody>
      </p:sp>
      <p:sp>
        <p:nvSpPr>
          <p:cNvPr id="20" name="Shape 12"/>
          <p:cNvSpPr/>
          <p:nvPr/>
        </p:nvSpPr>
        <p:spPr>
          <a:xfrm>
            <a:off x="4709160" y="1325880"/>
            <a:ext cx="3977640" cy="3063240"/>
          </a:xfrm>
          <a:prstGeom prst="roundRect">
            <a:avLst>
              <a:gd name="adj" fmla="val 2687"/>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1" name="Text 13"/>
          <p:cNvSpPr/>
          <p:nvPr/>
        </p:nvSpPr>
        <p:spPr>
          <a:xfrm>
            <a:off x="4965192" y="1508760"/>
            <a:ext cx="3474720" cy="256032"/>
          </a:xfrm>
          <a:prstGeom prst="rect">
            <a:avLst/>
          </a:prstGeom>
          <a:noFill/>
          <a:ln/>
        </p:spPr>
        <p:txBody>
          <a:bodyPr wrap="square" lIns="0" tIns="0" rIns="0" bIns="0" rtlCol="0" anchor="ctr"/>
          <a:lstStyle/>
          <a:p>
            <a:pPr marL="0" indent="0">
              <a:buNone/>
            </a:pPr>
            <a:r>
              <a:rPr lang="en-US" sz="1000" b="1" kern="0" spc="300" dirty="0">
                <a:solidFill>
                  <a:srgbClr val="72809B"/>
                </a:solidFill>
                <a:latin typeface="Courier New" pitchFamily="34" charset="0"/>
                <a:ea typeface="Courier New" pitchFamily="34" charset="-122"/>
                <a:cs typeface="Courier New" pitchFamily="34" charset="-120"/>
              </a:rPr>
              <a:t>OUT OF SCOPE</a:t>
            </a:r>
            <a:endParaRPr lang="en-US" sz="1000" dirty="0"/>
          </a:p>
        </p:txBody>
      </p:sp>
      <p:pic>
        <p:nvPicPr>
          <p:cNvPr id="22" name="Image 6" descr="preencoded.png"/>
          <p:cNvPicPr>
            <a:picLocks noChangeAspect="1"/>
          </p:cNvPicPr>
          <p:nvPr/>
        </p:nvPicPr>
        <p:blipFill>
          <a:blip r:embed="rId4"/>
          <a:stretch>
            <a:fillRect/>
          </a:stretch>
        </p:blipFill>
        <p:spPr>
          <a:xfrm>
            <a:off x="4965192" y="1938528"/>
            <a:ext cx="155448" cy="155448"/>
          </a:xfrm>
          <a:prstGeom prst="rect">
            <a:avLst/>
          </a:prstGeom>
        </p:spPr>
      </p:pic>
      <p:sp>
        <p:nvSpPr>
          <p:cNvPr id="23" name="Text 14"/>
          <p:cNvSpPr/>
          <p:nvPr/>
        </p:nvSpPr>
        <p:spPr>
          <a:xfrm>
            <a:off x="5257800" y="187452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Real-car braking, steering or vehicle control</a:t>
            </a:r>
            <a:endParaRPr lang="en-US" sz="1100" dirty="0"/>
          </a:p>
        </p:txBody>
      </p:sp>
      <p:pic>
        <p:nvPicPr>
          <p:cNvPr id="24" name="Image 7" descr="preencoded.png"/>
          <p:cNvPicPr>
            <a:picLocks noChangeAspect="1"/>
          </p:cNvPicPr>
          <p:nvPr/>
        </p:nvPicPr>
        <p:blipFill>
          <a:blip r:embed="rId4"/>
          <a:stretch>
            <a:fillRect/>
          </a:stretch>
        </p:blipFill>
        <p:spPr>
          <a:xfrm>
            <a:off x="4965192" y="2350008"/>
            <a:ext cx="155448" cy="155448"/>
          </a:xfrm>
          <a:prstGeom prst="rect">
            <a:avLst/>
          </a:prstGeom>
        </p:spPr>
      </p:pic>
      <p:sp>
        <p:nvSpPr>
          <p:cNvPr id="25" name="Text 15"/>
          <p:cNvSpPr/>
          <p:nvPr/>
        </p:nvSpPr>
        <p:spPr>
          <a:xfrm>
            <a:off x="5257800" y="228600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Certified commercial safety product</a:t>
            </a:r>
            <a:endParaRPr lang="en-US" sz="1100" dirty="0"/>
          </a:p>
        </p:txBody>
      </p:sp>
      <p:pic>
        <p:nvPicPr>
          <p:cNvPr id="26" name="Image 8" descr="preencoded.png"/>
          <p:cNvPicPr>
            <a:picLocks noChangeAspect="1"/>
          </p:cNvPicPr>
          <p:nvPr/>
        </p:nvPicPr>
        <p:blipFill>
          <a:blip r:embed="rId4"/>
          <a:stretch>
            <a:fillRect/>
          </a:stretch>
        </p:blipFill>
        <p:spPr>
          <a:xfrm>
            <a:off x="4965192" y="2761488"/>
            <a:ext cx="155448" cy="155448"/>
          </a:xfrm>
          <a:prstGeom prst="rect">
            <a:avLst/>
          </a:prstGeom>
        </p:spPr>
      </p:pic>
      <p:sp>
        <p:nvSpPr>
          <p:cNvPr id="27" name="Text 16"/>
          <p:cNvSpPr/>
          <p:nvPr/>
        </p:nvSpPr>
        <p:spPr>
          <a:xfrm>
            <a:off x="5257800" y="269748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Production hardware or cloud fleet platform</a:t>
            </a:r>
            <a:endParaRPr lang="en-US" sz="1100" dirty="0"/>
          </a:p>
        </p:txBody>
      </p:sp>
      <p:pic>
        <p:nvPicPr>
          <p:cNvPr id="28" name="Image 9" descr="preencoded.png"/>
          <p:cNvPicPr>
            <a:picLocks noChangeAspect="1"/>
          </p:cNvPicPr>
          <p:nvPr/>
        </p:nvPicPr>
        <p:blipFill>
          <a:blip r:embed="rId4"/>
          <a:stretch>
            <a:fillRect/>
          </a:stretch>
        </p:blipFill>
        <p:spPr>
          <a:xfrm>
            <a:off x="4965192" y="3172968"/>
            <a:ext cx="155448" cy="155448"/>
          </a:xfrm>
          <a:prstGeom prst="rect">
            <a:avLst/>
          </a:prstGeom>
        </p:spPr>
      </p:pic>
      <p:sp>
        <p:nvSpPr>
          <p:cNvPr id="29" name="Text 17"/>
          <p:cNvSpPr/>
          <p:nvPr/>
        </p:nvSpPr>
        <p:spPr>
          <a:xfrm>
            <a:off x="5257800" y="310896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Full mobile application development</a:t>
            </a:r>
            <a:endParaRPr lang="en-US" sz="1100" dirty="0"/>
          </a:p>
        </p:txBody>
      </p:sp>
      <p:pic>
        <p:nvPicPr>
          <p:cNvPr id="30" name="Image 10" descr="preencoded.png"/>
          <p:cNvPicPr>
            <a:picLocks noChangeAspect="1"/>
          </p:cNvPicPr>
          <p:nvPr/>
        </p:nvPicPr>
        <p:blipFill>
          <a:blip r:embed="rId4"/>
          <a:stretch>
            <a:fillRect/>
          </a:stretch>
        </p:blipFill>
        <p:spPr>
          <a:xfrm>
            <a:off x="4965192" y="3584448"/>
            <a:ext cx="155448" cy="155448"/>
          </a:xfrm>
          <a:prstGeom prst="rect">
            <a:avLst/>
          </a:prstGeom>
        </p:spPr>
      </p:pic>
      <p:sp>
        <p:nvSpPr>
          <p:cNvPr id="31" name="Text 18"/>
          <p:cNvSpPr/>
          <p:nvPr/>
        </p:nvSpPr>
        <p:spPr>
          <a:xfrm>
            <a:off x="5257800" y="352044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Medical diagnosis of the driver</a:t>
            </a:r>
            <a:endParaRPr lang="en-US" sz="1100" dirty="0"/>
          </a:p>
        </p:txBody>
      </p:sp>
      <p:pic>
        <p:nvPicPr>
          <p:cNvPr id="32" name="Image 11" descr="preencoded.png"/>
          <p:cNvPicPr>
            <a:picLocks noChangeAspect="1"/>
          </p:cNvPicPr>
          <p:nvPr/>
        </p:nvPicPr>
        <p:blipFill>
          <a:blip r:embed="rId4"/>
          <a:stretch>
            <a:fillRect/>
          </a:stretch>
        </p:blipFill>
        <p:spPr>
          <a:xfrm>
            <a:off x="4965192" y="3995928"/>
            <a:ext cx="155448" cy="155448"/>
          </a:xfrm>
          <a:prstGeom prst="rect">
            <a:avLst/>
          </a:prstGeom>
        </p:spPr>
      </p:pic>
      <p:sp>
        <p:nvSpPr>
          <p:cNvPr id="33" name="Text 19"/>
          <p:cNvSpPr/>
          <p:nvPr/>
        </p:nvSpPr>
        <p:spPr>
          <a:xfrm>
            <a:off x="5257800" y="3931920"/>
            <a:ext cx="3227832" cy="402336"/>
          </a:xfrm>
          <a:prstGeom prst="rect">
            <a:avLst/>
          </a:prstGeom>
          <a:noFill/>
          <a:ln/>
        </p:spPr>
        <p:txBody>
          <a:bodyPr wrap="square" lIns="0" tIns="0" rIns="0" bIns="0" rtlCol="0" anchor="t"/>
          <a:lstStyle/>
          <a:p>
            <a:pPr marL="0" indent="0">
              <a:buNone/>
            </a:pPr>
            <a:r>
              <a:rPr lang="en-US" sz="1100" dirty="0">
                <a:solidFill>
                  <a:srgbClr val="3A4A66"/>
                </a:solidFill>
                <a:latin typeface="Calibri" pitchFamily="34" charset="0"/>
                <a:ea typeface="Calibri" pitchFamily="34" charset="-122"/>
                <a:cs typeface="Calibri" pitchFamily="34" charset="-120"/>
              </a:rPr>
              <a:t>ECG, EEG or other physiological sensors</a:t>
            </a:r>
            <a:endParaRPr lang="en-US" sz="1100" dirty="0"/>
          </a:p>
        </p:txBody>
      </p:sp>
      <p:sp>
        <p:nvSpPr>
          <p:cNvPr id="34" name="Shape 20"/>
          <p:cNvSpPr/>
          <p:nvPr/>
        </p:nvSpPr>
        <p:spPr>
          <a:xfrm>
            <a:off x="1828800" y="4517136"/>
            <a:ext cx="5486400" cy="329184"/>
          </a:xfrm>
          <a:prstGeom prst="roundRect">
            <a:avLst>
              <a:gd name="adj" fmla="val 50000"/>
            </a:avLst>
          </a:prstGeom>
          <a:solidFill>
            <a:srgbClr val="FBF1DF"/>
          </a:solidFill>
          <a:ln w="12700">
            <a:solidFill>
              <a:srgbClr val="E8930C"/>
            </a:solidFill>
            <a:prstDash val="solid"/>
          </a:ln>
        </p:spPr>
        <p:txBody>
          <a:bodyPr/>
          <a:lstStyle/>
          <a:p>
            <a:endParaRPr lang="en-IN"/>
          </a:p>
        </p:txBody>
      </p:sp>
      <p:sp>
        <p:nvSpPr>
          <p:cNvPr id="35" name="Text 21"/>
          <p:cNvSpPr/>
          <p:nvPr/>
        </p:nvSpPr>
        <p:spPr>
          <a:xfrm>
            <a:off x="1828800" y="4517136"/>
            <a:ext cx="5486400" cy="329184"/>
          </a:xfrm>
          <a:prstGeom prst="rect">
            <a:avLst/>
          </a:prstGeom>
          <a:noFill/>
          <a:ln/>
        </p:spPr>
        <p:txBody>
          <a:bodyPr wrap="square" lIns="0" tIns="0" rIns="0" bIns="0" rtlCol="0" anchor="ctr"/>
          <a:lstStyle/>
          <a:p>
            <a:pPr marL="0" indent="0" algn="ctr">
              <a:buNone/>
            </a:pPr>
            <a:r>
              <a:rPr lang="en-US" sz="1000" i="1" dirty="0">
                <a:solidFill>
                  <a:srgbClr val="3A4A66"/>
                </a:solidFill>
                <a:latin typeface="Calibri" pitchFamily="34" charset="0"/>
                <a:ea typeface="Calibri" pitchFamily="34" charset="-122"/>
                <a:cs typeface="Calibri" pitchFamily="34" charset="-120"/>
              </a:rPr>
              <a:t>Academic prototype — video and computer-vision based, not a certified safety system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06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06  ·  STAKEHOLDERS</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Who Benefits From Safer Drivers</a:t>
            </a:r>
            <a:endParaRPr lang="en-US" sz="2600" dirty="0"/>
          </a:p>
        </p:txBody>
      </p:sp>
      <p:sp>
        <p:nvSpPr>
          <p:cNvPr id="6" name="Shape 4"/>
          <p:cNvSpPr/>
          <p:nvPr/>
        </p:nvSpPr>
        <p:spPr>
          <a:xfrm>
            <a:off x="457200" y="1325880"/>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7" name="Shape 5"/>
          <p:cNvSpPr/>
          <p:nvPr/>
        </p:nvSpPr>
        <p:spPr>
          <a:xfrm>
            <a:off x="1266444" y="1463040"/>
            <a:ext cx="365760" cy="365760"/>
          </a:xfrm>
          <a:prstGeom prst="ellipse">
            <a:avLst/>
          </a:prstGeom>
          <a:solidFill>
            <a:srgbClr val="E3ECF8"/>
          </a:solidFill>
          <a:ln w="12700">
            <a:solidFill>
              <a:srgbClr val="C9D6E8"/>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1357884" y="1554480"/>
            <a:ext cx="182880" cy="182880"/>
          </a:xfrm>
          <a:prstGeom prst="rect">
            <a:avLst/>
          </a:prstGeom>
        </p:spPr>
      </p:pic>
      <p:sp>
        <p:nvSpPr>
          <p:cNvPr id="9" name="Text 6"/>
          <p:cNvSpPr/>
          <p:nvPr/>
        </p:nvSpPr>
        <p:spPr>
          <a:xfrm>
            <a:off x="512064" y="1874520"/>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Drivers</a:t>
            </a:r>
            <a:endParaRPr lang="en-US" sz="1100" dirty="0"/>
          </a:p>
        </p:txBody>
      </p:sp>
      <p:sp>
        <p:nvSpPr>
          <p:cNvPr id="10" name="Text 7"/>
          <p:cNvSpPr/>
          <p:nvPr/>
        </p:nvSpPr>
        <p:spPr>
          <a:xfrm>
            <a:off x="566928" y="2148840"/>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Warnings for fatigue, distraction, seat belt, unsafe behavior</a:t>
            </a:r>
            <a:endParaRPr lang="en-US" sz="900" dirty="0"/>
          </a:p>
        </p:txBody>
      </p:sp>
      <p:sp>
        <p:nvSpPr>
          <p:cNvPr id="11" name="Shape 8"/>
          <p:cNvSpPr/>
          <p:nvPr/>
        </p:nvSpPr>
        <p:spPr>
          <a:xfrm>
            <a:off x="2546604" y="1325880"/>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2" name="Shape 9"/>
          <p:cNvSpPr/>
          <p:nvPr/>
        </p:nvSpPr>
        <p:spPr>
          <a:xfrm>
            <a:off x="3355848" y="1463040"/>
            <a:ext cx="365760" cy="365760"/>
          </a:xfrm>
          <a:prstGeom prst="ellipse">
            <a:avLst/>
          </a:prstGeom>
          <a:solidFill>
            <a:srgbClr val="E3ECF8"/>
          </a:solidFill>
          <a:ln w="12700">
            <a:solidFill>
              <a:srgbClr val="C9D6E8"/>
            </a:solidFill>
            <a:prstDash val="solid"/>
          </a:ln>
        </p:spPr>
        <p:txBody>
          <a:bodyPr/>
          <a:lstStyle/>
          <a:p>
            <a:endParaRPr lang="en-IN"/>
          </a:p>
        </p:txBody>
      </p:sp>
      <p:pic>
        <p:nvPicPr>
          <p:cNvPr id="13" name="Image 1" descr="preencoded.png"/>
          <p:cNvPicPr>
            <a:picLocks noChangeAspect="1"/>
          </p:cNvPicPr>
          <p:nvPr/>
        </p:nvPicPr>
        <p:blipFill>
          <a:blip r:embed="rId4"/>
          <a:stretch>
            <a:fillRect/>
          </a:stretch>
        </p:blipFill>
        <p:spPr>
          <a:xfrm>
            <a:off x="3447288" y="1554480"/>
            <a:ext cx="182880" cy="182880"/>
          </a:xfrm>
          <a:prstGeom prst="rect">
            <a:avLst/>
          </a:prstGeom>
        </p:spPr>
      </p:pic>
      <p:sp>
        <p:nvSpPr>
          <p:cNvPr id="14" name="Text 10"/>
          <p:cNvSpPr/>
          <p:nvPr/>
        </p:nvSpPr>
        <p:spPr>
          <a:xfrm>
            <a:off x="2601468" y="1874520"/>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Passengers</a:t>
            </a:r>
            <a:endParaRPr lang="en-US" sz="1100" dirty="0"/>
          </a:p>
        </p:txBody>
      </p:sp>
      <p:sp>
        <p:nvSpPr>
          <p:cNvPr id="15" name="Text 11"/>
          <p:cNvSpPr/>
          <p:nvPr/>
        </p:nvSpPr>
        <p:spPr>
          <a:xfrm>
            <a:off x="2656332" y="2148840"/>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Safer rides through earlier driver warnings</a:t>
            </a:r>
            <a:endParaRPr lang="en-US" sz="900" dirty="0"/>
          </a:p>
        </p:txBody>
      </p:sp>
      <p:sp>
        <p:nvSpPr>
          <p:cNvPr id="16" name="Shape 12"/>
          <p:cNvSpPr/>
          <p:nvPr/>
        </p:nvSpPr>
        <p:spPr>
          <a:xfrm>
            <a:off x="4636008" y="1325880"/>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7" name="Shape 13"/>
          <p:cNvSpPr/>
          <p:nvPr/>
        </p:nvSpPr>
        <p:spPr>
          <a:xfrm>
            <a:off x="5445252" y="1463040"/>
            <a:ext cx="365760" cy="365760"/>
          </a:xfrm>
          <a:prstGeom prst="ellipse">
            <a:avLst/>
          </a:prstGeom>
          <a:solidFill>
            <a:srgbClr val="E3ECF8"/>
          </a:solidFill>
          <a:ln w="12700">
            <a:solidFill>
              <a:srgbClr val="C9D6E8"/>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5536692" y="1554480"/>
            <a:ext cx="182880" cy="182880"/>
          </a:xfrm>
          <a:prstGeom prst="rect">
            <a:avLst/>
          </a:prstGeom>
        </p:spPr>
      </p:pic>
      <p:sp>
        <p:nvSpPr>
          <p:cNvPr id="19" name="Text 14"/>
          <p:cNvSpPr/>
          <p:nvPr/>
        </p:nvSpPr>
        <p:spPr>
          <a:xfrm>
            <a:off x="4690872" y="1874520"/>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Cab agencies</a:t>
            </a:r>
            <a:endParaRPr lang="en-US" sz="1100" dirty="0"/>
          </a:p>
        </p:txBody>
      </p:sp>
      <p:sp>
        <p:nvSpPr>
          <p:cNvPr id="20" name="Text 15"/>
          <p:cNvSpPr/>
          <p:nvPr/>
        </p:nvSpPr>
        <p:spPr>
          <a:xfrm>
            <a:off x="4745736" y="2148840"/>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Safety patterns during rides and night operations</a:t>
            </a:r>
            <a:endParaRPr lang="en-US" sz="900" dirty="0"/>
          </a:p>
        </p:txBody>
      </p:sp>
      <p:sp>
        <p:nvSpPr>
          <p:cNvPr id="21" name="Shape 16"/>
          <p:cNvSpPr/>
          <p:nvPr/>
        </p:nvSpPr>
        <p:spPr>
          <a:xfrm>
            <a:off x="6725412" y="1325880"/>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2" name="Shape 17"/>
          <p:cNvSpPr/>
          <p:nvPr/>
        </p:nvSpPr>
        <p:spPr>
          <a:xfrm>
            <a:off x="7534656" y="1463040"/>
            <a:ext cx="365760" cy="365760"/>
          </a:xfrm>
          <a:prstGeom prst="ellipse">
            <a:avLst/>
          </a:prstGeom>
          <a:solidFill>
            <a:srgbClr val="E3ECF8"/>
          </a:solidFill>
          <a:ln w="12700">
            <a:solidFill>
              <a:srgbClr val="C9D6E8"/>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7626096" y="1554480"/>
            <a:ext cx="182880" cy="182880"/>
          </a:xfrm>
          <a:prstGeom prst="rect">
            <a:avLst/>
          </a:prstGeom>
        </p:spPr>
      </p:pic>
      <p:sp>
        <p:nvSpPr>
          <p:cNvPr id="24" name="Text 18"/>
          <p:cNvSpPr/>
          <p:nvPr/>
        </p:nvSpPr>
        <p:spPr>
          <a:xfrm>
            <a:off x="6780276" y="1874520"/>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Logistics &amp; trucking</a:t>
            </a:r>
            <a:endParaRPr lang="en-US" sz="1100" dirty="0"/>
          </a:p>
        </p:txBody>
      </p:sp>
      <p:sp>
        <p:nvSpPr>
          <p:cNvPr id="25" name="Text 19"/>
          <p:cNvSpPr/>
          <p:nvPr/>
        </p:nvSpPr>
        <p:spPr>
          <a:xfrm>
            <a:off x="6835140" y="2148840"/>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Fatigue tracking on long-distance transport</a:t>
            </a:r>
            <a:endParaRPr lang="en-US" sz="900" dirty="0"/>
          </a:p>
        </p:txBody>
      </p:sp>
      <p:sp>
        <p:nvSpPr>
          <p:cNvPr id="26" name="Shape 20"/>
          <p:cNvSpPr/>
          <p:nvPr/>
        </p:nvSpPr>
        <p:spPr>
          <a:xfrm>
            <a:off x="457200" y="3081528"/>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7" name="Shape 21"/>
          <p:cNvSpPr/>
          <p:nvPr/>
        </p:nvSpPr>
        <p:spPr>
          <a:xfrm>
            <a:off x="1266444" y="3218688"/>
            <a:ext cx="365760" cy="365760"/>
          </a:xfrm>
          <a:prstGeom prst="ellipse">
            <a:avLst/>
          </a:prstGeom>
          <a:solidFill>
            <a:srgbClr val="E3ECF8"/>
          </a:solidFill>
          <a:ln w="12700">
            <a:solidFill>
              <a:srgbClr val="C9D6E8"/>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1357884" y="3310128"/>
            <a:ext cx="182880" cy="182880"/>
          </a:xfrm>
          <a:prstGeom prst="rect">
            <a:avLst/>
          </a:prstGeom>
        </p:spPr>
      </p:pic>
      <p:sp>
        <p:nvSpPr>
          <p:cNvPr id="29" name="Text 22"/>
          <p:cNvSpPr/>
          <p:nvPr/>
        </p:nvSpPr>
        <p:spPr>
          <a:xfrm>
            <a:off x="512064" y="3630168"/>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Bus operators</a:t>
            </a:r>
            <a:endParaRPr lang="en-US" sz="1100" dirty="0"/>
          </a:p>
        </p:txBody>
      </p:sp>
      <p:sp>
        <p:nvSpPr>
          <p:cNvPr id="30" name="Text 23"/>
          <p:cNvSpPr/>
          <p:nvPr/>
        </p:nvSpPr>
        <p:spPr>
          <a:xfrm>
            <a:off x="566928" y="3904488"/>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Passenger safety on long and night routes</a:t>
            </a:r>
            <a:endParaRPr lang="en-US" sz="900" dirty="0"/>
          </a:p>
        </p:txBody>
      </p:sp>
      <p:sp>
        <p:nvSpPr>
          <p:cNvPr id="31" name="Shape 24"/>
          <p:cNvSpPr/>
          <p:nvPr/>
        </p:nvSpPr>
        <p:spPr>
          <a:xfrm>
            <a:off x="2546604" y="3081528"/>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2" name="Shape 25"/>
          <p:cNvSpPr/>
          <p:nvPr/>
        </p:nvSpPr>
        <p:spPr>
          <a:xfrm>
            <a:off x="3355848" y="3218688"/>
            <a:ext cx="365760" cy="365760"/>
          </a:xfrm>
          <a:prstGeom prst="ellipse">
            <a:avLst/>
          </a:prstGeom>
          <a:solidFill>
            <a:srgbClr val="E3ECF8"/>
          </a:solidFill>
          <a:ln w="12700">
            <a:solidFill>
              <a:srgbClr val="C9D6E8"/>
            </a:solidFill>
            <a:prstDash val="solid"/>
          </a:ln>
        </p:spPr>
        <p:txBody>
          <a:bodyPr/>
          <a:lstStyle/>
          <a:p>
            <a:endParaRPr lang="en-IN"/>
          </a:p>
        </p:txBody>
      </p:sp>
      <p:pic>
        <p:nvPicPr>
          <p:cNvPr id="33" name="Image 5" descr="preencoded.png"/>
          <p:cNvPicPr>
            <a:picLocks noChangeAspect="1"/>
          </p:cNvPicPr>
          <p:nvPr/>
        </p:nvPicPr>
        <p:blipFill>
          <a:blip r:embed="rId8"/>
          <a:stretch>
            <a:fillRect/>
          </a:stretch>
        </p:blipFill>
        <p:spPr>
          <a:xfrm>
            <a:off x="3447288" y="3310128"/>
            <a:ext cx="182880" cy="182880"/>
          </a:xfrm>
          <a:prstGeom prst="rect">
            <a:avLst/>
          </a:prstGeom>
        </p:spPr>
      </p:pic>
      <p:sp>
        <p:nvSpPr>
          <p:cNvPr id="34" name="Text 26"/>
          <p:cNvSpPr/>
          <p:nvPr/>
        </p:nvSpPr>
        <p:spPr>
          <a:xfrm>
            <a:off x="2601468" y="3630168"/>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Fleet owners</a:t>
            </a:r>
            <a:endParaRPr lang="en-US" sz="1100" dirty="0"/>
          </a:p>
        </p:txBody>
      </p:sp>
      <p:sp>
        <p:nvSpPr>
          <p:cNvPr id="35" name="Text 27"/>
          <p:cNvSpPr/>
          <p:nvPr/>
        </p:nvSpPr>
        <p:spPr>
          <a:xfrm>
            <a:off x="2656332" y="3904488"/>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Wellness scores reveal risky driving trends</a:t>
            </a:r>
            <a:endParaRPr lang="en-US" sz="900" dirty="0"/>
          </a:p>
        </p:txBody>
      </p:sp>
      <p:sp>
        <p:nvSpPr>
          <p:cNvPr id="36" name="Shape 28"/>
          <p:cNvSpPr/>
          <p:nvPr/>
        </p:nvSpPr>
        <p:spPr>
          <a:xfrm>
            <a:off x="4636008" y="3081528"/>
            <a:ext cx="1984248" cy="1609344"/>
          </a:xfrm>
          <a:prstGeom prst="roundRect">
            <a:avLst>
              <a:gd name="adj" fmla="val 5114"/>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7" name="Shape 29"/>
          <p:cNvSpPr/>
          <p:nvPr/>
        </p:nvSpPr>
        <p:spPr>
          <a:xfrm>
            <a:off x="5445252" y="3218688"/>
            <a:ext cx="365760" cy="365760"/>
          </a:xfrm>
          <a:prstGeom prst="ellipse">
            <a:avLst/>
          </a:prstGeom>
          <a:solidFill>
            <a:srgbClr val="E3ECF8"/>
          </a:solidFill>
          <a:ln w="12700">
            <a:solidFill>
              <a:srgbClr val="C9D6E8"/>
            </a:solidFill>
            <a:prstDash val="solid"/>
          </a:ln>
        </p:spPr>
        <p:txBody>
          <a:bodyPr/>
          <a:lstStyle/>
          <a:p>
            <a:endParaRPr lang="en-IN"/>
          </a:p>
        </p:txBody>
      </p:sp>
      <p:pic>
        <p:nvPicPr>
          <p:cNvPr id="38" name="Image 6" descr="preencoded.png"/>
          <p:cNvPicPr>
            <a:picLocks noChangeAspect="1"/>
          </p:cNvPicPr>
          <p:nvPr/>
        </p:nvPicPr>
        <p:blipFill>
          <a:blip r:embed="rId9"/>
          <a:stretch>
            <a:fillRect/>
          </a:stretch>
        </p:blipFill>
        <p:spPr>
          <a:xfrm>
            <a:off x="5536692" y="3310128"/>
            <a:ext cx="182880" cy="182880"/>
          </a:xfrm>
          <a:prstGeom prst="rect">
            <a:avLst/>
          </a:prstGeom>
        </p:spPr>
      </p:pic>
      <p:sp>
        <p:nvSpPr>
          <p:cNvPr id="39" name="Text 30"/>
          <p:cNvSpPr/>
          <p:nvPr/>
        </p:nvSpPr>
        <p:spPr>
          <a:xfrm>
            <a:off x="4690872" y="3630168"/>
            <a:ext cx="1874520" cy="256032"/>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Safety reviewers</a:t>
            </a:r>
            <a:endParaRPr lang="en-US" sz="1100" dirty="0"/>
          </a:p>
        </p:txBody>
      </p:sp>
      <p:sp>
        <p:nvSpPr>
          <p:cNvPr id="40" name="Text 31"/>
          <p:cNvSpPr/>
          <p:nvPr/>
        </p:nvSpPr>
        <p:spPr>
          <a:xfrm>
            <a:off x="4745736" y="3904488"/>
            <a:ext cx="1764792" cy="731520"/>
          </a:xfrm>
          <a:prstGeom prst="rect">
            <a:avLst/>
          </a:prstGeom>
          <a:noFill/>
          <a:ln/>
        </p:spPr>
        <p:txBody>
          <a:bodyPr wrap="square" lIns="0" tIns="0" rIns="0" bIns="0" rtlCol="0" anchor="t"/>
          <a:lstStyle/>
          <a:p>
            <a:pPr marL="0" indent="0" algn="ctr">
              <a:buNone/>
            </a:pPr>
            <a:r>
              <a:rPr lang="en-US" sz="900" dirty="0">
                <a:solidFill>
                  <a:srgbClr val="72809B"/>
                </a:solidFill>
                <a:latin typeface="Calibri" pitchFamily="34" charset="0"/>
                <a:ea typeface="Calibri" pitchFamily="34" charset="-122"/>
                <a:cs typeface="Calibri" pitchFamily="34" charset="-120"/>
              </a:rPr>
              <a:t>Logs expose repeated driver safety issues</a:t>
            </a:r>
            <a:endParaRPr lang="en-US" sz="900" dirty="0"/>
          </a:p>
        </p:txBody>
      </p:sp>
      <p:sp>
        <p:nvSpPr>
          <p:cNvPr id="41" name="Shape 32"/>
          <p:cNvSpPr/>
          <p:nvPr/>
        </p:nvSpPr>
        <p:spPr>
          <a:xfrm>
            <a:off x="6725412" y="3081528"/>
            <a:ext cx="1984248" cy="1609344"/>
          </a:xfrm>
          <a:prstGeom prst="roundRect">
            <a:avLst>
              <a:gd name="adj" fmla="val 5114"/>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42" name="Text 33"/>
          <p:cNvSpPr/>
          <p:nvPr/>
        </p:nvSpPr>
        <p:spPr>
          <a:xfrm>
            <a:off x="6835140" y="3227832"/>
            <a:ext cx="1764792" cy="1335024"/>
          </a:xfrm>
          <a:prstGeom prst="rect">
            <a:avLst/>
          </a:prstGeom>
          <a:noFill/>
          <a:ln/>
        </p:spPr>
        <p:txBody>
          <a:bodyPr wrap="square" lIns="0" tIns="0" rIns="0" bIns="0" rtlCol="0" anchor="ctr"/>
          <a:lstStyle/>
          <a:p>
            <a:pPr marL="0" indent="0" algn="ctr">
              <a:buNone/>
            </a:pPr>
            <a:r>
              <a:rPr lang="en-US" sz="850" b="1" kern="0" spc="150" dirty="0">
                <a:solidFill>
                  <a:srgbClr val="E8930C"/>
                </a:solidFill>
                <a:latin typeface="Courier New" pitchFamily="34" charset="0"/>
                <a:ea typeface="Courier New" pitchFamily="34" charset="-122"/>
                <a:cs typeface="Courier New" pitchFamily="34" charset="-120"/>
              </a:rPr>
              <a:t>DIRECT USERS</a:t>
            </a:r>
            <a:endParaRPr lang="en-US" sz="850" dirty="0"/>
          </a:p>
          <a:p>
            <a:pPr marL="0" indent="0" algn="ctr">
              <a:buNone/>
            </a:pPr>
            <a:r>
              <a:rPr lang="en-US" sz="1000" dirty="0">
                <a:solidFill>
                  <a:srgbClr val="FFFFFF"/>
                </a:solidFill>
                <a:latin typeface="Calibri" pitchFamily="34" charset="0"/>
                <a:ea typeface="Calibri" pitchFamily="34" charset="-122"/>
                <a:cs typeface="Calibri" pitchFamily="34" charset="-120"/>
              </a:rPr>
              <a:t>drivers &amp; vehicle operators</a:t>
            </a:r>
            <a:endParaRPr lang="en-US" sz="850" dirty="0"/>
          </a:p>
          <a:p>
            <a:pPr marL="0" indent="0" algn="ctr">
              <a:buNone/>
            </a:pPr>
            <a:r>
              <a:rPr lang="en-US" sz="500" dirty="0">
                <a:solidFill>
                  <a:srgbClr val="000000"/>
                </a:solidFill>
                <a:latin typeface="Calibri" pitchFamily="34" charset="0"/>
                <a:ea typeface="Calibri" pitchFamily="34" charset="-122"/>
                <a:cs typeface="Calibri" pitchFamily="34" charset="-120"/>
              </a:rPr>
              <a:t> </a:t>
            </a:r>
            <a:endParaRPr lang="en-US" sz="850" dirty="0"/>
          </a:p>
          <a:p>
            <a:pPr marL="0" indent="0" algn="ctr">
              <a:buNone/>
            </a:pPr>
            <a:r>
              <a:rPr lang="en-US" sz="850" b="1" kern="0" spc="150" dirty="0">
                <a:solidFill>
                  <a:srgbClr val="E8930C"/>
                </a:solidFill>
                <a:latin typeface="Courier New" pitchFamily="34" charset="0"/>
                <a:ea typeface="Courier New" pitchFamily="34" charset="-122"/>
                <a:cs typeface="Courier New" pitchFamily="34" charset="-120"/>
              </a:rPr>
              <a:t>INDIRECT</a:t>
            </a:r>
            <a:endParaRPr lang="en-US" sz="850" dirty="0"/>
          </a:p>
          <a:p>
            <a:pPr marL="0" indent="0" algn="ctr">
              <a:buNone/>
            </a:pPr>
            <a:r>
              <a:rPr lang="en-US" sz="1000" dirty="0">
                <a:solidFill>
                  <a:srgbClr val="FFFFFF"/>
                </a:solidFill>
                <a:latin typeface="Calibri" pitchFamily="34" charset="0"/>
                <a:ea typeface="Calibri" pitchFamily="34" charset="-122"/>
                <a:cs typeface="Calibri" pitchFamily="34" charset="-120"/>
              </a:rPr>
              <a:t>passengers, fleets, road-safety stakeholders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07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07  ·  PROJECT OBJECTIVES</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Ten Objectives, Three Phases</a:t>
            </a:r>
            <a:endParaRPr lang="en-US" sz="2600" dirty="0"/>
          </a:p>
        </p:txBody>
      </p:sp>
      <p:sp>
        <p:nvSpPr>
          <p:cNvPr id="6" name="Shape 4"/>
          <p:cNvSpPr/>
          <p:nvPr/>
        </p:nvSpPr>
        <p:spPr>
          <a:xfrm>
            <a:off x="1773936" y="1673352"/>
            <a:ext cx="5596128" cy="0"/>
          </a:xfrm>
          <a:prstGeom prst="line">
            <a:avLst/>
          </a:prstGeom>
          <a:noFill/>
          <a:ln w="25400">
            <a:solidFill>
              <a:srgbClr val="C9D6E8"/>
            </a:solidFill>
            <a:prstDash val="dash"/>
          </a:ln>
        </p:spPr>
        <p:txBody>
          <a:bodyPr/>
          <a:lstStyle/>
          <a:p>
            <a:endParaRPr lang="en-IN"/>
          </a:p>
        </p:txBody>
      </p:sp>
      <p:sp>
        <p:nvSpPr>
          <p:cNvPr id="7" name="Shape 5"/>
          <p:cNvSpPr/>
          <p:nvPr/>
        </p:nvSpPr>
        <p:spPr>
          <a:xfrm>
            <a:off x="1591056" y="1490472"/>
            <a:ext cx="365760" cy="365760"/>
          </a:xfrm>
          <a:prstGeom prst="ellipse">
            <a:avLst/>
          </a:prstGeom>
          <a:solidFill>
            <a:srgbClr val="E8930C"/>
          </a:solidFill>
          <a:ln/>
        </p:spPr>
        <p:txBody>
          <a:bodyPr/>
          <a:lstStyle/>
          <a:p>
            <a:endParaRPr lang="en-IN"/>
          </a:p>
        </p:txBody>
      </p:sp>
      <p:sp>
        <p:nvSpPr>
          <p:cNvPr id="8" name="Text 6"/>
          <p:cNvSpPr/>
          <p:nvPr/>
        </p:nvSpPr>
        <p:spPr>
          <a:xfrm>
            <a:off x="1591056" y="14904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7"/>
          <p:cNvSpPr/>
          <p:nvPr/>
        </p:nvSpPr>
        <p:spPr>
          <a:xfrm>
            <a:off x="457200" y="2011680"/>
            <a:ext cx="2679192" cy="2697480"/>
          </a:xfrm>
          <a:prstGeom prst="roundRect">
            <a:avLst>
              <a:gd name="adj" fmla="val 3072"/>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0" name="Text 8"/>
          <p:cNvSpPr/>
          <p:nvPr/>
        </p:nvSpPr>
        <p:spPr>
          <a:xfrm>
            <a:off x="676656" y="2176272"/>
            <a:ext cx="2286000" cy="384048"/>
          </a:xfrm>
          <a:prstGeom prst="rect">
            <a:avLst/>
          </a:prstGeom>
          <a:noFill/>
          <a:ln/>
        </p:spPr>
        <p:txBody>
          <a:bodyPr wrap="square" lIns="0" tIns="0" rIns="0" bIns="0" rtlCol="0" anchor="ctr"/>
          <a:lstStyle/>
          <a:p>
            <a:pPr marL="0" indent="0">
              <a:buNone/>
            </a:pPr>
            <a:r>
              <a:rPr lang="en-US" sz="880" b="1" kern="0" spc="100" dirty="0">
                <a:solidFill>
                  <a:srgbClr val="B36F05"/>
                </a:solidFill>
                <a:latin typeface="Courier New" pitchFamily="34" charset="0"/>
                <a:ea typeface="Courier New" pitchFamily="34" charset="-122"/>
                <a:cs typeface="Courier New" pitchFamily="34" charset="-120"/>
              </a:rPr>
              <a:t>PHASE 01 — DATA FOUNDATION</a:t>
            </a:r>
            <a:endParaRPr lang="en-US" sz="880" dirty="0"/>
          </a:p>
        </p:txBody>
      </p:sp>
      <p:sp>
        <p:nvSpPr>
          <p:cNvPr id="11" name="Shape 9"/>
          <p:cNvSpPr/>
          <p:nvPr/>
        </p:nvSpPr>
        <p:spPr>
          <a:xfrm>
            <a:off x="676656" y="2615184"/>
            <a:ext cx="246888" cy="246888"/>
          </a:xfrm>
          <a:prstGeom prst="ellipse">
            <a:avLst/>
          </a:prstGeom>
          <a:solidFill>
            <a:srgbClr val="FFFFFF"/>
          </a:solidFill>
          <a:ln w="15875">
            <a:solidFill>
              <a:srgbClr val="E8930C"/>
            </a:solidFill>
            <a:prstDash val="solid"/>
          </a:ln>
        </p:spPr>
        <p:txBody>
          <a:bodyPr/>
          <a:lstStyle/>
          <a:p>
            <a:endParaRPr lang="en-IN"/>
          </a:p>
        </p:txBody>
      </p:sp>
      <p:sp>
        <p:nvSpPr>
          <p:cNvPr id="12" name="Text 10"/>
          <p:cNvSpPr/>
          <p:nvPr/>
        </p:nvSpPr>
        <p:spPr>
          <a:xfrm>
            <a:off x="676656" y="2615184"/>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1</a:t>
            </a:r>
            <a:endParaRPr lang="en-US" sz="900" dirty="0"/>
          </a:p>
        </p:txBody>
      </p:sp>
      <p:sp>
        <p:nvSpPr>
          <p:cNvPr id="13" name="Text 11"/>
          <p:cNvSpPr/>
          <p:nvPr/>
        </p:nvSpPr>
        <p:spPr>
          <a:xfrm>
            <a:off x="1024128" y="2569464"/>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Collect fatigue, distraction and safety datasets</a:t>
            </a:r>
            <a:endParaRPr lang="en-US" sz="980" dirty="0"/>
          </a:p>
        </p:txBody>
      </p:sp>
      <p:sp>
        <p:nvSpPr>
          <p:cNvPr id="14" name="Shape 12"/>
          <p:cNvSpPr/>
          <p:nvPr/>
        </p:nvSpPr>
        <p:spPr>
          <a:xfrm>
            <a:off x="676656" y="3145536"/>
            <a:ext cx="246888" cy="246888"/>
          </a:xfrm>
          <a:prstGeom prst="ellipse">
            <a:avLst/>
          </a:prstGeom>
          <a:solidFill>
            <a:srgbClr val="FFFFFF"/>
          </a:solidFill>
          <a:ln w="15875">
            <a:solidFill>
              <a:srgbClr val="E8930C"/>
            </a:solidFill>
            <a:prstDash val="solid"/>
          </a:ln>
        </p:spPr>
        <p:txBody>
          <a:bodyPr/>
          <a:lstStyle/>
          <a:p>
            <a:endParaRPr lang="en-IN"/>
          </a:p>
        </p:txBody>
      </p:sp>
      <p:sp>
        <p:nvSpPr>
          <p:cNvPr id="15" name="Text 13"/>
          <p:cNvSpPr/>
          <p:nvPr/>
        </p:nvSpPr>
        <p:spPr>
          <a:xfrm>
            <a:off x="676656" y="3145536"/>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2</a:t>
            </a:r>
            <a:endParaRPr lang="en-US" sz="900" dirty="0"/>
          </a:p>
        </p:txBody>
      </p:sp>
      <p:sp>
        <p:nvSpPr>
          <p:cNvPr id="16" name="Text 14"/>
          <p:cNvSpPr/>
          <p:nvPr/>
        </p:nvSpPr>
        <p:spPr>
          <a:xfrm>
            <a:off x="1024128" y="3099816"/>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EDA: classes, balance, duration, lighting, quality</a:t>
            </a:r>
            <a:endParaRPr lang="en-US" sz="980" dirty="0"/>
          </a:p>
        </p:txBody>
      </p:sp>
      <p:sp>
        <p:nvSpPr>
          <p:cNvPr id="17" name="Shape 15"/>
          <p:cNvSpPr/>
          <p:nvPr/>
        </p:nvSpPr>
        <p:spPr>
          <a:xfrm>
            <a:off x="676656" y="3675888"/>
            <a:ext cx="246888" cy="246888"/>
          </a:xfrm>
          <a:prstGeom prst="ellipse">
            <a:avLst/>
          </a:prstGeom>
          <a:solidFill>
            <a:srgbClr val="FFFFFF"/>
          </a:solidFill>
          <a:ln w="15875">
            <a:solidFill>
              <a:srgbClr val="E8930C"/>
            </a:solidFill>
            <a:prstDash val="solid"/>
          </a:ln>
        </p:spPr>
        <p:txBody>
          <a:bodyPr/>
          <a:lstStyle/>
          <a:p>
            <a:endParaRPr lang="en-IN"/>
          </a:p>
        </p:txBody>
      </p:sp>
      <p:sp>
        <p:nvSpPr>
          <p:cNvPr id="18" name="Text 16"/>
          <p:cNvSpPr/>
          <p:nvPr/>
        </p:nvSpPr>
        <p:spPr>
          <a:xfrm>
            <a:off x="676656" y="3675888"/>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3</a:t>
            </a:r>
            <a:endParaRPr lang="en-US" sz="900" dirty="0"/>
          </a:p>
        </p:txBody>
      </p:sp>
      <p:sp>
        <p:nvSpPr>
          <p:cNvPr id="19" name="Text 17"/>
          <p:cNvSpPr/>
          <p:nvPr/>
        </p:nvSpPr>
        <p:spPr>
          <a:xfrm>
            <a:off x="1024128" y="3630168"/>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Preprocess: frames, crops, fixed-length sequences</a:t>
            </a:r>
            <a:endParaRPr lang="en-US" sz="980" dirty="0"/>
          </a:p>
        </p:txBody>
      </p:sp>
      <p:sp>
        <p:nvSpPr>
          <p:cNvPr id="20" name="Shape 18"/>
          <p:cNvSpPr/>
          <p:nvPr/>
        </p:nvSpPr>
        <p:spPr>
          <a:xfrm>
            <a:off x="4389120" y="1490472"/>
            <a:ext cx="365760" cy="365760"/>
          </a:xfrm>
          <a:prstGeom prst="ellipse">
            <a:avLst/>
          </a:prstGeom>
          <a:solidFill>
            <a:srgbClr val="E8930C"/>
          </a:solidFill>
          <a:ln/>
        </p:spPr>
        <p:txBody>
          <a:bodyPr/>
          <a:lstStyle/>
          <a:p>
            <a:endParaRPr lang="en-IN"/>
          </a:p>
        </p:txBody>
      </p:sp>
      <p:sp>
        <p:nvSpPr>
          <p:cNvPr id="21" name="Text 19"/>
          <p:cNvSpPr/>
          <p:nvPr/>
        </p:nvSpPr>
        <p:spPr>
          <a:xfrm>
            <a:off x="4389120" y="14904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Shape 20"/>
          <p:cNvSpPr/>
          <p:nvPr/>
        </p:nvSpPr>
        <p:spPr>
          <a:xfrm>
            <a:off x="3278124" y="2011680"/>
            <a:ext cx="2679192" cy="2697480"/>
          </a:xfrm>
          <a:prstGeom prst="roundRect">
            <a:avLst>
              <a:gd name="adj" fmla="val 3072"/>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3" name="Text 21"/>
          <p:cNvSpPr/>
          <p:nvPr/>
        </p:nvSpPr>
        <p:spPr>
          <a:xfrm>
            <a:off x="3497580" y="2176272"/>
            <a:ext cx="2286000" cy="384048"/>
          </a:xfrm>
          <a:prstGeom prst="rect">
            <a:avLst/>
          </a:prstGeom>
          <a:noFill/>
          <a:ln/>
        </p:spPr>
        <p:txBody>
          <a:bodyPr wrap="square" lIns="0" tIns="0" rIns="0" bIns="0" rtlCol="0" anchor="ctr"/>
          <a:lstStyle/>
          <a:p>
            <a:pPr marL="0" indent="0">
              <a:buNone/>
            </a:pPr>
            <a:r>
              <a:rPr lang="en-US" sz="880" b="1" kern="0" spc="100" dirty="0">
                <a:solidFill>
                  <a:srgbClr val="B36F05"/>
                </a:solidFill>
                <a:latin typeface="Courier New" pitchFamily="34" charset="0"/>
                <a:ea typeface="Courier New" pitchFamily="34" charset="-122"/>
                <a:cs typeface="Courier New" pitchFamily="34" charset="-120"/>
              </a:rPr>
              <a:t>PHASE 02 — MODEL DEVELOPMENT</a:t>
            </a:r>
            <a:endParaRPr lang="en-US" sz="880" dirty="0"/>
          </a:p>
        </p:txBody>
      </p:sp>
      <p:sp>
        <p:nvSpPr>
          <p:cNvPr id="24" name="Shape 22"/>
          <p:cNvSpPr/>
          <p:nvPr/>
        </p:nvSpPr>
        <p:spPr>
          <a:xfrm>
            <a:off x="3497580" y="2615184"/>
            <a:ext cx="246888" cy="246888"/>
          </a:xfrm>
          <a:prstGeom prst="ellipse">
            <a:avLst/>
          </a:prstGeom>
          <a:solidFill>
            <a:srgbClr val="FFFFFF"/>
          </a:solidFill>
          <a:ln w="15875">
            <a:solidFill>
              <a:srgbClr val="E8930C"/>
            </a:solidFill>
            <a:prstDash val="solid"/>
          </a:ln>
        </p:spPr>
        <p:txBody>
          <a:bodyPr/>
          <a:lstStyle/>
          <a:p>
            <a:endParaRPr lang="en-IN"/>
          </a:p>
        </p:txBody>
      </p:sp>
      <p:sp>
        <p:nvSpPr>
          <p:cNvPr id="25" name="Text 23"/>
          <p:cNvSpPr/>
          <p:nvPr/>
        </p:nvSpPr>
        <p:spPr>
          <a:xfrm>
            <a:off x="3497580" y="2615184"/>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4</a:t>
            </a:r>
            <a:endParaRPr lang="en-US" sz="900" dirty="0"/>
          </a:p>
        </p:txBody>
      </p:sp>
      <p:sp>
        <p:nvSpPr>
          <p:cNvPr id="26" name="Text 24"/>
          <p:cNvSpPr/>
          <p:nvPr/>
        </p:nvSpPr>
        <p:spPr>
          <a:xfrm>
            <a:off x="3845052" y="2569464"/>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Temporal fatigue: CNN-LSTM, CNN-GRU, TCN, 3D CNN</a:t>
            </a:r>
            <a:endParaRPr lang="en-US" sz="980" dirty="0"/>
          </a:p>
        </p:txBody>
      </p:sp>
      <p:sp>
        <p:nvSpPr>
          <p:cNvPr id="27" name="Shape 25"/>
          <p:cNvSpPr/>
          <p:nvPr/>
        </p:nvSpPr>
        <p:spPr>
          <a:xfrm>
            <a:off x="3497580" y="3145536"/>
            <a:ext cx="246888" cy="246888"/>
          </a:xfrm>
          <a:prstGeom prst="ellipse">
            <a:avLst/>
          </a:prstGeom>
          <a:solidFill>
            <a:srgbClr val="FFFFFF"/>
          </a:solidFill>
          <a:ln w="15875">
            <a:solidFill>
              <a:srgbClr val="E8930C"/>
            </a:solidFill>
            <a:prstDash val="solid"/>
          </a:ln>
        </p:spPr>
        <p:txBody>
          <a:bodyPr/>
          <a:lstStyle/>
          <a:p>
            <a:endParaRPr lang="en-IN"/>
          </a:p>
        </p:txBody>
      </p:sp>
      <p:sp>
        <p:nvSpPr>
          <p:cNvPr id="28" name="Text 26"/>
          <p:cNvSpPr/>
          <p:nvPr/>
        </p:nvSpPr>
        <p:spPr>
          <a:xfrm>
            <a:off x="3497580" y="3145536"/>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5</a:t>
            </a:r>
            <a:endParaRPr lang="en-US" sz="900" dirty="0"/>
          </a:p>
        </p:txBody>
      </p:sp>
      <p:sp>
        <p:nvSpPr>
          <p:cNvPr id="29" name="Text 27"/>
          <p:cNvSpPr/>
          <p:nvPr/>
        </p:nvSpPr>
        <p:spPr>
          <a:xfrm>
            <a:off x="3845052" y="3099816"/>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MediaPipe features: EAR, MAR, head pose, gaze</a:t>
            </a:r>
            <a:endParaRPr lang="en-US" sz="980" dirty="0"/>
          </a:p>
        </p:txBody>
      </p:sp>
      <p:sp>
        <p:nvSpPr>
          <p:cNvPr id="30" name="Shape 28"/>
          <p:cNvSpPr/>
          <p:nvPr/>
        </p:nvSpPr>
        <p:spPr>
          <a:xfrm>
            <a:off x="3497580" y="3675888"/>
            <a:ext cx="246888" cy="246888"/>
          </a:xfrm>
          <a:prstGeom prst="ellipse">
            <a:avLst/>
          </a:prstGeom>
          <a:solidFill>
            <a:srgbClr val="FFFFFF"/>
          </a:solidFill>
          <a:ln w="15875">
            <a:solidFill>
              <a:srgbClr val="E8930C"/>
            </a:solidFill>
            <a:prstDash val="solid"/>
          </a:ln>
        </p:spPr>
        <p:txBody>
          <a:bodyPr/>
          <a:lstStyle/>
          <a:p>
            <a:endParaRPr lang="en-IN"/>
          </a:p>
        </p:txBody>
      </p:sp>
      <p:sp>
        <p:nvSpPr>
          <p:cNvPr id="31" name="Text 29"/>
          <p:cNvSpPr/>
          <p:nvPr/>
        </p:nvSpPr>
        <p:spPr>
          <a:xfrm>
            <a:off x="3497580" y="3675888"/>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6</a:t>
            </a:r>
            <a:endParaRPr lang="en-US" sz="900" dirty="0"/>
          </a:p>
        </p:txBody>
      </p:sp>
      <p:sp>
        <p:nvSpPr>
          <p:cNvPr id="32" name="Text 30"/>
          <p:cNvSpPr/>
          <p:nvPr/>
        </p:nvSpPr>
        <p:spPr>
          <a:xfrm>
            <a:off x="3845052" y="3630168"/>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YOLO: seat belt, phone, smoking, drinking</a:t>
            </a:r>
            <a:endParaRPr lang="en-US" sz="980" dirty="0"/>
          </a:p>
        </p:txBody>
      </p:sp>
      <p:sp>
        <p:nvSpPr>
          <p:cNvPr id="33" name="Shape 31"/>
          <p:cNvSpPr/>
          <p:nvPr/>
        </p:nvSpPr>
        <p:spPr>
          <a:xfrm>
            <a:off x="3497580" y="4206240"/>
            <a:ext cx="246888" cy="246888"/>
          </a:xfrm>
          <a:prstGeom prst="ellipse">
            <a:avLst/>
          </a:prstGeom>
          <a:solidFill>
            <a:srgbClr val="FFFFFF"/>
          </a:solidFill>
          <a:ln w="15875">
            <a:solidFill>
              <a:srgbClr val="E8930C"/>
            </a:solidFill>
            <a:prstDash val="solid"/>
          </a:ln>
        </p:spPr>
        <p:txBody>
          <a:bodyPr/>
          <a:lstStyle/>
          <a:p>
            <a:endParaRPr lang="en-IN"/>
          </a:p>
        </p:txBody>
      </p:sp>
      <p:sp>
        <p:nvSpPr>
          <p:cNvPr id="34" name="Text 32"/>
          <p:cNvSpPr/>
          <p:nvPr/>
        </p:nvSpPr>
        <p:spPr>
          <a:xfrm>
            <a:off x="3497580" y="4206240"/>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7</a:t>
            </a:r>
            <a:endParaRPr lang="en-US" sz="900" dirty="0"/>
          </a:p>
        </p:txBody>
      </p:sp>
      <p:sp>
        <p:nvSpPr>
          <p:cNvPr id="35" name="Text 33"/>
          <p:cNvSpPr/>
          <p:nvPr/>
        </p:nvSpPr>
        <p:spPr>
          <a:xfrm>
            <a:off x="3845052" y="4160520"/>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Distraction CNN: MobileNetV3, EfficientNet-B0, ResNet18</a:t>
            </a:r>
            <a:endParaRPr lang="en-US" sz="980" dirty="0"/>
          </a:p>
        </p:txBody>
      </p:sp>
      <p:sp>
        <p:nvSpPr>
          <p:cNvPr id="36" name="Shape 34"/>
          <p:cNvSpPr/>
          <p:nvPr/>
        </p:nvSpPr>
        <p:spPr>
          <a:xfrm>
            <a:off x="7187184" y="1490472"/>
            <a:ext cx="365760" cy="365760"/>
          </a:xfrm>
          <a:prstGeom prst="ellipse">
            <a:avLst/>
          </a:prstGeom>
          <a:solidFill>
            <a:srgbClr val="E8930C"/>
          </a:solidFill>
          <a:ln/>
        </p:spPr>
        <p:txBody>
          <a:bodyPr/>
          <a:lstStyle/>
          <a:p>
            <a:endParaRPr lang="en-IN"/>
          </a:p>
        </p:txBody>
      </p:sp>
      <p:sp>
        <p:nvSpPr>
          <p:cNvPr id="37" name="Text 35"/>
          <p:cNvSpPr/>
          <p:nvPr/>
        </p:nvSpPr>
        <p:spPr>
          <a:xfrm>
            <a:off x="7187184" y="14904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8" name="Shape 36"/>
          <p:cNvSpPr/>
          <p:nvPr/>
        </p:nvSpPr>
        <p:spPr>
          <a:xfrm>
            <a:off x="6099048" y="2011680"/>
            <a:ext cx="2679192" cy="2697480"/>
          </a:xfrm>
          <a:prstGeom prst="roundRect">
            <a:avLst>
              <a:gd name="adj" fmla="val 3072"/>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9" name="Text 37"/>
          <p:cNvSpPr/>
          <p:nvPr/>
        </p:nvSpPr>
        <p:spPr>
          <a:xfrm>
            <a:off x="6318504" y="2176272"/>
            <a:ext cx="2286000" cy="384048"/>
          </a:xfrm>
          <a:prstGeom prst="rect">
            <a:avLst/>
          </a:prstGeom>
          <a:noFill/>
          <a:ln/>
        </p:spPr>
        <p:txBody>
          <a:bodyPr wrap="square" lIns="0" tIns="0" rIns="0" bIns="0" rtlCol="0" anchor="ctr"/>
          <a:lstStyle/>
          <a:p>
            <a:pPr marL="0" indent="0">
              <a:buNone/>
            </a:pPr>
            <a:r>
              <a:rPr lang="en-US" sz="880" b="1" kern="0" spc="100" dirty="0">
                <a:solidFill>
                  <a:srgbClr val="B36F05"/>
                </a:solidFill>
                <a:latin typeface="Courier New" pitchFamily="34" charset="0"/>
                <a:ea typeface="Courier New" pitchFamily="34" charset="-122"/>
                <a:cs typeface="Courier New" pitchFamily="34" charset="-120"/>
              </a:rPr>
              <a:t>PHASE 03 — SYSTEM &amp; EVALUATION</a:t>
            </a:r>
            <a:endParaRPr lang="en-US" sz="880" dirty="0"/>
          </a:p>
        </p:txBody>
      </p:sp>
      <p:sp>
        <p:nvSpPr>
          <p:cNvPr id="40" name="Shape 38"/>
          <p:cNvSpPr/>
          <p:nvPr/>
        </p:nvSpPr>
        <p:spPr>
          <a:xfrm>
            <a:off x="6318504" y="2615184"/>
            <a:ext cx="246888" cy="246888"/>
          </a:xfrm>
          <a:prstGeom prst="ellipse">
            <a:avLst/>
          </a:prstGeom>
          <a:solidFill>
            <a:srgbClr val="FFFFFF"/>
          </a:solidFill>
          <a:ln w="15875">
            <a:solidFill>
              <a:srgbClr val="E8930C"/>
            </a:solidFill>
            <a:prstDash val="solid"/>
          </a:ln>
        </p:spPr>
        <p:txBody>
          <a:bodyPr/>
          <a:lstStyle/>
          <a:p>
            <a:endParaRPr lang="en-IN"/>
          </a:p>
        </p:txBody>
      </p:sp>
      <p:sp>
        <p:nvSpPr>
          <p:cNvPr id="41" name="Text 39"/>
          <p:cNvSpPr/>
          <p:nvPr/>
        </p:nvSpPr>
        <p:spPr>
          <a:xfrm>
            <a:off x="6318504" y="2615184"/>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8</a:t>
            </a:r>
            <a:endParaRPr lang="en-US" sz="900" dirty="0"/>
          </a:p>
        </p:txBody>
      </p:sp>
      <p:sp>
        <p:nvSpPr>
          <p:cNvPr id="42" name="Text 40"/>
          <p:cNvSpPr/>
          <p:nvPr/>
        </p:nvSpPr>
        <p:spPr>
          <a:xfrm>
            <a:off x="6665976" y="2569464"/>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Fuse outputs into a driver wellness score</a:t>
            </a:r>
            <a:endParaRPr lang="en-US" sz="980" dirty="0"/>
          </a:p>
        </p:txBody>
      </p:sp>
      <p:sp>
        <p:nvSpPr>
          <p:cNvPr id="43" name="Shape 41"/>
          <p:cNvSpPr/>
          <p:nvPr/>
        </p:nvSpPr>
        <p:spPr>
          <a:xfrm>
            <a:off x="6318504" y="3145536"/>
            <a:ext cx="246888" cy="246888"/>
          </a:xfrm>
          <a:prstGeom prst="ellipse">
            <a:avLst/>
          </a:prstGeom>
          <a:solidFill>
            <a:srgbClr val="FFFFFF"/>
          </a:solidFill>
          <a:ln w="15875">
            <a:solidFill>
              <a:srgbClr val="E8930C"/>
            </a:solidFill>
            <a:prstDash val="solid"/>
          </a:ln>
        </p:spPr>
        <p:txBody>
          <a:bodyPr/>
          <a:lstStyle/>
          <a:p>
            <a:endParaRPr lang="en-IN"/>
          </a:p>
        </p:txBody>
      </p:sp>
      <p:sp>
        <p:nvSpPr>
          <p:cNvPr id="44" name="Text 42"/>
          <p:cNvSpPr/>
          <p:nvPr/>
        </p:nvSpPr>
        <p:spPr>
          <a:xfrm>
            <a:off x="6318504" y="3145536"/>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9</a:t>
            </a:r>
            <a:endParaRPr lang="en-US" sz="900" dirty="0"/>
          </a:p>
        </p:txBody>
      </p:sp>
      <p:sp>
        <p:nvSpPr>
          <p:cNvPr id="45" name="Text 43"/>
          <p:cNvSpPr/>
          <p:nvPr/>
        </p:nvSpPr>
        <p:spPr>
          <a:xfrm>
            <a:off x="6665976" y="3099816"/>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LLM trip reports from structured logs</a:t>
            </a:r>
            <a:endParaRPr lang="en-US" sz="980" dirty="0"/>
          </a:p>
        </p:txBody>
      </p:sp>
      <p:sp>
        <p:nvSpPr>
          <p:cNvPr id="46" name="Shape 44"/>
          <p:cNvSpPr/>
          <p:nvPr/>
        </p:nvSpPr>
        <p:spPr>
          <a:xfrm>
            <a:off x="6318504" y="3675888"/>
            <a:ext cx="246888" cy="246888"/>
          </a:xfrm>
          <a:prstGeom prst="ellipse">
            <a:avLst/>
          </a:prstGeom>
          <a:solidFill>
            <a:srgbClr val="FFFFFF"/>
          </a:solidFill>
          <a:ln w="15875">
            <a:solidFill>
              <a:srgbClr val="E8930C"/>
            </a:solidFill>
            <a:prstDash val="solid"/>
          </a:ln>
        </p:spPr>
        <p:txBody>
          <a:bodyPr/>
          <a:lstStyle/>
          <a:p>
            <a:endParaRPr lang="en-IN"/>
          </a:p>
        </p:txBody>
      </p:sp>
      <p:sp>
        <p:nvSpPr>
          <p:cNvPr id="47" name="Text 45"/>
          <p:cNvSpPr/>
          <p:nvPr/>
        </p:nvSpPr>
        <p:spPr>
          <a:xfrm>
            <a:off x="6318504" y="3675888"/>
            <a:ext cx="246888" cy="246888"/>
          </a:xfrm>
          <a:prstGeom prst="rect">
            <a:avLst/>
          </a:prstGeom>
          <a:noFill/>
          <a:ln/>
        </p:spPr>
        <p:txBody>
          <a:bodyPr wrap="square" lIns="0" tIns="0" rIns="0" bIns="0" rtlCol="0" anchor="ctr"/>
          <a:lstStyle/>
          <a:p>
            <a:pPr marL="0" indent="0" algn="ctr">
              <a:buNone/>
            </a:pPr>
            <a:r>
              <a:rPr lang="en-US" sz="900" b="1" dirty="0">
                <a:solidFill>
                  <a:srgbClr val="B36F05"/>
                </a:solidFill>
                <a:latin typeface="Courier New" pitchFamily="34" charset="0"/>
                <a:ea typeface="Courier New" pitchFamily="34" charset="-122"/>
                <a:cs typeface="Courier New" pitchFamily="34" charset="-120"/>
              </a:rPr>
              <a:t>10</a:t>
            </a:r>
            <a:endParaRPr lang="en-US" sz="900" dirty="0"/>
          </a:p>
        </p:txBody>
      </p:sp>
      <p:sp>
        <p:nvSpPr>
          <p:cNvPr id="48" name="Text 46"/>
          <p:cNvSpPr/>
          <p:nvPr/>
        </p:nvSpPr>
        <p:spPr>
          <a:xfrm>
            <a:off x="6665976" y="3630168"/>
            <a:ext cx="2011680" cy="512064"/>
          </a:xfrm>
          <a:prstGeom prst="rect">
            <a:avLst/>
          </a:prstGeom>
          <a:noFill/>
          <a:ln/>
        </p:spPr>
        <p:txBody>
          <a:bodyPr wrap="square" lIns="0" tIns="0" rIns="0" bIns="0" rtlCol="0" anchor="t"/>
          <a:lstStyle/>
          <a:p>
            <a:pPr marL="0" indent="0">
              <a:buNone/>
            </a:pPr>
            <a:r>
              <a:rPr lang="en-US" sz="980" dirty="0">
                <a:solidFill>
                  <a:srgbClr val="3A4A66"/>
                </a:solidFill>
                <a:latin typeface="Calibri" pitchFamily="34" charset="0"/>
                <a:ea typeface="Calibri" pitchFamily="34" charset="-122"/>
                <a:cs typeface="Calibri" pitchFamily="34" charset="-120"/>
              </a:rPr>
              <a:t>Metrics: accuracy, F1, mAP, FPS, false alarms</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08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08  ·  DATA</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Datasets: Collection and Understanding</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365760">
                <a:tc>
                  <a:txBody>
                    <a:bodyPr/>
                    <a:lstStyle/>
                    <a:p>
                      <a:pPr marL="0" indent="0">
                        <a:buNone/>
                      </a:pPr>
                      <a:r>
                        <a:rPr lang="en-US" sz="1000" b="1" dirty="0">
                          <a:solidFill>
                            <a:srgbClr val="FFFFFF"/>
                          </a:solidFill>
                          <a:latin typeface="Courier New" pitchFamily="34" charset="0"/>
                          <a:ea typeface="Courier New" pitchFamily="34" charset="-122"/>
                          <a:cs typeface="Courier New" pitchFamily="34" charset="-120"/>
                        </a:rPr>
                        <a:t>DATASET</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F1B33"/>
                    </a:solidFill>
                  </a:tcPr>
                </a:tc>
                <a:tc>
                  <a:txBody>
                    <a:bodyPr/>
                    <a:lstStyle/>
                    <a:p>
                      <a:pPr marL="0" indent="0">
                        <a:buNone/>
                      </a:pPr>
                      <a:r>
                        <a:rPr lang="en-US" sz="1000" b="1" dirty="0">
                          <a:solidFill>
                            <a:srgbClr val="FFFFFF"/>
                          </a:solidFill>
                          <a:latin typeface="Courier New" pitchFamily="34" charset="0"/>
                          <a:ea typeface="Courier New" pitchFamily="34" charset="-122"/>
                          <a:cs typeface="Courier New" pitchFamily="34" charset="-120"/>
                        </a:rPr>
                        <a:t>TYPE</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F1B33"/>
                    </a:solidFill>
                  </a:tcPr>
                </a:tc>
                <a:tc>
                  <a:txBody>
                    <a:bodyPr/>
                    <a:lstStyle/>
                    <a:p>
                      <a:pPr marL="0" indent="0">
                        <a:buNone/>
                      </a:pPr>
                      <a:r>
                        <a:rPr lang="en-US" sz="1000" b="1" dirty="0">
                          <a:solidFill>
                            <a:srgbClr val="FFFFFF"/>
                          </a:solidFill>
                          <a:latin typeface="Courier New" pitchFamily="34" charset="0"/>
                          <a:ea typeface="Courier New" pitchFamily="34" charset="-122"/>
                          <a:cs typeface="Courier New" pitchFamily="34" charset="-120"/>
                        </a:rPr>
                        <a:t>PURPOSE</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0F1B33"/>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NTHU Driver Drowsiness</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Driver video</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Fatigue and drowsiness patterns from video sequences</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YawDD</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Yawning video</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Continuous yawning and mouth-movement patterns</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State Farm Distracted Driver</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Activity images</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Texting, drinking, reaching and safe-driving classes</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Drive&amp;Act</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Multi-modal video</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Fine-grained driver action recognition</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DMD Driver Monitoring</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Video, multi-modal</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Distraction, gaze and drowsiness scenarios</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Kaggle / Roboflow sets</a:t>
                      </a:r>
                      <a:endParaRPr lang="en-US" sz="105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72809B"/>
                          </a:solidFill>
                          <a:latin typeface="Calibri" pitchFamily="34" charset="0"/>
                          <a:ea typeface="Calibri" pitchFamily="34" charset="-122"/>
                          <a:cs typeface="Calibri" pitchFamily="34" charset="-120"/>
                        </a:rPr>
                        <a:t>Object detection</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tc>
                  <a:txBody>
                    <a:bodyPr/>
                    <a:lstStyle/>
                    <a:p>
                      <a:pPr marL="0" indent="0">
                        <a:buNone/>
                      </a:pPr>
                      <a:r>
                        <a:rPr lang="en-US" sz="1000" dirty="0">
                          <a:solidFill>
                            <a:srgbClr val="3A4A66"/>
                          </a:solidFill>
                          <a:latin typeface="Calibri" pitchFamily="34" charset="0"/>
                          <a:ea typeface="Calibri" pitchFamily="34" charset="-122"/>
                          <a:cs typeface="Calibri" pitchFamily="34" charset="-120"/>
                        </a:rPr>
                        <a:t>Seat belt, phone, smoking, drinking detection</a:t>
                      </a:r>
                      <a:endParaRPr lang="en-US" sz="1000" dirty="0">
                        <a:latin typeface="Calibri" charset="0"/>
                        <a:ea typeface="Calibri" charset="0"/>
                        <a:cs typeface="Calibri" charset="0"/>
                      </a:endParaRPr>
                    </a:p>
                  </a:txBody>
                  <a:tcPr marL="54864" marR="54864" marT="54864" marB="54864"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7" name="Shape 4"/>
          <p:cNvSpPr/>
          <p:nvPr/>
        </p:nvSpPr>
        <p:spPr>
          <a:xfrm>
            <a:off x="457200" y="3977640"/>
            <a:ext cx="4041648" cy="603504"/>
          </a:xfrm>
          <a:prstGeom prst="roundRect">
            <a:avLst>
              <a:gd name="adj" fmla="val 13636"/>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8" name="Text 5"/>
          <p:cNvSpPr/>
          <p:nvPr/>
        </p:nvSpPr>
        <p:spPr>
          <a:xfrm>
            <a:off x="621792" y="4032504"/>
            <a:ext cx="3749040" cy="493776"/>
          </a:xfrm>
          <a:prstGeom prst="rect">
            <a:avLst/>
          </a:prstGeom>
          <a:noFill/>
          <a:ln/>
        </p:spPr>
        <p:txBody>
          <a:bodyPr wrap="square" lIns="0" tIns="0" rIns="0" bIns="0" rtlCol="0" anchor="ctr"/>
          <a:lstStyle/>
          <a:p>
            <a:pPr marL="0" indent="0">
              <a:buNone/>
            </a:pPr>
            <a:r>
              <a:rPr lang="en-US" sz="950" b="1" dirty="0">
                <a:solidFill>
                  <a:srgbClr val="B36F05"/>
                </a:solidFill>
                <a:latin typeface="Courier New" pitchFamily="34" charset="0"/>
                <a:ea typeface="Courier New" pitchFamily="34" charset="-122"/>
                <a:cs typeface="Courier New" pitchFamily="34" charset="-120"/>
              </a:rPr>
              <a:t>EDA  </a:t>
            </a:r>
            <a:r>
              <a:rPr lang="en-US" sz="950" dirty="0">
                <a:solidFill>
                  <a:srgbClr val="3A4A66"/>
                </a:solidFill>
                <a:latin typeface="Calibri" pitchFamily="34" charset="0"/>
                <a:ea typeface="Calibri" pitchFamily="34" charset="-122"/>
                <a:cs typeface="Calibri" pitchFamily="34" charset="-120"/>
              </a:rPr>
              <a:t>class balance · duration · FPS · lighting · annotation quality · usable splits</a:t>
            </a:r>
            <a:endParaRPr lang="en-US" sz="950" dirty="0"/>
          </a:p>
        </p:txBody>
      </p:sp>
      <p:sp>
        <p:nvSpPr>
          <p:cNvPr id="6" name="Shape 6"/>
          <p:cNvSpPr/>
          <p:nvPr/>
        </p:nvSpPr>
        <p:spPr>
          <a:xfrm>
            <a:off x="4645152" y="3977640"/>
            <a:ext cx="4041648" cy="603504"/>
          </a:xfrm>
          <a:prstGeom prst="roundRect">
            <a:avLst>
              <a:gd name="adj" fmla="val 13636"/>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0" name="Text 7"/>
          <p:cNvSpPr/>
          <p:nvPr/>
        </p:nvSpPr>
        <p:spPr>
          <a:xfrm>
            <a:off x="4809744" y="4032504"/>
            <a:ext cx="3749040" cy="493776"/>
          </a:xfrm>
          <a:prstGeom prst="rect">
            <a:avLst/>
          </a:prstGeom>
          <a:noFill/>
          <a:ln/>
        </p:spPr>
        <p:txBody>
          <a:bodyPr wrap="square" lIns="0" tIns="0" rIns="0" bIns="0" rtlCol="0" anchor="ctr"/>
          <a:lstStyle/>
          <a:p>
            <a:pPr marL="0" indent="0">
              <a:buNone/>
            </a:pPr>
            <a:r>
              <a:rPr lang="en-US" sz="950" b="1" dirty="0">
                <a:solidFill>
                  <a:srgbClr val="B36F05"/>
                </a:solidFill>
                <a:latin typeface="Courier New" pitchFamily="34" charset="0"/>
                <a:ea typeface="Courier New" pitchFamily="34" charset="-122"/>
                <a:cs typeface="Courier New" pitchFamily="34" charset="-120"/>
              </a:rPr>
              <a:t>PREP  </a:t>
            </a:r>
            <a:r>
              <a:rPr lang="en-US" sz="950" dirty="0">
                <a:solidFill>
                  <a:srgbClr val="3A4A66"/>
                </a:solidFill>
                <a:latin typeface="Calibri" pitchFamily="34" charset="0"/>
                <a:ea typeface="Calibri" pitchFamily="34" charset="-122"/>
                <a:cs typeface="Calibri" pitchFamily="34" charset="-120"/>
              </a:rPr>
              <a:t>face/upper-body crops → normalized 16/32/64-frame sequences → splits</a:t>
            </a:r>
            <a:endParaRPr lang="en-US" sz="950" dirty="0"/>
          </a:p>
        </p:txBody>
      </p:sp>
      <p:sp>
        <p:nvSpPr>
          <p:cNvPr id="11" name="Text 8"/>
          <p:cNvSpPr/>
          <p:nvPr/>
        </p:nvSpPr>
        <p:spPr>
          <a:xfrm>
            <a:off x="457200" y="4645152"/>
            <a:ext cx="8229600" cy="219456"/>
          </a:xfrm>
          <a:prstGeom prst="rect">
            <a:avLst/>
          </a:prstGeom>
          <a:noFill/>
          <a:ln/>
        </p:spPr>
        <p:txBody>
          <a:bodyPr wrap="square" lIns="0" tIns="0" rIns="0" bIns="0" rtlCol="0" anchor="ctr"/>
          <a:lstStyle/>
          <a:p>
            <a:pPr marL="0" indent="0" algn="ctr">
              <a:buNone/>
            </a:pPr>
            <a:r>
              <a:rPr lang="en-US" sz="950" i="1" dirty="0">
                <a:solidFill>
                  <a:srgbClr val="9AA7BD"/>
                </a:solidFill>
                <a:latin typeface="Calibri" pitchFamily="34" charset="0"/>
                <a:ea typeface="Calibri" pitchFamily="34" charset="-122"/>
                <a:cs typeface="Calibri" pitchFamily="34" charset="-120"/>
              </a:rPr>
              <a:t>Final selection depends on access, license, size and Google Colab feasibility.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09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09  ·  CORE MODEL</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Video-Based Fatigue Detection</a:t>
            </a:r>
            <a:endParaRPr lang="en-US" sz="2600" dirty="0"/>
          </a:p>
        </p:txBody>
      </p:sp>
      <p:sp>
        <p:nvSpPr>
          <p:cNvPr id="6" name="Shape 4"/>
          <p:cNvSpPr/>
          <p:nvPr/>
        </p:nvSpPr>
        <p:spPr>
          <a:xfrm>
            <a:off x="457200" y="1298448"/>
            <a:ext cx="8229600" cy="1627632"/>
          </a:xfrm>
          <a:prstGeom prst="roundRect">
            <a:avLst>
              <a:gd name="adj" fmla="val 5056"/>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pic>
        <p:nvPicPr>
          <p:cNvPr id="7" name="Image 0" descr="preencoded.png"/>
          <p:cNvPicPr>
            <a:picLocks noChangeAspect="1"/>
          </p:cNvPicPr>
          <p:nvPr/>
        </p:nvPicPr>
        <p:blipFill>
          <a:blip r:embed="rId3"/>
          <a:stretch>
            <a:fillRect/>
          </a:stretch>
        </p:blipFill>
        <p:spPr>
          <a:xfrm>
            <a:off x="658368" y="1426464"/>
            <a:ext cx="7827264" cy="1371600"/>
          </a:xfrm>
          <a:prstGeom prst="rect">
            <a:avLst/>
          </a:prstGeom>
        </p:spPr>
      </p:pic>
      <p:sp>
        <p:nvSpPr>
          <p:cNvPr id="8" name="Text 5"/>
          <p:cNvSpPr/>
          <p:nvPr/>
        </p:nvSpPr>
        <p:spPr>
          <a:xfrm>
            <a:off x="457200" y="3127248"/>
            <a:ext cx="3931920" cy="237744"/>
          </a:xfrm>
          <a:prstGeom prst="rect">
            <a:avLst/>
          </a:prstGeom>
          <a:noFill/>
          <a:ln/>
        </p:spPr>
        <p:txBody>
          <a:bodyPr wrap="square" lIns="0" tIns="0" rIns="0" bIns="0" rtlCol="0" anchor="ctr"/>
          <a:lstStyle/>
          <a:p>
            <a:pPr marL="0" indent="0">
              <a:buNone/>
            </a:pPr>
            <a:r>
              <a:rPr lang="en-US" sz="1000" b="1" kern="0" spc="200" dirty="0">
                <a:solidFill>
                  <a:srgbClr val="B36F05"/>
                </a:solidFill>
                <a:latin typeface="Courier New" pitchFamily="34" charset="0"/>
                <a:ea typeface="Courier New" pitchFamily="34" charset="-122"/>
                <a:cs typeface="Courier New" pitchFamily="34" charset="-120"/>
              </a:rPr>
              <a:t>WHY TEMPORAL MODELS</a:t>
            </a:r>
            <a:endParaRPr lang="en-US" sz="1000" dirty="0"/>
          </a:p>
        </p:txBody>
      </p:sp>
      <p:sp>
        <p:nvSpPr>
          <p:cNvPr id="9" name="Text 6"/>
          <p:cNvSpPr/>
          <p:nvPr/>
        </p:nvSpPr>
        <p:spPr>
          <a:xfrm>
            <a:off x="457200" y="3456432"/>
            <a:ext cx="3931920" cy="1280160"/>
          </a:xfrm>
          <a:prstGeom prst="rect">
            <a:avLst/>
          </a:prstGeom>
          <a:noFill/>
          <a:ln/>
        </p:spPr>
        <p:txBody>
          <a:bodyPr wrap="square" lIns="0" tIns="0" rIns="0" bIns="0" rtlCol="0" anchor="t"/>
          <a:lstStyle/>
          <a:p>
            <a:pPr marL="152400" indent="-152400">
              <a:spcAft>
                <a:spcPts val="800"/>
              </a:spcAft>
              <a:buSzPct val="100000"/>
              <a:buChar char="▪"/>
            </a:pPr>
            <a:r>
              <a:rPr lang="en-US" sz="1100" dirty="0">
                <a:solidFill>
                  <a:srgbClr val="3A4A66"/>
                </a:solidFill>
                <a:latin typeface="Calibri" pitchFamily="34" charset="0"/>
                <a:ea typeface="Calibri" pitchFamily="34" charset="-122"/>
                <a:cs typeface="Calibri" pitchFamily="34" charset="-120"/>
              </a:rPr>
              <a:t>Blink vs drowsiness: identical in one frame</a:t>
            </a:r>
            <a:endParaRPr lang="en-US" sz="1100" dirty="0"/>
          </a:p>
          <a:p>
            <a:pPr marL="152400" indent="-152400">
              <a:spcAft>
                <a:spcPts val="800"/>
              </a:spcAft>
              <a:buSzPct val="100000"/>
              <a:buChar char="▪"/>
            </a:pPr>
            <a:r>
              <a:rPr lang="en-US" sz="1100" dirty="0">
                <a:solidFill>
                  <a:srgbClr val="3A4A66"/>
                </a:solidFill>
                <a:latin typeface="Calibri" pitchFamily="34" charset="0"/>
                <a:ea typeface="Calibri" pitchFamily="34" charset="-122"/>
                <a:cs typeface="Calibri" pitchFamily="34" charset="-120"/>
              </a:rPr>
              <a:t>Open mouth: yawn, talk, laugh or sing?</a:t>
            </a:r>
            <a:endParaRPr lang="en-US" sz="1100" dirty="0"/>
          </a:p>
          <a:p>
            <a:pPr marL="152400" indent="-152400">
              <a:spcAft>
                <a:spcPts val="800"/>
              </a:spcAft>
              <a:buSzPct val="100000"/>
              <a:buChar char="▪"/>
            </a:pPr>
            <a:r>
              <a:rPr lang="en-US" sz="1100" dirty="0">
                <a:solidFill>
                  <a:srgbClr val="3A4A66"/>
                </a:solidFill>
                <a:latin typeface="Calibri" pitchFamily="34" charset="0"/>
                <a:ea typeface="Calibri" pitchFamily="34" charset="-122"/>
                <a:cs typeface="Calibri" pitchFamily="34" charset="-120"/>
              </a:rPr>
              <a:t>Patterns: slow blinks, closures, yawns, nodding</a:t>
            </a:r>
            <a:endParaRPr lang="en-US" sz="1100" dirty="0"/>
          </a:p>
        </p:txBody>
      </p:sp>
      <p:sp>
        <p:nvSpPr>
          <p:cNvPr id="10" name="Text 7"/>
          <p:cNvSpPr/>
          <p:nvPr/>
        </p:nvSpPr>
        <p:spPr>
          <a:xfrm>
            <a:off x="4663440" y="3127248"/>
            <a:ext cx="4023360" cy="237744"/>
          </a:xfrm>
          <a:prstGeom prst="rect">
            <a:avLst/>
          </a:prstGeom>
          <a:noFill/>
          <a:ln/>
        </p:spPr>
        <p:txBody>
          <a:bodyPr wrap="square" lIns="0" tIns="0" rIns="0" bIns="0" rtlCol="0" anchor="ctr"/>
          <a:lstStyle/>
          <a:p>
            <a:pPr marL="0" indent="0">
              <a:buNone/>
            </a:pPr>
            <a:r>
              <a:rPr lang="en-US" sz="1000" b="1" kern="0" spc="200" dirty="0">
                <a:solidFill>
                  <a:srgbClr val="B36F05"/>
                </a:solidFill>
                <a:latin typeface="Courier New" pitchFamily="34" charset="0"/>
                <a:ea typeface="Courier New" pitchFamily="34" charset="-122"/>
                <a:cs typeface="Courier New" pitchFamily="34" charset="-120"/>
              </a:rPr>
              <a:t>CANDIDATE MODELS</a:t>
            </a:r>
            <a:endParaRPr lang="en-US" sz="1000" dirty="0"/>
          </a:p>
        </p:txBody>
      </p:sp>
      <p:sp>
        <p:nvSpPr>
          <p:cNvPr id="11" name="Text 8"/>
          <p:cNvSpPr/>
          <p:nvPr/>
        </p:nvSpPr>
        <p:spPr>
          <a:xfrm>
            <a:off x="4663440" y="3438144"/>
            <a:ext cx="4023360" cy="237744"/>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CNN-LSTM  </a:t>
            </a:r>
            <a:r>
              <a:rPr lang="en-US" sz="1000" dirty="0">
                <a:solidFill>
                  <a:srgbClr val="72809B"/>
                </a:solidFill>
                <a:latin typeface="Calibri" pitchFamily="34" charset="0"/>
                <a:ea typeface="Calibri" pitchFamily="34" charset="-122"/>
                <a:cs typeface="Calibri" pitchFamily="34" charset="-120"/>
              </a:rPr>
              <a:t>— frame features + learned time behavior</a:t>
            </a:r>
            <a:endParaRPr lang="en-US" sz="1000" dirty="0"/>
          </a:p>
        </p:txBody>
      </p:sp>
      <p:sp>
        <p:nvSpPr>
          <p:cNvPr id="12" name="Text 9"/>
          <p:cNvSpPr/>
          <p:nvPr/>
        </p:nvSpPr>
        <p:spPr>
          <a:xfrm>
            <a:off x="4663440" y="3671316"/>
            <a:ext cx="4023360" cy="237744"/>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CNN-GRU  </a:t>
            </a:r>
            <a:r>
              <a:rPr lang="en-US" sz="1000" dirty="0">
                <a:solidFill>
                  <a:srgbClr val="72809B"/>
                </a:solidFill>
                <a:latin typeface="Calibri" pitchFamily="34" charset="0"/>
                <a:ea typeface="Calibri" pitchFamily="34" charset="-122"/>
                <a:cs typeface="Calibri" pitchFamily="34" charset="-120"/>
              </a:rPr>
              <a:t>— similar, lighter and faster</a:t>
            </a:r>
            <a:endParaRPr lang="en-US" sz="1000" dirty="0"/>
          </a:p>
        </p:txBody>
      </p:sp>
      <p:sp>
        <p:nvSpPr>
          <p:cNvPr id="13" name="Text 10"/>
          <p:cNvSpPr/>
          <p:nvPr/>
        </p:nvSpPr>
        <p:spPr>
          <a:xfrm>
            <a:off x="4663440" y="3904488"/>
            <a:ext cx="4023360" cy="237744"/>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TCN  </a:t>
            </a:r>
            <a:r>
              <a:rPr lang="en-US" sz="1000" dirty="0">
                <a:solidFill>
                  <a:srgbClr val="72809B"/>
                </a:solidFill>
                <a:latin typeface="Calibri" pitchFamily="34" charset="0"/>
                <a:ea typeface="Calibri" pitchFamily="34" charset="-122"/>
                <a:cs typeface="Calibri" pitchFamily="34" charset="-120"/>
              </a:rPr>
              <a:t>— efficient temporal patterns</a:t>
            </a:r>
            <a:endParaRPr lang="en-US" sz="1000" dirty="0"/>
          </a:p>
        </p:txBody>
      </p:sp>
      <p:sp>
        <p:nvSpPr>
          <p:cNvPr id="14" name="Text 11"/>
          <p:cNvSpPr/>
          <p:nvPr/>
        </p:nvSpPr>
        <p:spPr>
          <a:xfrm>
            <a:off x="4663440" y="4137660"/>
            <a:ext cx="4023360" cy="237744"/>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3D CNN (light)  </a:t>
            </a:r>
            <a:r>
              <a:rPr lang="en-US" sz="1000" dirty="0">
                <a:solidFill>
                  <a:srgbClr val="72809B"/>
                </a:solidFill>
                <a:latin typeface="Calibri" pitchFamily="34" charset="0"/>
                <a:ea typeface="Calibri" pitchFamily="34" charset="-122"/>
                <a:cs typeface="Calibri" pitchFamily="34" charset="-120"/>
              </a:rPr>
              <a:t>— spatial + temporal jointly</a:t>
            </a:r>
            <a:endParaRPr lang="en-US" sz="1000" dirty="0"/>
          </a:p>
        </p:txBody>
      </p:sp>
      <p:sp>
        <p:nvSpPr>
          <p:cNvPr id="15" name="Text 12"/>
          <p:cNvSpPr/>
          <p:nvPr/>
        </p:nvSpPr>
        <p:spPr>
          <a:xfrm>
            <a:off x="4663440" y="4370832"/>
            <a:ext cx="4023360" cy="237744"/>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CNN + Attention  </a:t>
            </a:r>
            <a:r>
              <a:rPr lang="en-US" sz="1000" dirty="0">
                <a:solidFill>
                  <a:srgbClr val="72809B"/>
                </a:solidFill>
                <a:latin typeface="Calibri" pitchFamily="34" charset="0"/>
                <a:ea typeface="Calibri" pitchFamily="34" charset="-122"/>
                <a:cs typeface="Calibri" pitchFamily="34" charset="-120"/>
              </a:rPr>
              <a:t>— focuses on key frames</a:t>
            </a:r>
            <a:endParaRPr lang="en-US" sz="1000" dirty="0"/>
          </a:p>
        </p:txBody>
      </p:sp>
      <p:sp>
        <p:nvSpPr>
          <p:cNvPr id="16" name="Text 13"/>
          <p:cNvSpPr/>
          <p:nvPr/>
        </p:nvSpPr>
        <p:spPr>
          <a:xfrm>
            <a:off x="4663440" y="4626864"/>
            <a:ext cx="4023360" cy="219456"/>
          </a:xfrm>
          <a:prstGeom prst="rect">
            <a:avLst/>
          </a:prstGeom>
          <a:noFill/>
          <a:ln/>
        </p:spPr>
        <p:txBody>
          <a:bodyPr wrap="square" lIns="0" tIns="0" rIns="0" bIns="0" rtlCol="0" anchor="ctr"/>
          <a:lstStyle/>
          <a:p>
            <a:pPr marL="0" indent="0">
              <a:buNone/>
            </a:pPr>
            <a:r>
              <a:rPr lang="en-US" sz="950" b="1" dirty="0">
                <a:solidFill>
                  <a:srgbClr val="B36F05"/>
                </a:solidFill>
                <a:latin typeface="Courier New" pitchFamily="34" charset="0"/>
                <a:ea typeface="Courier New" pitchFamily="34" charset="-122"/>
                <a:cs typeface="Courier New" pitchFamily="34" charset="-120"/>
              </a:rPr>
              <a:t>FIRST BUILD → CNN-LSTM / CNN-GRU (Colab-feasible)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10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10  ·  INTERPRETABLE SIGNALS</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Landmark-Based Temporal Features</a:t>
            </a:r>
            <a:endParaRPr lang="en-US" sz="2600" dirty="0"/>
          </a:p>
        </p:txBody>
      </p:sp>
      <p:sp>
        <p:nvSpPr>
          <p:cNvPr id="6" name="Shape 4"/>
          <p:cNvSpPr/>
          <p:nvPr/>
        </p:nvSpPr>
        <p:spPr>
          <a:xfrm>
            <a:off x="457200" y="1298448"/>
            <a:ext cx="3931920" cy="2395728"/>
          </a:xfrm>
          <a:prstGeom prst="roundRect">
            <a:avLst>
              <a:gd name="adj" fmla="val 3435"/>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pic>
        <p:nvPicPr>
          <p:cNvPr id="7" name="Image 0" descr="preencoded.png"/>
          <p:cNvPicPr>
            <a:picLocks noChangeAspect="1"/>
          </p:cNvPicPr>
          <p:nvPr/>
        </p:nvPicPr>
        <p:blipFill>
          <a:blip r:embed="rId3"/>
          <a:stretch>
            <a:fillRect/>
          </a:stretch>
        </p:blipFill>
        <p:spPr>
          <a:xfrm>
            <a:off x="731520" y="1463040"/>
            <a:ext cx="3383280" cy="1929384"/>
          </a:xfrm>
          <a:prstGeom prst="rect">
            <a:avLst/>
          </a:prstGeom>
        </p:spPr>
      </p:pic>
      <p:sp>
        <p:nvSpPr>
          <p:cNvPr id="8" name="Text 5"/>
          <p:cNvSpPr/>
          <p:nvPr/>
        </p:nvSpPr>
        <p:spPr>
          <a:xfrm>
            <a:off x="548640" y="3419856"/>
            <a:ext cx="3749040" cy="219456"/>
          </a:xfrm>
          <a:prstGeom prst="rect">
            <a:avLst/>
          </a:prstGeom>
          <a:noFill/>
          <a:ln/>
        </p:spPr>
        <p:txBody>
          <a:bodyPr wrap="square" lIns="0" tIns="0" rIns="0" bIns="0" rtlCol="0" anchor="ctr"/>
          <a:lstStyle/>
          <a:p>
            <a:pPr marL="0" indent="0" algn="ctr">
              <a:buNone/>
            </a:pPr>
            <a:r>
              <a:rPr lang="en-US" sz="850" dirty="0">
                <a:solidFill>
                  <a:srgbClr val="72809B"/>
                </a:solidFill>
                <a:latin typeface="Courier New" pitchFamily="34" charset="0"/>
                <a:ea typeface="Courier New" pitchFamily="34" charset="-122"/>
                <a:cs typeface="Courier New" pitchFamily="34" charset="-120"/>
              </a:rPr>
              <a:t>Eye Aspect Ratio — six landmarks per eye (MediaPipe / OpenCV)</a:t>
            </a:r>
            <a:endParaRPr lang="en-US" sz="850" dirty="0"/>
          </a:p>
        </p:txBody>
      </p:sp>
      <p:sp>
        <p:nvSpPr>
          <p:cNvPr id="9" name="Shape 6"/>
          <p:cNvSpPr/>
          <p:nvPr/>
        </p:nvSpPr>
        <p:spPr>
          <a:xfrm>
            <a:off x="457200" y="3822192"/>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10" name="Text 7"/>
          <p:cNvSpPr/>
          <p:nvPr/>
        </p:nvSpPr>
        <p:spPr>
          <a:xfrm>
            <a:off x="457200" y="3822192"/>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EAR</a:t>
            </a:r>
            <a:endParaRPr lang="en-US" sz="950" dirty="0"/>
          </a:p>
        </p:txBody>
      </p:sp>
      <p:sp>
        <p:nvSpPr>
          <p:cNvPr id="11" name="Shape 8"/>
          <p:cNvSpPr/>
          <p:nvPr/>
        </p:nvSpPr>
        <p:spPr>
          <a:xfrm>
            <a:off x="1453896" y="3822192"/>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12" name="Text 9"/>
          <p:cNvSpPr/>
          <p:nvPr/>
        </p:nvSpPr>
        <p:spPr>
          <a:xfrm>
            <a:off x="1453896" y="3822192"/>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MAR</a:t>
            </a:r>
            <a:endParaRPr lang="en-US" sz="950" dirty="0"/>
          </a:p>
        </p:txBody>
      </p:sp>
      <p:sp>
        <p:nvSpPr>
          <p:cNvPr id="13" name="Shape 10"/>
          <p:cNvSpPr/>
          <p:nvPr/>
        </p:nvSpPr>
        <p:spPr>
          <a:xfrm>
            <a:off x="2450592" y="3822192"/>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14" name="Text 11"/>
          <p:cNvSpPr/>
          <p:nvPr/>
        </p:nvSpPr>
        <p:spPr>
          <a:xfrm>
            <a:off x="2450592" y="3822192"/>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PITCH</a:t>
            </a:r>
            <a:endParaRPr lang="en-US" sz="950" dirty="0"/>
          </a:p>
        </p:txBody>
      </p:sp>
      <p:sp>
        <p:nvSpPr>
          <p:cNvPr id="15" name="Shape 12"/>
          <p:cNvSpPr/>
          <p:nvPr/>
        </p:nvSpPr>
        <p:spPr>
          <a:xfrm>
            <a:off x="3447288" y="3822192"/>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16" name="Text 13"/>
          <p:cNvSpPr/>
          <p:nvPr/>
        </p:nvSpPr>
        <p:spPr>
          <a:xfrm>
            <a:off x="3447288" y="3822192"/>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YAW</a:t>
            </a:r>
            <a:endParaRPr lang="en-US" sz="950" dirty="0"/>
          </a:p>
        </p:txBody>
      </p:sp>
      <p:sp>
        <p:nvSpPr>
          <p:cNvPr id="17" name="Shape 14"/>
          <p:cNvSpPr/>
          <p:nvPr/>
        </p:nvSpPr>
        <p:spPr>
          <a:xfrm>
            <a:off x="457200" y="4206240"/>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18" name="Text 15"/>
          <p:cNvSpPr/>
          <p:nvPr/>
        </p:nvSpPr>
        <p:spPr>
          <a:xfrm>
            <a:off x="457200" y="4206240"/>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ROLL</a:t>
            </a:r>
            <a:endParaRPr lang="en-US" sz="950" dirty="0"/>
          </a:p>
        </p:txBody>
      </p:sp>
      <p:sp>
        <p:nvSpPr>
          <p:cNvPr id="19" name="Shape 16"/>
          <p:cNvSpPr/>
          <p:nvPr/>
        </p:nvSpPr>
        <p:spPr>
          <a:xfrm>
            <a:off x="1453896" y="4206240"/>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20" name="Text 17"/>
          <p:cNvSpPr/>
          <p:nvPr/>
        </p:nvSpPr>
        <p:spPr>
          <a:xfrm>
            <a:off x="1453896" y="4206240"/>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BLINK</a:t>
            </a:r>
            <a:endParaRPr lang="en-US" sz="950" dirty="0"/>
          </a:p>
        </p:txBody>
      </p:sp>
      <p:sp>
        <p:nvSpPr>
          <p:cNvPr id="21" name="Shape 18"/>
          <p:cNvSpPr/>
          <p:nvPr/>
        </p:nvSpPr>
        <p:spPr>
          <a:xfrm>
            <a:off x="2450592" y="4206240"/>
            <a:ext cx="905256" cy="310896"/>
          </a:xfrm>
          <a:prstGeom prst="roundRect">
            <a:avLst>
              <a:gd name="adj" fmla="val 50000"/>
            </a:avLst>
          </a:prstGeom>
          <a:solidFill>
            <a:srgbClr val="FFFFFF"/>
          </a:solidFill>
          <a:ln w="12700">
            <a:solidFill>
              <a:srgbClr val="E8930C"/>
            </a:solidFill>
            <a:prstDash val="solid"/>
          </a:ln>
        </p:spPr>
        <p:txBody>
          <a:bodyPr/>
          <a:lstStyle/>
          <a:p>
            <a:endParaRPr lang="en-IN"/>
          </a:p>
        </p:txBody>
      </p:sp>
      <p:sp>
        <p:nvSpPr>
          <p:cNvPr id="22" name="Text 19"/>
          <p:cNvSpPr/>
          <p:nvPr/>
        </p:nvSpPr>
        <p:spPr>
          <a:xfrm>
            <a:off x="2450592" y="4206240"/>
            <a:ext cx="905256" cy="310896"/>
          </a:xfrm>
          <a:prstGeom prst="rect">
            <a:avLst/>
          </a:prstGeom>
          <a:noFill/>
          <a:ln/>
        </p:spPr>
        <p:txBody>
          <a:bodyPr wrap="square" lIns="0" tIns="0" rIns="0" bIns="0" rtlCol="0" anchor="ctr"/>
          <a:lstStyle/>
          <a:p>
            <a:pPr marL="0" indent="0" algn="ctr">
              <a:buNone/>
            </a:pPr>
            <a:r>
              <a:rPr lang="en-US" sz="950" b="1" dirty="0">
                <a:solidFill>
                  <a:srgbClr val="B36F05"/>
                </a:solidFill>
                <a:latin typeface="Courier New" pitchFamily="34" charset="0"/>
                <a:ea typeface="Courier New" pitchFamily="34" charset="-122"/>
                <a:cs typeface="Courier New" pitchFamily="34" charset="-120"/>
              </a:rPr>
              <a:t>GAZE</a:t>
            </a:r>
            <a:endParaRPr lang="en-US" sz="950" dirty="0"/>
          </a:p>
        </p:txBody>
      </p:sp>
      <p:sp>
        <p:nvSpPr>
          <p:cNvPr id="23" name="Text 20"/>
          <p:cNvSpPr/>
          <p:nvPr/>
        </p:nvSpPr>
        <p:spPr>
          <a:xfrm>
            <a:off x="457200" y="4553712"/>
            <a:ext cx="3931920" cy="237744"/>
          </a:xfrm>
          <a:prstGeom prst="rect">
            <a:avLst/>
          </a:prstGeom>
          <a:noFill/>
          <a:ln/>
        </p:spPr>
        <p:txBody>
          <a:bodyPr wrap="square" lIns="0" tIns="0" rIns="0" bIns="0" rtlCol="0" anchor="ctr"/>
          <a:lstStyle/>
          <a:p>
            <a:pPr marL="0" indent="0" algn="ctr">
              <a:buNone/>
            </a:pPr>
            <a:r>
              <a:rPr lang="en-US" sz="900" i="1" dirty="0">
                <a:solidFill>
                  <a:srgbClr val="72809B"/>
                </a:solidFill>
                <a:latin typeface="Calibri" pitchFamily="34" charset="0"/>
                <a:ea typeface="Calibri" pitchFamily="34" charset="-122"/>
                <a:cs typeface="Calibri" pitchFamily="34" charset="-120"/>
              </a:rPr>
              <a:t>extracted per frame → time-series input</a:t>
            </a:r>
            <a:endParaRPr lang="en-US" sz="900" dirty="0"/>
          </a:p>
        </p:txBody>
      </p:sp>
      <p:sp>
        <p:nvSpPr>
          <p:cNvPr id="24" name="Text 21"/>
          <p:cNvSpPr/>
          <p:nvPr/>
        </p:nvSpPr>
        <p:spPr>
          <a:xfrm>
            <a:off x="4617720" y="1298448"/>
            <a:ext cx="4069080" cy="219456"/>
          </a:xfrm>
          <a:prstGeom prst="rect">
            <a:avLst/>
          </a:prstGeom>
          <a:noFill/>
          <a:ln/>
        </p:spPr>
        <p:txBody>
          <a:bodyPr wrap="square" lIns="0" tIns="0" rIns="0" bIns="0" rtlCol="0" anchor="ctr"/>
          <a:lstStyle/>
          <a:p>
            <a:pPr marL="0" indent="0">
              <a:buNone/>
            </a:pPr>
            <a:r>
              <a:rPr lang="en-US" sz="950" b="1" kern="0" spc="150" dirty="0">
                <a:solidFill>
                  <a:srgbClr val="B36F05"/>
                </a:solidFill>
                <a:latin typeface="Courier New" pitchFamily="34" charset="0"/>
                <a:ea typeface="Courier New" pitchFamily="34" charset="-122"/>
                <a:cs typeface="Courier New" pitchFamily="34" charset="-120"/>
              </a:rPr>
              <a:t>EAR OVER TIME — ILLUSTRATIVE</a:t>
            </a:r>
            <a:endParaRPr lang="en-US" sz="950" dirty="0"/>
          </a:p>
        </p:txBody>
      </p:sp>
      <p:graphicFrame>
        <p:nvGraphicFramePr>
          <p:cNvPr id="25" name="Chart 0"/>
          <p:cNvGraphicFramePr/>
          <p:nvPr/>
        </p:nvGraphicFramePr>
        <p:xfrm>
          <a:off x="4617720" y="1554480"/>
          <a:ext cx="406908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2"/>
          <p:cNvSpPr/>
          <p:nvPr/>
        </p:nvSpPr>
        <p:spPr>
          <a:xfrm>
            <a:off x="4617720" y="3977640"/>
            <a:ext cx="4069080" cy="685800"/>
          </a:xfrm>
          <a:prstGeom prst="roundRect">
            <a:avLst>
              <a:gd name="adj" fmla="val 12000"/>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7" name="Text 23"/>
          <p:cNvSpPr/>
          <p:nvPr/>
        </p:nvSpPr>
        <p:spPr>
          <a:xfrm>
            <a:off x="4782312" y="4050792"/>
            <a:ext cx="3749040" cy="548640"/>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Sequences → LSTM / GRU / TCN.  </a:t>
            </a:r>
            <a:r>
              <a:rPr lang="en-US" sz="1000" dirty="0">
                <a:solidFill>
                  <a:srgbClr val="3A4A66"/>
                </a:solidFill>
                <a:latin typeface="Calibri" pitchFamily="34" charset="0"/>
                <a:ea typeface="Calibri" pitchFamily="34" charset="-122"/>
                <a:cs typeface="Calibri" pitchFamily="34" charset="-120"/>
              </a:rPr>
              <a:t>Learned patterns replace fixed thresholds; EAR/MAR/pose trends make every prediction explainable.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11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11  ·  SUPPORTING MODULES</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Distraction and Object-Level Safety</a:t>
            </a:r>
            <a:endParaRPr lang="en-US" sz="2600" dirty="0"/>
          </a:p>
        </p:txBody>
      </p:sp>
      <p:sp>
        <p:nvSpPr>
          <p:cNvPr id="6" name="Shape 4"/>
          <p:cNvSpPr/>
          <p:nvPr/>
        </p:nvSpPr>
        <p:spPr>
          <a:xfrm>
            <a:off x="457200" y="1298448"/>
            <a:ext cx="3931920" cy="3108960"/>
          </a:xfrm>
          <a:prstGeom prst="roundRect">
            <a:avLst>
              <a:gd name="adj" fmla="val 2647"/>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7" name="Text 5"/>
          <p:cNvSpPr/>
          <p:nvPr/>
        </p:nvSpPr>
        <p:spPr>
          <a:xfrm>
            <a:off x="713232" y="1481328"/>
            <a:ext cx="3474720" cy="237744"/>
          </a:xfrm>
          <a:prstGeom prst="rect">
            <a:avLst/>
          </a:prstGeom>
          <a:noFill/>
          <a:ln/>
        </p:spPr>
        <p:txBody>
          <a:bodyPr wrap="square" lIns="0" tIns="0" rIns="0" bIns="0" rtlCol="0" anchor="ctr"/>
          <a:lstStyle/>
          <a:p>
            <a:pPr marL="0" indent="0">
              <a:buNone/>
            </a:pPr>
            <a:r>
              <a:rPr lang="en-US" sz="950" b="1" kern="0" spc="150" dirty="0">
                <a:solidFill>
                  <a:srgbClr val="B36F05"/>
                </a:solidFill>
                <a:latin typeface="Courier New" pitchFamily="34" charset="0"/>
                <a:ea typeface="Courier New" pitchFamily="34" charset="-122"/>
                <a:cs typeface="Courier New" pitchFamily="34" charset="-120"/>
              </a:rPr>
              <a:t>DISTRACTION CLASSIFIER — CNN</a:t>
            </a:r>
            <a:endParaRPr lang="en-US" sz="950" dirty="0"/>
          </a:p>
        </p:txBody>
      </p:sp>
      <p:sp>
        <p:nvSpPr>
          <p:cNvPr id="8" name="Text 6"/>
          <p:cNvSpPr/>
          <p:nvPr/>
        </p:nvSpPr>
        <p:spPr>
          <a:xfrm>
            <a:off x="713232" y="1847088"/>
            <a:ext cx="3474720" cy="2468880"/>
          </a:xfrm>
          <a:prstGeom prst="rect">
            <a:avLst/>
          </a:prstGeom>
          <a:noFill/>
          <a:ln/>
        </p:spPr>
        <p:txBody>
          <a:bodyPr wrap="square" lIns="0" tIns="0" rIns="0" bIns="0" rtlCol="0" anchor="t"/>
          <a:lstStyle/>
          <a:p>
            <a:pPr marL="152400" indent="-152400">
              <a:spcAft>
                <a:spcPts val="900"/>
              </a:spcAft>
              <a:buSzPct val="100000"/>
              <a:buChar char="▪"/>
            </a:pPr>
            <a:r>
              <a:rPr lang="en-US" sz="1080" dirty="0">
                <a:solidFill>
                  <a:srgbClr val="3A4A66"/>
                </a:solidFill>
                <a:latin typeface="Calibri" pitchFamily="34" charset="0"/>
                <a:ea typeface="Calibri" pitchFamily="34" charset="-122"/>
                <a:cs typeface="Calibri" pitchFamily="34" charset="-120"/>
              </a:rPr>
              <a:t>Classes: texting, phone call, drinking, reaching, radio, grooming</a:t>
            </a:r>
            <a:endParaRPr lang="en-US" sz="1080" dirty="0"/>
          </a:p>
          <a:p>
            <a:pPr marL="152400" indent="-152400">
              <a:spcAft>
                <a:spcPts val="900"/>
              </a:spcAft>
              <a:buSzPct val="100000"/>
              <a:buChar char="▪"/>
            </a:pPr>
            <a:r>
              <a:rPr lang="en-US" sz="1080" dirty="0">
                <a:solidFill>
                  <a:srgbClr val="3A4A66"/>
                </a:solidFill>
                <a:latin typeface="Calibri" pitchFamily="34" charset="0"/>
                <a:ea typeface="Calibri" pitchFamily="34" charset="-122"/>
                <a:cs typeface="Calibri" pitchFamily="34" charset="-120"/>
              </a:rPr>
              <a:t>Plus a safe-driving baseline class</a:t>
            </a:r>
            <a:endParaRPr lang="en-US" sz="1080" dirty="0"/>
          </a:p>
          <a:p>
            <a:pPr marL="152400" indent="-152400">
              <a:spcAft>
                <a:spcPts val="900"/>
              </a:spcAft>
              <a:buSzPct val="100000"/>
              <a:buChar char="▪"/>
            </a:pPr>
            <a:r>
              <a:rPr lang="en-US" sz="1080" dirty="0">
                <a:solidFill>
                  <a:srgbClr val="3A4A66"/>
                </a:solidFill>
                <a:latin typeface="Calibri" pitchFamily="34" charset="0"/>
                <a:ea typeface="Calibri" pitchFamily="34" charset="-122"/>
                <a:cs typeface="Calibri" pitchFamily="34" charset="-120"/>
              </a:rPr>
              <a:t>Models: MobileNetV3, EfficientNet-B0, ResNet18</a:t>
            </a:r>
            <a:endParaRPr lang="en-US" sz="1080" dirty="0"/>
          </a:p>
          <a:p>
            <a:pPr marL="152400" indent="-152400">
              <a:spcAft>
                <a:spcPts val="900"/>
              </a:spcAft>
              <a:buSzPct val="100000"/>
              <a:buChar char="▪"/>
            </a:pPr>
            <a:r>
              <a:rPr lang="en-US" sz="1080" dirty="0">
                <a:solidFill>
                  <a:srgbClr val="3A4A66"/>
                </a:solidFill>
                <a:latin typeface="Calibri" pitchFamily="34" charset="0"/>
                <a:ea typeface="Calibri" pitchFamily="34" charset="-122"/>
                <a:cs typeface="Calibri" pitchFamily="34" charset="-120"/>
              </a:rPr>
              <a:t>CNN-LSTM upgrade if video/action data available</a:t>
            </a:r>
            <a:endParaRPr lang="en-US" sz="1080" dirty="0"/>
          </a:p>
          <a:p>
            <a:pPr marL="152400" indent="-152400">
              <a:spcAft>
                <a:spcPts val="900"/>
              </a:spcAft>
              <a:buSzPct val="100000"/>
              <a:buChar char="▪"/>
            </a:pPr>
            <a:r>
              <a:rPr lang="en-US" sz="1080" dirty="0">
                <a:solidFill>
                  <a:srgbClr val="3A4A66"/>
                </a:solidFill>
                <a:latin typeface="Calibri" pitchFamily="34" charset="0"/>
                <a:ea typeface="Calibri" pitchFamily="34" charset="-122"/>
                <a:cs typeface="Calibri" pitchFamily="34" charset="-120"/>
              </a:rPr>
              <a:t>Image baseline first, temporal upgrade later</a:t>
            </a:r>
            <a:endParaRPr lang="en-US" sz="1080" dirty="0"/>
          </a:p>
        </p:txBody>
      </p:sp>
      <p:sp>
        <p:nvSpPr>
          <p:cNvPr id="9" name="Shape 7"/>
          <p:cNvSpPr/>
          <p:nvPr/>
        </p:nvSpPr>
        <p:spPr>
          <a:xfrm>
            <a:off x="4617720" y="1298448"/>
            <a:ext cx="4069080" cy="3108960"/>
          </a:xfrm>
          <a:prstGeom prst="roundRect">
            <a:avLst>
              <a:gd name="adj" fmla="val 2647"/>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pic>
        <p:nvPicPr>
          <p:cNvPr id="10" name="Image 0" descr="preencoded.png"/>
          <p:cNvPicPr>
            <a:picLocks noChangeAspect="1"/>
          </p:cNvPicPr>
          <p:nvPr/>
        </p:nvPicPr>
        <p:blipFill>
          <a:blip r:embed="rId3"/>
          <a:stretch>
            <a:fillRect/>
          </a:stretch>
        </p:blipFill>
        <p:spPr>
          <a:xfrm>
            <a:off x="4892040" y="1463040"/>
            <a:ext cx="3520440" cy="2432304"/>
          </a:xfrm>
          <a:prstGeom prst="rect">
            <a:avLst/>
          </a:prstGeom>
        </p:spPr>
      </p:pic>
      <p:sp>
        <p:nvSpPr>
          <p:cNvPr id="11" name="Text 8"/>
          <p:cNvSpPr/>
          <p:nvPr/>
        </p:nvSpPr>
        <p:spPr>
          <a:xfrm>
            <a:off x="4754880" y="3986784"/>
            <a:ext cx="3794760" cy="274320"/>
          </a:xfrm>
          <a:prstGeom prst="rect">
            <a:avLst/>
          </a:prstGeom>
          <a:noFill/>
          <a:ln/>
        </p:spPr>
        <p:txBody>
          <a:bodyPr wrap="square" lIns="0" tIns="0" rIns="0" bIns="0" rtlCol="0" anchor="ctr"/>
          <a:lstStyle/>
          <a:p>
            <a:pPr marL="0" indent="0" algn="ctr">
              <a:buNone/>
            </a:pPr>
            <a:r>
              <a:rPr lang="en-US" sz="850" dirty="0">
                <a:solidFill>
                  <a:srgbClr val="72809B"/>
                </a:solidFill>
                <a:latin typeface="Courier New" pitchFamily="34" charset="0"/>
                <a:ea typeface="Courier New" pitchFamily="34" charset="-122"/>
                <a:cs typeface="Courier New" pitchFamily="34" charset="-120"/>
              </a:rPr>
              <a:t>Seat belt · phone · smoking · drinking — YOLOv8n / YOLO11n</a:t>
            </a:r>
            <a:endParaRPr lang="en-US" sz="850" dirty="0"/>
          </a:p>
        </p:txBody>
      </p:sp>
      <p:sp>
        <p:nvSpPr>
          <p:cNvPr id="12" name="Shape 9"/>
          <p:cNvSpPr/>
          <p:nvPr/>
        </p:nvSpPr>
        <p:spPr>
          <a:xfrm>
            <a:off x="457200" y="4517136"/>
            <a:ext cx="8229600" cy="347472"/>
          </a:xfrm>
          <a:prstGeom prst="roundRect">
            <a:avLst>
              <a:gd name="adj" fmla="val 50000"/>
            </a:avLst>
          </a:prstGeom>
          <a:solidFill>
            <a:srgbClr val="FBF1DF"/>
          </a:solidFill>
          <a:ln w="12700">
            <a:solidFill>
              <a:srgbClr val="E8930C"/>
            </a:solidFill>
            <a:prstDash val="solid"/>
          </a:ln>
        </p:spPr>
        <p:txBody>
          <a:bodyPr/>
          <a:lstStyle/>
          <a:p>
            <a:endParaRPr lang="en-IN"/>
          </a:p>
        </p:txBody>
      </p:sp>
      <p:sp>
        <p:nvSpPr>
          <p:cNvPr id="13" name="Text 10"/>
          <p:cNvSpPr/>
          <p:nvPr/>
        </p:nvSpPr>
        <p:spPr>
          <a:xfrm>
            <a:off x="457200" y="4517136"/>
            <a:ext cx="8229600" cy="347472"/>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Objects are frame-visible — YOLO fits there; fatigue stays video-sequence based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12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12  ·  SYSTEM DESIGN</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Proposed Architecture — Multi-Branch Pipeline</a:t>
            </a:r>
            <a:endParaRPr lang="en-US" sz="2600" dirty="0"/>
          </a:p>
        </p:txBody>
      </p:sp>
      <p:sp>
        <p:nvSpPr>
          <p:cNvPr id="6" name="Shape 4"/>
          <p:cNvSpPr/>
          <p:nvPr/>
        </p:nvSpPr>
        <p:spPr>
          <a:xfrm>
            <a:off x="457200" y="1810512"/>
            <a:ext cx="1005840" cy="914400"/>
          </a:xfrm>
          <a:prstGeom prst="roundRect">
            <a:avLst>
              <a:gd name="adj" fmla="val 8000"/>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7" name="Text 5"/>
          <p:cNvSpPr/>
          <p:nvPr/>
        </p:nvSpPr>
        <p:spPr>
          <a:xfrm>
            <a:off x="502920" y="1883664"/>
            <a:ext cx="914400" cy="7680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Video Input</a:t>
            </a:r>
            <a:endParaRPr lang="en-US" sz="1000" dirty="0"/>
          </a:p>
          <a:p>
            <a:pPr marL="0" indent="0" algn="ctr">
              <a:buNone/>
            </a:pPr>
            <a:r>
              <a:rPr lang="en-US" sz="750" dirty="0">
                <a:solidFill>
                  <a:srgbClr val="8FA1C4"/>
                </a:solidFill>
                <a:latin typeface="Calibri" pitchFamily="34" charset="0"/>
                <a:ea typeface="Calibri" pitchFamily="34" charset="-122"/>
                <a:cs typeface="Calibri" pitchFamily="34" charset="-120"/>
              </a:rPr>
              <a:t>webcam · recorded</a:t>
            </a:r>
            <a:endParaRPr lang="en-US" sz="1000" dirty="0"/>
          </a:p>
        </p:txBody>
      </p:sp>
      <p:sp>
        <p:nvSpPr>
          <p:cNvPr id="8" name="Shape 6"/>
          <p:cNvSpPr/>
          <p:nvPr/>
        </p:nvSpPr>
        <p:spPr>
          <a:xfrm>
            <a:off x="1463040" y="2267712"/>
            <a:ext cx="228600" cy="0"/>
          </a:xfrm>
          <a:prstGeom prst="line">
            <a:avLst/>
          </a:prstGeom>
          <a:noFill/>
          <a:ln w="28575">
            <a:solidFill>
              <a:srgbClr val="E8930C"/>
            </a:solidFill>
            <a:prstDash val="solid"/>
            <a:tailEnd type="triangle"/>
          </a:ln>
        </p:spPr>
        <p:txBody>
          <a:bodyPr/>
          <a:lstStyle/>
          <a:p>
            <a:endParaRPr lang="en-IN"/>
          </a:p>
        </p:txBody>
      </p:sp>
      <p:sp>
        <p:nvSpPr>
          <p:cNvPr id="9" name="Shape 7"/>
          <p:cNvSpPr/>
          <p:nvPr/>
        </p:nvSpPr>
        <p:spPr>
          <a:xfrm>
            <a:off x="1691640" y="1810512"/>
            <a:ext cx="1097280" cy="914400"/>
          </a:xfrm>
          <a:prstGeom prst="roundRect">
            <a:avLst>
              <a:gd name="adj" fmla="val 8000"/>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10" name="Text 8"/>
          <p:cNvSpPr/>
          <p:nvPr/>
        </p:nvSpPr>
        <p:spPr>
          <a:xfrm>
            <a:off x="1737360" y="1883664"/>
            <a:ext cx="1005840" cy="7680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Preprocessing</a:t>
            </a:r>
            <a:endParaRPr lang="en-US" sz="1000" dirty="0"/>
          </a:p>
          <a:p>
            <a:pPr marL="0" indent="0" algn="ctr">
              <a:buNone/>
            </a:pPr>
            <a:r>
              <a:rPr lang="en-US" sz="750" dirty="0">
                <a:solidFill>
                  <a:srgbClr val="8FA1C4"/>
                </a:solidFill>
                <a:latin typeface="Calibri" pitchFamily="34" charset="0"/>
                <a:ea typeface="Calibri" pitchFamily="34" charset="-122"/>
                <a:cs typeface="Calibri" pitchFamily="34" charset="-120"/>
              </a:rPr>
              <a:t>frames · crops · sequences</a:t>
            </a:r>
            <a:endParaRPr lang="en-US" sz="1000" dirty="0"/>
          </a:p>
        </p:txBody>
      </p:sp>
      <p:sp>
        <p:nvSpPr>
          <p:cNvPr id="11" name="Shape 9"/>
          <p:cNvSpPr/>
          <p:nvPr/>
        </p:nvSpPr>
        <p:spPr>
          <a:xfrm>
            <a:off x="2788920" y="2267712"/>
            <a:ext cx="228600" cy="0"/>
          </a:xfrm>
          <a:prstGeom prst="line">
            <a:avLst/>
          </a:prstGeom>
          <a:noFill/>
          <a:ln w="28575">
            <a:solidFill>
              <a:srgbClr val="E8930C"/>
            </a:solidFill>
            <a:prstDash val="solid"/>
            <a:tailEnd type="triangle"/>
          </a:ln>
        </p:spPr>
        <p:txBody>
          <a:bodyPr/>
          <a:lstStyle/>
          <a:p>
            <a:endParaRPr lang="en-IN"/>
          </a:p>
        </p:txBody>
      </p:sp>
      <p:sp>
        <p:nvSpPr>
          <p:cNvPr id="12" name="Shape 10"/>
          <p:cNvSpPr/>
          <p:nvPr/>
        </p:nvSpPr>
        <p:spPr>
          <a:xfrm>
            <a:off x="3017520" y="1170432"/>
            <a:ext cx="2148840" cy="2432304"/>
          </a:xfrm>
          <a:prstGeom prst="roundRect">
            <a:avLst>
              <a:gd name="adj" fmla="val 3404"/>
            </a:avLst>
          </a:prstGeom>
          <a:solidFill>
            <a:srgbClr val="EFF4FB"/>
          </a:solidFill>
          <a:ln w="12700">
            <a:solidFill>
              <a:srgbClr val="D5DEEC"/>
            </a:solidFill>
            <a:prstDash val="solid"/>
          </a:ln>
        </p:spPr>
        <p:txBody>
          <a:bodyPr/>
          <a:lstStyle/>
          <a:p>
            <a:endParaRPr lang="en-IN"/>
          </a:p>
        </p:txBody>
      </p:sp>
      <p:sp>
        <p:nvSpPr>
          <p:cNvPr id="13" name="Text 11"/>
          <p:cNvSpPr/>
          <p:nvPr/>
        </p:nvSpPr>
        <p:spPr>
          <a:xfrm>
            <a:off x="3017520" y="1243584"/>
            <a:ext cx="2148840" cy="182880"/>
          </a:xfrm>
          <a:prstGeom prst="rect">
            <a:avLst/>
          </a:prstGeom>
          <a:noFill/>
          <a:ln/>
        </p:spPr>
        <p:txBody>
          <a:bodyPr wrap="square" lIns="0" tIns="0" rIns="0" bIns="0" rtlCol="0" anchor="ctr"/>
          <a:lstStyle/>
          <a:p>
            <a:pPr marL="0" indent="0" algn="ctr">
              <a:buNone/>
            </a:pPr>
            <a:r>
              <a:rPr lang="en-US" sz="700" b="1" kern="0" spc="150" dirty="0">
                <a:solidFill>
                  <a:srgbClr val="B36F05"/>
                </a:solidFill>
                <a:latin typeface="Courier New" pitchFamily="34" charset="0"/>
                <a:ea typeface="Courier New" pitchFamily="34" charset="-122"/>
                <a:cs typeface="Courier New" pitchFamily="34" charset="-120"/>
              </a:rPr>
              <a:t>MULTI-BRANCH ANALYSIS</a:t>
            </a:r>
            <a:endParaRPr lang="en-US" sz="700" dirty="0"/>
          </a:p>
        </p:txBody>
      </p:sp>
      <p:sp>
        <p:nvSpPr>
          <p:cNvPr id="14" name="Shape 12"/>
          <p:cNvSpPr/>
          <p:nvPr/>
        </p:nvSpPr>
        <p:spPr>
          <a:xfrm>
            <a:off x="3127248" y="1481328"/>
            <a:ext cx="1929384" cy="429768"/>
          </a:xfrm>
          <a:prstGeom prst="roundRect">
            <a:avLst>
              <a:gd name="adj" fmla="val 12766"/>
            </a:avLst>
          </a:prstGeom>
          <a:solidFill>
            <a:srgbClr val="FFFFFF"/>
          </a:solidFill>
          <a:ln w="12700">
            <a:solidFill>
              <a:srgbClr val="C9D6E8"/>
            </a:solidFill>
            <a:prstDash val="solid"/>
          </a:ln>
        </p:spPr>
        <p:txBody>
          <a:bodyPr/>
          <a:lstStyle/>
          <a:p>
            <a:endParaRPr lang="en-IN"/>
          </a:p>
        </p:txBody>
      </p:sp>
      <p:sp>
        <p:nvSpPr>
          <p:cNvPr id="15" name="Text 13"/>
          <p:cNvSpPr/>
          <p:nvPr/>
        </p:nvSpPr>
        <p:spPr>
          <a:xfrm>
            <a:off x="3127248" y="1481328"/>
            <a:ext cx="1929384" cy="429768"/>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Temporal Fatigue Model</a:t>
            </a:r>
            <a:endParaRPr lang="en-US" sz="950" dirty="0"/>
          </a:p>
        </p:txBody>
      </p:sp>
      <p:sp>
        <p:nvSpPr>
          <p:cNvPr id="16" name="Shape 14"/>
          <p:cNvSpPr/>
          <p:nvPr/>
        </p:nvSpPr>
        <p:spPr>
          <a:xfrm>
            <a:off x="3127248" y="2007108"/>
            <a:ext cx="1929384" cy="429768"/>
          </a:xfrm>
          <a:prstGeom prst="roundRect">
            <a:avLst>
              <a:gd name="adj" fmla="val 12766"/>
            </a:avLst>
          </a:prstGeom>
          <a:solidFill>
            <a:srgbClr val="FFFFFF"/>
          </a:solidFill>
          <a:ln w="12700">
            <a:solidFill>
              <a:srgbClr val="C9D6E8"/>
            </a:solidFill>
            <a:prstDash val="solid"/>
          </a:ln>
        </p:spPr>
        <p:txBody>
          <a:bodyPr/>
          <a:lstStyle/>
          <a:p>
            <a:endParaRPr lang="en-IN"/>
          </a:p>
        </p:txBody>
      </p:sp>
      <p:sp>
        <p:nvSpPr>
          <p:cNvPr id="17" name="Text 15"/>
          <p:cNvSpPr/>
          <p:nvPr/>
        </p:nvSpPr>
        <p:spPr>
          <a:xfrm>
            <a:off x="3127248" y="2007108"/>
            <a:ext cx="1929384" cy="429768"/>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Landmark Features</a:t>
            </a:r>
            <a:endParaRPr lang="en-US" sz="950" dirty="0"/>
          </a:p>
        </p:txBody>
      </p:sp>
      <p:sp>
        <p:nvSpPr>
          <p:cNvPr id="18" name="Shape 16"/>
          <p:cNvSpPr/>
          <p:nvPr/>
        </p:nvSpPr>
        <p:spPr>
          <a:xfrm>
            <a:off x="3127248" y="2532888"/>
            <a:ext cx="1929384" cy="429768"/>
          </a:xfrm>
          <a:prstGeom prst="roundRect">
            <a:avLst>
              <a:gd name="adj" fmla="val 12766"/>
            </a:avLst>
          </a:prstGeom>
          <a:solidFill>
            <a:srgbClr val="FFFFFF"/>
          </a:solidFill>
          <a:ln w="12700">
            <a:solidFill>
              <a:srgbClr val="C9D6E8"/>
            </a:solidFill>
            <a:prstDash val="solid"/>
          </a:ln>
        </p:spPr>
        <p:txBody>
          <a:bodyPr/>
          <a:lstStyle/>
          <a:p>
            <a:endParaRPr lang="en-IN"/>
          </a:p>
        </p:txBody>
      </p:sp>
      <p:sp>
        <p:nvSpPr>
          <p:cNvPr id="19" name="Text 17"/>
          <p:cNvSpPr/>
          <p:nvPr/>
        </p:nvSpPr>
        <p:spPr>
          <a:xfrm>
            <a:off x="3127248" y="2532888"/>
            <a:ext cx="1929384" cy="429768"/>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Distraction CNN</a:t>
            </a:r>
            <a:endParaRPr lang="en-US" sz="950" dirty="0"/>
          </a:p>
        </p:txBody>
      </p:sp>
      <p:sp>
        <p:nvSpPr>
          <p:cNvPr id="20" name="Shape 18"/>
          <p:cNvSpPr/>
          <p:nvPr/>
        </p:nvSpPr>
        <p:spPr>
          <a:xfrm>
            <a:off x="3127248" y="3058668"/>
            <a:ext cx="1929384" cy="429768"/>
          </a:xfrm>
          <a:prstGeom prst="roundRect">
            <a:avLst>
              <a:gd name="adj" fmla="val 12766"/>
            </a:avLst>
          </a:prstGeom>
          <a:solidFill>
            <a:srgbClr val="FFFFFF"/>
          </a:solidFill>
          <a:ln w="12700">
            <a:solidFill>
              <a:srgbClr val="C9D6E8"/>
            </a:solidFill>
            <a:prstDash val="solid"/>
          </a:ln>
        </p:spPr>
        <p:txBody>
          <a:bodyPr/>
          <a:lstStyle/>
          <a:p>
            <a:endParaRPr lang="en-IN"/>
          </a:p>
        </p:txBody>
      </p:sp>
      <p:sp>
        <p:nvSpPr>
          <p:cNvPr id="21" name="Text 19"/>
          <p:cNvSpPr/>
          <p:nvPr/>
        </p:nvSpPr>
        <p:spPr>
          <a:xfrm>
            <a:off x="3127248" y="3058668"/>
            <a:ext cx="1929384" cy="429768"/>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YOLO Object Detection</a:t>
            </a:r>
            <a:endParaRPr lang="en-US" sz="950" dirty="0"/>
          </a:p>
        </p:txBody>
      </p:sp>
      <p:sp>
        <p:nvSpPr>
          <p:cNvPr id="22" name="Shape 20"/>
          <p:cNvSpPr/>
          <p:nvPr/>
        </p:nvSpPr>
        <p:spPr>
          <a:xfrm>
            <a:off x="5166360" y="2267712"/>
            <a:ext cx="228600" cy="0"/>
          </a:xfrm>
          <a:prstGeom prst="line">
            <a:avLst/>
          </a:prstGeom>
          <a:noFill/>
          <a:ln w="28575">
            <a:solidFill>
              <a:srgbClr val="E8930C"/>
            </a:solidFill>
            <a:prstDash val="solid"/>
            <a:tailEnd type="triangle"/>
          </a:ln>
        </p:spPr>
        <p:txBody>
          <a:bodyPr/>
          <a:lstStyle/>
          <a:p>
            <a:endParaRPr lang="en-IN"/>
          </a:p>
        </p:txBody>
      </p:sp>
      <p:sp>
        <p:nvSpPr>
          <p:cNvPr id="23" name="Shape 21"/>
          <p:cNvSpPr/>
          <p:nvPr/>
        </p:nvSpPr>
        <p:spPr>
          <a:xfrm>
            <a:off x="5394960" y="1810512"/>
            <a:ext cx="777240" cy="914400"/>
          </a:xfrm>
          <a:prstGeom prst="roundRect">
            <a:avLst>
              <a:gd name="adj" fmla="val 9412"/>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24" name="Text 22"/>
          <p:cNvSpPr/>
          <p:nvPr/>
        </p:nvSpPr>
        <p:spPr>
          <a:xfrm>
            <a:off x="5440680" y="1883664"/>
            <a:ext cx="685800" cy="7680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Fusion</a:t>
            </a:r>
            <a:endParaRPr lang="en-US" sz="1000" dirty="0"/>
          </a:p>
          <a:p>
            <a:pPr marL="0" indent="0" algn="ctr">
              <a:buNone/>
            </a:pPr>
            <a:r>
              <a:rPr lang="en-US" sz="750" dirty="0">
                <a:solidFill>
                  <a:srgbClr val="8FA1C4"/>
                </a:solidFill>
                <a:latin typeface="Calibri" pitchFamily="34" charset="0"/>
                <a:ea typeface="Calibri" pitchFamily="34" charset="-122"/>
                <a:cs typeface="Calibri" pitchFamily="34" charset="-120"/>
              </a:rPr>
              <a:t>combine signals</a:t>
            </a:r>
            <a:endParaRPr lang="en-US" sz="1000" dirty="0"/>
          </a:p>
        </p:txBody>
      </p:sp>
      <p:sp>
        <p:nvSpPr>
          <p:cNvPr id="25" name="Shape 23"/>
          <p:cNvSpPr/>
          <p:nvPr/>
        </p:nvSpPr>
        <p:spPr>
          <a:xfrm>
            <a:off x="6172200" y="2267712"/>
            <a:ext cx="228600" cy="0"/>
          </a:xfrm>
          <a:prstGeom prst="line">
            <a:avLst/>
          </a:prstGeom>
          <a:noFill/>
          <a:ln w="28575">
            <a:solidFill>
              <a:srgbClr val="E8930C"/>
            </a:solidFill>
            <a:prstDash val="solid"/>
            <a:tailEnd type="triangle"/>
          </a:ln>
        </p:spPr>
        <p:txBody>
          <a:bodyPr/>
          <a:lstStyle/>
          <a:p>
            <a:endParaRPr lang="en-IN"/>
          </a:p>
        </p:txBody>
      </p:sp>
      <p:sp>
        <p:nvSpPr>
          <p:cNvPr id="26" name="Shape 24"/>
          <p:cNvSpPr/>
          <p:nvPr/>
        </p:nvSpPr>
        <p:spPr>
          <a:xfrm>
            <a:off x="6400800" y="1810512"/>
            <a:ext cx="1005840" cy="914400"/>
          </a:xfrm>
          <a:prstGeom prst="roundRect">
            <a:avLst>
              <a:gd name="adj" fmla="val 8000"/>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27" name="Text 25"/>
          <p:cNvSpPr/>
          <p:nvPr/>
        </p:nvSpPr>
        <p:spPr>
          <a:xfrm>
            <a:off x="6446520" y="1883664"/>
            <a:ext cx="914400" cy="7680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Wellness Score</a:t>
            </a:r>
            <a:endParaRPr lang="en-US" sz="1000" dirty="0"/>
          </a:p>
          <a:p>
            <a:pPr marL="0" indent="0" algn="ctr">
              <a:buNone/>
            </a:pPr>
            <a:r>
              <a:rPr lang="en-US" sz="750" dirty="0">
                <a:solidFill>
                  <a:srgbClr val="8FA1C4"/>
                </a:solidFill>
                <a:latin typeface="Calibri" pitchFamily="34" charset="0"/>
                <a:ea typeface="Calibri" pitchFamily="34" charset="-122"/>
                <a:cs typeface="Calibri" pitchFamily="34" charset="-120"/>
              </a:rPr>
              <a:t>Safe · Caution · High Risk</a:t>
            </a:r>
            <a:endParaRPr lang="en-US" sz="1000" dirty="0"/>
          </a:p>
        </p:txBody>
      </p:sp>
      <p:sp>
        <p:nvSpPr>
          <p:cNvPr id="28" name="Shape 26"/>
          <p:cNvSpPr/>
          <p:nvPr/>
        </p:nvSpPr>
        <p:spPr>
          <a:xfrm>
            <a:off x="7406640" y="2267712"/>
            <a:ext cx="228600" cy="0"/>
          </a:xfrm>
          <a:prstGeom prst="line">
            <a:avLst/>
          </a:prstGeom>
          <a:noFill/>
          <a:ln w="28575">
            <a:solidFill>
              <a:srgbClr val="E8930C"/>
            </a:solidFill>
            <a:prstDash val="solid"/>
            <a:tailEnd type="triangle"/>
          </a:ln>
        </p:spPr>
        <p:txBody>
          <a:bodyPr/>
          <a:lstStyle/>
          <a:p>
            <a:endParaRPr lang="en-IN"/>
          </a:p>
        </p:txBody>
      </p:sp>
      <p:sp>
        <p:nvSpPr>
          <p:cNvPr id="29" name="Shape 27"/>
          <p:cNvSpPr/>
          <p:nvPr/>
        </p:nvSpPr>
        <p:spPr>
          <a:xfrm>
            <a:off x="7635240" y="1810512"/>
            <a:ext cx="1051560" cy="914400"/>
          </a:xfrm>
          <a:prstGeom prst="roundRect">
            <a:avLst>
              <a:gd name="adj" fmla="val 8000"/>
            </a:avLst>
          </a:prstGeom>
          <a:solidFill>
            <a:srgbClr val="0F1B33"/>
          </a:solidFill>
          <a:ln w="12700">
            <a:solidFill>
              <a:srgbClr val="2A3D66"/>
            </a:solidFill>
            <a:prstDash val="solid"/>
          </a:ln>
          <a:effectLst>
            <a:outerShdw blurRad="101600" dist="25400" dir="5400000" algn="bl" rotWithShape="0">
              <a:srgbClr val="1B2A4A">
                <a:alpha val="12000"/>
              </a:srgbClr>
            </a:outerShdw>
          </a:effectLst>
        </p:spPr>
        <p:txBody>
          <a:bodyPr/>
          <a:lstStyle/>
          <a:p>
            <a:endParaRPr lang="en-IN"/>
          </a:p>
        </p:txBody>
      </p:sp>
      <p:sp>
        <p:nvSpPr>
          <p:cNvPr id="30" name="Text 28"/>
          <p:cNvSpPr/>
          <p:nvPr/>
        </p:nvSpPr>
        <p:spPr>
          <a:xfrm>
            <a:off x="7680960" y="1883664"/>
            <a:ext cx="960120" cy="7680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Alerts + Trip Report</a:t>
            </a:r>
            <a:endParaRPr lang="en-US" sz="1000" dirty="0"/>
          </a:p>
          <a:p>
            <a:pPr marL="0" indent="0" algn="ctr">
              <a:buNone/>
            </a:pPr>
            <a:r>
              <a:rPr lang="en-US" sz="750" dirty="0">
                <a:solidFill>
                  <a:srgbClr val="8FA1C4"/>
                </a:solidFill>
                <a:latin typeface="Calibri" pitchFamily="34" charset="0"/>
                <a:ea typeface="Calibri" pitchFamily="34" charset="-122"/>
                <a:cs typeface="Calibri" pitchFamily="34" charset="-120"/>
              </a:rPr>
              <a:t>logs · LLM summary</a:t>
            </a:r>
            <a:endParaRPr lang="en-US" sz="1000" dirty="0"/>
          </a:p>
        </p:txBody>
      </p:sp>
      <p:sp>
        <p:nvSpPr>
          <p:cNvPr id="31" name="Text 29"/>
          <p:cNvSpPr/>
          <p:nvPr/>
        </p:nvSpPr>
        <p:spPr>
          <a:xfrm>
            <a:off x="457200" y="3913632"/>
            <a:ext cx="8229600" cy="219456"/>
          </a:xfrm>
          <a:prstGeom prst="rect">
            <a:avLst/>
          </a:prstGeom>
          <a:noFill/>
          <a:ln/>
        </p:spPr>
        <p:txBody>
          <a:bodyPr wrap="square" lIns="0" tIns="0" rIns="0" bIns="0" rtlCol="0" anchor="ctr"/>
          <a:lstStyle/>
          <a:p>
            <a:pPr marL="0" indent="0">
              <a:buNone/>
            </a:pPr>
            <a:r>
              <a:rPr lang="en-US" sz="950" b="1" kern="0" spc="200" dirty="0">
                <a:solidFill>
                  <a:srgbClr val="B36F05"/>
                </a:solidFill>
                <a:latin typeface="Courier New" pitchFamily="34" charset="0"/>
                <a:ea typeface="Courier New" pitchFamily="34" charset="-122"/>
                <a:cs typeface="Courier New" pitchFamily="34" charset="-120"/>
              </a:rPr>
              <a:t>WHAT CHANGED FROM THE OLD DESIGN</a:t>
            </a:r>
            <a:endParaRPr lang="en-US" sz="950" dirty="0"/>
          </a:p>
        </p:txBody>
      </p:sp>
      <p:sp>
        <p:nvSpPr>
          <p:cNvPr id="32" name="Shape 30"/>
          <p:cNvSpPr/>
          <p:nvPr/>
        </p:nvSpPr>
        <p:spPr>
          <a:xfrm>
            <a:off x="457200" y="4206240"/>
            <a:ext cx="2679192" cy="603504"/>
          </a:xfrm>
          <a:prstGeom prst="roundRect">
            <a:avLst>
              <a:gd name="adj" fmla="val 13636"/>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3" name="Text 31"/>
          <p:cNvSpPr/>
          <p:nvPr/>
        </p:nvSpPr>
        <p:spPr>
          <a:xfrm>
            <a:off x="585216" y="4206240"/>
            <a:ext cx="2423160" cy="603504"/>
          </a:xfrm>
          <a:prstGeom prst="rect">
            <a:avLst/>
          </a:prstGeom>
          <a:noFill/>
          <a:ln/>
        </p:spPr>
        <p:txBody>
          <a:bodyPr wrap="square" lIns="0" tIns="0" rIns="0" bIns="0" rtlCol="0" anchor="ctr"/>
          <a:lstStyle/>
          <a:p>
            <a:pPr marL="0" indent="0" algn="ctr">
              <a:buNone/>
            </a:pPr>
            <a:r>
              <a:rPr lang="en-US" sz="950" dirty="0">
                <a:solidFill>
                  <a:srgbClr val="72809B"/>
                </a:solidFill>
                <a:latin typeface="Calibri" pitchFamily="34" charset="0"/>
                <a:ea typeface="Calibri" pitchFamily="34" charset="-122"/>
                <a:cs typeface="Calibri" pitchFamily="34" charset="-120"/>
              </a:rPr>
              <a:t>Frame-level YOLO  </a:t>
            </a:r>
            <a:r>
              <a:rPr lang="en-US" sz="950" b="1" dirty="0">
                <a:solidFill>
                  <a:srgbClr val="E8930C"/>
                </a:solidFill>
                <a:latin typeface="Calibri" pitchFamily="34" charset="0"/>
                <a:ea typeface="Calibri" pitchFamily="34" charset="-122"/>
                <a:cs typeface="Calibri" pitchFamily="34" charset="-120"/>
              </a:rPr>
              <a:t>→  </a:t>
            </a:r>
            <a:r>
              <a:rPr lang="en-US" sz="950" b="1" dirty="0">
                <a:solidFill>
                  <a:srgbClr val="1B2A4A"/>
                </a:solidFill>
                <a:latin typeface="Calibri" pitchFamily="34" charset="0"/>
                <a:ea typeface="Calibri" pitchFamily="34" charset="-122"/>
                <a:cs typeface="Calibri" pitchFamily="34" charset="-120"/>
              </a:rPr>
              <a:t>video-sequence temporal modeling</a:t>
            </a:r>
            <a:endParaRPr lang="en-US" sz="950" dirty="0"/>
          </a:p>
        </p:txBody>
      </p:sp>
      <p:sp>
        <p:nvSpPr>
          <p:cNvPr id="34" name="Shape 32"/>
          <p:cNvSpPr/>
          <p:nvPr/>
        </p:nvSpPr>
        <p:spPr>
          <a:xfrm>
            <a:off x="3278124" y="4206240"/>
            <a:ext cx="2679192" cy="603504"/>
          </a:xfrm>
          <a:prstGeom prst="roundRect">
            <a:avLst>
              <a:gd name="adj" fmla="val 13636"/>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5" name="Text 33"/>
          <p:cNvSpPr/>
          <p:nvPr/>
        </p:nvSpPr>
        <p:spPr>
          <a:xfrm>
            <a:off x="3406140" y="4206240"/>
            <a:ext cx="2423160" cy="603504"/>
          </a:xfrm>
          <a:prstGeom prst="rect">
            <a:avLst/>
          </a:prstGeom>
          <a:noFill/>
          <a:ln/>
        </p:spPr>
        <p:txBody>
          <a:bodyPr wrap="square" lIns="0" tIns="0" rIns="0" bIns="0" rtlCol="0" anchor="ctr"/>
          <a:lstStyle/>
          <a:p>
            <a:pPr marL="0" indent="0" algn="ctr">
              <a:buNone/>
            </a:pPr>
            <a:r>
              <a:rPr lang="en-US" sz="950" dirty="0">
                <a:solidFill>
                  <a:srgbClr val="72809B"/>
                </a:solidFill>
                <a:latin typeface="Calibri" pitchFamily="34" charset="0"/>
                <a:ea typeface="Calibri" pitchFamily="34" charset="-122"/>
                <a:cs typeface="Calibri" pitchFamily="34" charset="-120"/>
              </a:rPr>
              <a:t>Hardcoded thresholds  </a:t>
            </a:r>
            <a:r>
              <a:rPr lang="en-US" sz="950" b="1" dirty="0">
                <a:solidFill>
                  <a:srgbClr val="E8930C"/>
                </a:solidFill>
                <a:latin typeface="Calibri" pitchFamily="34" charset="0"/>
                <a:ea typeface="Calibri" pitchFamily="34" charset="-122"/>
                <a:cs typeface="Calibri" pitchFamily="34" charset="-120"/>
              </a:rPr>
              <a:t>→  </a:t>
            </a:r>
            <a:r>
              <a:rPr lang="en-US" sz="950" b="1" dirty="0">
                <a:solidFill>
                  <a:srgbClr val="1B2A4A"/>
                </a:solidFill>
                <a:latin typeface="Calibri" pitchFamily="34" charset="0"/>
                <a:ea typeface="Calibri" pitchFamily="34" charset="-122"/>
                <a:cs typeface="Calibri" pitchFamily="34" charset="-120"/>
              </a:rPr>
              <a:t>learned fatigue patterns</a:t>
            </a:r>
            <a:endParaRPr lang="en-US" sz="950" dirty="0"/>
          </a:p>
        </p:txBody>
      </p:sp>
      <p:sp>
        <p:nvSpPr>
          <p:cNvPr id="36" name="Shape 34"/>
          <p:cNvSpPr/>
          <p:nvPr/>
        </p:nvSpPr>
        <p:spPr>
          <a:xfrm>
            <a:off x="6099048" y="4206240"/>
            <a:ext cx="2679192" cy="603504"/>
          </a:xfrm>
          <a:prstGeom prst="roundRect">
            <a:avLst>
              <a:gd name="adj" fmla="val 13636"/>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37" name="Text 35"/>
          <p:cNvSpPr/>
          <p:nvPr/>
        </p:nvSpPr>
        <p:spPr>
          <a:xfrm>
            <a:off x="6227064" y="4206240"/>
            <a:ext cx="2423160" cy="603504"/>
          </a:xfrm>
          <a:prstGeom prst="rect">
            <a:avLst/>
          </a:prstGeom>
          <a:noFill/>
          <a:ln/>
        </p:spPr>
        <p:txBody>
          <a:bodyPr wrap="square" lIns="0" tIns="0" rIns="0" bIns="0" rtlCol="0" anchor="ctr"/>
          <a:lstStyle/>
          <a:p>
            <a:pPr marL="0" indent="0" algn="ctr">
              <a:buNone/>
            </a:pPr>
            <a:r>
              <a:rPr lang="en-US" sz="950" dirty="0">
                <a:solidFill>
                  <a:srgbClr val="72809B"/>
                </a:solidFill>
                <a:latin typeface="Calibri" pitchFamily="34" charset="0"/>
                <a:ea typeface="Calibri" pitchFamily="34" charset="-122"/>
                <a:cs typeface="Calibri" pitchFamily="34" charset="-120"/>
              </a:rPr>
              <a:t>Drowsiness-only  </a:t>
            </a:r>
            <a:r>
              <a:rPr lang="en-US" sz="950" b="1" dirty="0">
                <a:solidFill>
                  <a:srgbClr val="E8930C"/>
                </a:solidFill>
                <a:latin typeface="Calibri" pitchFamily="34" charset="0"/>
                <a:ea typeface="Calibri" pitchFamily="34" charset="-122"/>
                <a:cs typeface="Calibri" pitchFamily="34" charset="-120"/>
              </a:rPr>
              <a:t>→  </a:t>
            </a:r>
            <a:r>
              <a:rPr lang="en-US" sz="950" b="1" dirty="0">
                <a:solidFill>
                  <a:srgbClr val="1B2A4A"/>
                </a:solidFill>
                <a:latin typeface="Calibri" pitchFamily="34" charset="0"/>
                <a:ea typeface="Calibri" pitchFamily="34" charset="-122"/>
                <a:cs typeface="Calibri" pitchFamily="34" charset="-120"/>
              </a:rPr>
              <a:t>full wellness monitoring + reporting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13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13  ·  OUTPUT LAYER</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Wellness Score and Trip Reports</a:t>
            </a:r>
            <a:endParaRPr lang="en-US" sz="2600" dirty="0"/>
          </a:p>
        </p:txBody>
      </p:sp>
      <p:sp>
        <p:nvSpPr>
          <p:cNvPr id="6" name="Shape 4"/>
          <p:cNvSpPr/>
          <p:nvPr/>
        </p:nvSpPr>
        <p:spPr>
          <a:xfrm>
            <a:off x="457200" y="1298448"/>
            <a:ext cx="3977640" cy="3429000"/>
          </a:xfrm>
          <a:prstGeom prst="roundRect">
            <a:avLst>
              <a:gd name="adj" fmla="val 2400"/>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7" name="Text 5"/>
          <p:cNvSpPr/>
          <p:nvPr/>
        </p:nvSpPr>
        <p:spPr>
          <a:xfrm>
            <a:off x="713232" y="1481328"/>
            <a:ext cx="3474720" cy="237744"/>
          </a:xfrm>
          <a:prstGeom prst="rect">
            <a:avLst/>
          </a:prstGeom>
          <a:noFill/>
          <a:ln/>
        </p:spPr>
        <p:txBody>
          <a:bodyPr wrap="square" lIns="0" tIns="0" rIns="0" bIns="0" rtlCol="0" anchor="ctr"/>
          <a:lstStyle/>
          <a:p>
            <a:pPr marL="0" indent="0">
              <a:buNone/>
            </a:pPr>
            <a:r>
              <a:rPr lang="en-US" sz="950" b="1" kern="0" spc="150" dirty="0">
                <a:solidFill>
                  <a:srgbClr val="B36F05"/>
                </a:solidFill>
                <a:latin typeface="Courier New" pitchFamily="34" charset="0"/>
                <a:ea typeface="Courier New" pitchFamily="34" charset="-122"/>
                <a:cs typeface="Courier New" pitchFamily="34" charset="-120"/>
              </a:rPr>
              <a:t>DRIVER WELLNESS SCORE</a:t>
            </a:r>
            <a:endParaRPr lang="en-US" sz="950" dirty="0"/>
          </a:p>
        </p:txBody>
      </p:sp>
      <p:sp>
        <p:nvSpPr>
          <p:cNvPr id="8" name="Text 6"/>
          <p:cNvSpPr/>
          <p:nvPr/>
        </p:nvSpPr>
        <p:spPr>
          <a:xfrm>
            <a:off x="713232" y="1828800"/>
            <a:ext cx="3474720" cy="86868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3A4A66"/>
                </a:solidFill>
                <a:latin typeface="Calibri" pitchFamily="34" charset="0"/>
                <a:ea typeface="Calibri" pitchFamily="34" charset="-122"/>
                <a:cs typeface="Calibri" pitchFamily="34" charset="-120"/>
              </a:rPr>
              <a:t>Inputs: fatigue state, landmark trends, distraction class</a:t>
            </a:r>
            <a:endParaRPr lang="en-US" sz="1050" dirty="0"/>
          </a:p>
          <a:p>
            <a:pPr marL="152400" indent="-152400">
              <a:spcAft>
                <a:spcPts val="700"/>
              </a:spcAft>
              <a:buSzPct val="100000"/>
              <a:buChar char="▪"/>
            </a:pPr>
            <a:r>
              <a:rPr lang="en-US" sz="1050" dirty="0">
                <a:solidFill>
                  <a:srgbClr val="3A4A66"/>
                </a:solidFill>
                <a:latin typeface="Calibri" pitchFamily="34" charset="0"/>
                <a:ea typeface="Calibri" pitchFamily="34" charset="-122"/>
                <a:cs typeface="Calibri" pitchFamily="34" charset="-120"/>
              </a:rPr>
              <a:t>Plus seat belt, unsafe objects, gaze direction</a:t>
            </a:r>
            <a:endParaRPr lang="en-US" sz="1050" dirty="0"/>
          </a:p>
        </p:txBody>
      </p:sp>
      <p:sp>
        <p:nvSpPr>
          <p:cNvPr id="9" name="Shape 7"/>
          <p:cNvSpPr/>
          <p:nvPr/>
        </p:nvSpPr>
        <p:spPr>
          <a:xfrm>
            <a:off x="713232" y="2761488"/>
            <a:ext cx="3474720" cy="438912"/>
          </a:xfrm>
          <a:prstGeom prst="roundRect">
            <a:avLst>
              <a:gd name="adj" fmla="val 14583"/>
            </a:avLst>
          </a:prstGeom>
          <a:solidFill>
            <a:srgbClr val="FFFFFF"/>
          </a:solidFill>
          <a:ln w="12700">
            <a:solidFill>
              <a:srgbClr val="D5DEEC"/>
            </a:solidFill>
            <a:prstDash val="solid"/>
          </a:ln>
        </p:spPr>
        <p:txBody>
          <a:bodyPr/>
          <a:lstStyle/>
          <a:p>
            <a:endParaRPr lang="en-IN"/>
          </a:p>
        </p:txBody>
      </p:sp>
      <p:sp>
        <p:nvSpPr>
          <p:cNvPr id="10" name="Shape 8"/>
          <p:cNvSpPr/>
          <p:nvPr/>
        </p:nvSpPr>
        <p:spPr>
          <a:xfrm>
            <a:off x="877824" y="2907792"/>
            <a:ext cx="146304" cy="146304"/>
          </a:xfrm>
          <a:prstGeom prst="ellipse">
            <a:avLst/>
          </a:prstGeom>
          <a:solidFill>
            <a:srgbClr val="2E7D52"/>
          </a:solidFill>
          <a:ln/>
        </p:spPr>
        <p:txBody>
          <a:bodyPr/>
          <a:lstStyle/>
          <a:p>
            <a:endParaRPr lang="en-IN"/>
          </a:p>
        </p:txBody>
      </p:sp>
      <p:sp>
        <p:nvSpPr>
          <p:cNvPr id="11" name="Text 9"/>
          <p:cNvSpPr/>
          <p:nvPr/>
        </p:nvSpPr>
        <p:spPr>
          <a:xfrm>
            <a:off x="1152144" y="2761488"/>
            <a:ext cx="2971800" cy="438912"/>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Safe  </a:t>
            </a:r>
            <a:r>
              <a:rPr lang="en-US" sz="1050" dirty="0">
                <a:solidFill>
                  <a:srgbClr val="72809B"/>
                </a:solidFill>
                <a:latin typeface="Calibri" pitchFamily="34" charset="0"/>
                <a:ea typeface="Calibri" pitchFamily="34" charset="-122"/>
                <a:cs typeface="Calibri" pitchFamily="34" charset="-120"/>
              </a:rPr>
              <a:t>— driver behavior appears normal</a:t>
            </a:r>
            <a:endParaRPr lang="en-US" sz="1050" dirty="0"/>
          </a:p>
        </p:txBody>
      </p:sp>
      <p:sp>
        <p:nvSpPr>
          <p:cNvPr id="12" name="Shape 10"/>
          <p:cNvSpPr/>
          <p:nvPr/>
        </p:nvSpPr>
        <p:spPr>
          <a:xfrm>
            <a:off x="713232" y="3291840"/>
            <a:ext cx="3474720" cy="438912"/>
          </a:xfrm>
          <a:prstGeom prst="roundRect">
            <a:avLst>
              <a:gd name="adj" fmla="val 14583"/>
            </a:avLst>
          </a:prstGeom>
          <a:solidFill>
            <a:srgbClr val="FFFFFF"/>
          </a:solidFill>
          <a:ln w="12700">
            <a:solidFill>
              <a:srgbClr val="D5DEEC"/>
            </a:solidFill>
            <a:prstDash val="solid"/>
          </a:ln>
        </p:spPr>
        <p:txBody>
          <a:bodyPr/>
          <a:lstStyle/>
          <a:p>
            <a:endParaRPr lang="en-IN"/>
          </a:p>
        </p:txBody>
      </p:sp>
      <p:sp>
        <p:nvSpPr>
          <p:cNvPr id="13" name="Shape 11"/>
          <p:cNvSpPr/>
          <p:nvPr/>
        </p:nvSpPr>
        <p:spPr>
          <a:xfrm>
            <a:off x="877824" y="3438144"/>
            <a:ext cx="146304" cy="146304"/>
          </a:xfrm>
          <a:prstGeom prst="ellipse">
            <a:avLst/>
          </a:prstGeom>
          <a:solidFill>
            <a:srgbClr val="E8930C"/>
          </a:solidFill>
          <a:ln/>
        </p:spPr>
        <p:txBody>
          <a:bodyPr/>
          <a:lstStyle/>
          <a:p>
            <a:endParaRPr lang="en-IN"/>
          </a:p>
        </p:txBody>
      </p:sp>
      <p:sp>
        <p:nvSpPr>
          <p:cNvPr id="14" name="Text 12"/>
          <p:cNvSpPr/>
          <p:nvPr/>
        </p:nvSpPr>
        <p:spPr>
          <a:xfrm>
            <a:off x="1152144" y="3291840"/>
            <a:ext cx="2971800" cy="438912"/>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Caution  </a:t>
            </a:r>
            <a:r>
              <a:rPr lang="en-US" sz="1050" dirty="0">
                <a:solidFill>
                  <a:srgbClr val="72809B"/>
                </a:solidFill>
                <a:latin typeface="Calibri" pitchFamily="34" charset="0"/>
                <a:ea typeface="Calibri" pitchFamily="34" charset="-122"/>
                <a:cs typeface="Calibri" pitchFamily="34" charset="-120"/>
              </a:rPr>
              <a:t>— mild fatigue or distraction detected</a:t>
            </a:r>
            <a:endParaRPr lang="en-US" sz="1050" dirty="0"/>
          </a:p>
        </p:txBody>
      </p:sp>
      <p:sp>
        <p:nvSpPr>
          <p:cNvPr id="15" name="Shape 13"/>
          <p:cNvSpPr/>
          <p:nvPr/>
        </p:nvSpPr>
        <p:spPr>
          <a:xfrm>
            <a:off x="713232" y="3822192"/>
            <a:ext cx="3474720" cy="438912"/>
          </a:xfrm>
          <a:prstGeom prst="roundRect">
            <a:avLst>
              <a:gd name="adj" fmla="val 14583"/>
            </a:avLst>
          </a:prstGeom>
          <a:solidFill>
            <a:srgbClr val="FFFFFF"/>
          </a:solidFill>
          <a:ln w="12700">
            <a:solidFill>
              <a:srgbClr val="D5DEEC"/>
            </a:solidFill>
            <a:prstDash val="solid"/>
          </a:ln>
        </p:spPr>
        <p:txBody>
          <a:bodyPr/>
          <a:lstStyle/>
          <a:p>
            <a:endParaRPr lang="en-IN"/>
          </a:p>
        </p:txBody>
      </p:sp>
      <p:sp>
        <p:nvSpPr>
          <p:cNvPr id="16" name="Shape 14"/>
          <p:cNvSpPr/>
          <p:nvPr/>
        </p:nvSpPr>
        <p:spPr>
          <a:xfrm>
            <a:off x="877824" y="3968496"/>
            <a:ext cx="146304" cy="146304"/>
          </a:xfrm>
          <a:prstGeom prst="ellipse">
            <a:avLst/>
          </a:prstGeom>
          <a:solidFill>
            <a:srgbClr val="C0392B"/>
          </a:solidFill>
          <a:ln/>
        </p:spPr>
        <p:txBody>
          <a:bodyPr/>
          <a:lstStyle/>
          <a:p>
            <a:endParaRPr lang="en-IN"/>
          </a:p>
        </p:txBody>
      </p:sp>
      <p:sp>
        <p:nvSpPr>
          <p:cNvPr id="17" name="Text 15"/>
          <p:cNvSpPr/>
          <p:nvPr/>
        </p:nvSpPr>
        <p:spPr>
          <a:xfrm>
            <a:off x="1152144" y="3822192"/>
            <a:ext cx="2971800" cy="438912"/>
          </a:xfrm>
          <a:prstGeom prst="rect">
            <a:avLst/>
          </a:prstGeom>
          <a:noFill/>
          <a:ln/>
        </p:spPr>
        <p:txBody>
          <a:bodyPr wrap="square" lIns="0" tIns="0" rIns="0" bIns="0"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High Risk  </a:t>
            </a:r>
            <a:r>
              <a:rPr lang="en-US" sz="1050" dirty="0">
                <a:solidFill>
                  <a:srgbClr val="72809B"/>
                </a:solidFill>
                <a:latin typeface="Calibri" pitchFamily="34" charset="0"/>
                <a:ea typeface="Calibri" pitchFamily="34" charset="-122"/>
                <a:cs typeface="Calibri" pitchFamily="34" charset="-120"/>
              </a:rPr>
              <a:t>— strong fatigue or multiple risk signals</a:t>
            </a:r>
            <a:endParaRPr lang="en-US" sz="1050" dirty="0"/>
          </a:p>
        </p:txBody>
      </p:sp>
      <p:sp>
        <p:nvSpPr>
          <p:cNvPr id="18" name="Text 16"/>
          <p:cNvSpPr/>
          <p:nvPr/>
        </p:nvSpPr>
        <p:spPr>
          <a:xfrm>
            <a:off x="713232" y="4434840"/>
            <a:ext cx="3474720" cy="219456"/>
          </a:xfrm>
          <a:prstGeom prst="rect">
            <a:avLst/>
          </a:prstGeom>
          <a:noFill/>
          <a:ln/>
        </p:spPr>
        <p:txBody>
          <a:bodyPr wrap="square" lIns="0" tIns="0" rIns="0" bIns="0" rtlCol="0" anchor="ctr"/>
          <a:lstStyle/>
          <a:p>
            <a:pPr marL="0" indent="0">
              <a:buNone/>
            </a:pPr>
            <a:r>
              <a:rPr lang="en-US" sz="850" dirty="0">
                <a:solidFill>
                  <a:srgbClr val="9AA7BD"/>
                </a:solidFill>
                <a:latin typeface="Courier New" pitchFamily="34" charset="0"/>
                <a:ea typeface="Courier New" pitchFamily="34" charset="-122"/>
                <a:cs typeface="Courier New" pitchFamily="34" charset="-120"/>
              </a:rPr>
              <a:t>Shown on the dashboard · stored in trip logs</a:t>
            </a:r>
            <a:endParaRPr lang="en-US" sz="850" dirty="0"/>
          </a:p>
        </p:txBody>
      </p:sp>
      <p:sp>
        <p:nvSpPr>
          <p:cNvPr id="19" name="Shape 17"/>
          <p:cNvSpPr/>
          <p:nvPr/>
        </p:nvSpPr>
        <p:spPr>
          <a:xfrm>
            <a:off x="4709160" y="1298448"/>
            <a:ext cx="3977640" cy="3429000"/>
          </a:xfrm>
          <a:prstGeom prst="roundRect">
            <a:avLst>
              <a:gd name="adj" fmla="val 2400"/>
            </a:avLst>
          </a:prstGeom>
          <a:solidFill>
            <a:srgbClr val="EFF4FB"/>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0" name="Text 18"/>
          <p:cNvSpPr/>
          <p:nvPr/>
        </p:nvSpPr>
        <p:spPr>
          <a:xfrm>
            <a:off x="4965192" y="1481328"/>
            <a:ext cx="3474720" cy="237744"/>
          </a:xfrm>
          <a:prstGeom prst="rect">
            <a:avLst/>
          </a:prstGeom>
          <a:noFill/>
          <a:ln/>
        </p:spPr>
        <p:txBody>
          <a:bodyPr wrap="square" lIns="0" tIns="0" rIns="0" bIns="0" rtlCol="0" anchor="ctr"/>
          <a:lstStyle/>
          <a:p>
            <a:pPr marL="0" indent="0">
              <a:buNone/>
            </a:pPr>
            <a:r>
              <a:rPr lang="en-US" sz="950" b="1" kern="0" spc="150" dirty="0">
                <a:solidFill>
                  <a:srgbClr val="B36F05"/>
                </a:solidFill>
                <a:latin typeface="Courier New" pitchFamily="34" charset="0"/>
                <a:ea typeface="Courier New" pitchFamily="34" charset="-122"/>
                <a:cs typeface="Courier New" pitchFamily="34" charset="-120"/>
              </a:rPr>
              <a:t>TRIP REPORTS — LLM LAYER</a:t>
            </a:r>
            <a:endParaRPr lang="en-US" sz="950" dirty="0"/>
          </a:p>
        </p:txBody>
      </p:sp>
      <p:sp>
        <p:nvSpPr>
          <p:cNvPr id="21" name="Text 19"/>
          <p:cNvSpPr/>
          <p:nvPr/>
        </p:nvSpPr>
        <p:spPr>
          <a:xfrm>
            <a:off x="4965192" y="1828800"/>
            <a:ext cx="3520440" cy="1051560"/>
          </a:xfrm>
          <a:prstGeom prst="rect">
            <a:avLst/>
          </a:prstGeom>
          <a:noFill/>
          <a:ln/>
        </p:spPr>
        <p:txBody>
          <a:bodyPr wrap="square" lIns="0" tIns="0" rIns="0" bIns="0" rtlCol="0" anchor="t"/>
          <a:lstStyle/>
          <a:p>
            <a:pPr marL="152400" indent="-152400">
              <a:spcAft>
                <a:spcPts val="600"/>
              </a:spcAft>
              <a:buSzPct val="100000"/>
              <a:buChar char="▪"/>
            </a:pPr>
            <a:r>
              <a:rPr lang="en-US" sz="1030" dirty="0">
                <a:solidFill>
                  <a:srgbClr val="3A4A66"/>
                </a:solidFill>
                <a:latin typeface="Calibri" pitchFamily="34" charset="0"/>
                <a:ea typeface="Calibri" pitchFamily="34" charset="-122"/>
                <a:cs typeface="Calibri" pitchFamily="34" charset="-120"/>
              </a:rPr>
              <a:t>LLM reads structured JSON/CSV logs — never raw video</a:t>
            </a:r>
            <a:endParaRPr lang="en-US" sz="1030" dirty="0"/>
          </a:p>
          <a:p>
            <a:pPr marL="152400" indent="-152400">
              <a:spcAft>
                <a:spcPts val="600"/>
              </a:spcAft>
              <a:buSzPct val="100000"/>
              <a:buChar char="▪"/>
            </a:pPr>
            <a:r>
              <a:rPr lang="en-US" sz="1030" dirty="0">
                <a:solidFill>
                  <a:srgbClr val="3A4A66"/>
                </a:solidFill>
                <a:latin typeface="Calibri" pitchFamily="34" charset="0"/>
                <a:ea typeface="Calibri" pitchFamily="34" charset="-122"/>
                <a:cs typeface="Calibri" pitchFamily="34" charset="-120"/>
              </a:rPr>
              <a:t>Llama 3.3 70B via API; smaller model for local demo</a:t>
            </a:r>
            <a:endParaRPr lang="en-US" sz="1030" dirty="0"/>
          </a:p>
          <a:p>
            <a:pPr marL="152400" indent="-152400">
              <a:spcAft>
                <a:spcPts val="600"/>
              </a:spcAft>
              <a:buSzPct val="100000"/>
              <a:buChar char="▪"/>
            </a:pPr>
            <a:r>
              <a:rPr lang="en-US" sz="1030" dirty="0">
                <a:solidFill>
                  <a:srgbClr val="3A4A66"/>
                </a:solidFill>
                <a:latin typeface="Calibri" pitchFamily="34" charset="0"/>
                <a:ea typeface="Calibri" pitchFamily="34" charset="-122"/>
                <a:cs typeface="Calibri" pitchFamily="34" charset="-120"/>
              </a:rPr>
              <a:t>Add-on layer — never replaces the ML models</a:t>
            </a:r>
            <a:endParaRPr lang="en-US" sz="1030" dirty="0"/>
          </a:p>
        </p:txBody>
      </p:sp>
      <p:pic>
        <p:nvPicPr>
          <p:cNvPr id="22" name="Image 0" descr="preencoded.png"/>
          <p:cNvPicPr>
            <a:picLocks noChangeAspect="1"/>
          </p:cNvPicPr>
          <p:nvPr/>
        </p:nvPicPr>
        <p:blipFill>
          <a:blip r:embed="rId3"/>
          <a:stretch>
            <a:fillRect/>
          </a:stretch>
        </p:blipFill>
        <p:spPr>
          <a:xfrm>
            <a:off x="5257800" y="2889504"/>
            <a:ext cx="2194560" cy="1700784"/>
          </a:xfrm>
          <a:prstGeom prst="rect">
            <a:avLst/>
          </a:prstGeom>
        </p:spPr>
      </p:pic>
      <p:sp>
        <p:nvSpPr>
          <p:cNvPr id="23" name="Text 20"/>
          <p:cNvSpPr/>
          <p:nvPr/>
        </p:nvSpPr>
        <p:spPr>
          <a:xfrm>
            <a:off x="7516368" y="3017520"/>
            <a:ext cx="1097280" cy="1554480"/>
          </a:xfrm>
          <a:prstGeom prst="rect">
            <a:avLst/>
          </a:prstGeom>
          <a:noFill/>
          <a:ln/>
        </p:spPr>
        <p:txBody>
          <a:bodyPr wrap="square" lIns="0" tIns="0" rIns="0" bIns="0" rtlCol="0" anchor="t"/>
          <a:lstStyle/>
          <a:p>
            <a:pPr marL="0" indent="0">
              <a:buNone/>
            </a:pPr>
            <a:r>
              <a:rPr lang="en-US" sz="800" dirty="0">
                <a:solidFill>
                  <a:srgbClr val="72809B"/>
                </a:solidFill>
                <a:latin typeface="Courier New" pitchFamily="34" charset="0"/>
                <a:ea typeface="Courier New" pitchFamily="34" charset="-122"/>
                <a:cs typeface="Courier New" pitchFamily="34" charset="-120"/>
              </a:rPr>
              <a:t>duration · events</a:t>
            </a:r>
            <a:endParaRPr lang="en-US" sz="800" dirty="0"/>
          </a:p>
          <a:p>
            <a:pPr marL="0" indent="0">
              <a:buNone/>
            </a:pPr>
            <a:r>
              <a:rPr lang="en-US" sz="800" dirty="0">
                <a:solidFill>
                  <a:srgbClr val="72809B"/>
                </a:solidFill>
                <a:latin typeface="Courier New" pitchFamily="34" charset="0"/>
                <a:ea typeface="Courier New" pitchFamily="34" charset="-122"/>
                <a:cs typeface="Courier New" pitchFamily="34" charset="-120"/>
              </a:rPr>
              <a:t>violations · state</a:t>
            </a:r>
            <a:endParaRPr lang="en-US" sz="800" dirty="0"/>
          </a:p>
          <a:p>
            <a:pPr marL="0" indent="0">
              <a:buNone/>
            </a:pPr>
            <a:r>
              <a:rPr lang="en-US" sz="800" dirty="0">
                <a:solidFill>
                  <a:srgbClr val="72809B"/>
                </a:solidFill>
                <a:latin typeface="Courier New" pitchFamily="34" charset="0"/>
                <a:ea typeface="Courier New" pitchFamily="34" charset="-122"/>
                <a:cs typeface="Courier New" pitchFamily="34" charset="-120"/>
              </a:rPr>
              <a:t>times → summary,</a:t>
            </a:r>
            <a:endParaRPr lang="en-US" sz="800" dirty="0"/>
          </a:p>
          <a:p>
            <a:pPr marL="0" indent="0">
              <a:buNone/>
            </a:pPr>
            <a:r>
              <a:rPr lang="en-US" sz="800" dirty="0">
                <a:solidFill>
                  <a:srgbClr val="72809B"/>
                </a:solidFill>
                <a:latin typeface="Courier New" pitchFamily="34" charset="0"/>
                <a:ea typeface="Courier New" pitchFamily="34" charset="-122"/>
                <a:cs typeface="Courier New" pitchFamily="34" charset="-120"/>
              </a:rPr>
              <a:t>trends, compliance,</a:t>
            </a:r>
            <a:endParaRPr lang="en-US" sz="800" dirty="0"/>
          </a:p>
          <a:p>
            <a:pPr marL="0" indent="0">
              <a:buNone/>
            </a:pPr>
            <a:r>
              <a:rPr lang="en-US" sz="800" dirty="0">
                <a:solidFill>
                  <a:srgbClr val="72809B"/>
                </a:solidFill>
                <a:latin typeface="Courier New" pitchFamily="34" charset="0"/>
                <a:ea typeface="Courier New" pitchFamily="34" charset="-122"/>
                <a:cs typeface="Courier New" pitchFamily="34" charset="-120"/>
              </a:rPr>
              <a:t>suggestions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82896"/>
            <a:ext cx="5943600" cy="201168"/>
          </a:xfrm>
          <a:prstGeom prst="rect">
            <a:avLst/>
          </a:prstGeom>
          <a:noFill/>
          <a:ln/>
        </p:spPr>
        <p:txBody>
          <a:bodyPr wrap="square" lIns="0" tIns="0" rIns="0" bIns="0" rtlCol="0" anchor="ctr"/>
          <a:lstStyle/>
          <a:p>
            <a:pPr marL="0" indent="0">
              <a:buNone/>
            </a:pPr>
            <a:r>
              <a:rPr lang="en-US" sz="750" kern="0" spc="100" dirty="0">
                <a:solidFill>
                  <a:srgbClr val="9AA7BD"/>
                </a:solidFill>
                <a:latin typeface="Courier New" pitchFamily="34" charset="0"/>
                <a:ea typeface="Courier New" pitchFamily="34" charset="-122"/>
                <a:cs typeface="Courier New" pitchFamily="34" charset="-120"/>
              </a:rPr>
              <a:t>AI-POWERED DRIVER WELLNESS &amp; SAFETY MONITORING · MILESTONE 1</a:t>
            </a:r>
            <a:endParaRPr lang="en-US" sz="750" dirty="0"/>
          </a:p>
        </p:txBody>
      </p:sp>
      <p:sp>
        <p:nvSpPr>
          <p:cNvPr id="3" name="Text 1"/>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9AA7BD"/>
                </a:solidFill>
                <a:latin typeface="Courier New" pitchFamily="34" charset="0"/>
                <a:ea typeface="Courier New" pitchFamily="34" charset="-122"/>
                <a:cs typeface="Courier New" pitchFamily="34" charset="-120"/>
              </a:rPr>
              <a:t>14 / 15</a:t>
            </a:r>
            <a:endParaRPr lang="en-US" sz="850" dirty="0"/>
          </a:p>
        </p:txBody>
      </p:sp>
      <p:sp>
        <p:nvSpPr>
          <p:cNvPr id="4" name="Text 2"/>
          <p:cNvSpPr/>
          <p:nvPr/>
        </p:nvSpPr>
        <p:spPr>
          <a:xfrm>
            <a:off x="457200" y="292608"/>
            <a:ext cx="64008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14  ·  RIGOR</a:t>
            </a:r>
            <a:endParaRPr lang="en-US" sz="1050" dirty="0"/>
          </a:p>
        </p:txBody>
      </p:sp>
      <p:sp>
        <p:nvSpPr>
          <p:cNvPr id="5" name="Text 3"/>
          <p:cNvSpPr/>
          <p:nvPr/>
        </p:nvSpPr>
        <p:spPr>
          <a:xfrm>
            <a:off x="457200" y="548640"/>
            <a:ext cx="822960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Evaluation Plan and Testing</a:t>
            </a:r>
            <a:endParaRPr lang="en-US" sz="2600" dirty="0"/>
          </a:p>
        </p:txBody>
      </p:sp>
      <p:sp>
        <p:nvSpPr>
          <p:cNvPr id="6" name="Text 4"/>
          <p:cNvSpPr/>
          <p:nvPr/>
        </p:nvSpPr>
        <p:spPr>
          <a:xfrm>
            <a:off x="457200" y="1280160"/>
            <a:ext cx="4160520" cy="219456"/>
          </a:xfrm>
          <a:prstGeom prst="rect">
            <a:avLst/>
          </a:prstGeom>
          <a:noFill/>
          <a:ln/>
        </p:spPr>
        <p:txBody>
          <a:bodyPr wrap="square" lIns="0" tIns="0" rIns="0" bIns="0" rtlCol="0" anchor="ctr"/>
          <a:lstStyle/>
          <a:p>
            <a:pPr marL="0" indent="0">
              <a:buNone/>
            </a:pPr>
            <a:r>
              <a:rPr lang="en-US" sz="950" b="1" kern="0" spc="200" dirty="0">
                <a:solidFill>
                  <a:srgbClr val="B36F05"/>
                </a:solidFill>
                <a:latin typeface="Courier New" pitchFamily="34" charset="0"/>
                <a:ea typeface="Courier New" pitchFamily="34" charset="-122"/>
                <a:cs typeface="Courier New" pitchFamily="34" charset="-120"/>
              </a:rPr>
              <a:t>METRICS BY MODULE</a:t>
            </a:r>
            <a:endParaRPr lang="en-US" sz="950" dirty="0"/>
          </a:p>
        </p:txBody>
      </p:sp>
      <p:sp>
        <p:nvSpPr>
          <p:cNvPr id="7" name="Shape 5"/>
          <p:cNvSpPr/>
          <p:nvPr/>
        </p:nvSpPr>
        <p:spPr>
          <a:xfrm>
            <a:off x="457200" y="1591056"/>
            <a:ext cx="4160520" cy="539496"/>
          </a:xfrm>
          <a:prstGeom prst="roundRect">
            <a:avLst>
              <a:gd name="adj" fmla="val 11864"/>
            </a:avLst>
          </a:prstGeom>
          <a:solidFill>
            <a:srgbClr val="F6F9FD"/>
          </a:solidFill>
          <a:ln w="12700">
            <a:solidFill>
              <a:srgbClr val="D5DEEC"/>
            </a:solidFill>
            <a:prstDash val="solid"/>
          </a:ln>
        </p:spPr>
        <p:txBody>
          <a:bodyPr/>
          <a:lstStyle/>
          <a:p>
            <a:endParaRPr lang="en-IN"/>
          </a:p>
        </p:txBody>
      </p:sp>
      <p:sp>
        <p:nvSpPr>
          <p:cNvPr id="8" name="Text 6"/>
          <p:cNvSpPr/>
          <p:nvPr/>
        </p:nvSpPr>
        <p:spPr>
          <a:xfrm>
            <a:off x="621792" y="1627632"/>
            <a:ext cx="3840480" cy="475488"/>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Fatigue</a:t>
            </a:r>
            <a:endParaRPr lang="en-US" sz="950" dirty="0"/>
          </a:p>
          <a:p>
            <a:pPr marL="0" indent="0">
              <a:buNone/>
            </a:pPr>
            <a:r>
              <a:rPr lang="en-US" sz="930" dirty="0">
                <a:solidFill>
                  <a:srgbClr val="3A4A66"/>
                </a:solidFill>
                <a:latin typeface="Calibri" pitchFamily="34" charset="0"/>
                <a:ea typeface="Calibri" pitchFamily="34" charset="-122"/>
                <a:cs typeface="Calibri" pitchFamily="34" charset="-120"/>
              </a:rPr>
              <a:t>Accuracy, precision, recall, F1, confusion matrix, sequence-level accuracy</a:t>
            </a:r>
            <a:endParaRPr lang="en-US" sz="950" dirty="0"/>
          </a:p>
        </p:txBody>
      </p:sp>
      <p:sp>
        <p:nvSpPr>
          <p:cNvPr id="9" name="Shape 7"/>
          <p:cNvSpPr/>
          <p:nvPr/>
        </p:nvSpPr>
        <p:spPr>
          <a:xfrm>
            <a:off x="457200" y="2221992"/>
            <a:ext cx="4160520" cy="539496"/>
          </a:xfrm>
          <a:prstGeom prst="roundRect">
            <a:avLst>
              <a:gd name="adj" fmla="val 11864"/>
            </a:avLst>
          </a:prstGeom>
          <a:solidFill>
            <a:srgbClr val="FBF1DF"/>
          </a:solidFill>
          <a:ln w="12700">
            <a:solidFill>
              <a:srgbClr val="E8930C"/>
            </a:solidFill>
            <a:prstDash val="solid"/>
          </a:ln>
        </p:spPr>
        <p:txBody>
          <a:bodyPr/>
          <a:lstStyle/>
          <a:p>
            <a:endParaRPr lang="en-IN"/>
          </a:p>
        </p:txBody>
      </p:sp>
      <p:sp>
        <p:nvSpPr>
          <p:cNvPr id="10" name="Text 8"/>
          <p:cNvSpPr/>
          <p:nvPr/>
        </p:nvSpPr>
        <p:spPr>
          <a:xfrm>
            <a:off x="621792" y="2258568"/>
            <a:ext cx="3840480" cy="475488"/>
          </a:xfrm>
          <a:prstGeom prst="rect">
            <a:avLst/>
          </a:prstGeom>
          <a:noFill/>
          <a:ln/>
        </p:spPr>
        <p:txBody>
          <a:bodyPr wrap="square" lIns="0" tIns="0" rIns="0" bIns="0" rtlCol="0" anchor="ctr"/>
          <a:lstStyle/>
          <a:p>
            <a:pPr marL="0" indent="0">
              <a:buNone/>
            </a:pPr>
            <a:r>
              <a:rPr lang="en-US" sz="950" b="1" dirty="0">
                <a:solidFill>
                  <a:srgbClr val="B36F05"/>
                </a:solidFill>
                <a:latin typeface="Courier New" pitchFamily="34" charset="0"/>
                <a:ea typeface="Courier New" pitchFamily="34" charset="-122"/>
                <a:cs typeface="Courier New" pitchFamily="34" charset="-120"/>
              </a:rPr>
              <a:t>Priority</a:t>
            </a:r>
            <a:endParaRPr lang="en-US" sz="950" dirty="0"/>
          </a:p>
          <a:p>
            <a:pPr marL="0" indent="0">
              <a:buNone/>
            </a:pPr>
            <a:r>
              <a:rPr lang="en-US" sz="930" dirty="0">
                <a:solidFill>
                  <a:srgbClr val="3A4A66"/>
                </a:solidFill>
                <a:latin typeface="Calibri" pitchFamily="34" charset="0"/>
                <a:ea typeface="Calibri" pitchFamily="34" charset="-122"/>
                <a:cs typeface="Calibri" pitchFamily="34" charset="-120"/>
              </a:rPr>
              <a:t>High recall — missed fatigue is dangerous; precision limits alert fatigue</a:t>
            </a:r>
            <a:endParaRPr lang="en-US" sz="950" dirty="0"/>
          </a:p>
        </p:txBody>
      </p:sp>
      <p:sp>
        <p:nvSpPr>
          <p:cNvPr id="11" name="Shape 9"/>
          <p:cNvSpPr/>
          <p:nvPr/>
        </p:nvSpPr>
        <p:spPr>
          <a:xfrm>
            <a:off x="457200" y="2852928"/>
            <a:ext cx="4160520" cy="539496"/>
          </a:xfrm>
          <a:prstGeom prst="roundRect">
            <a:avLst>
              <a:gd name="adj" fmla="val 11864"/>
            </a:avLst>
          </a:prstGeom>
          <a:solidFill>
            <a:srgbClr val="F6F9FD"/>
          </a:solidFill>
          <a:ln w="12700">
            <a:solidFill>
              <a:srgbClr val="D5DEEC"/>
            </a:solidFill>
            <a:prstDash val="solid"/>
          </a:ln>
        </p:spPr>
        <p:txBody>
          <a:bodyPr/>
          <a:lstStyle/>
          <a:p>
            <a:endParaRPr lang="en-IN"/>
          </a:p>
        </p:txBody>
      </p:sp>
      <p:sp>
        <p:nvSpPr>
          <p:cNvPr id="12" name="Text 10"/>
          <p:cNvSpPr/>
          <p:nvPr/>
        </p:nvSpPr>
        <p:spPr>
          <a:xfrm>
            <a:off x="621792" y="2889504"/>
            <a:ext cx="3840480" cy="475488"/>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Object detection</a:t>
            </a:r>
            <a:endParaRPr lang="en-US" sz="950" dirty="0"/>
          </a:p>
          <a:p>
            <a:pPr marL="0" indent="0">
              <a:buNone/>
            </a:pPr>
            <a:r>
              <a:rPr lang="en-US" sz="930" dirty="0">
                <a:solidFill>
                  <a:srgbClr val="3A4A66"/>
                </a:solidFill>
                <a:latin typeface="Calibri" pitchFamily="34" charset="0"/>
                <a:ea typeface="Calibri" pitchFamily="34" charset="-122"/>
                <a:cs typeface="Calibri" pitchFamily="34" charset="-120"/>
              </a:rPr>
              <a:t>mAP, precision, recall, class-wise accuracy, inference FPS</a:t>
            </a:r>
            <a:endParaRPr lang="en-US" sz="950" dirty="0"/>
          </a:p>
        </p:txBody>
      </p:sp>
      <p:sp>
        <p:nvSpPr>
          <p:cNvPr id="13" name="Shape 11"/>
          <p:cNvSpPr/>
          <p:nvPr/>
        </p:nvSpPr>
        <p:spPr>
          <a:xfrm>
            <a:off x="457200" y="3483864"/>
            <a:ext cx="4160520" cy="539496"/>
          </a:xfrm>
          <a:prstGeom prst="roundRect">
            <a:avLst>
              <a:gd name="adj" fmla="val 11864"/>
            </a:avLst>
          </a:prstGeom>
          <a:solidFill>
            <a:srgbClr val="F6F9FD"/>
          </a:solidFill>
          <a:ln w="12700">
            <a:solidFill>
              <a:srgbClr val="D5DEEC"/>
            </a:solidFill>
            <a:prstDash val="solid"/>
          </a:ln>
        </p:spPr>
        <p:txBody>
          <a:bodyPr/>
          <a:lstStyle/>
          <a:p>
            <a:endParaRPr lang="en-IN"/>
          </a:p>
        </p:txBody>
      </p:sp>
      <p:sp>
        <p:nvSpPr>
          <p:cNvPr id="14" name="Text 12"/>
          <p:cNvSpPr/>
          <p:nvPr/>
        </p:nvSpPr>
        <p:spPr>
          <a:xfrm>
            <a:off x="621792" y="3520440"/>
            <a:ext cx="3840480" cy="475488"/>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Real-time</a:t>
            </a:r>
            <a:endParaRPr lang="en-US" sz="950" dirty="0"/>
          </a:p>
          <a:p>
            <a:pPr marL="0" indent="0">
              <a:buNone/>
            </a:pPr>
            <a:r>
              <a:rPr lang="en-US" sz="930" dirty="0">
                <a:solidFill>
                  <a:srgbClr val="3A4A66"/>
                </a:solidFill>
                <a:latin typeface="Calibri" pitchFamily="34" charset="0"/>
                <a:ea typeface="Calibri" pitchFamily="34" charset="-122"/>
                <a:cs typeface="Calibri" pitchFamily="34" charset="-120"/>
              </a:rPr>
              <a:t>FPS, latency, inference time, local webcam demo performance</a:t>
            </a:r>
            <a:endParaRPr lang="en-US" sz="950" dirty="0"/>
          </a:p>
        </p:txBody>
      </p:sp>
      <p:sp>
        <p:nvSpPr>
          <p:cNvPr id="15" name="Shape 13"/>
          <p:cNvSpPr/>
          <p:nvPr/>
        </p:nvSpPr>
        <p:spPr>
          <a:xfrm>
            <a:off x="457200" y="4114800"/>
            <a:ext cx="4160520" cy="539496"/>
          </a:xfrm>
          <a:prstGeom prst="roundRect">
            <a:avLst>
              <a:gd name="adj" fmla="val 11864"/>
            </a:avLst>
          </a:prstGeom>
          <a:solidFill>
            <a:srgbClr val="F6F9FD"/>
          </a:solidFill>
          <a:ln w="12700">
            <a:solidFill>
              <a:srgbClr val="D5DEEC"/>
            </a:solidFill>
            <a:prstDash val="solid"/>
          </a:ln>
        </p:spPr>
        <p:txBody>
          <a:bodyPr/>
          <a:lstStyle/>
          <a:p>
            <a:endParaRPr lang="en-IN"/>
          </a:p>
        </p:txBody>
      </p:sp>
      <p:sp>
        <p:nvSpPr>
          <p:cNvPr id="16" name="Text 14"/>
          <p:cNvSpPr/>
          <p:nvPr/>
        </p:nvSpPr>
        <p:spPr>
          <a:xfrm>
            <a:off x="621792" y="4151376"/>
            <a:ext cx="3840480" cy="475488"/>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False alarms</a:t>
            </a:r>
            <a:endParaRPr lang="en-US" sz="950" dirty="0"/>
          </a:p>
          <a:p>
            <a:pPr marL="0" indent="0">
              <a:buNone/>
            </a:pPr>
            <a:r>
              <a:rPr lang="en-US" sz="930" dirty="0">
                <a:solidFill>
                  <a:srgbClr val="3A4A66"/>
                </a:solidFill>
                <a:latin typeface="Calibri" pitchFamily="34" charset="0"/>
                <a:ea typeface="Calibri" pitchFamily="34" charset="-122"/>
                <a:cs typeface="Calibri" pitchFamily="34" charset="-120"/>
              </a:rPr>
              <a:t>Talking ≠ yawning · blink ≠ fatigue · mirror check ≠ distraction</a:t>
            </a:r>
            <a:endParaRPr lang="en-US" sz="950" dirty="0"/>
          </a:p>
        </p:txBody>
      </p:sp>
      <p:sp>
        <p:nvSpPr>
          <p:cNvPr id="17" name="Text 15"/>
          <p:cNvSpPr/>
          <p:nvPr/>
        </p:nvSpPr>
        <p:spPr>
          <a:xfrm>
            <a:off x="4892040" y="1280160"/>
            <a:ext cx="3794760" cy="219456"/>
          </a:xfrm>
          <a:prstGeom prst="rect">
            <a:avLst/>
          </a:prstGeom>
          <a:noFill/>
          <a:ln/>
        </p:spPr>
        <p:txBody>
          <a:bodyPr wrap="square" lIns="0" tIns="0" rIns="0" bIns="0" rtlCol="0" anchor="ctr"/>
          <a:lstStyle/>
          <a:p>
            <a:pPr marL="0" indent="0">
              <a:buNone/>
            </a:pPr>
            <a:r>
              <a:rPr lang="en-US" sz="950" b="1" kern="0" spc="200" dirty="0">
                <a:solidFill>
                  <a:srgbClr val="B36F05"/>
                </a:solidFill>
                <a:latin typeface="Courier New" pitchFamily="34" charset="0"/>
                <a:ea typeface="Courier New" pitchFamily="34" charset="-122"/>
                <a:cs typeface="Courier New" pitchFamily="34" charset="-120"/>
              </a:rPr>
              <a:t>TESTING SCENARIOS</a:t>
            </a:r>
            <a:endParaRPr lang="en-US" sz="950" dirty="0"/>
          </a:p>
        </p:txBody>
      </p:sp>
      <p:sp>
        <p:nvSpPr>
          <p:cNvPr id="18" name="Shape 16"/>
          <p:cNvSpPr/>
          <p:nvPr/>
        </p:nvSpPr>
        <p:spPr>
          <a:xfrm>
            <a:off x="4892040" y="1591056"/>
            <a:ext cx="1847088" cy="1188720"/>
          </a:xfrm>
          <a:prstGeom prst="roundRect">
            <a:avLst>
              <a:gd name="adj" fmla="val 6923"/>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19" name="Text 17"/>
          <p:cNvSpPr/>
          <p:nvPr/>
        </p:nvSpPr>
        <p:spPr>
          <a:xfrm>
            <a:off x="5020056" y="1682496"/>
            <a:ext cx="1600200" cy="237744"/>
          </a:xfrm>
          <a:prstGeom prst="rect">
            <a:avLst/>
          </a:prstGeom>
          <a:noFill/>
          <a:ln/>
        </p:spPr>
        <p:txBody>
          <a:bodyPr wrap="square" lIns="0" tIns="0" rIns="0" bIns="0" rtlCol="0" anchor="ctr"/>
          <a:lstStyle/>
          <a:p>
            <a:pPr marL="0" indent="0">
              <a:buNone/>
            </a:pPr>
            <a:r>
              <a:rPr lang="en-US" sz="1050" b="1" dirty="0">
                <a:solidFill>
                  <a:srgbClr val="1B2A4A"/>
                </a:solidFill>
                <a:latin typeface="Arial" pitchFamily="34" charset="0"/>
                <a:ea typeface="Arial" pitchFamily="34" charset="-122"/>
                <a:cs typeface="Arial" pitchFamily="34" charset="-120"/>
              </a:rPr>
              <a:t>Lighting</a:t>
            </a:r>
            <a:endParaRPr lang="en-US" sz="1050" dirty="0"/>
          </a:p>
        </p:txBody>
      </p:sp>
      <p:sp>
        <p:nvSpPr>
          <p:cNvPr id="20" name="Text 18"/>
          <p:cNvSpPr/>
          <p:nvPr/>
        </p:nvSpPr>
        <p:spPr>
          <a:xfrm>
            <a:off x="5020056" y="1956816"/>
            <a:ext cx="1600200" cy="749808"/>
          </a:xfrm>
          <a:prstGeom prst="rect">
            <a:avLst/>
          </a:prstGeom>
          <a:noFill/>
          <a:ln/>
        </p:spPr>
        <p:txBody>
          <a:bodyPr wrap="square" lIns="0" tIns="0" rIns="0" bIns="0" rtlCol="0" anchor="t"/>
          <a:lstStyle/>
          <a:p>
            <a:pPr marL="0" indent="0">
              <a:buNone/>
            </a:pPr>
            <a:r>
              <a:rPr lang="en-US" sz="900" dirty="0">
                <a:solidFill>
                  <a:srgbClr val="72809B"/>
                </a:solidFill>
                <a:latin typeface="Calibri" pitchFamily="34" charset="0"/>
                <a:ea typeface="Calibri" pitchFamily="34" charset="-122"/>
                <a:cs typeface="Calibri" pitchFamily="34" charset="-120"/>
              </a:rPr>
              <a:t>bright · low light · night-like · backlight</a:t>
            </a:r>
            <a:endParaRPr lang="en-US" sz="900" dirty="0"/>
          </a:p>
        </p:txBody>
      </p:sp>
      <p:sp>
        <p:nvSpPr>
          <p:cNvPr id="21" name="Shape 19"/>
          <p:cNvSpPr/>
          <p:nvPr/>
        </p:nvSpPr>
        <p:spPr>
          <a:xfrm>
            <a:off x="6839712" y="1591056"/>
            <a:ext cx="1847088" cy="1188720"/>
          </a:xfrm>
          <a:prstGeom prst="roundRect">
            <a:avLst>
              <a:gd name="adj" fmla="val 6923"/>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2" name="Text 20"/>
          <p:cNvSpPr/>
          <p:nvPr/>
        </p:nvSpPr>
        <p:spPr>
          <a:xfrm>
            <a:off x="6967728" y="1682496"/>
            <a:ext cx="1600200" cy="237744"/>
          </a:xfrm>
          <a:prstGeom prst="rect">
            <a:avLst/>
          </a:prstGeom>
          <a:noFill/>
          <a:ln/>
        </p:spPr>
        <p:txBody>
          <a:bodyPr wrap="square" lIns="0" tIns="0" rIns="0" bIns="0" rtlCol="0" anchor="ctr"/>
          <a:lstStyle/>
          <a:p>
            <a:pPr marL="0" indent="0">
              <a:buNone/>
            </a:pPr>
            <a:r>
              <a:rPr lang="en-US" sz="1050" b="1" dirty="0">
                <a:solidFill>
                  <a:srgbClr val="1B2A4A"/>
                </a:solidFill>
                <a:latin typeface="Arial" pitchFamily="34" charset="0"/>
                <a:ea typeface="Arial" pitchFamily="34" charset="-122"/>
                <a:cs typeface="Arial" pitchFamily="34" charset="-120"/>
              </a:rPr>
              <a:t>Driver</a:t>
            </a:r>
            <a:endParaRPr lang="en-US" sz="1050" dirty="0"/>
          </a:p>
        </p:txBody>
      </p:sp>
      <p:sp>
        <p:nvSpPr>
          <p:cNvPr id="23" name="Text 21"/>
          <p:cNvSpPr/>
          <p:nvPr/>
        </p:nvSpPr>
        <p:spPr>
          <a:xfrm>
            <a:off x="6967728" y="1956816"/>
            <a:ext cx="1600200" cy="749808"/>
          </a:xfrm>
          <a:prstGeom prst="rect">
            <a:avLst/>
          </a:prstGeom>
          <a:noFill/>
          <a:ln/>
        </p:spPr>
        <p:txBody>
          <a:bodyPr wrap="square" lIns="0" tIns="0" rIns="0" bIns="0" rtlCol="0" anchor="t"/>
          <a:lstStyle/>
          <a:p>
            <a:pPr marL="0" indent="0">
              <a:buNone/>
            </a:pPr>
            <a:r>
              <a:rPr lang="en-US" sz="900" dirty="0">
                <a:solidFill>
                  <a:srgbClr val="72809B"/>
                </a:solidFill>
                <a:latin typeface="Calibri" pitchFamily="34" charset="0"/>
                <a:ea typeface="Calibri" pitchFamily="34" charset="-122"/>
                <a:cs typeface="Calibri" pitchFamily="34" charset="-120"/>
              </a:rPr>
              <a:t>glasses · sunglasses · varied camera angles</a:t>
            </a:r>
            <a:endParaRPr lang="en-US" sz="900" dirty="0"/>
          </a:p>
        </p:txBody>
      </p:sp>
      <p:sp>
        <p:nvSpPr>
          <p:cNvPr id="24" name="Shape 22"/>
          <p:cNvSpPr/>
          <p:nvPr/>
        </p:nvSpPr>
        <p:spPr>
          <a:xfrm>
            <a:off x="4892040" y="2871216"/>
            <a:ext cx="1847088" cy="1188720"/>
          </a:xfrm>
          <a:prstGeom prst="roundRect">
            <a:avLst>
              <a:gd name="adj" fmla="val 6923"/>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5" name="Text 23"/>
          <p:cNvSpPr/>
          <p:nvPr/>
        </p:nvSpPr>
        <p:spPr>
          <a:xfrm>
            <a:off x="5020056" y="2962656"/>
            <a:ext cx="1600200" cy="237744"/>
          </a:xfrm>
          <a:prstGeom prst="rect">
            <a:avLst/>
          </a:prstGeom>
          <a:noFill/>
          <a:ln/>
        </p:spPr>
        <p:txBody>
          <a:bodyPr wrap="square" lIns="0" tIns="0" rIns="0" bIns="0" rtlCol="0" anchor="ctr"/>
          <a:lstStyle/>
          <a:p>
            <a:pPr marL="0" indent="0">
              <a:buNone/>
            </a:pPr>
            <a:r>
              <a:rPr lang="en-US" sz="1050" b="1" dirty="0">
                <a:solidFill>
                  <a:srgbClr val="1B2A4A"/>
                </a:solidFill>
                <a:latin typeface="Arial" pitchFamily="34" charset="0"/>
                <a:ea typeface="Arial" pitchFamily="34" charset="-122"/>
                <a:cs typeface="Arial" pitchFamily="34" charset="-120"/>
              </a:rPr>
              <a:t>Behavior</a:t>
            </a:r>
            <a:endParaRPr lang="en-US" sz="1050" dirty="0"/>
          </a:p>
        </p:txBody>
      </p:sp>
      <p:sp>
        <p:nvSpPr>
          <p:cNvPr id="26" name="Text 24"/>
          <p:cNvSpPr/>
          <p:nvPr/>
        </p:nvSpPr>
        <p:spPr>
          <a:xfrm>
            <a:off x="5020056" y="3236976"/>
            <a:ext cx="1600200" cy="749808"/>
          </a:xfrm>
          <a:prstGeom prst="rect">
            <a:avLst/>
          </a:prstGeom>
          <a:noFill/>
          <a:ln/>
        </p:spPr>
        <p:txBody>
          <a:bodyPr wrap="square" lIns="0" tIns="0" rIns="0" bIns="0" rtlCol="0" anchor="t"/>
          <a:lstStyle/>
          <a:p>
            <a:pPr marL="0" indent="0">
              <a:buNone/>
            </a:pPr>
            <a:r>
              <a:rPr lang="en-US" sz="900" dirty="0">
                <a:solidFill>
                  <a:srgbClr val="72809B"/>
                </a:solidFill>
                <a:latin typeface="Calibri" pitchFamily="34" charset="0"/>
                <a:ea typeface="Calibri" pitchFamily="34" charset="-122"/>
                <a:cs typeface="Calibri" pitchFamily="34" charset="-120"/>
              </a:rPr>
              <a:t>blinks · closure · yawning · talking · laughing · look-away</a:t>
            </a:r>
            <a:endParaRPr lang="en-US" sz="900" dirty="0"/>
          </a:p>
        </p:txBody>
      </p:sp>
      <p:sp>
        <p:nvSpPr>
          <p:cNvPr id="27" name="Shape 25"/>
          <p:cNvSpPr/>
          <p:nvPr/>
        </p:nvSpPr>
        <p:spPr>
          <a:xfrm>
            <a:off x="6839712" y="2871216"/>
            <a:ext cx="1847088" cy="1188720"/>
          </a:xfrm>
          <a:prstGeom prst="roundRect">
            <a:avLst>
              <a:gd name="adj" fmla="val 6923"/>
            </a:avLst>
          </a:prstGeom>
          <a:solidFill>
            <a:srgbClr val="F6F9FD"/>
          </a:solidFill>
          <a:ln w="12700">
            <a:solidFill>
              <a:srgbClr val="D5DEEC"/>
            </a:solidFill>
            <a:prstDash val="solid"/>
          </a:ln>
          <a:effectLst>
            <a:outerShdw blurRad="101600" dist="25400" dir="5400000" algn="bl" rotWithShape="0">
              <a:srgbClr val="1B2A4A">
                <a:alpha val="12000"/>
              </a:srgbClr>
            </a:outerShdw>
          </a:effectLst>
        </p:spPr>
        <p:txBody>
          <a:bodyPr/>
          <a:lstStyle/>
          <a:p>
            <a:endParaRPr lang="en-IN"/>
          </a:p>
        </p:txBody>
      </p:sp>
      <p:sp>
        <p:nvSpPr>
          <p:cNvPr id="28" name="Text 26"/>
          <p:cNvSpPr/>
          <p:nvPr/>
        </p:nvSpPr>
        <p:spPr>
          <a:xfrm>
            <a:off x="6967728" y="2962656"/>
            <a:ext cx="1600200" cy="237744"/>
          </a:xfrm>
          <a:prstGeom prst="rect">
            <a:avLst/>
          </a:prstGeom>
          <a:noFill/>
          <a:ln/>
        </p:spPr>
        <p:txBody>
          <a:bodyPr wrap="square" lIns="0" tIns="0" rIns="0" bIns="0" rtlCol="0" anchor="ctr"/>
          <a:lstStyle/>
          <a:p>
            <a:pPr marL="0" indent="0">
              <a:buNone/>
            </a:pPr>
            <a:r>
              <a:rPr lang="en-US" sz="1050" b="1" dirty="0">
                <a:solidFill>
                  <a:srgbClr val="1B2A4A"/>
                </a:solidFill>
                <a:latin typeface="Arial" pitchFamily="34" charset="0"/>
                <a:ea typeface="Arial" pitchFamily="34" charset="-122"/>
                <a:cs typeface="Arial" pitchFamily="34" charset="-120"/>
              </a:rPr>
              <a:t>Compliance</a:t>
            </a:r>
            <a:endParaRPr lang="en-US" sz="1050" dirty="0"/>
          </a:p>
        </p:txBody>
      </p:sp>
      <p:sp>
        <p:nvSpPr>
          <p:cNvPr id="29" name="Text 27"/>
          <p:cNvSpPr/>
          <p:nvPr/>
        </p:nvSpPr>
        <p:spPr>
          <a:xfrm>
            <a:off x="6967728" y="3236976"/>
            <a:ext cx="1600200" cy="749808"/>
          </a:xfrm>
          <a:prstGeom prst="rect">
            <a:avLst/>
          </a:prstGeom>
          <a:noFill/>
          <a:ln/>
        </p:spPr>
        <p:txBody>
          <a:bodyPr wrap="square" lIns="0" tIns="0" rIns="0" bIns="0" rtlCol="0" anchor="t"/>
          <a:lstStyle/>
          <a:p>
            <a:pPr marL="0" indent="0">
              <a:buNone/>
            </a:pPr>
            <a:r>
              <a:rPr lang="en-US" sz="900" dirty="0">
                <a:solidFill>
                  <a:srgbClr val="72809B"/>
                </a:solidFill>
                <a:latin typeface="Calibri" pitchFamily="34" charset="0"/>
                <a:ea typeface="Calibri" pitchFamily="34" charset="-122"/>
                <a:cs typeface="Calibri" pitchFamily="34" charset="-120"/>
              </a:rPr>
              <a:t>phone use · drinking · seat belt on / off</a:t>
            </a:r>
            <a:endParaRPr lang="en-US" sz="900" dirty="0"/>
          </a:p>
        </p:txBody>
      </p:sp>
      <p:sp>
        <p:nvSpPr>
          <p:cNvPr id="30" name="Shape 28"/>
          <p:cNvSpPr/>
          <p:nvPr/>
        </p:nvSpPr>
        <p:spPr>
          <a:xfrm>
            <a:off x="4892040" y="4261104"/>
            <a:ext cx="3794760" cy="402336"/>
          </a:xfrm>
          <a:prstGeom prst="roundRect">
            <a:avLst>
              <a:gd name="adj" fmla="val 20455"/>
            </a:avLst>
          </a:prstGeom>
          <a:solidFill>
            <a:srgbClr val="0F1B33"/>
          </a:solidFill>
          <a:ln w="12700">
            <a:solidFill>
              <a:srgbClr val="2A3D66"/>
            </a:solidFill>
            <a:prstDash val="solid"/>
          </a:ln>
        </p:spPr>
        <p:txBody>
          <a:bodyPr/>
          <a:lstStyle/>
          <a:p>
            <a:endParaRPr lang="en-IN"/>
          </a:p>
        </p:txBody>
      </p:sp>
      <p:sp>
        <p:nvSpPr>
          <p:cNvPr id="31" name="Text 29"/>
          <p:cNvSpPr/>
          <p:nvPr/>
        </p:nvSpPr>
        <p:spPr>
          <a:xfrm>
            <a:off x="4892040" y="4261104"/>
            <a:ext cx="3794760"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Tested on recorded videos and live local webcam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955280" y="4882896"/>
            <a:ext cx="914400" cy="201168"/>
          </a:xfrm>
          <a:prstGeom prst="rect">
            <a:avLst/>
          </a:prstGeom>
          <a:noFill/>
          <a:ln/>
        </p:spPr>
        <p:txBody>
          <a:bodyPr wrap="square" lIns="0" tIns="0" rIns="0" bIns="0" rtlCol="0" anchor="ctr"/>
          <a:lstStyle/>
          <a:p>
            <a:pPr marL="0" indent="0" algn="r">
              <a:buNone/>
            </a:pPr>
            <a:r>
              <a:rPr lang="en-US" sz="850" dirty="0">
                <a:solidFill>
                  <a:srgbClr val="5E6F8F"/>
                </a:solidFill>
                <a:latin typeface="Courier New" pitchFamily="34" charset="0"/>
                <a:ea typeface="Courier New" pitchFamily="34" charset="-122"/>
                <a:cs typeface="Courier New" pitchFamily="34" charset="-120"/>
              </a:rPr>
              <a:t>15 / 15</a:t>
            </a:r>
            <a:endParaRPr lang="en-US" sz="850" dirty="0"/>
          </a:p>
        </p:txBody>
      </p:sp>
      <p:sp>
        <p:nvSpPr>
          <p:cNvPr id="3" name="Text 1"/>
          <p:cNvSpPr/>
          <p:nvPr/>
        </p:nvSpPr>
        <p:spPr>
          <a:xfrm>
            <a:off x="457200" y="310896"/>
            <a:ext cx="4572000" cy="237744"/>
          </a:xfrm>
          <a:prstGeom prst="rect">
            <a:avLst/>
          </a:prstGeom>
          <a:noFill/>
          <a:ln/>
        </p:spPr>
        <p:txBody>
          <a:bodyPr wrap="square" lIns="0" tIns="0" rIns="0" bIns="0" rtlCol="0" anchor="ctr"/>
          <a:lstStyle/>
          <a:p>
            <a:pPr marL="0" indent="0">
              <a:buNone/>
            </a:pPr>
            <a:r>
              <a:rPr lang="en-US" sz="1050" b="1" kern="0" spc="300" dirty="0">
                <a:solidFill>
                  <a:srgbClr val="E8930C"/>
                </a:solidFill>
                <a:latin typeface="Courier New" pitchFamily="34" charset="0"/>
                <a:ea typeface="Courier New" pitchFamily="34" charset="-122"/>
                <a:cs typeface="Courier New" pitchFamily="34" charset="-120"/>
              </a:rPr>
              <a:t>15  ·  CLOSING</a:t>
            </a:r>
            <a:endParaRPr lang="en-US" sz="105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Team and References</a:t>
            </a:r>
            <a:endParaRPr lang="en-US" sz="2600" dirty="0"/>
          </a:p>
        </p:txBody>
      </p:sp>
      <p:sp>
        <p:nvSpPr>
          <p:cNvPr id="5" name="Shape 3"/>
          <p:cNvSpPr/>
          <p:nvPr/>
        </p:nvSpPr>
        <p:spPr>
          <a:xfrm>
            <a:off x="460014" y="1289304"/>
            <a:ext cx="1572768" cy="1810512"/>
          </a:xfrm>
          <a:prstGeom prst="roundRect">
            <a:avLst>
              <a:gd name="adj" fmla="val 5233"/>
            </a:avLst>
          </a:prstGeom>
          <a:solidFill>
            <a:srgbClr val="1B2A4A"/>
          </a:solidFill>
          <a:ln w="12700">
            <a:solidFill>
              <a:srgbClr val="2A3D66"/>
            </a:solidFill>
            <a:prstDash val="solid"/>
          </a:ln>
          <a:effectLst>
            <a:outerShdw blurRad="127000" dist="38100" dir="5400000" algn="bl" rotWithShape="0">
              <a:srgbClr val="000000">
                <a:alpha val="35000"/>
              </a:srgbClr>
            </a:outerShdw>
          </a:effectLst>
        </p:spPr>
        <p:txBody>
          <a:bodyPr/>
          <a:lstStyle/>
          <a:p>
            <a:endParaRPr lang="en-IN"/>
          </a:p>
        </p:txBody>
      </p:sp>
      <p:sp>
        <p:nvSpPr>
          <p:cNvPr id="7" name="Text 5"/>
          <p:cNvSpPr/>
          <p:nvPr/>
        </p:nvSpPr>
        <p:spPr>
          <a:xfrm>
            <a:off x="1014984" y="1444752"/>
            <a:ext cx="457200" cy="457200"/>
          </a:xfrm>
          <a:prstGeom prst="rect">
            <a:avLst/>
          </a:prstGeom>
          <a:noFill/>
          <a:ln/>
        </p:spPr>
        <p:txBody>
          <a:bodyPr wrap="square" lIns="0" tIns="0" rIns="0" bIns="0" rtlCol="0" anchor="ctr"/>
          <a:lstStyle/>
          <a:p>
            <a:pPr marL="0" indent="0" algn="ctr">
              <a:buNone/>
            </a:pPr>
            <a:endParaRPr lang="en-US" sz="1100" dirty="0"/>
          </a:p>
        </p:txBody>
      </p:sp>
      <p:sp>
        <p:nvSpPr>
          <p:cNvPr id="8" name="Text 6"/>
          <p:cNvSpPr/>
          <p:nvPr/>
        </p:nvSpPr>
        <p:spPr>
          <a:xfrm>
            <a:off x="493073" y="1718369"/>
            <a:ext cx="146304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Kushagra</a:t>
            </a:r>
            <a:endParaRPr lang="en-US" sz="1100" dirty="0"/>
          </a:p>
        </p:txBody>
      </p:sp>
      <p:sp>
        <p:nvSpPr>
          <p:cNvPr id="9" name="Text 7"/>
          <p:cNvSpPr/>
          <p:nvPr/>
        </p:nvSpPr>
        <p:spPr>
          <a:xfrm>
            <a:off x="566928" y="2157281"/>
            <a:ext cx="1353312" cy="869383"/>
          </a:xfrm>
          <a:prstGeom prst="rect">
            <a:avLst/>
          </a:prstGeom>
          <a:noFill/>
          <a:ln/>
        </p:spPr>
        <p:txBody>
          <a:bodyPr wrap="square" lIns="0" tIns="0" rIns="0" bIns="0" rtlCol="0" anchor="t"/>
          <a:lstStyle/>
          <a:p>
            <a:pPr marL="0" indent="0" algn="ctr">
              <a:buNone/>
            </a:pPr>
            <a:r>
              <a:rPr lang="en-US" sz="1000" dirty="0">
                <a:solidFill>
                  <a:srgbClr val="8FA1C4"/>
                </a:solidFill>
                <a:latin typeface="Calibri" pitchFamily="34" charset="0"/>
                <a:ea typeface="Calibri" pitchFamily="34" charset="-122"/>
                <a:cs typeface="Calibri" pitchFamily="34" charset="-120"/>
              </a:rPr>
              <a:t>Revised scope, architecture, documentation, integration planning</a:t>
            </a:r>
            <a:endParaRPr lang="en-US" sz="1000" dirty="0"/>
          </a:p>
        </p:txBody>
      </p:sp>
      <p:sp>
        <p:nvSpPr>
          <p:cNvPr id="10" name="Shape 8"/>
          <p:cNvSpPr/>
          <p:nvPr/>
        </p:nvSpPr>
        <p:spPr>
          <a:xfrm>
            <a:off x="2130552" y="1280160"/>
            <a:ext cx="1572768" cy="1810512"/>
          </a:xfrm>
          <a:prstGeom prst="roundRect">
            <a:avLst>
              <a:gd name="adj" fmla="val 5233"/>
            </a:avLst>
          </a:prstGeom>
          <a:solidFill>
            <a:srgbClr val="1B2A4A"/>
          </a:solidFill>
          <a:ln w="12700">
            <a:solidFill>
              <a:srgbClr val="2A3D66"/>
            </a:solidFill>
            <a:prstDash val="solid"/>
          </a:ln>
          <a:effectLst>
            <a:outerShdw blurRad="127000" dist="38100" dir="5400000" algn="bl" rotWithShape="0">
              <a:srgbClr val="000000">
                <a:alpha val="35000"/>
              </a:srgbClr>
            </a:outerShdw>
          </a:effectLst>
        </p:spPr>
        <p:txBody>
          <a:bodyPr/>
          <a:lstStyle/>
          <a:p>
            <a:endParaRPr lang="en-IN"/>
          </a:p>
        </p:txBody>
      </p:sp>
      <p:sp>
        <p:nvSpPr>
          <p:cNvPr id="12" name="Text 10"/>
          <p:cNvSpPr/>
          <p:nvPr/>
        </p:nvSpPr>
        <p:spPr>
          <a:xfrm>
            <a:off x="2688336" y="1444752"/>
            <a:ext cx="457200" cy="457200"/>
          </a:xfrm>
          <a:prstGeom prst="rect">
            <a:avLst/>
          </a:prstGeom>
          <a:noFill/>
          <a:ln/>
        </p:spPr>
        <p:txBody>
          <a:bodyPr wrap="square" lIns="0" tIns="0" rIns="0" bIns="0" rtlCol="0" anchor="ctr"/>
          <a:lstStyle/>
          <a:p>
            <a:pPr marL="0" indent="0" algn="ctr">
              <a:buNone/>
            </a:pPr>
            <a:endParaRPr lang="en-US" sz="1100" dirty="0"/>
          </a:p>
        </p:txBody>
      </p:sp>
      <p:sp>
        <p:nvSpPr>
          <p:cNvPr id="13" name="Text 11"/>
          <p:cNvSpPr/>
          <p:nvPr/>
        </p:nvSpPr>
        <p:spPr>
          <a:xfrm>
            <a:off x="2131959" y="1747207"/>
            <a:ext cx="146304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Shiwani</a:t>
            </a:r>
            <a:endParaRPr lang="en-US" sz="1100" dirty="0"/>
          </a:p>
        </p:txBody>
      </p:sp>
      <p:sp>
        <p:nvSpPr>
          <p:cNvPr id="14" name="Text 12"/>
          <p:cNvSpPr/>
          <p:nvPr/>
        </p:nvSpPr>
        <p:spPr>
          <a:xfrm>
            <a:off x="2240280" y="2249424"/>
            <a:ext cx="1353312" cy="777240"/>
          </a:xfrm>
          <a:prstGeom prst="rect">
            <a:avLst/>
          </a:prstGeom>
          <a:noFill/>
          <a:ln/>
        </p:spPr>
        <p:txBody>
          <a:bodyPr wrap="square" lIns="0" tIns="0" rIns="0" bIns="0" rtlCol="0" anchor="t"/>
          <a:lstStyle/>
          <a:p>
            <a:pPr marL="0" indent="0" algn="ctr">
              <a:buNone/>
            </a:pPr>
            <a:r>
              <a:rPr lang="en-US" sz="1000" dirty="0">
                <a:solidFill>
                  <a:srgbClr val="8FA1C4"/>
                </a:solidFill>
                <a:latin typeface="Calibri" pitchFamily="34" charset="0"/>
                <a:ea typeface="Calibri" pitchFamily="34" charset="-122"/>
                <a:cs typeface="Calibri" pitchFamily="34" charset="-120"/>
              </a:rPr>
              <a:t>Dataset collection, dataset EDA, video data preparation</a:t>
            </a:r>
            <a:endParaRPr lang="en-US" sz="1000" dirty="0"/>
          </a:p>
        </p:txBody>
      </p:sp>
      <p:sp>
        <p:nvSpPr>
          <p:cNvPr id="15" name="Shape 13"/>
          <p:cNvSpPr/>
          <p:nvPr/>
        </p:nvSpPr>
        <p:spPr>
          <a:xfrm>
            <a:off x="3803904" y="1280160"/>
            <a:ext cx="1572768" cy="1810512"/>
          </a:xfrm>
          <a:prstGeom prst="roundRect">
            <a:avLst>
              <a:gd name="adj" fmla="val 5233"/>
            </a:avLst>
          </a:prstGeom>
          <a:solidFill>
            <a:srgbClr val="1B2A4A"/>
          </a:solidFill>
          <a:ln w="12700">
            <a:solidFill>
              <a:srgbClr val="2A3D66"/>
            </a:solidFill>
            <a:prstDash val="solid"/>
          </a:ln>
          <a:effectLst>
            <a:outerShdw blurRad="127000" dist="38100" dir="5400000" algn="bl" rotWithShape="0">
              <a:srgbClr val="000000">
                <a:alpha val="35000"/>
              </a:srgbClr>
            </a:outerShdw>
          </a:effectLst>
        </p:spPr>
        <p:txBody>
          <a:bodyPr/>
          <a:lstStyle/>
          <a:p>
            <a:endParaRPr lang="en-IN"/>
          </a:p>
        </p:txBody>
      </p:sp>
      <p:sp>
        <p:nvSpPr>
          <p:cNvPr id="17" name="Text 15"/>
          <p:cNvSpPr/>
          <p:nvPr/>
        </p:nvSpPr>
        <p:spPr>
          <a:xfrm>
            <a:off x="4361688" y="1444752"/>
            <a:ext cx="457200" cy="457200"/>
          </a:xfrm>
          <a:prstGeom prst="rect">
            <a:avLst/>
          </a:prstGeom>
          <a:noFill/>
          <a:ln/>
        </p:spPr>
        <p:txBody>
          <a:bodyPr wrap="square" lIns="0" tIns="0" rIns="0" bIns="0" rtlCol="0" anchor="ctr"/>
          <a:lstStyle/>
          <a:p>
            <a:pPr marL="0" indent="0" algn="ctr">
              <a:buNone/>
            </a:pPr>
            <a:endParaRPr lang="en-US" sz="1100" dirty="0"/>
          </a:p>
        </p:txBody>
      </p:sp>
      <p:sp>
        <p:nvSpPr>
          <p:cNvPr id="18" name="Text 16"/>
          <p:cNvSpPr/>
          <p:nvPr/>
        </p:nvSpPr>
        <p:spPr>
          <a:xfrm>
            <a:off x="3840480" y="1783080"/>
            <a:ext cx="146304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Sohini</a:t>
            </a:r>
            <a:endParaRPr lang="en-US" sz="1100" dirty="0"/>
          </a:p>
        </p:txBody>
      </p:sp>
      <p:sp>
        <p:nvSpPr>
          <p:cNvPr id="19" name="Text 17"/>
          <p:cNvSpPr/>
          <p:nvPr/>
        </p:nvSpPr>
        <p:spPr>
          <a:xfrm>
            <a:off x="3913632" y="2249424"/>
            <a:ext cx="1353312" cy="777240"/>
          </a:xfrm>
          <a:prstGeom prst="rect">
            <a:avLst/>
          </a:prstGeom>
          <a:noFill/>
          <a:ln/>
        </p:spPr>
        <p:txBody>
          <a:bodyPr wrap="square" lIns="0" tIns="0" rIns="0" bIns="0" rtlCol="0" anchor="t"/>
          <a:lstStyle/>
          <a:p>
            <a:pPr marL="0" indent="0" algn="ctr">
              <a:buNone/>
            </a:pPr>
            <a:r>
              <a:rPr lang="en-US" sz="1000" dirty="0">
                <a:solidFill>
                  <a:srgbClr val="8FA1C4"/>
                </a:solidFill>
                <a:latin typeface="Calibri" pitchFamily="34" charset="0"/>
                <a:ea typeface="Calibri" pitchFamily="34" charset="-122"/>
                <a:cs typeface="Calibri" pitchFamily="34" charset="-120"/>
              </a:rPr>
              <a:t>Landmark features, metrics validation, documentation revie</a:t>
            </a:r>
            <a:r>
              <a:rPr lang="en-US" sz="780" dirty="0">
                <a:solidFill>
                  <a:srgbClr val="8FA1C4"/>
                </a:solidFill>
                <a:latin typeface="Calibri" pitchFamily="34" charset="0"/>
                <a:ea typeface="Calibri" pitchFamily="34" charset="-122"/>
                <a:cs typeface="Calibri" pitchFamily="34" charset="-120"/>
              </a:rPr>
              <a:t>w</a:t>
            </a:r>
            <a:endParaRPr lang="en-US" sz="780" dirty="0"/>
          </a:p>
        </p:txBody>
      </p:sp>
      <p:sp>
        <p:nvSpPr>
          <p:cNvPr id="20" name="Shape 18"/>
          <p:cNvSpPr/>
          <p:nvPr/>
        </p:nvSpPr>
        <p:spPr>
          <a:xfrm>
            <a:off x="5477256" y="1280160"/>
            <a:ext cx="1572768" cy="1810512"/>
          </a:xfrm>
          <a:prstGeom prst="roundRect">
            <a:avLst>
              <a:gd name="adj" fmla="val 5233"/>
            </a:avLst>
          </a:prstGeom>
          <a:solidFill>
            <a:srgbClr val="1B2A4A"/>
          </a:solidFill>
          <a:ln w="12700">
            <a:solidFill>
              <a:srgbClr val="2A3D66"/>
            </a:solidFill>
            <a:prstDash val="solid"/>
          </a:ln>
          <a:effectLst>
            <a:outerShdw blurRad="127000" dist="38100" dir="5400000" algn="bl" rotWithShape="0">
              <a:srgbClr val="000000">
                <a:alpha val="35000"/>
              </a:srgbClr>
            </a:outerShdw>
          </a:effectLst>
        </p:spPr>
        <p:txBody>
          <a:bodyPr/>
          <a:lstStyle/>
          <a:p>
            <a:endParaRPr lang="en-IN"/>
          </a:p>
        </p:txBody>
      </p:sp>
      <p:sp>
        <p:nvSpPr>
          <p:cNvPr id="22" name="Text 20"/>
          <p:cNvSpPr/>
          <p:nvPr/>
        </p:nvSpPr>
        <p:spPr>
          <a:xfrm>
            <a:off x="6035040" y="1444752"/>
            <a:ext cx="457200" cy="457200"/>
          </a:xfrm>
          <a:prstGeom prst="rect">
            <a:avLst/>
          </a:prstGeom>
          <a:noFill/>
          <a:ln/>
        </p:spPr>
        <p:txBody>
          <a:bodyPr wrap="square" lIns="0" tIns="0" rIns="0" bIns="0" rtlCol="0" anchor="ctr"/>
          <a:lstStyle/>
          <a:p>
            <a:pPr marL="0" indent="0" algn="ctr">
              <a:buNone/>
            </a:pPr>
            <a:endParaRPr lang="en-US" sz="1100" dirty="0"/>
          </a:p>
        </p:txBody>
      </p:sp>
      <p:sp>
        <p:nvSpPr>
          <p:cNvPr id="23" name="Text 21"/>
          <p:cNvSpPr/>
          <p:nvPr/>
        </p:nvSpPr>
        <p:spPr>
          <a:xfrm>
            <a:off x="5477256" y="1809105"/>
            <a:ext cx="146304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Shubham</a:t>
            </a:r>
            <a:endParaRPr lang="en-US" sz="1100" dirty="0"/>
          </a:p>
        </p:txBody>
      </p:sp>
      <p:sp>
        <p:nvSpPr>
          <p:cNvPr id="24" name="Text 22"/>
          <p:cNvSpPr/>
          <p:nvPr/>
        </p:nvSpPr>
        <p:spPr>
          <a:xfrm>
            <a:off x="5586984" y="2249424"/>
            <a:ext cx="1353312" cy="777240"/>
          </a:xfrm>
          <a:prstGeom prst="rect">
            <a:avLst/>
          </a:prstGeom>
          <a:noFill/>
          <a:ln/>
        </p:spPr>
        <p:txBody>
          <a:bodyPr wrap="square" lIns="0" tIns="0" rIns="0" bIns="0" rtlCol="0" anchor="t"/>
          <a:lstStyle/>
          <a:p>
            <a:pPr marL="0" indent="0" algn="ctr">
              <a:buNone/>
            </a:pPr>
            <a:r>
              <a:rPr lang="en-US" sz="1000" dirty="0">
                <a:solidFill>
                  <a:srgbClr val="8FA1C4"/>
                </a:solidFill>
                <a:latin typeface="Calibri" pitchFamily="34" charset="0"/>
                <a:ea typeface="Calibri" pitchFamily="34" charset="-122"/>
                <a:cs typeface="Calibri" pitchFamily="34" charset="-120"/>
              </a:rPr>
              <a:t>Deep learning model design, temporal pipeline, YOLO modules</a:t>
            </a:r>
            <a:endParaRPr lang="en-US" sz="1000" dirty="0"/>
          </a:p>
        </p:txBody>
      </p:sp>
      <p:sp>
        <p:nvSpPr>
          <p:cNvPr id="25" name="Shape 23"/>
          <p:cNvSpPr/>
          <p:nvPr/>
        </p:nvSpPr>
        <p:spPr>
          <a:xfrm>
            <a:off x="7150608" y="1280160"/>
            <a:ext cx="1572768" cy="1810512"/>
          </a:xfrm>
          <a:prstGeom prst="roundRect">
            <a:avLst>
              <a:gd name="adj" fmla="val 5233"/>
            </a:avLst>
          </a:prstGeom>
          <a:solidFill>
            <a:srgbClr val="1B2A4A"/>
          </a:solidFill>
          <a:ln w="12700">
            <a:solidFill>
              <a:srgbClr val="2A3D66"/>
            </a:solidFill>
            <a:prstDash val="solid"/>
          </a:ln>
          <a:effectLst>
            <a:outerShdw blurRad="127000" dist="38100" dir="5400000" algn="bl" rotWithShape="0">
              <a:srgbClr val="000000">
                <a:alpha val="35000"/>
              </a:srgbClr>
            </a:outerShdw>
          </a:effectLst>
        </p:spPr>
        <p:txBody>
          <a:bodyPr/>
          <a:lstStyle/>
          <a:p>
            <a:endParaRPr lang="en-IN"/>
          </a:p>
        </p:txBody>
      </p:sp>
      <p:sp>
        <p:nvSpPr>
          <p:cNvPr id="27" name="Text 25"/>
          <p:cNvSpPr/>
          <p:nvPr/>
        </p:nvSpPr>
        <p:spPr>
          <a:xfrm>
            <a:off x="7708392" y="1444752"/>
            <a:ext cx="457200" cy="457200"/>
          </a:xfrm>
          <a:prstGeom prst="rect">
            <a:avLst/>
          </a:prstGeom>
          <a:noFill/>
          <a:ln/>
        </p:spPr>
        <p:txBody>
          <a:bodyPr wrap="square" lIns="0" tIns="0" rIns="0" bIns="0" rtlCol="0" anchor="ctr"/>
          <a:lstStyle/>
          <a:p>
            <a:pPr marL="0" indent="0" algn="ctr">
              <a:buNone/>
            </a:pPr>
            <a:endParaRPr lang="en-US" sz="1100" dirty="0"/>
          </a:p>
        </p:txBody>
      </p:sp>
      <p:sp>
        <p:nvSpPr>
          <p:cNvPr id="28" name="Text 26"/>
          <p:cNvSpPr/>
          <p:nvPr/>
        </p:nvSpPr>
        <p:spPr>
          <a:xfrm>
            <a:off x="7173116" y="1828800"/>
            <a:ext cx="146304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Ravina</a:t>
            </a:r>
            <a:endParaRPr lang="en-US" sz="1100" dirty="0"/>
          </a:p>
        </p:txBody>
      </p:sp>
      <p:sp>
        <p:nvSpPr>
          <p:cNvPr id="29" name="Text 27"/>
          <p:cNvSpPr/>
          <p:nvPr/>
        </p:nvSpPr>
        <p:spPr>
          <a:xfrm>
            <a:off x="7260336" y="2249424"/>
            <a:ext cx="1353312" cy="777240"/>
          </a:xfrm>
          <a:prstGeom prst="rect">
            <a:avLst/>
          </a:prstGeom>
          <a:noFill/>
          <a:ln/>
        </p:spPr>
        <p:txBody>
          <a:bodyPr wrap="square" lIns="0" tIns="0" rIns="0" bIns="0" rtlCol="0" anchor="t"/>
          <a:lstStyle/>
          <a:p>
            <a:pPr marL="0" indent="0" algn="ctr">
              <a:buNone/>
            </a:pPr>
            <a:r>
              <a:rPr lang="en-US" sz="1000" dirty="0">
                <a:solidFill>
                  <a:srgbClr val="8FA1C4"/>
                </a:solidFill>
                <a:latin typeface="Calibri" pitchFamily="34" charset="0"/>
                <a:ea typeface="Calibri" pitchFamily="34" charset="-122"/>
                <a:cs typeface="Calibri" pitchFamily="34" charset="-120"/>
              </a:rPr>
              <a:t>Evaluation plan, testing scenarios, reporting review</a:t>
            </a:r>
            <a:endParaRPr lang="en-US" sz="1000" dirty="0"/>
          </a:p>
        </p:txBody>
      </p:sp>
      <p:sp>
        <p:nvSpPr>
          <p:cNvPr id="30" name="Shape 28"/>
          <p:cNvSpPr/>
          <p:nvPr/>
        </p:nvSpPr>
        <p:spPr>
          <a:xfrm>
            <a:off x="457200" y="3310128"/>
            <a:ext cx="4041648" cy="475488"/>
          </a:xfrm>
          <a:prstGeom prst="roundRect">
            <a:avLst>
              <a:gd name="adj" fmla="val 15385"/>
            </a:avLst>
          </a:prstGeom>
          <a:solidFill>
            <a:srgbClr val="1B2A4A"/>
          </a:solidFill>
          <a:ln w="12700">
            <a:solidFill>
              <a:srgbClr val="2A3D66"/>
            </a:solidFill>
            <a:prstDash val="solid"/>
          </a:ln>
        </p:spPr>
        <p:txBody>
          <a:bodyPr/>
          <a:lstStyle/>
          <a:p>
            <a:endParaRPr lang="en-IN"/>
          </a:p>
        </p:txBody>
      </p:sp>
      <p:sp>
        <p:nvSpPr>
          <p:cNvPr id="31" name="Text 29"/>
          <p:cNvSpPr/>
          <p:nvPr/>
        </p:nvSpPr>
        <p:spPr>
          <a:xfrm>
            <a:off x="603504" y="3310128"/>
            <a:ext cx="3785616" cy="475488"/>
          </a:xfrm>
          <a:prstGeom prst="rect">
            <a:avLst/>
          </a:prstGeom>
          <a:noFill/>
          <a:ln/>
        </p:spPr>
        <p:txBody>
          <a:bodyPr wrap="square" lIns="0" tIns="0" rIns="0" bIns="0" rtlCol="0" anchor="ctr"/>
          <a:lstStyle/>
          <a:p>
            <a:pPr marL="0" indent="0">
              <a:buNone/>
            </a:pPr>
            <a:r>
              <a:rPr lang="en-US" sz="850" b="1" kern="0" spc="100" dirty="0">
                <a:solidFill>
                  <a:srgbClr val="E8930C"/>
                </a:solidFill>
                <a:latin typeface="Courier New" pitchFamily="34" charset="0"/>
                <a:ea typeface="Courier New" pitchFamily="34" charset="-122"/>
                <a:cs typeface="Courier New" pitchFamily="34" charset="-120"/>
              </a:rPr>
              <a:t>DATASETS   </a:t>
            </a:r>
            <a:r>
              <a:rPr lang="en-US" sz="950" dirty="0">
                <a:solidFill>
                  <a:srgbClr val="E9EFF9"/>
                </a:solidFill>
                <a:latin typeface="Calibri" pitchFamily="34" charset="0"/>
                <a:ea typeface="Calibri" pitchFamily="34" charset="-122"/>
                <a:cs typeface="Calibri" pitchFamily="34" charset="-120"/>
              </a:rPr>
              <a:t>NTHU · YawDD · State Farm · Drive&amp;Act · DMD</a:t>
            </a:r>
            <a:endParaRPr lang="en-US" sz="850" dirty="0"/>
          </a:p>
        </p:txBody>
      </p:sp>
      <p:sp>
        <p:nvSpPr>
          <p:cNvPr id="32" name="Shape 30"/>
          <p:cNvSpPr/>
          <p:nvPr/>
        </p:nvSpPr>
        <p:spPr>
          <a:xfrm>
            <a:off x="4645152" y="3310128"/>
            <a:ext cx="4041648" cy="475488"/>
          </a:xfrm>
          <a:prstGeom prst="roundRect">
            <a:avLst>
              <a:gd name="adj" fmla="val 15385"/>
            </a:avLst>
          </a:prstGeom>
          <a:solidFill>
            <a:srgbClr val="1B2A4A"/>
          </a:solidFill>
          <a:ln w="12700">
            <a:solidFill>
              <a:srgbClr val="2A3D66"/>
            </a:solidFill>
            <a:prstDash val="solid"/>
          </a:ln>
        </p:spPr>
        <p:txBody>
          <a:bodyPr/>
          <a:lstStyle/>
          <a:p>
            <a:endParaRPr lang="en-IN"/>
          </a:p>
        </p:txBody>
      </p:sp>
      <p:sp>
        <p:nvSpPr>
          <p:cNvPr id="33" name="Text 31"/>
          <p:cNvSpPr/>
          <p:nvPr/>
        </p:nvSpPr>
        <p:spPr>
          <a:xfrm>
            <a:off x="4791456" y="3310128"/>
            <a:ext cx="3785616" cy="475488"/>
          </a:xfrm>
          <a:prstGeom prst="rect">
            <a:avLst/>
          </a:prstGeom>
          <a:noFill/>
          <a:ln/>
        </p:spPr>
        <p:txBody>
          <a:bodyPr wrap="square" lIns="0" tIns="0" rIns="0" bIns="0" rtlCol="0" anchor="ctr"/>
          <a:lstStyle/>
          <a:p>
            <a:pPr marL="0" indent="0">
              <a:buNone/>
            </a:pPr>
            <a:r>
              <a:rPr lang="en-US" sz="850" b="1" kern="0" spc="100" dirty="0">
                <a:solidFill>
                  <a:srgbClr val="E8930C"/>
                </a:solidFill>
                <a:latin typeface="Courier New" pitchFamily="34" charset="0"/>
                <a:ea typeface="Courier New" pitchFamily="34" charset="-122"/>
                <a:cs typeface="Courier New" pitchFamily="34" charset="-120"/>
              </a:rPr>
              <a:t>TOOLS   </a:t>
            </a:r>
            <a:r>
              <a:rPr lang="en-US" sz="950" dirty="0">
                <a:solidFill>
                  <a:srgbClr val="E9EFF9"/>
                </a:solidFill>
                <a:latin typeface="Calibri" pitchFamily="34" charset="0"/>
                <a:ea typeface="Calibri" pitchFamily="34" charset="-122"/>
                <a:cs typeface="Calibri" pitchFamily="34" charset="-120"/>
              </a:rPr>
              <a:t>MediaPipe · OpenCV · Ultralytics YOLO</a:t>
            </a:r>
            <a:endParaRPr lang="en-US" sz="850" dirty="0"/>
          </a:p>
        </p:txBody>
      </p:sp>
      <p:sp>
        <p:nvSpPr>
          <p:cNvPr id="34" name="Shape 32"/>
          <p:cNvSpPr/>
          <p:nvPr/>
        </p:nvSpPr>
        <p:spPr>
          <a:xfrm>
            <a:off x="457200" y="3877056"/>
            <a:ext cx="4041648" cy="475488"/>
          </a:xfrm>
          <a:prstGeom prst="roundRect">
            <a:avLst>
              <a:gd name="adj" fmla="val 15385"/>
            </a:avLst>
          </a:prstGeom>
          <a:solidFill>
            <a:srgbClr val="1B2A4A"/>
          </a:solidFill>
          <a:ln w="12700">
            <a:solidFill>
              <a:srgbClr val="2A3D66"/>
            </a:solidFill>
            <a:prstDash val="solid"/>
          </a:ln>
        </p:spPr>
        <p:txBody>
          <a:bodyPr/>
          <a:lstStyle/>
          <a:p>
            <a:endParaRPr lang="en-IN"/>
          </a:p>
        </p:txBody>
      </p:sp>
      <p:sp>
        <p:nvSpPr>
          <p:cNvPr id="35" name="Text 33"/>
          <p:cNvSpPr/>
          <p:nvPr/>
        </p:nvSpPr>
        <p:spPr>
          <a:xfrm>
            <a:off x="603504" y="3877056"/>
            <a:ext cx="3785616" cy="475488"/>
          </a:xfrm>
          <a:prstGeom prst="rect">
            <a:avLst/>
          </a:prstGeom>
          <a:noFill/>
          <a:ln/>
        </p:spPr>
        <p:txBody>
          <a:bodyPr wrap="square" lIns="0" tIns="0" rIns="0" bIns="0" rtlCol="0" anchor="ctr"/>
          <a:lstStyle/>
          <a:p>
            <a:pPr marL="0" indent="0">
              <a:buNone/>
            </a:pPr>
            <a:r>
              <a:rPr lang="en-US" sz="850" b="1" kern="0" spc="100" dirty="0">
                <a:solidFill>
                  <a:srgbClr val="E8930C"/>
                </a:solidFill>
                <a:latin typeface="Courier New" pitchFamily="34" charset="0"/>
                <a:ea typeface="Courier New" pitchFamily="34" charset="-122"/>
                <a:cs typeface="Courier New" pitchFamily="34" charset="-120"/>
              </a:rPr>
              <a:t>RESEARCH   </a:t>
            </a:r>
            <a:r>
              <a:rPr lang="en-US" sz="950" dirty="0">
                <a:solidFill>
                  <a:srgbClr val="E9EFF9"/>
                </a:solidFill>
                <a:latin typeface="Calibri" pitchFamily="34" charset="0"/>
                <a:ea typeface="Calibri" pitchFamily="34" charset="-122"/>
                <a:cs typeface="Calibri" pitchFamily="34" charset="-120"/>
              </a:rPr>
              <a:t>CNN-LSTM / GRU, TCN, 3D CNN · EAR, MAR, PERCLOS, head pose</a:t>
            </a:r>
            <a:endParaRPr lang="en-US" sz="850" dirty="0"/>
          </a:p>
        </p:txBody>
      </p:sp>
      <p:sp>
        <p:nvSpPr>
          <p:cNvPr id="36" name="Shape 34"/>
          <p:cNvSpPr/>
          <p:nvPr/>
        </p:nvSpPr>
        <p:spPr>
          <a:xfrm>
            <a:off x="4645152" y="3877056"/>
            <a:ext cx="4041648" cy="475488"/>
          </a:xfrm>
          <a:prstGeom prst="roundRect">
            <a:avLst>
              <a:gd name="adj" fmla="val 15385"/>
            </a:avLst>
          </a:prstGeom>
          <a:solidFill>
            <a:srgbClr val="1B2A4A"/>
          </a:solidFill>
          <a:ln w="12700">
            <a:solidFill>
              <a:srgbClr val="2A3D66"/>
            </a:solidFill>
            <a:prstDash val="solid"/>
          </a:ln>
        </p:spPr>
        <p:txBody>
          <a:bodyPr/>
          <a:lstStyle/>
          <a:p>
            <a:endParaRPr lang="en-IN"/>
          </a:p>
        </p:txBody>
      </p:sp>
      <p:sp>
        <p:nvSpPr>
          <p:cNvPr id="37" name="Text 35"/>
          <p:cNvSpPr/>
          <p:nvPr/>
        </p:nvSpPr>
        <p:spPr>
          <a:xfrm>
            <a:off x="4791456" y="3877056"/>
            <a:ext cx="3785616" cy="475488"/>
          </a:xfrm>
          <a:prstGeom prst="rect">
            <a:avLst/>
          </a:prstGeom>
          <a:noFill/>
          <a:ln/>
        </p:spPr>
        <p:txBody>
          <a:bodyPr wrap="square" lIns="0" tIns="0" rIns="0" bIns="0" rtlCol="0" anchor="ctr"/>
          <a:lstStyle/>
          <a:p>
            <a:pPr marL="0" indent="0">
              <a:buNone/>
            </a:pPr>
            <a:r>
              <a:rPr lang="en-US" sz="850" b="1" kern="0" spc="100" dirty="0">
                <a:solidFill>
                  <a:srgbClr val="E8930C"/>
                </a:solidFill>
                <a:latin typeface="Courier New" pitchFamily="34" charset="0"/>
                <a:ea typeface="Courier New" pitchFamily="34" charset="-122"/>
                <a:cs typeface="Courier New" pitchFamily="34" charset="-120"/>
              </a:rPr>
              <a:t>REPORTING   </a:t>
            </a:r>
            <a:r>
              <a:rPr lang="en-US" sz="950" dirty="0">
                <a:solidFill>
                  <a:srgbClr val="E9EFF9"/>
                </a:solidFill>
                <a:latin typeface="Calibri" pitchFamily="34" charset="0"/>
                <a:ea typeface="Calibri" pitchFamily="34" charset="-122"/>
                <a:cs typeface="Calibri" pitchFamily="34" charset="-120"/>
              </a:rPr>
              <a:t>Llama / open-source LLM documentation</a:t>
            </a:r>
            <a:endParaRPr lang="en-US" sz="850" dirty="0"/>
          </a:p>
        </p:txBody>
      </p:sp>
      <p:sp>
        <p:nvSpPr>
          <p:cNvPr id="38" name="Text 36"/>
          <p:cNvSpPr/>
          <p:nvPr/>
        </p:nvSpPr>
        <p:spPr>
          <a:xfrm>
            <a:off x="457200" y="4553712"/>
            <a:ext cx="8229600" cy="292608"/>
          </a:xfrm>
          <a:prstGeom prst="rect">
            <a:avLst/>
          </a:prstGeom>
          <a:noFill/>
          <a:ln/>
        </p:spPr>
        <p:txBody>
          <a:bodyPr wrap="square" lIns="0" tIns="0" rIns="0" bIns="0" rtlCol="0" anchor="ctr"/>
          <a:lstStyle/>
          <a:p>
            <a:pPr marL="0" indent="0" algn="ctr">
              <a:buNone/>
            </a:pPr>
            <a:r>
              <a:rPr lang="en-US" sz="1400" i="1" dirty="0">
                <a:solidFill>
                  <a:srgbClr val="E8930C"/>
                </a:solidFill>
                <a:latin typeface="Arial" pitchFamily="34" charset="0"/>
                <a:ea typeface="Arial" pitchFamily="34" charset="-122"/>
                <a:cs typeface="Arial" pitchFamily="34" charset="-120"/>
              </a:rPr>
              <a:t>From drowsiness detection to complete driver wellness monitoring.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2350</Words>
  <Application>Microsoft Office PowerPoint</Application>
  <PresentationFormat>On-screen Show (16:9)</PresentationFormat>
  <Paragraphs>323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Driver Wellness and Safety Monitoring System — Milestone 1</dc:title>
  <dc:subject>PptxGenJS Presentation</dc:subject>
  <dc:creator>Milestone 1 Team</dc:creator>
  <cp:lastModifiedBy>just ravina</cp:lastModifiedBy>
  <cp:revision>3</cp:revision>
  <dcterms:created xsi:type="dcterms:W3CDTF">2026-07-07T03:13:44Z</dcterms:created>
  <dcterms:modified xsi:type="dcterms:W3CDTF">2026-07-07T06:06:32Z</dcterms:modified>
</cp:coreProperties>
</file>