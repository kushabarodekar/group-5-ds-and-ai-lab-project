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erriweather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22" Type="http://schemas.openxmlformats.org/officeDocument/2006/relationships/font" Target="fonts/Merriweather-boldItalic.fntdata"/><Relationship Id="rId21" Type="http://schemas.openxmlformats.org/officeDocument/2006/relationships/font" Target="fonts/Merriweather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erriweath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2d22f960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2d22f9600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2d22f9600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2d22f9600_2_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2d22f9600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2d22f9600_2_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2d22f9600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2d22f9600_2_1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2d22f9600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2d22f9600_2_1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2d22f9600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f2d22f9600_2_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2d22f9600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2d22f9600_2_1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2d22f9600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2d22f9600_2_1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2d22f9600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2d22f9600_2_1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2d22f9600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2d22f9600_2_2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2d22f9600_2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2d22f9600_2_2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2d22f9600_2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f2d22f9600_2_2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4" y="1628776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35.jpg"/><Relationship Id="rId5" Type="http://schemas.openxmlformats.org/officeDocument/2006/relationships/image" Target="../media/image21.jpg"/><Relationship Id="rId6" Type="http://schemas.openxmlformats.org/officeDocument/2006/relationships/image" Target="../media/image8.jpg"/><Relationship Id="rId7" Type="http://schemas.openxmlformats.org/officeDocument/2006/relationships/image" Target="../media/image18.jpg"/><Relationship Id="rId8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26.png"/><Relationship Id="rId7" Type="http://schemas.openxmlformats.org/officeDocument/2006/relationships/image" Target="../media/image13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9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22.png"/><Relationship Id="rId8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8.png"/><Relationship Id="rId6" Type="http://schemas.openxmlformats.org/officeDocument/2006/relationships/image" Target="../media/image27.png"/><Relationship Id="rId7" Type="http://schemas.openxmlformats.org/officeDocument/2006/relationships/image" Target="../media/image36.png"/><Relationship Id="rId8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/>
        </p:nvSpPr>
        <p:spPr>
          <a:xfrm>
            <a:off x="589002" y="1196578"/>
            <a:ext cx="7965995" cy="1100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" sz="39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AI-Powered Driver Drowsiness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39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Detection System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4143375" y="2475309"/>
            <a:ext cx="857250" cy="42863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3114675" y="2839640"/>
            <a:ext cx="2914650" cy="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Milestone 1 Presentation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2325290" y="3554015"/>
            <a:ext cx="4493475" cy="21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Team: Kushagra, Shiwani, Sohini, Shubham, Ravina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5" title="Kushagra_Signatur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800" y="4293000"/>
            <a:ext cx="1463040" cy="4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 title="Shiwani_signature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6400" y="4293000"/>
            <a:ext cx="1463042" cy="4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 title="ravina_signature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3750" y="4292950"/>
            <a:ext cx="1463040" cy="42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 title="SOHINI signature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86000" y="4292963"/>
            <a:ext cx="1466850" cy="42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Shubham Signature.jpe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5993750" y="3779375"/>
            <a:ext cx="4191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0594" y="1662707"/>
            <a:ext cx="3964781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428625" y="1802011"/>
            <a:ext cx="41630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Safety Crisis on Roads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7" name="Google Shape;14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7744" y="1719857"/>
            <a:ext cx="385048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 txBox="1"/>
          <p:nvPr/>
        </p:nvSpPr>
        <p:spPr>
          <a:xfrm>
            <a:off x="607219" y="2173486"/>
            <a:ext cx="3786187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Night &amp; Long-haul Safety: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Driver fatigue is a leading cause of fatal accidents in commercial transport.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607219" y="2966442"/>
            <a:ext cx="3786187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Urbanization Trends: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Increasing cab and private vehicle usage demands automated alertness monitoring.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607219" y="3759398"/>
            <a:ext cx="3786187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Proactive Warnings: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system aims to provide an additional safety layer before fatigue becomes dangerous.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428625" y="2187773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428625" y="2980730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428625" y="3773686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428625" y="689483"/>
            <a:ext cx="8701088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&amp; MOTIVATION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428625" y="1153827"/>
            <a:ext cx="82867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673423"/>
            <a:ext cx="2643188" cy="2836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406" y="1673423"/>
            <a:ext cx="2643188" cy="2836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2188" y="1673423"/>
            <a:ext cx="2643188" cy="283606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/>
        </p:nvSpPr>
        <p:spPr>
          <a:xfrm>
            <a:off x="642938" y="2544961"/>
            <a:ext cx="23252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Hardware Scope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642938" y="2959298"/>
            <a:ext cx="2214563" cy="117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Prioritizing </a:t>
            </a: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Dashboard/Embedded Cameras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over smartphones to avoid battery drain and multitasking interference.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3464719" y="2544961"/>
            <a:ext cx="23252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Stakeholders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3464719" y="2959298"/>
            <a:ext cx="2214563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Logistics agencies, cab owners, bus operators, and individual drivers aiming for highway safety parameters.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6286500" y="2544961"/>
            <a:ext cx="23252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Exclusions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6286500" y="2959298"/>
            <a:ext cx="2214563" cy="117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Out of Scope: Real-car mechanical braking integration, mobile application development, and cloud dashboards.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0" name="Google Shape;17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8" y="1973461"/>
            <a:ext cx="392906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64719" y="1973461"/>
            <a:ext cx="392906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1973461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/>
        </p:nvSpPr>
        <p:spPr>
          <a:xfrm>
            <a:off x="428625" y="689483"/>
            <a:ext cx="8701088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SCOPE &amp; STAKEHOLDERS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428625" y="1153827"/>
            <a:ext cx="82867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468152"/>
            <a:ext cx="8286750" cy="324672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/>
        </p:nvSpPr>
        <p:spPr>
          <a:xfrm>
            <a:off x="428625" y="689483"/>
            <a:ext cx="8701088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UNDERSTANDING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428625" y="1153827"/>
            <a:ext cx="82867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096802"/>
            <a:ext cx="3964781" cy="2443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0594" y="3882740"/>
            <a:ext cx="3964781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9"/>
          <p:cNvSpPr txBox="1"/>
          <p:nvPr/>
        </p:nvSpPr>
        <p:spPr>
          <a:xfrm>
            <a:off x="642938" y="2968340"/>
            <a:ext cx="371296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 Distribution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4750594" y="1668177"/>
            <a:ext cx="41630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Next Steps: Temporal 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 txBox="1"/>
          <p:nvPr/>
        </p:nvSpPr>
        <p:spPr>
          <a:xfrm>
            <a:off x="4750594" y="2082515"/>
            <a:ext cx="3964781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Integrating video frameworks for sequence validation in Milestone 2: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3" name="Google Shape;19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8" y="2396840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821531" y="3332671"/>
            <a:ext cx="3357563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Open Eyes: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9,510 objects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821531" y="3654140"/>
            <a:ext cx="3357563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Yawn States: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7,196 objects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821531" y="3975608"/>
            <a:ext cx="3357563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Closed Eyes: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6,804 objects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4929188" y="2711165"/>
            <a:ext cx="3786188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NTHU Dataset: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sequence tracking and varied lighting profiles.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4929188" y="3268377"/>
            <a:ext cx="3786188" cy="471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YawDD Dataset: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specialized continuous yawning validation.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9" name="Google Shape;19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7744" y="3939890"/>
            <a:ext cx="3850481" cy="117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 txBox="1"/>
          <p:nvPr/>
        </p:nvSpPr>
        <p:spPr>
          <a:xfrm>
            <a:off x="642938" y="3346958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642938" y="3668427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642938" y="3989896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4750594" y="2725452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4750594" y="3282665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428625" y="689483"/>
            <a:ext cx="8701088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CLASSES &amp; HORIZON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428625" y="1153827"/>
            <a:ext cx="82867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0594" y="1662707"/>
            <a:ext cx="3964781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0"/>
          <p:cNvSpPr txBox="1"/>
          <p:nvPr/>
        </p:nvSpPr>
        <p:spPr>
          <a:xfrm>
            <a:off x="428625" y="2037755"/>
            <a:ext cx="41630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Facial Landmark Logic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4" name="Google Shape;21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7744" y="1719857"/>
            <a:ext cx="385048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0"/>
          <p:cNvSpPr txBox="1"/>
          <p:nvPr/>
        </p:nvSpPr>
        <p:spPr>
          <a:xfrm>
            <a:off x="607219" y="2409230"/>
            <a:ext cx="3786187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EAR (Eye Aspect Ratio):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Calculating distances between vertical eyelid points to isolate blinks and closures.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607219" y="3202186"/>
            <a:ext cx="3786187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MAR (Mouth Aspect Ratio):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Monitoring vertical lip separation to identify distinct yawning trends.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607219" y="3759398"/>
            <a:ext cx="3786187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OpenCV: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Real-time frame processing and handling runtime threshold overlays.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428625" y="2423517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428625" y="3216473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428625" y="3773686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428625" y="689483"/>
            <a:ext cx="8701088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RULE-BASED: MEDIAPIPE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428625" y="1153827"/>
            <a:ext cx="82867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791295"/>
            <a:ext cx="2643188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0406" y="1791295"/>
            <a:ext cx="2643188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2188" y="1791295"/>
            <a:ext cx="2643188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 txBox="1"/>
          <p:nvPr/>
        </p:nvSpPr>
        <p:spPr>
          <a:xfrm>
            <a:off x="642938" y="2662832"/>
            <a:ext cx="23252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PERCLOS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642938" y="3077170"/>
            <a:ext cx="2214563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Tracking the percentage of eye closure over time to filter out standard, rapid blinks from genuine fatigue.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3464719" y="2662832"/>
            <a:ext cx="23252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Head Pose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1"/>
          <p:cNvSpPr txBox="1"/>
          <p:nvPr/>
        </p:nvSpPr>
        <p:spPr>
          <a:xfrm>
            <a:off x="3464719" y="3077170"/>
            <a:ext cx="2214563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Detecting nodding or slumping events by measuring head tilt (pitch/yaw) indicating fatigue.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1"/>
          <p:cNvSpPr txBox="1"/>
          <p:nvPr/>
        </p:nvSpPr>
        <p:spPr>
          <a:xfrm>
            <a:off x="6286500" y="2662832"/>
            <a:ext cx="23252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6286500" y="3077170"/>
            <a:ext cx="2214563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Fixed ratios lose accuracy during lighting shifts, camera angle offsets, or when drivers wear eyewear.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7" name="Google Shape;237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8" y="2091332"/>
            <a:ext cx="235744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64719" y="2091332"/>
            <a:ext cx="314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2091332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1"/>
          <p:cNvSpPr txBox="1"/>
          <p:nvPr/>
        </p:nvSpPr>
        <p:spPr>
          <a:xfrm>
            <a:off x="428625" y="689483"/>
            <a:ext cx="8701088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PERCLOS &amp; POSE LOGIC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1"/>
          <p:cNvSpPr/>
          <p:nvPr/>
        </p:nvSpPr>
        <p:spPr>
          <a:xfrm>
            <a:off x="428625" y="1153827"/>
            <a:ext cx="82867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662707"/>
            <a:ext cx="396478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719857"/>
            <a:ext cx="385048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 txBox="1"/>
          <p:nvPr/>
        </p:nvSpPr>
        <p:spPr>
          <a:xfrm>
            <a:off x="4750594" y="2155626"/>
            <a:ext cx="41630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Robust State Identification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4929188" y="2527101"/>
            <a:ext cx="3786188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Direct Classification: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Detecting Closed Eye or Yawn boxes directly from raw pixels.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2"/>
          <p:cNvSpPr txBox="1"/>
          <p:nvPr/>
        </p:nvSpPr>
        <p:spPr>
          <a:xfrm>
            <a:off x="4929188" y="3084314"/>
            <a:ext cx="3786188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Resiliency: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Convolutional weights adapt better to cabin noise, obstructions, and low lighting.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/>
        </p:nvSpPr>
        <p:spPr>
          <a:xfrm>
            <a:off x="4929188" y="3641526"/>
            <a:ext cx="3786188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Models: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Utilizing </a:t>
            </a: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YOLOv8n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or </a:t>
            </a: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YOLO11n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high FPS on dashboard hardware.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2"/>
          <p:cNvSpPr txBox="1"/>
          <p:nvPr/>
        </p:nvSpPr>
        <p:spPr>
          <a:xfrm>
            <a:off x="4750594" y="2541389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2"/>
          <p:cNvSpPr txBox="1"/>
          <p:nvPr/>
        </p:nvSpPr>
        <p:spPr>
          <a:xfrm>
            <a:off x="4750594" y="3098601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4750594" y="3655814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428625" y="689483"/>
            <a:ext cx="8701088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LEARNING: YOLO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2"/>
          <p:cNvSpPr/>
          <p:nvPr/>
        </p:nvSpPr>
        <p:spPr>
          <a:xfrm>
            <a:off x="428625" y="1153827"/>
            <a:ext cx="82867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646871"/>
            <a:ext cx="8286750" cy="2068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682465"/>
            <a:ext cx="1491592" cy="464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27386" y="1682465"/>
            <a:ext cx="1491593" cy="464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26148" y="1682465"/>
            <a:ext cx="1491593" cy="464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24909" y="1682465"/>
            <a:ext cx="1491593" cy="464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23670" y="1682465"/>
            <a:ext cx="1491593" cy="46434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3"/>
          <p:cNvSpPr/>
          <p:nvPr/>
        </p:nvSpPr>
        <p:spPr>
          <a:xfrm>
            <a:off x="428569" y="2382542"/>
            <a:ext cx="82867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642938" y="3061208"/>
            <a:ext cx="7858125" cy="471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Proposed Paradigm: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Landmark precision cross-checked against YOLO detections, smoothed by temporal sliding windows for reliable, real-time alerts.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428625" y="689483"/>
            <a:ext cx="8701088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PROPOSED HYBRID PIPELINE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3"/>
          <p:cNvSpPr/>
          <p:nvPr/>
        </p:nvSpPr>
        <p:spPr>
          <a:xfrm>
            <a:off x="428625" y="1153827"/>
            <a:ext cx="82867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468152"/>
            <a:ext cx="8286750" cy="324672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4"/>
          <p:cNvSpPr txBox="1"/>
          <p:nvPr/>
        </p:nvSpPr>
        <p:spPr>
          <a:xfrm>
            <a:off x="428625" y="3970139"/>
            <a:ext cx="8286750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Testing via </a:t>
            </a: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mAP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layers and tracking stability over time using balanced </a:t>
            </a: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F1-scores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4"/>
          <p:cNvSpPr txBox="1"/>
          <p:nvPr/>
        </p:nvSpPr>
        <p:spPr>
          <a:xfrm>
            <a:off x="428625" y="689483"/>
            <a:ext cx="8701088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 METRICS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428625" y="1153827"/>
            <a:ext cx="82867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673423"/>
            <a:ext cx="2643188" cy="2836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0406" y="1673423"/>
            <a:ext cx="2643188" cy="2836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88" y="1673423"/>
            <a:ext cx="2643188" cy="283606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5"/>
          <p:cNvSpPr txBox="1"/>
          <p:nvPr/>
        </p:nvSpPr>
        <p:spPr>
          <a:xfrm>
            <a:off x="642938" y="2544961"/>
            <a:ext cx="23252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Environments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642938" y="2959298"/>
            <a:ext cx="2214563" cy="117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Validating across lighting challenges, tunnel simulations, eyewear variations, and deep angle changes.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5"/>
          <p:cNvSpPr txBox="1"/>
          <p:nvPr/>
        </p:nvSpPr>
        <p:spPr>
          <a:xfrm>
            <a:off x="3464719" y="2544961"/>
            <a:ext cx="23252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Alert Logic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5"/>
          <p:cNvSpPr txBox="1"/>
          <p:nvPr/>
        </p:nvSpPr>
        <p:spPr>
          <a:xfrm>
            <a:off x="3464719" y="2959298"/>
            <a:ext cx="2214563" cy="117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Stage 1: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Alert State (Green)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Stage 2: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Mild Fatigue (Orange Visual)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Stage 3: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Drowsy Warning (Red Audio)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6286500" y="2544961"/>
            <a:ext cx="23252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Expected Output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5"/>
          <p:cNvSpPr txBox="1"/>
          <p:nvPr/>
        </p:nvSpPr>
        <p:spPr>
          <a:xfrm>
            <a:off x="6286500" y="2959298"/>
            <a:ext cx="2214563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Continuous fatigue score log records paired with immediate onscreen tracking overlays.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6" name="Google Shape;296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8" y="1973461"/>
            <a:ext cx="235744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64719" y="1973461"/>
            <a:ext cx="278606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1973461"/>
            <a:ext cx="235744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5"/>
          <p:cNvSpPr txBox="1"/>
          <p:nvPr/>
        </p:nvSpPr>
        <p:spPr>
          <a:xfrm>
            <a:off x="428625" y="689483"/>
            <a:ext cx="8701088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TESTING &amp; ALERTS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428625" y="1153827"/>
            <a:ext cx="82867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6"/>
          <p:cNvSpPr txBox="1"/>
          <p:nvPr/>
        </p:nvSpPr>
        <p:spPr>
          <a:xfrm>
            <a:off x="3450610" y="984051"/>
            <a:ext cx="2242780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6"/>
          <p:cNvSpPr/>
          <p:nvPr/>
        </p:nvSpPr>
        <p:spPr>
          <a:xfrm>
            <a:off x="4286250" y="3320057"/>
            <a:ext cx="571500" cy="28575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6"/>
          <p:cNvSpPr txBox="1"/>
          <p:nvPr/>
        </p:nvSpPr>
        <p:spPr>
          <a:xfrm>
            <a:off x="3484363" y="3562945"/>
            <a:ext cx="2175272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" sz="29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6"/>
          <p:cNvSpPr txBox="1"/>
          <p:nvPr/>
        </p:nvSpPr>
        <p:spPr>
          <a:xfrm>
            <a:off x="3193256" y="4063007"/>
            <a:ext cx="27574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Questions? | Milestone 1 Final Presentation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6"/>
          <p:cNvSpPr txBox="1"/>
          <p:nvPr/>
        </p:nvSpPr>
        <p:spPr>
          <a:xfrm>
            <a:off x="2214563" y="1791295"/>
            <a:ext cx="489346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Roboflow Driver Drowsiness Public Dataset Engine Hub (2024)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6"/>
          <p:cNvSpPr txBox="1"/>
          <p:nvPr/>
        </p:nvSpPr>
        <p:spPr>
          <a:xfrm>
            <a:off x="2214563" y="2084189"/>
            <a:ext cx="489346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MediaPipe Face Mesh Processing Framework - Google Engineering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2214563" y="2377082"/>
            <a:ext cx="489346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Ultralytics YOLO Framework Architecture Repository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2214563" y="2669976"/>
            <a:ext cx="489346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Soukupova &amp; Cech: Real-Time Eye Blink Detection (EAR Reference)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6"/>
          <p:cNvSpPr txBox="1"/>
          <p:nvPr/>
        </p:nvSpPr>
        <p:spPr>
          <a:xfrm>
            <a:off x="2035969" y="1805582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6"/>
          <p:cNvSpPr txBox="1"/>
          <p:nvPr/>
        </p:nvSpPr>
        <p:spPr>
          <a:xfrm>
            <a:off x="2035969" y="2098476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6"/>
          <p:cNvSpPr txBox="1"/>
          <p:nvPr/>
        </p:nvSpPr>
        <p:spPr>
          <a:xfrm>
            <a:off x="2035969" y="2391370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6"/>
          <p:cNvSpPr txBox="1"/>
          <p:nvPr/>
        </p:nvSpPr>
        <p:spPr>
          <a:xfrm>
            <a:off x="2035969" y="2684264"/>
            <a:ext cx="571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