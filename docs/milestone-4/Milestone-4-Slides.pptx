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Century Schoolbook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ekc9IzCugZwjSjXqw6glBCVzd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enturySchoolbook-bold.fntdata"/><Relationship Id="rId21" Type="http://schemas.openxmlformats.org/officeDocument/2006/relationships/font" Target="fonts/CenturySchoolbook-regular.fntdata"/><Relationship Id="rId24" Type="http://schemas.openxmlformats.org/officeDocument/2006/relationships/font" Target="fonts/CenturySchoolbook-boldItalic.fntdata"/><Relationship Id="rId23" Type="http://schemas.openxmlformats.org/officeDocument/2006/relationships/font" Target="fonts/CenturySchoolbook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7" name="Google Shape;74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2" name="Google Shape;80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noFill/>
          <a:ln cap="flat" cmpd="sng" w="177800">
            <a:solidFill>
              <a:srgbClr val="1E3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607040" y="-365760"/>
            <a:ext cx="1828800" cy="1828800"/>
          </a:xfrm>
          <a:prstGeom prst="ellipse">
            <a:avLst/>
          </a:prstGeom>
          <a:solidFill>
            <a:srgbClr val="1223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MILESTONE 4  ·  TRAINING, TUNING &amp;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" y="1783080"/>
            <a:ext cx="10789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AI-Powered Driver Wellness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&amp; Safety Monitoring System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3657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Five deep-learning modules — implemented, hyperparameter-tuned, trained and evaluated end-to-end, with deployable checkpoints ready for the Risk Fusion Engine.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5074920"/>
            <a:ext cx="1755648" cy="502920"/>
          </a:xfrm>
          <a:prstGeom prst="roundRect">
            <a:avLst>
              <a:gd fmla="val 49091" name="adj"/>
            </a:avLst>
          </a:prstGeom>
          <a:solidFill>
            <a:srgbClr val="16233D"/>
          </a:solidFill>
          <a:ln cap="flat" cmpd="sng" w="15225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5193792"/>
            <a:ext cx="265176" cy="265176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161288" y="5074920"/>
            <a:ext cx="1252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670048" y="5074920"/>
            <a:ext cx="1650492" cy="502920"/>
          </a:xfrm>
          <a:prstGeom prst="roundRect">
            <a:avLst>
              <a:gd fmla="val 49091" name="adj"/>
            </a:avLst>
          </a:prstGeom>
          <a:solidFill>
            <a:srgbClr val="16233D"/>
          </a:solidFill>
          <a:ln cap="flat" cmpd="sng" w="1522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807208" y="5193792"/>
            <a:ext cx="265176" cy="265176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145536" y="5074920"/>
            <a:ext cx="11475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49140" y="5074920"/>
            <a:ext cx="1650492" cy="502920"/>
          </a:xfrm>
          <a:prstGeom prst="roundRect">
            <a:avLst>
              <a:gd fmla="val 49091" name="adj"/>
            </a:avLst>
          </a:prstGeom>
          <a:solidFill>
            <a:srgbClr val="16233D"/>
          </a:solidFill>
          <a:ln cap="flat" cmpd="sng" w="15225">
            <a:solidFill>
              <a:srgbClr val="6C7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686300" y="5193792"/>
            <a:ext cx="265176" cy="265176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24628" y="5074920"/>
            <a:ext cx="11475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28232" y="5074920"/>
            <a:ext cx="1545336" cy="502920"/>
          </a:xfrm>
          <a:prstGeom prst="roundRect">
            <a:avLst>
              <a:gd fmla="val 49091" name="adj"/>
            </a:avLst>
          </a:prstGeom>
          <a:solidFill>
            <a:srgbClr val="16233D"/>
          </a:solidFill>
          <a:ln cap="flat" cmpd="sng" w="15225">
            <a:solidFill>
              <a:srgbClr val="C79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565392" y="5193792"/>
            <a:ext cx="265176" cy="265176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5074920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202168" y="5074920"/>
            <a:ext cx="1545336" cy="502920"/>
          </a:xfrm>
          <a:prstGeom prst="roundRect">
            <a:avLst>
              <a:gd fmla="val 49091" name="adj"/>
            </a:avLst>
          </a:prstGeom>
          <a:solidFill>
            <a:srgbClr val="16233D"/>
          </a:solidFill>
          <a:ln cap="flat" cmpd="sng" w="15225">
            <a:solidFill>
              <a:srgbClr val="A855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339328" y="5193792"/>
            <a:ext cx="265176" cy="265176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677656" y="5074920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85800" y="6035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BSDA4001  ·  DS/AI Lab Course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MILESTONE 4 ·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30352" y="82296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 Architecture to Trained Models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Where earlier milestones prepared data and selected architectures, Milestone 4 delivers complete implementation, optimization and evaluation for every module.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2377440"/>
            <a:ext cx="3502152" cy="1737360"/>
          </a:xfrm>
          <a:prstGeom prst="roundRect">
            <a:avLst>
              <a:gd fmla="val 473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04672" y="2633472"/>
            <a:ext cx="566928" cy="566928"/>
          </a:xfrm>
          <a:prstGeom prst="ellipse">
            <a:avLst/>
          </a:prstGeom>
          <a:solidFill>
            <a:srgbClr val="12283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7614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508760" y="2633472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Train each module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04672" y="3273552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 the selected architecture for all five modules on task-specific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233672" y="2377440"/>
            <a:ext cx="3502152" cy="1737360"/>
          </a:xfrm>
          <a:prstGeom prst="roundRect">
            <a:avLst>
              <a:gd fmla="val 473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489704" y="2633472"/>
            <a:ext cx="566928" cy="566928"/>
          </a:xfrm>
          <a:prstGeom prst="ellipse">
            <a:avLst/>
          </a:prstGeom>
          <a:solidFill>
            <a:srgbClr val="12283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27614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5193792" y="2633472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Optimize hyperparameters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489704" y="3273552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Run systematic sweeps to find the best-performing configuration per module.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918704" y="2377440"/>
            <a:ext cx="3502152" cy="1737360"/>
          </a:xfrm>
          <a:prstGeom prst="roundRect">
            <a:avLst>
              <a:gd fmla="val 473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174736" y="2633472"/>
            <a:ext cx="566928" cy="566928"/>
          </a:xfrm>
          <a:prstGeom prst="ellipse">
            <a:avLst/>
          </a:prstGeom>
          <a:solidFill>
            <a:srgbClr val="12283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2752" y="27614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8878824" y="2633472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Evaluate rigorously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174736" y="3273552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Score with accuracy, F1, mAP, confusion matrices and per-class analysis.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8640" y="4370832"/>
            <a:ext cx="3502152" cy="1737360"/>
          </a:xfrm>
          <a:prstGeom prst="roundRect">
            <a:avLst>
              <a:gd fmla="val 473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04672" y="4626864"/>
            <a:ext cx="566928" cy="566928"/>
          </a:xfrm>
          <a:prstGeom prst="ellipse">
            <a:avLst/>
          </a:prstGeom>
          <a:solidFill>
            <a:srgbClr val="12283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75488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1508760" y="4626864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Study generalization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04672" y="5266944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Analyze regularization and optimization effects on validation behaviour.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233672" y="4370832"/>
            <a:ext cx="3502152" cy="1737360"/>
          </a:xfrm>
          <a:prstGeom prst="roundRect">
            <a:avLst>
              <a:gd fmla="val 473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489704" y="4626864"/>
            <a:ext cx="566928" cy="566928"/>
          </a:xfrm>
          <a:prstGeom prst="ellipse">
            <a:avLst/>
          </a:prstGeom>
          <a:solidFill>
            <a:srgbClr val="12283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7720" y="475488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5193792" y="4626864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Ship checkpoints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489704" y="5266944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Generate deployable inference checkpoints and pipelines for every module.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918704" y="4370832"/>
            <a:ext cx="3502152" cy="1737360"/>
          </a:xfrm>
          <a:prstGeom prst="roundRect">
            <a:avLst>
              <a:gd fmla="val 473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174736" y="4626864"/>
            <a:ext cx="566928" cy="566928"/>
          </a:xfrm>
          <a:prstGeom prst="ellipse">
            <a:avLst/>
          </a:prstGeom>
          <a:solidFill>
            <a:srgbClr val="12283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02752" y="475488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8878824" y="4626864"/>
            <a:ext cx="2404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Schoolboo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Prepare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174736" y="5266944"/>
            <a:ext cx="2999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Ready all trained models for the unified Driver Wellness framework.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OVERALL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30352" y="82296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Models, One Wellness Score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0" y="1600200"/>
            <a:ext cx="3017520" cy="548640"/>
          </a:xfrm>
          <a:prstGeom prst="roundRect">
            <a:avLst>
              <a:gd fmla="val 11667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0" y="16002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A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1A2E"/>
                </a:solidFill>
                <a:latin typeface="Calibri"/>
                <a:ea typeface="Calibri"/>
                <a:cs typeface="Calibri"/>
                <a:sym typeface="Calibri"/>
              </a:rPr>
              <a:t>Driver Camera → Video Stream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6080760" y="2148840"/>
            <a:ext cx="0" cy="292608"/>
          </a:xfrm>
          <a:prstGeom prst="straightConnector1">
            <a:avLst/>
          </a:prstGeom>
          <a:noFill/>
          <a:ln cap="flat" cmpd="sng" w="19050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" name="Google Shape;89;p3"/>
          <p:cNvSpPr/>
          <p:nvPr/>
        </p:nvSpPr>
        <p:spPr>
          <a:xfrm>
            <a:off x="594360" y="2587752"/>
            <a:ext cx="2084832" cy="1051560"/>
          </a:xfrm>
          <a:prstGeom prst="roundRect">
            <a:avLst>
              <a:gd fmla="val 7826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463040" y="2734056"/>
            <a:ext cx="347472" cy="347472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0080" y="3118104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40080" y="337413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1636776" y="3639312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3"/>
          <p:cNvSpPr/>
          <p:nvPr/>
        </p:nvSpPr>
        <p:spPr>
          <a:xfrm>
            <a:off x="2816352" y="2587752"/>
            <a:ext cx="2084832" cy="1051560"/>
          </a:xfrm>
          <a:prstGeom prst="roundRect">
            <a:avLst>
              <a:gd fmla="val 7826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85032" y="2734056"/>
            <a:ext cx="347472" cy="347472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862072" y="3118104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862072" y="337413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3858768" y="3639312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3"/>
          <p:cNvSpPr/>
          <p:nvPr/>
        </p:nvSpPr>
        <p:spPr>
          <a:xfrm>
            <a:off x="5038344" y="2587752"/>
            <a:ext cx="2084832" cy="1051560"/>
          </a:xfrm>
          <a:prstGeom prst="roundRect">
            <a:avLst>
              <a:gd fmla="val 7826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907024" y="2734056"/>
            <a:ext cx="347472" cy="347472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084064" y="3118104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084064" y="337413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6080760" y="3639312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3"/>
          <p:cNvSpPr/>
          <p:nvPr/>
        </p:nvSpPr>
        <p:spPr>
          <a:xfrm>
            <a:off x="7260336" y="2587752"/>
            <a:ext cx="2084832" cy="1051560"/>
          </a:xfrm>
          <a:prstGeom prst="roundRect">
            <a:avLst>
              <a:gd fmla="val 7826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129016" y="2734056"/>
            <a:ext cx="347472" cy="34747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306056" y="3118104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and Phone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306056" y="337413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8302752" y="3639312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3"/>
          <p:cNvSpPr/>
          <p:nvPr/>
        </p:nvSpPr>
        <p:spPr>
          <a:xfrm>
            <a:off x="9482328" y="2587752"/>
            <a:ext cx="2084832" cy="1051560"/>
          </a:xfrm>
          <a:prstGeom prst="roundRect">
            <a:avLst>
              <a:gd fmla="val 7826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0351008" y="2734056"/>
            <a:ext cx="347472" cy="347472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528048" y="3118104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528048" y="3374136"/>
            <a:ext cx="1993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10524744" y="3639312"/>
            <a:ext cx="0" cy="274320"/>
          </a:xfrm>
          <a:prstGeom prst="straightConnector1">
            <a:avLst/>
          </a:prstGeom>
          <a:noFill/>
          <a:ln cap="flat" cmpd="sng" w="15225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3"/>
          <p:cNvSpPr/>
          <p:nvPr/>
        </p:nvSpPr>
        <p:spPr>
          <a:xfrm>
            <a:off x="594360" y="4142232"/>
            <a:ext cx="10972800" cy="658368"/>
          </a:xfrm>
          <a:prstGeom prst="roundRect">
            <a:avLst>
              <a:gd fmla="val 12500" name="adj"/>
            </a:avLst>
          </a:prstGeom>
          <a:solidFill>
            <a:srgbClr val="12283F"/>
          </a:solidFill>
          <a:ln cap="flat" cmpd="sng" w="1777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94360" y="4142232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entury Schoolbook"/>
              <a:buNone/>
            </a:pPr>
            <a:r>
              <a:rPr b="1" i="0" lang="en-US" sz="16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Driver Risk Fusion Engine  ·  weighted scoring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6080760" y="4800600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3"/>
          <p:cNvSpPr/>
          <p:nvPr/>
        </p:nvSpPr>
        <p:spPr>
          <a:xfrm>
            <a:off x="4160520" y="5056632"/>
            <a:ext cx="3840480" cy="548640"/>
          </a:xfrm>
          <a:prstGeom prst="roundRect">
            <a:avLst>
              <a:gd fmla="val 11667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160520" y="505663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A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1A2E"/>
                </a:solidFill>
                <a:latin typeface="Calibri"/>
                <a:ea typeface="Calibri"/>
                <a:cs typeface="Calibri"/>
                <a:sym typeface="Calibri"/>
              </a:rPr>
              <a:t>Driver Wellness Assessment (0–100)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>
            <a:off x="6080760" y="5605272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6E80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3"/>
          <p:cNvSpPr/>
          <p:nvPr/>
        </p:nvSpPr>
        <p:spPr>
          <a:xfrm>
            <a:off x="3200400" y="58521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Alert Generation  →  Fleet Monitoring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SHARED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30352" y="82296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One Workflow, One Environment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48640" y="1645920"/>
            <a:ext cx="4846320" cy="4480560"/>
          </a:xfrm>
          <a:prstGeom prst="roundRect">
            <a:avLst>
              <a:gd fmla="val 183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68680" y="18745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COMMON M4 EXPERIMENTAL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14400" y="2331720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14400" y="23317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298448" y="23134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1042416" y="2587752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4"/>
          <p:cNvSpPr/>
          <p:nvPr/>
        </p:nvSpPr>
        <p:spPr>
          <a:xfrm>
            <a:off x="914400" y="2734056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14400" y="2734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298448" y="271576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4"/>
          <p:cNvCxnSpPr/>
          <p:nvPr/>
        </p:nvCxnSpPr>
        <p:spPr>
          <a:xfrm>
            <a:off x="1042416" y="2990088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4"/>
          <p:cNvSpPr/>
          <p:nvPr/>
        </p:nvSpPr>
        <p:spPr>
          <a:xfrm>
            <a:off x="914400" y="3136392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914400" y="31363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298448" y="311810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1042416" y="3392424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"/>
          <p:cNvSpPr/>
          <p:nvPr/>
        </p:nvSpPr>
        <p:spPr>
          <a:xfrm>
            <a:off x="914400" y="3538728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14400" y="35387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298448" y="35204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Hyperparameter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4"/>
          <p:cNvCxnSpPr/>
          <p:nvPr/>
        </p:nvCxnSpPr>
        <p:spPr>
          <a:xfrm>
            <a:off x="1042416" y="3794760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4"/>
          <p:cNvSpPr/>
          <p:nvPr/>
        </p:nvSpPr>
        <p:spPr>
          <a:xfrm>
            <a:off x="914400" y="3941064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14400" y="39410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298448" y="392277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1042416" y="4197096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4"/>
          <p:cNvSpPr/>
          <p:nvPr/>
        </p:nvSpPr>
        <p:spPr>
          <a:xfrm>
            <a:off x="914400" y="4343400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14400" y="43434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298448" y="43251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4"/>
          <p:cNvCxnSpPr/>
          <p:nvPr/>
        </p:nvCxnSpPr>
        <p:spPr>
          <a:xfrm>
            <a:off x="1042416" y="4599432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4"/>
          <p:cNvSpPr/>
          <p:nvPr/>
        </p:nvSpPr>
        <p:spPr>
          <a:xfrm>
            <a:off x="914400" y="4745736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914400" y="47457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298448" y="47274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Performance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1042416" y="5001768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4"/>
          <p:cNvSpPr/>
          <p:nvPr/>
        </p:nvSpPr>
        <p:spPr>
          <a:xfrm>
            <a:off x="914400" y="5148072"/>
            <a:ext cx="256032" cy="256032"/>
          </a:xfrm>
          <a:prstGeom prst="ellipse">
            <a:avLst/>
          </a:prstGeom>
          <a:solidFill>
            <a:srgbClr val="2240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914400" y="51480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298448" y="512978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Checkpoint Selection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1042416" y="5404104"/>
            <a:ext cx="0" cy="146304"/>
          </a:xfrm>
          <a:prstGeom prst="straightConnector1">
            <a:avLst/>
          </a:prstGeom>
          <a:noFill/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914400" y="5550408"/>
            <a:ext cx="256032" cy="25603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914400" y="55504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1A2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1298448" y="55321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Inference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623560" y="1645920"/>
            <a:ext cx="5989320" cy="2148840"/>
          </a:xfrm>
          <a:prstGeom prst="roundRect">
            <a:avLst>
              <a:gd fmla="val 383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943600" y="184708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SOFTWARE 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943600" y="22860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7086600" y="22860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823960" y="22860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DL Framework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9966960" y="22860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5943600" y="27614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7086600" y="276148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Ultralytics YOLOv8n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8823960" y="27614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9966960" y="276148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5943600" y="3236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Landmarks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086600" y="32369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MediaPipe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8823960" y="3236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9966960" y="32369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623560" y="3977640"/>
            <a:ext cx="5989320" cy="2148840"/>
          </a:xfrm>
          <a:prstGeom prst="roundRect">
            <a:avLst>
              <a:gd fmla="val 383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943600" y="41788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HARDWARE 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6451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/>
          <p:nvPr/>
        </p:nvSpPr>
        <p:spPr>
          <a:xfrm>
            <a:off x="6327648" y="4617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NVIDIA  </a:t>
            </a: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Tesla T4 GPU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46451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9208008" y="4617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CUDA  </a:t>
            </a: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PyTorch 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5212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/>
          <p:nvPr/>
        </p:nvSpPr>
        <p:spPr>
          <a:xfrm>
            <a:off x="6327648" y="51846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Runtime  </a:t>
            </a: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5212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/>
          <p:nvPr/>
        </p:nvSpPr>
        <p:spPr>
          <a:xfrm>
            <a:off x="9208008" y="51846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 </a:t>
            </a: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3.x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5623560" y="594360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Same platform across all five modules keeps experimental conditions consistent and reproducible.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TEAM &amp;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530352" y="82296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Modules, Five Owners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fmla="val 10000" name="adj"/>
            </a:avLst>
          </a:prstGeom>
          <a:solidFill>
            <a:srgbClr val="122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713232" y="1691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743200" y="16916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715000" y="16916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745236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235440" y="16916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48640" y="2240280"/>
            <a:ext cx="11064240" cy="713232"/>
          </a:xfrm>
          <a:prstGeom prst="roundRect">
            <a:avLst>
              <a:gd fmla="val 11538" name="adj"/>
            </a:avLst>
          </a:prstGeom>
          <a:solidFill>
            <a:srgbClr val="1B2A47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713232" y="2322576"/>
            <a:ext cx="548640" cy="54864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713232" y="23225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371600" y="224028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2743200" y="224028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Video-Based Fatigue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715000" y="224028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UTA-RLDD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452360" y="2240280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9235440" y="224028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Fatigue 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548640" y="3063240"/>
            <a:ext cx="11064240" cy="713232"/>
          </a:xfrm>
          <a:prstGeom prst="roundRect">
            <a:avLst>
              <a:gd fmla="val 1153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713232" y="3145536"/>
            <a:ext cx="548640" cy="54864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713232" y="314553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371600" y="306324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2743200" y="306324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Landmark-Based Fatigue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5715000" y="306324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YawDD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452360" y="3063240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9235440" y="306324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Drowsy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11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11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Mild Fatigue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48640" y="3886200"/>
            <a:ext cx="11064240" cy="713232"/>
          </a:xfrm>
          <a:prstGeom prst="roundRect">
            <a:avLst>
              <a:gd fmla="val 11538" name="adj"/>
            </a:avLst>
          </a:prstGeom>
          <a:solidFill>
            <a:srgbClr val="1B2A47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713232" y="3968496"/>
            <a:ext cx="548640" cy="54864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713232" y="396849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1371600" y="388620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2743200" y="388620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Driver Activity Classification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715000" y="388620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AUC Distracted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7452360" y="3886200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9235440" y="388620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548640" y="4709160"/>
            <a:ext cx="11064240" cy="713232"/>
          </a:xfrm>
          <a:prstGeom prst="roundRect">
            <a:avLst>
              <a:gd fmla="val 1153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713232" y="4791456"/>
            <a:ext cx="548640" cy="54864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713232" y="47914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1371600" y="470916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743200" y="470916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Seat Belt and Phone Usage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5715000" y="470916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 - DMS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7452360" y="4709160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9235440" y="470916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Seat Belt / Phone Usage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48640" y="5532120"/>
            <a:ext cx="11064240" cy="713232"/>
          </a:xfrm>
          <a:prstGeom prst="roundRect">
            <a:avLst>
              <a:gd fmla="val 11538" name="adj"/>
            </a:avLst>
          </a:prstGeom>
          <a:solidFill>
            <a:srgbClr val="1B2A47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713232" y="5614416"/>
            <a:ext cx="548640" cy="54864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713232" y="561441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Schoolboo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371600" y="553212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2743200" y="553212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Smoking &amp; Drinking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715000" y="5532120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Merged YOLO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7452360" y="5532120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9235440" y="553212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MODULE · VIDEO-BASED FATIGUE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Kushagra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EfficientNet-B0 + BiLSTM  ·  UTA-RLDD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548640" y="1828800"/>
            <a:ext cx="4892040" cy="4206240"/>
          </a:xfrm>
          <a:prstGeom prst="roundRect">
            <a:avLst>
              <a:gd fmla="val 195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OBJECTIVE &amp;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868680" y="2377440"/>
            <a:ext cx="4297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Detects fatigue directly from video sequences, learning spatial and temporal cues — prolonged eye closure, yawning and head movement — that a single frame cannot capture.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868680" y="3520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UTA-RLDD DATASET 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868680" y="38862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3600"/>
              <a:buFont typeface="Century Schoolbook"/>
              <a:buNone/>
            </a:pPr>
            <a:r>
              <a:rPr b="1" i="0" lang="en-US" sz="360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46,186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868680" y="454456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Training sequences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3200400" y="38862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3600"/>
              <a:buFont typeface="Century Schoolbook"/>
              <a:buNone/>
            </a:pPr>
            <a:r>
              <a:rPr b="1" i="0" lang="en-US" sz="360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7,042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3200400" y="454456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Validation sequences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868680" y="525780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Short videos are zero-padded to maintain a fixed temporal sequence length.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5623560" y="1828800"/>
            <a:ext cx="2606040" cy="4206240"/>
          </a:xfrm>
          <a:prstGeom prst="roundRect">
            <a:avLst>
              <a:gd fmla="val 315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943600" y="23317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6080760" y="23317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 Extraction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6"/>
          <p:cNvCxnSpPr/>
          <p:nvPr/>
        </p:nvCxnSpPr>
        <p:spPr>
          <a:xfrm>
            <a:off x="6926580" y="278282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D953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p6"/>
          <p:cNvSpPr/>
          <p:nvPr/>
        </p:nvSpPr>
        <p:spPr>
          <a:xfrm>
            <a:off x="5943600" y="291084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6080760" y="291084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Uniform Sampling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6"/>
          <p:cNvCxnSpPr/>
          <p:nvPr/>
        </p:nvCxnSpPr>
        <p:spPr>
          <a:xfrm>
            <a:off x="6926580" y="336194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D953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6"/>
          <p:cNvSpPr/>
          <p:nvPr/>
        </p:nvSpPr>
        <p:spPr>
          <a:xfrm>
            <a:off x="5943600" y="348996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6080760" y="348996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Sequence Padding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6"/>
          <p:cNvCxnSpPr/>
          <p:nvPr/>
        </p:nvCxnSpPr>
        <p:spPr>
          <a:xfrm>
            <a:off x="6926580" y="394106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D953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6"/>
          <p:cNvSpPr/>
          <p:nvPr/>
        </p:nvSpPr>
        <p:spPr>
          <a:xfrm>
            <a:off x="5943600" y="406908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6080760" y="406908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Resize(224×224)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6"/>
          <p:cNvCxnSpPr/>
          <p:nvPr/>
        </p:nvCxnSpPr>
        <p:spPr>
          <a:xfrm>
            <a:off x="6926580" y="452018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D953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6"/>
          <p:cNvSpPr/>
          <p:nvPr/>
        </p:nvSpPr>
        <p:spPr>
          <a:xfrm>
            <a:off x="5943600" y="464820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6080760" y="464820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ImageNet Norm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6"/>
          <p:cNvCxnSpPr/>
          <p:nvPr/>
        </p:nvCxnSpPr>
        <p:spPr>
          <a:xfrm>
            <a:off x="6926580" y="509930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D953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" name="Google Shape;286;p6"/>
          <p:cNvSpPr/>
          <p:nvPr/>
        </p:nvSpPr>
        <p:spPr>
          <a:xfrm>
            <a:off x="5943600" y="52273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6080760" y="52273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8412480" y="1828800"/>
            <a:ext cx="3200400" cy="4206240"/>
          </a:xfrm>
          <a:prstGeom prst="roundRect">
            <a:avLst>
              <a:gd fmla="val 2571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86868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8686800" y="2423160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8778240" y="2423160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6"/>
          <p:cNvCxnSpPr/>
          <p:nvPr/>
        </p:nvCxnSpPr>
        <p:spPr>
          <a:xfrm>
            <a:off x="10012680" y="282549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6"/>
          <p:cNvSpPr/>
          <p:nvPr/>
        </p:nvSpPr>
        <p:spPr>
          <a:xfrm>
            <a:off x="8686800" y="2953512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8778240" y="295351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 Backbone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6"/>
          <p:cNvCxnSpPr/>
          <p:nvPr/>
        </p:nvCxnSpPr>
        <p:spPr>
          <a:xfrm>
            <a:off x="10012680" y="33558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6"/>
          <p:cNvSpPr/>
          <p:nvPr/>
        </p:nvSpPr>
        <p:spPr>
          <a:xfrm>
            <a:off x="8686800" y="3483864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8778240" y="3483864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 Embeddings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6"/>
          <p:cNvCxnSpPr/>
          <p:nvPr/>
        </p:nvCxnSpPr>
        <p:spPr>
          <a:xfrm>
            <a:off x="10012680" y="3886200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6"/>
          <p:cNvSpPr/>
          <p:nvPr/>
        </p:nvSpPr>
        <p:spPr>
          <a:xfrm>
            <a:off x="8686800" y="4014216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8778240" y="4014216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Bidirectional LSTM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6"/>
          <p:cNvCxnSpPr/>
          <p:nvPr/>
        </p:nvCxnSpPr>
        <p:spPr>
          <a:xfrm>
            <a:off x="10012680" y="4416552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6"/>
          <p:cNvSpPr/>
          <p:nvPr/>
        </p:nvSpPr>
        <p:spPr>
          <a:xfrm>
            <a:off x="8686800" y="4544568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8778240" y="4544568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FC Layer → Softmax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6"/>
          <p:cNvCxnSpPr/>
          <p:nvPr/>
        </p:nvCxnSpPr>
        <p:spPr>
          <a:xfrm>
            <a:off x="10012680" y="494690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6"/>
          <p:cNvSpPr/>
          <p:nvPr/>
        </p:nvSpPr>
        <p:spPr>
          <a:xfrm>
            <a:off x="8686800" y="5074920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8778240" y="5074920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3-Class Fatigue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MODULE · VIDEO-BASED FATIGUE DETECTION ·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Kushagra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Baseline training &amp; evaluation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fmla="val 225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ARCHITECTURE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868680" y="24231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2606040" y="2423160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868680" y="286207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Temporal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2606040" y="286207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Bidirectional LSTM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868680" y="330098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Hidden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2606040" y="3300984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868680" y="373989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LSTM 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2606040" y="3739896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868680" y="41788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2606040" y="417880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868680" y="461772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Output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2606040" y="4617720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868680" y="505663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Mixed 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2606040" y="505663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868680" y="549554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Gradient Scaling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2606040" y="5495544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434840" y="1828800"/>
            <a:ext cx="7178040" cy="2514600"/>
          </a:xfrm>
          <a:prstGeom prst="roundRect">
            <a:avLst>
              <a:gd fmla="val 3273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47548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QUANTITATIVE RESULTS —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4754880" y="2423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31.78%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4754880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Val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6492240" y="2423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29.20%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6492240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8229600" y="2423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31.78%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8229600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9966960" y="2423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28.58%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9966960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4754880" y="3611880"/>
            <a:ext cx="320040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4937760" y="36118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Training Loss 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0.0811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8229600" y="3611880"/>
            <a:ext cx="320040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8412480" y="36118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Validation Loss 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2.8596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4434840" y="4480560"/>
            <a:ext cx="7178040" cy="1554480"/>
          </a:xfrm>
          <a:prstGeom prst="roundRect">
            <a:avLst>
              <a:gd fmla="val 5294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4754880" y="46817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READING &amp; NEXT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4754880" y="498348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The baseline learned spatial-temporal representations, but the large train/val loss gap and low validation accuracy show the model needs longer training and stronger regularization to generalize. Deliverable checkpoint: driver_wellness_epoch1.pth.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MODULE · LANDMARK-BASED FATIGUE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Shiwani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LSTM  ·  YawDD  ·  MediaPipe features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548640" y="1828800"/>
            <a:ext cx="4892040" cy="4206240"/>
          </a:xfrm>
          <a:prstGeom prst="roundRect">
            <a:avLst>
              <a:gd fmla="val 195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OBJECTIVE &amp;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868680" y="237744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Reads five interpretable geometric signals per frame instead of raw pixels — the same evidence a human uses to judge drowsiness — over consecutive frames.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896112" y="3392424"/>
            <a:ext cx="128016" cy="128016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1143000" y="33375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 — Eye Aspect Ratio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896112" y="3794760"/>
            <a:ext cx="128016" cy="128016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1143000" y="37398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 — Mouth Aspect Ratio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896112" y="4197096"/>
            <a:ext cx="128016" cy="128016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1143000" y="41422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Pitch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896112" y="4599432"/>
            <a:ext cx="128016" cy="128016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1143000" y="45445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Yaw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896112" y="5001768"/>
            <a:ext cx="128016" cy="128016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1143000" y="49469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868680" y="539496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The Talking_Yawning class was removed (too few samples) → three balanced classes.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5623560" y="1828800"/>
            <a:ext cx="2606040" cy="4206240"/>
          </a:xfrm>
          <a:prstGeom prst="roundRect">
            <a:avLst>
              <a:gd fmla="val 315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943600" y="23317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6080760" y="23317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 Extraction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8"/>
          <p:cNvCxnSpPr/>
          <p:nvPr/>
        </p:nvCxnSpPr>
        <p:spPr>
          <a:xfrm>
            <a:off x="6926580" y="278282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3EA9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" name="Google Shape;385;p8"/>
          <p:cNvSpPr/>
          <p:nvPr/>
        </p:nvSpPr>
        <p:spPr>
          <a:xfrm>
            <a:off x="5943600" y="291084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080760" y="291084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MediaPipe Landmarker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8"/>
          <p:cNvCxnSpPr/>
          <p:nvPr/>
        </p:nvCxnSpPr>
        <p:spPr>
          <a:xfrm>
            <a:off x="6926580" y="336194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3EA9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" name="Google Shape;388;p8"/>
          <p:cNvSpPr/>
          <p:nvPr/>
        </p:nvSpPr>
        <p:spPr>
          <a:xfrm>
            <a:off x="5943600" y="348996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6080760" y="348996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EAR/MAR/Pose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8"/>
          <p:cNvCxnSpPr/>
          <p:nvPr/>
        </p:nvCxnSpPr>
        <p:spPr>
          <a:xfrm>
            <a:off x="6926580" y="394106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3EA9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1" name="Google Shape;391;p8"/>
          <p:cNvSpPr/>
          <p:nvPr/>
        </p:nvSpPr>
        <p:spPr>
          <a:xfrm>
            <a:off x="5943600" y="406908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6080760" y="406908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Cleaning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8"/>
          <p:cNvCxnSpPr/>
          <p:nvPr/>
        </p:nvCxnSpPr>
        <p:spPr>
          <a:xfrm>
            <a:off x="6926580" y="452018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3EA9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8"/>
          <p:cNvSpPr/>
          <p:nvPr/>
        </p:nvSpPr>
        <p:spPr>
          <a:xfrm>
            <a:off x="5943600" y="464820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6080760" y="464820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8"/>
          <p:cNvCxnSpPr/>
          <p:nvPr/>
        </p:nvCxnSpPr>
        <p:spPr>
          <a:xfrm>
            <a:off x="6926580" y="509930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3EA9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7" name="Google Shape;397;p8"/>
          <p:cNvSpPr/>
          <p:nvPr/>
        </p:nvSpPr>
        <p:spPr>
          <a:xfrm>
            <a:off x="5943600" y="52273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6080760" y="52273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Sliding Window (45)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8412480" y="1828800"/>
            <a:ext cx="3200400" cy="4206240"/>
          </a:xfrm>
          <a:prstGeom prst="roundRect">
            <a:avLst>
              <a:gd fmla="val 2571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86868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CLASS DISTRIBUTION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8686800" y="2606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8686800" y="2898648"/>
            <a:ext cx="1737360" cy="237744"/>
          </a:xfrm>
          <a:prstGeom prst="roundRect">
            <a:avLst>
              <a:gd fmla="val 11538" name="adj"/>
            </a:avLst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10515600" y="28620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8686800" y="3264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Talking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8686800" y="3557016"/>
            <a:ext cx="1654629" cy="237744"/>
          </a:xfrm>
          <a:prstGeom prst="roundRect">
            <a:avLst>
              <a:gd fmla="val 11538" name="adj"/>
            </a:avLst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10432869" y="35204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8686800" y="39227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Yawning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8686800" y="4215384"/>
            <a:ext cx="1687721" cy="237744"/>
          </a:xfrm>
          <a:prstGeom prst="roundRect">
            <a:avLst>
              <a:gd fmla="val 11538" name="adj"/>
            </a:avLst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10465961" y="417880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8686800" y="4572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MODEL CONFIG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8686800" y="48920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128  </a:t>
            </a: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Hidden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10104120" y="48920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2  </a:t>
            </a: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8686800" y="53949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45  </a:t>
            </a: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10104120" y="53949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5  </a:t>
            </a: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MODULE · LANDMARK FATIGUE ·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Shiwani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Tuning, evaluation &amp; risk mapping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48640" y="1828800"/>
            <a:ext cx="3383280" cy="4206240"/>
          </a:xfrm>
          <a:prstGeom prst="roundRect">
            <a:avLst>
              <a:gd fmla="val 2432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LSTM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868680" y="2423160"/>
            <a:ext cx="2468880" cy="420624"/>
          </a:xfrm>
          <a:prstGeom prst="roundRect">
            <a:avLst>
              <a:gd fmla="val 1087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960120" y="242316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Seq (45×5)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9"/>
          <p:cNvCxnSpPr/>
          <p:nvPr/>
        </p:nvCxnSpPr>
        <p:spPr>
          <a:xfrm>
            <a:off x="2103120" y="284378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9"/>
          <p:cNvSpPr/>
          <p:nvPr/>
        </p:nvSpPr>
        <p:spPr>
          <a:xfrm>
            <a:off x="868680" y="2971800"/>
            <a:ext cx="2468880" cy="420624"/>
          </a:xfrm>
          <a:prstGeom prst="roundRect">
            <a:avLst>
              <a:gd fmla="val 10870" name="adj"/>
            </a:avLst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960120" y="297180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Layer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9"/>
          <p:cNvCxnSpPr/>
          <p:nvPr/>
        </p:nvCxnSpPr>
        <p:spPr>
          <a:xfrm>
            <a:off x="2103120" y="339242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9"/>
          <p:cNvSpPr/>
          <p:nvPr/>
        </p:nvSpPr>
        <p:spPr>
          <a:xfrm>
            <a:off x="868680" y="3520440"/>
            <a:ext cx="2468880" cy="420624"/>
          </a:xfrm>
          <a:prstGeom prst="roundRect">
            <a:avLst>
              <a:gd fmla="val 10870" name="adj"/>
            </a:avLst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960120" y="352044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Layer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9"/>
          <p:cNvCxnSpPr/>
          <p:nvPr/>
        </p:nvCxnSpPr>
        <p:spPr>
          <a:xfrm>
            <a:off x="2103120" y="394106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9"/>
          <p:cNvSpPr/>
          <p:nvPr/>
        </p:nvSpPr>
        <p:spPr>
          <a:xfrm>
            <a:off x="868680" y="4069080"/>
            <a:ext cx="2468880" cy="420624"/>
          </a:xfrm>
          <a:prstGeom prst="roundRect">
            <a:avLst>
              <a:gd fmla="val 1087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960120" y="40690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Hidden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9"/>
          <p:cNvCxnSpPr/>
          <p:nvPr/>
        </p:nvCxnSpPr>
        <p:spPr>
          <a:xfrm>
            <a:off x="2103120" y="448970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9"/>
          <p:cNvSpPr/>
          <p:nvPr/>
        </p:nvSpPr>
        <p:spPr>
          <a:xfrm>
            <a:off x="868680" y="4617720"/>
            <a:ext cx="2468880" cy="420624"/>
          </a:xfrm>
          <a:prstGeom prst="roundRect">
            <a:avLst>
              <a:gd fmla="val 1087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960120" y="46177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FC Layer → Softmax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9"/>
          <p:cNvCxnSpPr/>
          <p:nvPr/>
        </p:nvCxnSpPr>
        <p:spPr>
          <a:xfrm>
            <a:off x="2103120" y="503834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9"/>
          <p:cNvSpPr/>
          <p:nvPr/>
        </p:nvSpPr>
        <p:spPr>
          <a:xfrm>
            <a:off x="868680" y="5166360"/>
            <a:ext cx="2468880" cy="420624"/>
          </a:xfrm>
          <a:prstGeom prst="roundRect">
            <a:avLst>
              <a:gd fmla="val 1087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960120" y="516636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4160520" y="1828800"/>
            <a:ext cx="3794760" cy="4206240"/>
          </a:xfrm>
          <a:prstGeom prst="roundRect">
            <a:avLst>
              <a:gd fmla="val 2169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448056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TUNING &amp;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4480560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Swept learning rate, batch size, hidden size, LSTM layers, window size, dropout and weight decay for the best accuracy–generalization balance.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4480560" y="3383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EVALUATED WITH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4480560" y="3703320"/>
            <a:ext cx="1508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 cap="flat" cmpd="sng" w="952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4480560" y="3703320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6126480" y="3703320"/>
            <a:ext cx="1508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 cap="flat" cmpd="sng" w="952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6126480" y="3703320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4480560" y="4206240"/>
            <a:ext cx="1508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 cap="flat" cmpd="sng" w="952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4480560" y="4206240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6126480" y="4206240"/>
            <a:ext cx="1508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 cap="flat" cmpd="sng" w="952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6126480" y="4206240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4480560" y="4709160"/>
            <a:ext cx="1508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 cap="flat" cmpd="sng" w="9525">
            <a:solidFill>
              <a:srgbClr val="3E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4480560" y="4709160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4480560" y="53492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Distinguishes Normal / Talking / Yawning from temporal facial features.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8183880" y="1828800"/>
            <a:ext cx="3429000" cy="4206240"/>
          </a:xfrm>
          <a:prstGeom prst="roundRect">
            <a:avLst>
              <a:gd fmla="val 240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850392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FATIGUE RISK 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8503920" y="237744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 rule-based layer converts behaviour predictions into interpretable fatigue levels.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8503920" y="3200400"/>
            <a:ext cx="2834640" cy="713232"/>
          </a:xfrm>
          <a:prstGeom prst="roundRect">
            <a:avLst>
              <a:gd fmla="val 7692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8686800" y="3438144"/>
            <a:ext cx="237744" cy="237744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9052560" y="327355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9052560" y="35661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0% yawning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8503920" y="4069080"/>
            <a:ext cx="2834640" cy="713232"/>
          </a:xfrm>
          <a:prstGeom prst="roundRect">
            <a:avLst>
              <a:gd fmla="val 7692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8686800" y="4306824"/>
            <a:ext cx="237744" cy="237744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9052560" y="4142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Mild Fatigue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9052560" y="4434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0–15% yawning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8503920" y="4937760"/>
            <a:ext cx="2834640" cy="713232"/>
          </a:xfrm>
          <a:prstGeom prst="roundRect">
            <a:avLst>
              <a:gd fmla="val 7692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8686800" y="5175504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9052560" y="5010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Drowsy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9052560" y="5303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&gt; 15% yawning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MODULE · DRIVER ACTIVITY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Shubham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MobileNetV3  ·  AUC Distracted Driver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548640" y="1828800"/>
            <a:ext cx="4892040" cy="4206240"/>
          </a:xfrm>
          <a:prstGeom prst="roundRect">
            <a:avLst>
              <a:gd fmla="val 195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OBJECTIVE &amp;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868680" y="237744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Classifies driver activity from single RGB frames to flag distraction early and support overall driver safety.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868680" y="32461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3600"/>
              <a:buFont typeface="Century Schoolbook"/>
              <a:buNone/>
            </a:pPr>
            <a:r>
              <a:rPr b="1" lang="en-US" sz="3600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7,276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868680" y="39044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Total images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2697476" y="3291850"/>
            <a:ext cx="260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3600"/>
              <a:buFont typeface="Century Schoolbook"/>
              <a:buNone/>
            </a:pPr>
            <a:r>
              <a:rPr b="1" lang="en-US" sz="3600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</a:t>
            </a:r>
            <a:r>
              <a:rPr b="1" i="0" lang="en-US" sz="3600" u="none" cap="none" strike="noStrike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0/</a:t>
            </a:r>
            <a:r>
              <a:rPr b="1" lang="en-US" sz="3600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</a:t>
            </a:r>
            <a:r>
              <a:rPr b="1" i="0" lang="en-US" sz="3600" u="none" cap="none" strike="noStrike">
                <a:solidFill>
                  <a:srgbClr val="6C7CD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/15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3200400" y="39044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 / validation split/Test spit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868680" y="4343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868680" y="4663440"/>
            <a:ext cx="4297680" cy="384048"/>
          </a:xfrm>
          <a:prstGeom prst="roundRect">
            <a:avLst>
              <a:gd fmla="val 11905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005840" y="46634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  —  </a:t>
            </a:r>
            <a:r>
              <a:rPr b="0" i="0" lang="en-US" sz="1100" u="none" cap="none" strike="noStrike">
                <a:solidFill>
                  <a:srgbClr val="E6ECFF"/>
                </a:solidFill>
                <a:latin typeface="Calibri"/>
                <a:ea typeface="Calibri"/>
                <a:cs typeface="Calibri"/>
                <a:sym typeface="Calibri"/>
              </a:rPr>
              <a:t>Lightweight, fast inference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868680" y="5120640"/>
            <a:ext cx="4297680" cy="384048"/>
          </a:xfrm>
          <a:prstGeom prst="roundRect">
            <a:avLst>
              <a:gd fmla="val 1190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1005840" y="51206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ResNet50  —  </a:t>
            </a: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High representation power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868680" y="5577840"/>
            <a:ext cx="4297680" cy="384048"/>
          </a:xfrm>
          <a:prstGeom prst="roundRect">
            <a:avLst>
              <a:gd fmla="val 1190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1005840" y="55778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  —  </a:t>
            </a: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Highest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5623560" y="1828800"/>
            <a:ext cx="2606040" cy="4206240"/>
          </a:xfrm>
          <a:prstGeom prst="roundRect">
            <a:avLst>
              <a:gd fmla="val 315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5943600" y="23317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6080760" y="23317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Image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6" name="Google Shape;506;p10"/>
          <p:cNvCxnSpPr/>
          <p:nvPr/>
        </p:nvCxnSpPr>
        <p:spPr>
          <a:xfrm>
            <a:off x="6926580" y="278282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6C7C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7" name="Google Shape;507;p10"/>
          <p:cNvSpPr/>
          <p:nvPr/>
        </p:nvSpPr>
        <p:spPr>
          <a:xfrm>
            <a:off x="5943600" y="291084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6080760" y="291084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Resize 224×224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10"/>
          <p:cNvCxnSpPr/>
          <p:nvPr/>
        </p:nvCxnSpPr>
        <p:spPr>
          <a:xfrm>
            <a:off x="6926580" y="336194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6C7C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0" name="Google Shape;510;p10"/>
          <p:cNvSpPr/>
          <p:nvPr/>
        </p:nvSpPr>
        <p:spPr>
          <a:xfrm>
            <a:off x="5943600" y="348996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6080760" y="348996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0"/>
          <p:cNvCxnSpPr/>
          <p:nvPr/>
        </p:nvCxnSpPr>
        <p:spPr>
          <a:xfrm>
            <a:off x="6926580" y="394106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6C7C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3" name="Google Shape;513;p10"/>
          <p:cNvSpPr/>
          <p:nvPr/>
        </p:nvSpPr>
        <p:spPr>
          <a:xfrm>
            <a:off x="5943600" y="406908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6080760" y="406908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ImageNet Norm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10"/>
          <p:cNvCxnSpPr/>
          <p:nvPr/>
        </p:nvCxnSpPr>
        <p:spPr>
          <a:xfrm>
            <a:off x="6926580" y="452018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6C7C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6" name="Google Shape;516;p10"/>
          <p:cNvSpPr/>
          <p:nvPr/>
        </p:nvSpPr>
        <p:spPr>
          <a:xfrm>
            <a:off x="5943600" y="464820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6080760" y="464820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10"/>
          <p:cNvCxnSpPr/>
          <p:nvPr/>
        </p:nvCxnSpPr>
        <p:spPr>
          <a:xfrm>
            <a:off x="6926580" y="509930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6C7C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9" name="Google Shape;519;p10"/>
          <p:cNvSpPr/>
          <p:nvPr/>
        </p:nvSpPr>
        <p:spPr>
          <a:xfrm>
            <a:off x="5943600" y="52273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6080760" y="52273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Input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8412480" y="1828800"/>
            <a:ext cx="3200400" cy="4206240"/>
          </a:xfrm>
          <a:prstGeom prst="roundRect">
            <a:avLst>
              <a:gd fmla="val 2571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86868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8686800" y="2423160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8778240" y="2423160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Driver 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10"/>
          <p:cNvCxnSpPr/>
          <p:nvPr/>
        </p:nvCxnSpPr>
        <p:spPr>
          <a:xfrm>
            <a:off x="10012680" y="282549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10"/>
          <p:cNvSpPr/>
          <p:nvPr/>
        </p:nvSpPr>
        <p:spPr>
          <a:xfrm>
            <a:off x="8686800" y="2953512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8778240" y="295351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 Backbone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p10"/>
          <p:cNvCxnSpPr/>
          <p:nvPr/>
        </p:nvCxnSpPr>
        <p:spPr>
          <a:xfrm>
            <a:off x="10012680" y="33558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10"/>
          <p:cNvSpPr/>
          <p:nvPr/>
        </p:nvSpPr>
        <p:spPr>
          <a:xfrm>
            <a:off x="8686800" y="3483864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8778240" y="3483864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Avg Pooling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p10"/>
          <p:cNvCxnSpPr/>
          <p:nvPr/>
        </p:nvCxnSpPr>
        <p:spPr>
          <a:xfrm>
            <a:off x="10012680" y="3886200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10"/>
          <p:cNvSpPr/>
          <p:nvPr/>
        </p:nvSpPr>
        <p:spPr>
          <a:xfrm>
            <a:off x="8686800" y="4014216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8778240" y="4014216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FC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10"/>
          <p:cNvCxnSpPr/>
          <p:nvPr/>
        </p:nvCxnSpPr>
        <p:spPr>
          <a:xfrm>
            <a:off x="10012680" y="4416552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0"/>
          <p:cNvSpPr/>
          <p:nvPr/>
        </p:nvSpPr>
        <p:spPr>
          <a:xfrm>
            <a:off x="8686800" y="4544568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8778240" y="4544568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Google Shape;538;p10"/>
          <p:cNvCxnSpPr/>
          <p:nvPr/>
        </p:nvCxnSpPr>
        <p:spPr>
          <a:xfrm>
            <a:off x="10012680" y="494690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10"/>
          <p:cNvSpPr/>
          <p:nvPr/>
        </p:nvSpPr>
        <p:spPr>
          <a:xfrm>
            <a:off x="8686800" y="5074920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8778240" y="5074920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1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MODULE · DRIVER ACTIVITY ·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Shubham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Hyperparameter tuning &amp; performance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1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fmla="val 225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1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BEST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1"/>
          <p:cNvSpPr/>
          <p:nvPr/>
        </p:nvSpPr>
        <p:spPr>
          <a:xfrm>
            <a:off x="868680" y="237744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Learning rate, batch size, optimizer and epochs were swept; the winning setup: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868680" y="3200400"/>
            <a:ext cx="306324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1051560" y="32004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Learning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2651760" y="320040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0.0005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868680" y="3858768"/>
            <a:ext cx="306324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1"/>
          <p:cNvSpPr/>
          <p:nvPr/>
        </p:nvSpPr>
        <p:spPr>
          <a:xfrm>
            <a:off x="1051560" y="385876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2651760" y="3858768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868680" y="4517136"/>
            <a:ext cx="306324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1"/>
          <p:cNvSpPr/>
          <p:nvPr/>
        </p:nvSpPr>
        <p:spPr>
          <a:xfrm>
            <a:off x="1051560" y="4517136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2651760" y="4517136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Adam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868680" y="52578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Evaluated: accuracy, precision, recall, F1, confusion matrix.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4434840" y="1828800"/>
            <a:ext cx="3246120" cy="4206240"/>
          </a:xfrm>
          <a:prstGeom prst="roundRect">
            <a:avLst>
              <a:gd fmla="val 2535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1"/>
          <p:cNvSpPr/>
          <p:nvPr/>
        </p:nvSpPr>
        <p:spPr>
          <a:xfrm>
            <a:off x="47548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VALIDATION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4892040" y="2651760"/>
            <a:ext cx="2331720" cy="2331720"/>
          </a:xfrm>
          <a:prstGeom prst="ellipse">
            <a:avLst/>
          </a:prstGeom>
          <a:noFill/>
          <a:ln cap="flat" cmpd="sng" w="177800">
            <a:solidFill>
              <a:srgbClr val="22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1"/>
          <p:cNvSpPr/>
          <p:nvPr/>
        </p:nvSpPr>
        <p:spPr>
          <a:xfrm>
            <a:off x="4892040" y="2651760"/>
            <a:ext cx="2331720" cy="2331720"/>
          </a:xfrm>
          <a:prstGeom prst="ellipse">
            <a:avLst/>
          </a:prstGeom>
          <a:noFill/>
          <a:ln cap="flat" cmpd="sng" w="177800">
            <a:solidFill>
              <a:srgbClr val="6C7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1"/>
          <p:cNvSpPr/>
          <p:nvPr/>
        </p:nvSpPr>
        <p:spPr>
          <a:xfrm>
            <a:off x="4892040" y="33375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entury Schoolboo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~9</a:t>
            </a:r>
            <a:r>
              <a:rPr b="1" lang="en-US" sz="4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</a:t>
            </a:r>
            <a:r>
              <a:rPr b="1" i="0" lang="en-US" sz="4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1"/>
          <p:cNvSpPr/>
          <p:nvPr/>
        </p:nvSpPr>
        <p:spPr>
          <a:xfrm>
            <a:off x="4754880" y="5120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classification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1"/>
          <p:cNvSpPr/>
          <p:nvPr/>
        </p:nvSpPr>
        <p:spPr>
          <a:xfrm>
            <a:off x="7909560" y="1828800"/>
            <a:ext cx="3703320" cy="4206240"/>
          </a:xfrm>
          <a:prstGeom prst="roundRect">
            <a:avLst>
              <a:gd fmla="val 2222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1"/>
          <p:cNvSpPr/>
          <p:nvPr/>
        </p:nvSpPr>
        <p:spPr>
          <a:xfrm>
            <a:off x="82296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WHY MOBILENETV3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1"/>
          <p:cNvSpPr/>
          <p:nvPr/>
        </p:nvSpPr>
        <p:spPr>
          <a:xfrm>
            <a:off x="8229600" y="242316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EfficientNet-B0 scored highest, but MobileNetV3 was chosen for the efficiency–accuracy trade-off.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Depthwise-separable blocks keep inference fast on edge hardware (Jetson / Raspberry Pi).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~9</a:t>
            </a:r>
            <a:r>
              <a:rPr lang="en-US" sz="12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% accuracy at a fraction of the compute suits real-time driver monitoring.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Delivers a deployable checkpoint plus evaluation plots and confusion matrix.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MODULE · SEAT BELT &amp; PHONE USAGE 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Sohini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 </a:t>
            </a:r>
            <a:r>
              <a:rPr i="1" lang="en-US" sz="14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Custom Driver Monitoring Dataset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548640" y="1828800"/>
            <a:ext cx="4892040" cy="4206240"/>
          </a:xfrm>
          <a:prstGeom prst="roundRect">
            <a:avLst>
              <a:gd fmla="val 195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868680" y="2377440"/>
            <a:ext cx="4297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Automatically detects whether the driver is wearing a seat belt or u</a:t>
            </a:r>
            <a:r>
              <a:rPr lang="en-US" sz="130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sing a phone while driving, </a:t>
            </a: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one of the strongest indicators of driver safety</a:t>
            </a:r>
            <a:r>
              <a:rPr lang="en-US" sz="130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 and localizes it in the cabin.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2"/>
          <p:cNvSpPr/>
          <p:nvPr/>
        </p:nvSpPr>
        <p:spPr>
          <a:xfrm>
            <a:off x="868680" y="3520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TRAINING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1" name="Google Shape;5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39227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2"/>
          <p:cNvSpPr/>
          <p:nvPr/>
        </p:nvSpPr>
        <p:spPr>
          <a:xfrm>
            <a:off x="1261872" y="388620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 from pretrained YOLO weights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3" name="Google Shape;5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44256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2"/>
          <p:cNvSpPr/>
          <p:nvPr/>
        </p:nvSpPr>
        <p:spPr>
          <a:xfrm>
            <a:off x="1261872" y="438912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AdamW optimizer for efficient model 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5" name="Google Shape;5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4928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2"/>
          <p:cNvSpPr/>
          <p:nvPr/>
        </p:nvSpPr>
        <p:spPr>
          <a:xfrm>
            <a:off x="1261872" y="489204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Mixed Precision (AMP) GPU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7" name="Google Shape;5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5431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2"/>
          <p:cNvSpPr/>
          <p:nvPr/>
        </p:nvSpPr>
        <p:spPr>
          <a:xfrm>
            <a:off x="1261872" y="53949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Best-checkpoint selection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(best.pt)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5623560" y="1828800"/>
            <a:ext cx="2606040" cy="4206240"/>
          </a:xfrm>
          <a:prstGeom prst="roundRect">
            <a:avLst>
              <a:gd fmla="val 315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2"/>
          <p:cNvSpPr/>
          <p:nvPr/>
        </p:nvSpPr>
        <p:spPr>
          <a:xfrm>
            <a:off x="5943600" y="23317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6080760" y="23317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12"/>
          <p:cNvCxnSpPr/>
          <p:nvPr/>
        </p:nvCxnSpPr>
        <p:spPr>
          <a:xfrm>
            <a:off x="6926580" y="278282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C79A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3" name="Google Shape;603;p12"/>
          <p:cNvSpPr/>
          <p:nvPr/>
        </p:nvSpPr>
        <p:spPr>
          <a:xfrm>
            <a:off x="5943600" y="291084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2"/>
          <p:cNvSpPr/>
          <p:nvPr/>
        </p:nvSpPr>
        <p:spPr>
          <a:xfrm>
            <a:off x="6080760" y="291084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Resize (640 x 640)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5" name="Google Shape;605;p12"/>
          <p:cNvCxnSpPr/>
          <p:nvPr/>
        </p:nvCxnSpPr>
        <p:spPr>
          <a:xfrm>
            <a:off x="6926580" y="336194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C79A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6" name="Google Shape;606;p12"/>
          <p:cNvSpPr/>
          <p:nvPr/>
        </p:nvSpPr>
        <p:spPr>
          <a:xfrm>
            <a:off x="5943600" y="348996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6080760" y="348996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Annotation Verification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12"/>
          <p:cNvCxnSpPr/>
          <p:nvPr/>
        </p:nvCxnSpPr>
        <p:spPr>
          <a:xfrm>
            <a:off x="6926580" y="394106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C79A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9" name="Google Shape;609;p12"/>
          <p:cNvSpPr/>
          <p:nvPr/>
        </p:nvSpPr>
        <p:spPr>
          <a:xfrm>
            <a:off x="5943600" y="406908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2"/>
          <p:cNvSpPr/>
          <p:nvPr/>
        </p:nvSpPr>
        <p:spPr>
          <a:xfrm>
            <a:off x="6080760" y="406908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 Label Format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1" name="Google Shape;611;p12"/>
          <p:cNvCxnSpPr/>
          <p:nvPr/>
        </p:nvCxnSpPr>
        <p:spPr>
          <a:xfrm>
            <a:off x="6926580" y="452018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C79A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2" name="Google Shape;612;p12"/>
          <p:cNvSpPr/>
          <p:nvPr/>
        </p:nvSpPr>
        <p:spPr>
          <a:xfrm>
            <a:off x="5943600" y="464820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2"/>
          <p:cNvSpPr/>
          <p:nvPr/>
        </p:nvSpPr>
        <p:spPr>
          <a:xfrm>
            <a:off x="6080760" y="4648200"/>
            <a:ext cx="16917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Built-in Augmentation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12"/>
          <p:cNvCxnSpPr/>
          <p:nvPr/>
        </p:nvCxnSpPr>
        <p:spPr>
          <a:xfrm>
            <a:off x="6926580" y="509930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C79A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5" name="Google Shape;615;p12"/>
          <p:cNvSpPr/>
          <p:nvPr/>
        </p:nvSpPr>
        <p:spPr>
          <a:xfrm>
            <a:off x="5943600" y="5227320"/>
            <a:ext cx="1965960" cy="451104"/>
          </a:xfrm>
          <a:prstGeom prst="roundRect">
            <a:avLst>
              <a:gd fmla="val 1013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2"/>
          <p:cNvSpPr/>
          <p:nvPr/>
        </p:nvSpPr>
        <p:spPr>
          <a:xfrm>
            <a:off x="6080760" y="5227320"/>
            <a:ext cx="1691640" cy="451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Input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2"/>
          <p:cNvSpPr/>
          <p:nvPr/>
        </p:nvSpPr>
        <p:spPr>
          <a:xfrm>
            <a:off x="8412480" y="1828800"/>
            <a:ext cx="3200400" cy="4206240"/>
          </a:xfrm>
          <a:prstGeom prst="roundRect">
            <a:avLst>
              <a:gd fmla="val 2571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2"/>
          <p:cNvSpPr/>
          <p:nvPr/>
        </p:nvSpPr>
        <p:spPr>
          <a:xfrm>
            <a:off x="86868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DETECTOR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8686800" y="2423160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"/>
          <p:cNvSpPr/>
          <p:nvPr/>
        </p:nvSpPr>
        <p:spPr>
          <a:xfrm>
            <a:off x="8778240" y="2423160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12"/>
          <p:cNvCxnSpPr/>
          <p:nvPr/>
        </p:nvCxnSpPr>
        <p:spPr>
          <a:xfrm>
            <a:off x="10012680" y="282549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12"/>
          <p:cNvSpPr/>
          <p:nvPr/>
        </p:nvSpPr>
        <p:spPr>
          <a:xfrm>
            <a:off x="8686800" y="2953512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8778240" y="295351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 Backbone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5" name="Google Shape;625;p12"/>
          <p:cNvCxnSpPr/>
          <p:nvPr/>
        </p:nvCxnSpPr>
        <p:spPr>
          <a:xfrm>
            <a:off x="10012680" y="3355848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12"/>
          <p:cNvSpPr/>
          <p:nvPr/>
        </p:nvSpPr>
        <p:spPr>
          <a:xfrm>
            <a:off x="8686800" y="3483864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8778240" y="3483864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PAN-FPN Neck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12"/>
          <p:cNvCxnSpPr/>
          <p:nvPr/>
        </p:nvCxnSpPr>
        <p:spPr>
          <a:xfrm>
            <a:off x="10012680" y="3886200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12"/>
          <p:cNvSpPr/>
          <p:nvPr/>
        </p:nvSpPr>
        <p:spPr>
          <a:xfrm>
            <a:off x="8686800" y="4014216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8778240" y="4014216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 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1" name="Google Shape;631;p12"/>
          <p:cNvCxnSpPr/>
          <p:nvPr/>
        </p:nvCxnSpPr>
        <p:spPr>
          <a:xfrm>
            <a:off x="10012680" y="4416552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2" name="Google Shape;632;p12"/>
          <p:cNvSpPr/>
          <p:nvPr/>
        </p:nvSpPr>
        <p:spPr>
          <a:xfrm>
            <a:off x="8686800" y="4544568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8778240" y="4544568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Bounding Boxes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12"/>
          <p:cNvCxnSpPr/>
          <p:nvPr/>
        </p:nvCxnSpPr>
        <p:spPr>
          <a:xfrm>
            <a:off x="10012680" y="4946904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6E80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12"/>
          <p:cNvSpPr/>
          <p:nvPr/>
        </p:nvSpPr>
        <p:spPr>
          <a:xfrm>
            <a:off x="8686800" y="5074920"/>
            <a:ext cx="2651760" cy="402336"/>
          </a:xfrm>
          <a:prstGeom prst="roundRect">
            <a:avLst>
              <a:gd fmla="val 1136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8778240" y="5074920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and Phone Usage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3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MODULE · SEAT BELT DETECTION ·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3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3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3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Sohini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3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Evaluation &amp; deliverables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3"/>
          <p:cNvSpPr/>
          <p:nvPr/>
        </p:nvSpPr>
        <p:spPr>
          <a:xfrm>
            <a:off x="548640" y="1828800"/>
            <a:ext cx="5486400" cy="2194560"/>
          </a:xfrm>
          <a:prstGeom prst="roundRect">
            <a:avLst>
              <a:gd fmla="val 375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3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3"/>
          <p:cNvSpPr/>
          <p:nvPr/>
        </p:nvSpPr>
        <p:spPr>
          <a:xfrm>
            <a:off x="868680" y="23774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Automatically detects seat belt usage and mobile phone usage inside the vehicle cabin to support real-time driver safety monitoring.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3"/>
          <p:cNvSpPr/>
          <p:nvPr/>
        </p:nvSpPr>
        <p:spPr>
          <a:xfrm>
            <a:off x="868680" y="3063240"/>
            <a:ext cx="1143000" cy="685800"/>
          </a:xfrm>
          <a:prstGeom prst="roundRect">
            <a:avLst>
              <a:gd fmla="val 8000" name="adj"/>
            </a:avLst>
          </a:prstGeom>
          <a:solidFill>
            <a:srgbClr val="1B2A47"/>
          </a:solidFill>
          <a:ln cap="flat" cmpd="sng" w="9525">
            <a:solidFill>
              <a:srgbClr val="C79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3"/>
          <p:cNvSpPr/>
          <p:nvPr/>
        </p:nvSpPr>
        <p:spPr>
          <a:xfrm>
            <a:off x="868680" y="306324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mAP@0.5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(95.26%)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2148840" y="3063240"/>
            <a:ext cx="1143000" cy="685800"/>
          </a:xfrm>
          <a:prstGeom prst="roundRect">
            <a:avLst>
              <a:gd fmla="val 8000" name="adj"/>
            </a:avLst>
          </a:prstGeom>
          <a:solidFill>
            <a:srgbClr val="1B2A47"/>
          </a:solidFill>
          <a:ln cap="flat" cmpd="sng" w="9525">
            <a:solidFill>
              <a:srgbClr val="C79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2148840" y="306324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(92.92%)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3"/>
          <p:cNvSpPr/>
          <p:nvPr/>
        </p:nvSpPr>
        <p:spPr>
          <a:xfrm>
            <a:off x="3429000" y="3063240"/>
            <a:ext cx="1143000" cy="685800"/>
          </a:xfrm>
          <a:prstGeom prst="roundRect">
            <a:avLst>
              <a:gd fmla="val 8000" name="adj"/>
            </a:avLst>
          </a:prstGeom>
          <a:solidFill>
            <a:srgbClr val="1B2A47"/>
          </a:solidFill>
          <a:ln cap="flat" cmpd="sng" w="9525">
            <a:solidFill>
              <a:srgbClr val="C79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3"/>
          <p:cNvSpPr/>
          <p:nvPr/>
        </p:nvSpPr>
        <p:spPr>
          <a:xfrm>
            <a:off x="3429000" y="306324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(91.21%)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3"/>
          <p:cNvSpPr/>
          <p:nvPr/>
        </p:nvSpPr>
        <p:spPr>
          <a:xfrm>
            <a:off x="4709160" y="3063240"/>
            <a:ext cx="1143000" cy="685800"/>
          </a:xfrm>
          <a:prstGeom prst="roundRect">
            <a:avLst>
              <a:gd fmla="val 8000" name="adj"/>
            </a:avLst>
          </a:prstGeom>
          <a:solidFill>
            <a:srgbClr val="1B2A47"/>
          </a:solidFill>
          <a:ln cap="flat" cmpd="sng" w="9525">
            <a:solidFill>
              <a:srgbClr val="C79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4709160" y="306324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mAP@0.5:0.95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(66.62%)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3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fmla="val 450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3"/>
          <p:cNvSpPr/>
          <p:nvPr/>
        </p:nvSpPr>
        <p:spPr>
          <a:xfrm>
            <a:off x="868680" y="440740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868680" y="470916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The trained YOLOv8n detector achieved high precision and recall, providing reliable real-time seat belt and phone usage detection suitable for integration into the Driver Wellness monitoring.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6263640" y="1828800"/>
            <a:ext cx="5349240" cy="4206240"/>
          </a:xfrm>
          <a:prstGeom prst="roundRect">
            <a:avLst>
              <a:gd fmla="val 195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6583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MODULE DELIVERABLES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6583680" y="246888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6784848" y="2615184"/>
            <a:ext cx="256032" cy="25603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7" name="Google Shape;6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712" y="267004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3"/>
          <p:cNvSpPr/>
          <p:nvPr/>
        </p:nvSpPr>
        <p:spPr>
          <a:xfrm>
            <a:off x="7178040" y="24688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best.pt checkpoint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6583680" y="3127248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6784848" y="3273552"/>
            <a:ext cx="256032" cy="25603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1" name="Google Shape;6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712" y="332841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13"/>
          <p:cNvSpPr/>
          <p:nvPr/>
        </p:nvSpPr>
        <p:spPr>
          <a:xfrm>
            <a:off x="7178040" y="312724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notebook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3"/>
          <p:cNvSpPr/>
          <p:nvPr/>
        </p:nvSpPr>
        <p:spPr>
          <a:xfrm>
            <a:off x="6583680" y="3785616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6784848" y="3931920"/>
            <a:ext cx="256032" cy="25603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5" name="Google Shape;6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712" y="398678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3"/>
          <p:cNvSpPr/>
          <p:nvPr/>
        </p:nvSpPr>
        <p:spPr>
          <a:xfrm>
            <a:off x="7178040" y="3785616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predictions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6583680" y="4443984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3"/>
          <p:cNvSpPr/>
          <p:nvPr/>
        </p:nvSpPr>
        <p:spPr>
          <a:xfrm>
            <a:off x="6784848" y="4590288"/>
            <a:ext cx="256032" cy="25603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9" name="Google Shape;6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712" y="464515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13"/>
          <p:cNvSpPr/>
          <p:nvPr/>
        </p:nvSpPr>
        <p:spPr>
          <a:xfrm>
            <a:off x="7178040" y="4443984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 visualizations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6583680" y="5102352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6784848" y="5248656"/>
            <a:ext cx="256032" cy="256032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3" name="Google Shape;6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712" y="530352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13"/>
          <p:cNvSpPr/>
          <p:nvPr/>
        </p:nvSpPr>
        <p:spPr>
          <a:xfrm>
            <a:off x="7178040" y="510235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metrics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4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MODULE · SMOKING &amp; DRINKING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4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4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4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Ravina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YOLOv8n  ·  guided hyperparameter tuning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4"/>
          <p:cNvSpPr/>
          <p:nvPr/>
        </p:nvSpPr>
        <p:spPr>
          <a:xfrm>
            <a:off x="548640" y="1828800"/>
            <a:ext cx="4892040" cy="4206240"/>
          </a:xfrm>
          <a:prstGeom prst="roundRect">
            <a:avLst>
              <a:gd fmla="val 195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4"/>
          <p:cNvSpPr/>
          <p:nvPr/>
        </p:nvSpPr>
        <p:spPr>
          <a:xfrm>
            <a:off x="86868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4"/>
          <p:cNvSpPr/>
          <p:nvPr/>
        </p:nvSpPr>
        <p:spPr>
          <a:xfrm>
            <a:off x="868680" y="2377440"/>
            <a:ext cx="4297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 two-class in-cabin detector (smoking, drinking) at 640×640. M4 re-establishes a clean YOLOv8n baseline, then runs a guided six-trial grid over the highest-leverage fine-tuning knobs.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4"/>
          <p:cNvSpPr/>
          <p:nvPr/>
        </p:nvSpPr>
        <p:spPr>
          <a:xfrm>
            <a:off x="868680" y="3520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DATASET (YOLO FORMAT)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868680" y="3840480"/>
            <a:ext cx="1325880" cy="777240"/>
          </a:xfrm>
          <a:prstGeom prst="roundRect">
            <a:avLst>
              <a:gd fmla="val 7059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868680" y="3913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8,884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/>
          <p:nvPr/>
        </p:nvSpPr>
        <p:spPr>
          <a:xfrm>
            <a:off x="868680" y="431596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Train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2313432" y="3840480"/>
            <a:ext cx="1325880" cy="777240"/>
          </a:xfrm>
          <a:prstGeom prst="roundRect">
            <a:avLst>
              <a:gd fmla="val 7059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2313432" y="3913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370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2313432" y="431596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Val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3758184" y="3840480"/>
            <a:ext cx="1325880" cy="777240"/>
          </a:xfrm>
          <a:prstGeom prst="roundRect">
            <a:avLst>
              <a:gd fmla="val 7059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4"/>
          <p:cNvSpPr/>
          <p:nvPr/>
        </p:nvSpPr>
        <p:spPr>
          <a:xfrm>
            <a:off x="3758184" y="3913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A855C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371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/>
          <p:nvPr/>
        </p:nvSpPr>
        <p:spPr>
          <a:xfrm>
            <a:off x="3758184" y="431596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868680" y="480060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Classes are near-balanced in every split, so the smoking-vs-drinking gap is a difficulty effect, not imbalance.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868680" y="553212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COCO-pretrained yolov8n.pt · 319/355 tensors transfer · head → 2 classes.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5623560" y="1828800"/>
            <a:ext cx="3063240" cy="4206240"/>
          </a:xfrm>
          <a:prstGeom prst="roundRect">
            <a:avLst>
              <a:gd fmla="val 2687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59436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GUIDED GRID — 6 TRIALS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4"/>
          <p:cNvSpPr/>
          <p:nvPr/>
        </p:nvSpPr>
        <p:spPr>
          <a:xfrm>
            <a:off x="5943600" y="2450592"/>
            <a:ext cx="2468880" cy="475488"/>
          </a:xfrm>
          <a:prstGeom prst="roundRect">
            <a:avLst>
              <a:gd fmla="val 961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6080760" y="245059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t1  </a:t>
            </a: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 .01 · SGD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5943600" y="3026664"/>
            <a:ext cx="2468880" cy="475488"/>
          </a:xfrm>
          <a:prstGeom prst="roundRect">
            <a:avLst>
              <a:gd fmla="val 961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6080760" y="3026664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t2  </a:t>
            </a: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 .005 · SGD · 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4"/>
          <p:cNvSpPr/>
          <p:nvPr/>
        </p:nvSpPr>
        <p:spPr>
          <a:xfrm>
            <a:off x="5943600" y="3602736"/>
            <a:ext cx="2468880" cy="475488"/>
          </a:xfrm>
          <a:prstGeom prst="roundRect">
            <a:avLst>
              <a:gd fmla="val 9615" name="adj"/>
            </a:avLst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6080760" y="3602736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t3  </a:t>
            </a:r>
            <a:r>
              <a:rPr b="0" i="0" lang="en-US" sz="1100" u="none" cap="none" strike="noStrike">
                <a:solidFill>
                  <a:srgbClr val="F3E6FB"/>
                </a:solidFill>
                <a:latin typeface="Calibri"/>
                <a:ea typeface="Calibri"/>
                <a:cs typeface="Calibri"/>
                <a:sym typeface="Calibri"/>
              </a:rPr>
              <a:t>lr .001 · AdamW · 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5943600" y="4178808"/>
            <a:ext cx="2468880" cy="475488"/>
          </a:xfrm>
          <a:prstGeom prst="roundRect">
            <a:avLst>
              <a:gd fmla="val 961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6080760" y="417880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t4  </a:t>
            </a: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 .005 · AdamW · wd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4"/>
          <p:cNvSpPr/>
          <p:nvPr/>
        </p:nvSpPr>
        <p:spPr>
          <a:xfrm>
            <a:off x="5943600" y="4754880"/>
            <a:ext cx="2468880" cy="475488"/>
          </a:xfrm>
          <a:prstGeom prst="roundRect">
            <a:avLst>
              <a:gd fmla="val 961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4"/>
          <p:cNvSpPr/>
          <p:nvPr/>
        </p:nvSpPr>
        <p:spPr>
          <a:xfrm>
            <a:off x="6080760" y="4754880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t5  </a:t>
            </a: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 .01 · SGD · no-mos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4"/>
          <p:cNvSpPr/>
          <p:nvPr/>
        </p:nvSpPr>
        <p:spPr>
          <a:xfrm>
            <a:off x="5943600" y="5330952"/>
            <a:ext cx="2468880" cy="475488"/>
          </a:xfrm>
          <a:prstGeom prst="roundRect">
            <a:avLst>
              <a:gd fmla="val 9615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6080760" y="533095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t6  </a:t>
            </a: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 .001 · SGD · wd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5943600" y="58064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Each screened for 30 epochs on full train data; winner picked by val mAP@50-95.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4"/>
          <p:cNvSpPr/>
          <p:nvPr/>
        </p:nvSpPr>
        <p:spPr>
          <a:xfrm>
            <a:off x="8869680" y="1828800"/>
            <a:ext cx="2743200" cy="4206240"/>
          </a:xfrm>
          <a:prstGeom prst="roundRect">
            <a:avLst>
              <a:gd fmla="val 300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4"/>
          <p:cNvSpPr/>
          <p:nvPr/>
        </p:nvSpPr>
        <p:spPr>
          <a:xfrm>
            <a:off x="91440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WINNING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4"/>
          <p:cNvSpPr/>
          <p:nvPr/>
        </p:nvSpPr>
        <p:spPr>
          <a:xfrm>
            <a:off x="9144000" y="2377440"/>
            <a:ext cx="2240280" cy="502920"/>
          </a:xfrm>
          <a:prstGeom prst="roundRect">
            <a:avLst>
              <a:gd fmla="val 10909" name="adj"/>
            </a:avLst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9144000" y="23774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t3_lr001_adamw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9144000" y="31089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lr0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4"/>
          <p:cNvSpPr/>
          <p:nvPr/>
        </p:nvSpPr>
        <p:spPr>
          <a:xfrm>
            <a:off x="10424160" y="310896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9144000" y="3566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10424160" y="356616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AdamW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4"/>
          <p:cNvSpPr/>
          <p:nvPr/>
        </p:nvSpPr>
        <p:spPr>
          <a:xfrm>
            <a:off x="9144000" y="40233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cos_lr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4"/>
          <p:cNvSpPr/>
          <p:nvPr/>
        </p:nvSpPr>
        <p:spPr>
          <a:xfrm>
            <a:off x="10424160" y="402336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4"/>
          <p:cNvSpPr/>
          <p:nvPr/>
        </p:nvSpPr>
        <p:spPr>
          <a:xfrm>
            <a:off x="9144000" y="44805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close_mosaic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4"/>
          <p:cNvSpPr/>
          <p:nvPr/>
        </p:nvSpPr>
        <p:spPr>
          <a:xfrm>
            <a:off x="10424160" y="448056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4"/>
          <p:cNvSpPr/>
          <p:nvPr/>
        </p:nvSpPr>
        <p:spPr>
          <a:xfrm>
            <a:off x="9144000" y="49377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imgsz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10424160" y="493776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4"/>
          <p:cNvSpPr/>
          <p:nvPr/>
        </p:nvSpPr>
        <p:spPr>
          <a:xfrm>
            <a:off x="9144000" y="53949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4"/>
          <p:cNvSpPr/>
          <p:nvPr/>
        </p:nvSpPr>
        <p:spPr>
          <a:xfrm>
            <a:off x="10424160" y="539496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4"/>
          <p:cNvSpPr/>
          <p:nvPr/>
        </p:nvSpPr>
        <p:spPr>
          <a:xfrm>
            <a:off x="9144000" y="59436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Retrained fresh from pretrained weights for 80 epochs (~3.46 h on T4).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5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MODULE · SMOKING &amp; DRINKING ·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530352" y="868680"/>
            <a:ext cx="713232" cy="713232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5"/>
          <p:cNvSpPr/>
          <p:nvPr/>
        </p:nvSpPr>
        <p:spPr>
          <a:xfrm>
            <a:off x="530352" y="86868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30"/>
              <a:buFont typeface="Century Schoolbook"/>
              <a:buNone/>
            </a:pPr>
            <a:r>
              <a:rPr b="1" i="0" lang="en-US" sz="273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</a:t>
            </a:r>
            <a:endParaRPr b="0" i="0" sz="2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1371600" y="86868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Ravina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5"/>
          <p:cNvSpPr/>
          <p:nvPr/>
        </p:nvSpPr>
        <p:spPr>
          <a:xfrm>
            <a:off x="4572000" y="932688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Held-out test performance &amp; findings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5"/>
          <p:cNvSpPr/>
          <p:nvPr/>
        </p:nvSpPr>
        <p:spPr>
          <a:xfrm>
            <a:off x="548640" y="1828800"/>
            <a:ext cx="6766560" cy="2148840"/>
          </a:xfrm>
          <a:prstGeom prst="roundRect">
            <a:avLst>
              <a:gd fmla="val 383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868680" y="20299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HELD-OUT TEST — FINAL YOLOV8N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868680" y="2395728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Schoolbook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0.863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5"/>
          <p:cNvSpPr/>
          <p:nvPr/>
        </p:nvSpPr>
        <p:spPr>
          <a:xfrm>
            <a:off x="868680" y="30358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2496312" y="2395728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Schoolbook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0.771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2496312" y="30358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5"/>
          <p:cNvSpPr/>
          <p:nvPr/>
        </p:nvSpPr>
        <p:spPr>
          <a:xfrm>
            <a:off x="4123944" y="2395728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Schoolbook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0.818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4123944" y="30358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5751576" y="2395728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100"/>
              <a:buFont typeface="Century Schoolbook"/>
              <a:buNone/>
            </a:pPr>
            <a:r>
              <a:rPr b="1" i="0" lang="en-US" sz="31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0.451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5751576" y="30358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mAP@50-95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868680" y="352044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371 test images · 445 instances · slightly beats validation on the strict metric → not overfit.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548640" y="4160520"/>
            <a:ext cx="6766560" cy="1874520"/>
          </a:xfrm>
          <a:prstGeom prst="roundRect">
            <a:avLst>
              <a:gd fmla="val 4390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868680" y="4343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TUNING GAINS OVER BASELINE (VALIDATION)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868680" y="4709160"/>
            <a:ext cx="1508760" cy="960120"/>
          </a:xfrm>
          <a:prstGeom prst="roundRect">
            <a:avLst>
              <a:gd fmla="val 571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868680" y="48463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+2.50%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868680" y="532180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2496312" y="4709160"/>
            <a:ext cx="1508760" cy="960120"/>
          </a:xfrm>
          <a:prstGeom prst="roundRect">
            <a:avLst>
              <a:gd fmla="val 571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2496312" y="48463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+2.19%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5"/>
          <p:cNvSpPr/>
          <p:nvPr/>
        </p:nvSpPr>
        <p:spPr>
          <a:xfrm>
            <a:off x="2496312" y="532180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mAP@50-95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5"/>
          <p:cNvSpPr/>
          <p:nvPr/>
        </p:nvSpPr>
        <p:spPr>
          <a:xfrm>
            <a:off x="4123944" y="4709160"/>
            <a:ext cx="1508760" cy="960120"/>
          </a:xfrm>
          <a:prstGeom prst="roundRect">
            <a:avLst>
              <a:gd fmla="val 571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5"/>
          <p:cNvSpPr/>
          <p:nvPr/>
        </p:nvSpPr>
        <p:spPr>
          <a:xfrm>
            <a:off x="4123944" y="48463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3EA98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+0.48%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5"/>
          <p:cNvSpPr/>
          <p:nvPr/>
        </p:nvSpPr>
        <p:spPr>
          <a:xfrm>
            <a:off x="4123944" y="532180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5751576" y="4709160"/>
            <a:ext cx="1508760" cy="960120"/>
          </a:xfrm>
          <a:prstGeom prst="roundRect">
            <a:avLst>
              <a:gd fmla="val 5714" name="adj"/>
            </a:avLst>
          </a:prstGeom>
          <a:solidFill>
            <a:srgbClr val="1B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5"/>
          <p:cNvSpPr/>
          <p:nvPr/>
        </p:nvSpPr>
        <p:spPr>
          <a:xfrm>
            <a:off x="5751576" y="48463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900"/>
              <a:buFont typeface="Century Schoolbook"/>
              <a:buNone/>
            </a:pPr>
            <a:r>
              <a:rPr b="1" i="0" lang="en-US" sz="1900" u="none" cap="none" strike="noStrike">
                <a:solidFill>
                  <a:srgbClr val="D9534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−2.74%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5"/>
          <p:cNvSpPr/>
          <p:nvPr/>
        </p:nvSpPr>
        <p:spPr>
          <a:xfrm>
            <a:off x="5751576" y="532180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5"/>
          <p:cNvSpPr/>
          <p:nvPr/>
        </p:nvSpPr>
        <p:spPr>
          <a:xfrm>
            <a:off x="7543800" y="1828800"/>
            <a:ext cx="4069080" cy="2606040"/>
          </a:xfrm>
          <a:prstGeom prst="roundRect">
            <a:avLst>
              <a:gd fmla="val 3158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5"/>
          <p:cNvSpPr/>
          <p:nvPr/>
        </p:nvSpPr>
        <p:spPr>
          <a:xfrm>
            <a:off x="7863840" y="20299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THE CLASS-DIFFICULTY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5"/>
          <p:cNvSpPr/>
          <p:nvPr/>
        </p:nvSpPr>
        <p:spPr>
          <a:xfrm>
            <a:off x="7863840" y="2377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Per-class test mAP@50-95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5"/>
          <p:cNvSpPr/>
          <p:nvPr/>
        </p:nvSpPr>
        <p:spPr>
          <a:xfrm>
            <a:off x="7863840" y="27432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9006840" y="2743200"/>
            <a:ext cx="1949501" cy="274320"/>
          </a:xfrm>
          <a:prstGeom prst="roundRect">
            <a:avLst>
              <a:gd fmla="val 10000" name="adj"/>
            </a:avLst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5"/>
          <p:cNvSpPr/>
          <p:nvPr/>
        </p:nvSpPr>
        <p:spPr>
          <a:xfrm>
            <a:off x="11047781" y="27157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5"/>
          <p:cNvSpPr/>
          <p:nvPr/>
        </p:nvSpPr>
        <p:spPr>
          <a:xfrm>
            <a:off x="7863840" y="33649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Drinking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5"/>
          <p:cNvSpPr/>
          <p:nvPr/>
        </p:nvSpPr>
        <p:spPr>
          <a:xfrm>
            <a:off x="9006840" y="3364992"/>
            <a:ext cx="1349654" cy="274320"/>
          </a:xfrm>
          <a:prstGeom prst="roundRect">
            <a:avLst>
              <a:gd fmla="val 10000" name="adj"/>
            </a:avLst>
          </a:prstGeom>
          <a:solidFill>
            <a:srgbClr val="7A5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5"/>
          <p:cNvSpPr/>
          <p:nvPr/>
        </p:nvSpPr>
        <p:spPr>
          <a:xfrm>
            <a:off x="10447934" y="33375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0.369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5"/>
          <p:cNvSpPr/>
          <p:nvPr/>
        </p:nvSpPr>
        <p:spPr>
          <a:xfrm>
            <a:off x="7863840" y="370332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Drinking spans many vessels &amp; poses — a difficulty gap, not imbalance. It is the clear target for future data work.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5"/>
          <p:cNvSpPr/>
          <p:nvPr/>
        </p:nvSpPr>
        <p:spPr>
          <a:xfrm>
            <a:off x="7543800" y="4526280"/>
            <a:ext cx="4069080" cy="1508760"/>
          </a:xfrm>
          <a:prstGeom prst="roundRect">
            <a:avLst>
              <a:gd fmla="val 5455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5"/>
          <p:cNvSpPr/>
          <p:nvPr/>
        </p:nvSpPr>
        <p:spPr>
          <a:xfrm>
            <a:off x="786384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MODEL FOOTPRINT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5"/>
          <p:cNvSpPr/>
          <p:nvPr/>
        </p:nvSpPr>
        <p:spPr>
          <a:xfrm>
            <a:off x="7863840" y="502920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3.01 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5"/>
          <p:cNvSpPr/>
          <p:nvPr/>
        </p:nvSpPr>
        <p:spPr>
          <a:xfrm>
            <a:off x="7863840" y="548640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5"/>
          <p:cNvSpPr/>
          <p:nvPr/>
        </p:nvSpPr>
        <p:spPr>
          <a:xfrm>
            <a:off x="9144000" y="502920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8.1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5"/>
          <p:cNvSpPr/>
          <p:nvPr/>
        </p:nvSpPr>
        <p:spPr>
          <a:xfrm>
            <a:off x="9144000" y="548640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GFLOPs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5"/>
          <p:cNvSpPr/>
          <p:nvPr/>
        </p:nvSpPr>
        <p:spPr>
          <a:xfrm>
            <a:off x="10424160" y="502920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Century Schoolbook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~2.5 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5"/>
          <p:cNvSpPr/>
          <p:nvPr/>
        </p:nvSpPr>
        <p:spPr>
          <a:xfrm>
            <a:off x="10424160" y="548640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per image (T4)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E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6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COMPARATIVE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6"/>
          <p:cNvSpPr/>
          <p:nvPr/>
        </p:nvSpPr>
        <p:spPr>
          <a:xfrm>
            <a:off x="530352" y="82296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Five Paradigms, One Framework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6"/>
          <p:cNvSpPr/>
          <p:nvPr/>
        </p:nvSpPr>
        <p:spPr>
          <a:xfrm>
            <a:off x="548640" y="1737360"/>
            <a:ext cx="11064240" cy="457200"/>
          </a:xfrm>
          <a:prstGeom prst="roundRect">
            <a:avLst>
              <a:gd fmla="val 10000" name="adj"/>
            </a:avLst>
          </a:prstGeom>
          <a:solidFill>
            <a:srgbClr val="122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685800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6"/>
          <p:cNvSpPr/>
          <p:nvPr/>
        </p:nvSpPr>
        <p:spPr>
          <a:xfrm>
            <a:off x="2971800" y="17373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6"/>
          <p:cNvSpPr/>
          <p:nvPr/>
        </p:nvSpPr>
        <p:spPr>
          <a:xfrm>
            <a:off x="5532120" y="17373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LEARNING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6"/>
          <p:cNvSpPr/>
          <p:nvPr/>
        </p:nvSpPr>
        <p:spPr>
          <a:xfrm>
            <a:off x="7635240" y="17373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PRIMARY STRENGTH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6"/>
          <p:cNvSpPr/>
          <p:nvPr/>
        </p:nvSpPr>
        <p:spPr>
          <a:xfrm>
            <a:off x="548640" y="2286000"/>
            <a:ext cx="11064240" cy="676656"/>
          </a:xfrm>
          <a:prstGeom prst="roundRect">
            <a:avLst>
              <a:gd fmla="val 12162" name="adj"/>
            </a:avLst>
          </a:prstGeom>
          <a:solidFill>
            <a:srgbClr val="1B2A47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6"/>
          <p:cNvSpPr/>
          <p:nvPr/>
        </p:nvSpPr>
        <p:spPr>
          <a:xfrm>
            <a:off x="713232" y="2532888"/>
            <a:ext cx="182880" cy="18288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6"/>
          <p:cNvSpPr/>
          <p:nvPr/>
        </p:nvSpPr>
        <p:spPr>
          <a:xfrm>
            <a:off x="868680" y="2286000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2971800" y="2286000"/>
            <a:ext cx="2468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6"/>
          <p:cNvSpPr/>
          <p:nvPr/>
        </p:nvSpPr>
        <p:spPr>
          <a:xfrm>
            <a:off x="5532120" y="2286000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7635240" y="2286000"/>
            <a:ext cx="4023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Learns long-term temporal fatigue patterns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6"/>
          <p:cNvSpPr/>
          <p:nvPr/>
        </p:nvSpPr>
        <p:spPr>
          <a:xfrm>
            <a:off x="548640" y="3072384"/>
            <a:ext cx="11064240" cy="676656"/>
          </a:xfrm>
          <a:prstGeom prst="roundRect">
            <a:avLst>
              <a:gd fmla="val 12162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16"/>
          <p:cNvSpPr/>
          <p:nvPr/>
        </p:nvSpPr>
        <p:spPr>
          <a:xfrm>
            <a:off x="713232" y="3319272"/>
            <a:ext cx="182880" cy="182880"/>
          </a:xfrm>
          <a:prstGeom prst="ellipse">
            <a:avLst/>
          </a:prstGeom>
          <a:solidFill>
            <a:srgbClr val="3EA9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868680" y="3072384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6"/>
          <p:cNvSpPr/>
          <p:nvPr/>
        </p:nvSpPr>
        <p:spPr>
          <a:xfrm>
            <a:off x="2971800" y="3072384"/>
            <a:ext cx="2468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9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EA98C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6"/>
          <p:cNvSpPr/>
          <p:nvPr/>
        </p:nvSpPr>
        <p:spPr>
          <a:xfrm>
            <a:off x="5532120" y="3072384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6"/>
          <p:cNvSpPr/>
          <p:nvPr/>
        </p:nvSpPr>
        <p:spPr>
          <a:xfrm>
            <a:off x="7635240" y="3072384"/>
            <a:ext cx="4023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Lightweight facial features for efficient estimation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6"/>
          <p:cNvSpPr/>
          <p:nvPr/>
        </p:nvSpPr>
        <p:spPr>
          <a:xfrm>
            <a:off x="548640" y="3858768"/>
            <a:ext cx="11064240" cy="676656"/>
          </a:xfrm>
          <a:prstGeom prst="roundRect">
            <a:avLst>
              <a:gd fmla="val 12162" name="adj"/>
            </a:avLst>
          </a:prstGeom>
          <a:solidFill>
            <a:srgbClr val="1B2A47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6"/>
          <p:cNvSpPr/>
          <p:nvPr/>
        </p:nvSpPr>
        <p:spPr>
          <a:xfrm>
            <a:off x="713232" y="4105656"/>
            <a:ext cx="182880" cy="182880"/>
          </a:xfrm>
          <a:prstGeom prst="ellipse">
            <a:avLst/>
          </a:prstGeom>
          <a:solidFill>
            <a:srgbClr val="6C7C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6"/>
          <p:cNvSpPr/>
          <p:nvPr/>
        </p:nvSpPr>
        <p:spPr>
          <a:xfrm>
            <a:off x="868680" y="3858768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6"/>
          <p:cNvSpPr/>
          <p:nvPr/>
        </p:nvSpPr>
        <p:spPr>
          <a:xfrm>
            <a:off x="2971800" y="3858768"/>
            <a:ext cx="2468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C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C7CD6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6"/>
          <p:cNvSpPr/>
          <p:nvPr/>
        </p:nvSpPr>
        <p:spPr>
          <a:xfrm>
            <a:off x="5532120" y="3858768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Image Classification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6"/>
          <p:cNvSpPr/>
          <p:nvPr/>
        </p:nvSpPr>
        <p:spPr>
          <a:xfrm>
            <a:off x="7635240" y="3858768"/>
            <a:ext cx="4023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Accurate real-time behaviour recognition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6"/>
          <p:cNvSpPr/>
          <p:nvPr/>
        </p:nvSpPr>
        <p:spPr>
          <a:xfrm>
            <a:off x="548640" y="4645152"/>
            <a:ext cx="11064240" cy="676656"/>
          </a:xfrm>
          <a:prstGeom prst="roundRect">
            <a:avLst>
              <a:gd fmla="val 12162" name="adj"/>
            </a:avLst>
          </a:prstGeom>
          <a:solidFill>
            <a:srgbClr val="16233D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6"/>
          <p:cNvSpPr/>
          <p:nvPr/>
        </p:nvSpPr>
        <p:spPr>
          <a:xfrm>
            <a:off x="713232" y="4892040"/>
            <a:ext cx="182880" cy="182880"/>
          </a:xfrm>
          <a:prstGeom prst="ellipse">
            <a:avLst/>
          </a:prstGeom>
          <a:solidFill>
            <a:srgbClr val="C79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6"/>
          <p:cNvSpPr/>
          <p:nvPr/>
        </p:nvSpPr>
        <p:spPr>
          <a:xfrm>
            <a:off x="868680" y="4645152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and Phone Usage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6"/>
          <p:cNvSpPr/>
          <p:nvPr/>
        </p:nvSpPr>
        <p:spPr>
          <a:xfrm>
            <a:off x="2971800" y="4645152"/>
            <a:ext cx="2468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9A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9A3B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6"/>
          <p:cNvSpPr/>
          <p:nvPr/>
        </p:nvSpPr>
        <p:spPr>
          <a:xfrm>
            <a:off x="5532120" y="4645152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Object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6"/>
          <p:cNvSpPr/>
          <p:nvPr/>
        </p:nvSpPr>
        <p:spPr>
          <a:xfrm>
            <a:off x="7635240" y="4645152"/>
            <a:ext cx="4023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Fast localization &amp; compliance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6"/>
          <p:cNvSpPr/>
          <p:nvPr/>
        </p:nvSpPr>
        <p:spPr>
          <a:xfrm>
            <a:off x="548640" y="5431536"/>
            <a:ext cx="11064240" cy="676656"/>
          </a:xfrm>
          <a:prstGeom prst="roundRect">
            <a:avLst>
              <a:gd fmla="val 12162" name="adj"/>
            </a:avLst>
          </a:prstGeom>
          <a:solidFill>
            <a:srgbClr val="1B2A47"/>
          </a:solidFill>
          <a:ln>
            <a:noFill/>
          </a:ln>
          <a:effectLst>
            <a:outerShdw blurRad="1143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6"/>
          <p:cNvSpPr/>
          <p:nvPr/>
        </p:nvSpPr>
        <p:spPr>
          <a:xfrm>
            <a:off x="713232" y="5678424"/>
            <a:ext cx="182880" cy="182880"/>
          </a:xfrm>
          <a:prstGeom prst="ellipse">
            <a:avLst/>
          </a:prstGeom>
          <a:solidFill>
            <a:srgbClr val="A85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6"/>
          <p:cNvSpPr/>
          <p:nvPr/>
        </p:nvSpPr>
        <p:spPr>
          <a:xfrm>
            <a:off x="868680" y="5431536"/>
            <a:ext cx="1874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6"/>
          <p:cNvSpPr/>
          <p:nvPr/>
        </p:nvSpPr>
        <p:spPr>
          <a:xfrm>
            <a:off x="2971800" y="5431536"/>
            <a:ext cx="2468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C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C7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6"/>
          <p:cNvSpPr/>
          <p:nvPr/>
        </p:nvSpPr>
        <p:spPr>
          <a:xfrm>
            <a:off x="5532120" y="5431536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Object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6"/>
          <p:cNvSpPr/>
          <p:nvPr/>
        </p:nvSpPr>
        <p:spPr>
          <a:xfrm>
            <a:off x="7635240" y="5431536"/>
            <a:ext cx="4023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2CC"/>
                </a:solidFill>
                <a:latin typeface="Calibri"/>
                <a:ea typeface="Calibri"/>
                <a:cs typeface="Calibri"/>
                <a:sym typeface="Calibri"/>
              </a:rPr>
              <a:t>Simultaneous detection of unsafe activities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6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Each model maximizes performance while staying computationally efficient for real-time deployment.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0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09E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2026-07-30T16:43:36Z</dcterms:created>
  <dc:creator>PptxGenJS</dc:creator>
</cp:coreProperties>
</file>