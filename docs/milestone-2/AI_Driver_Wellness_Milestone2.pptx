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jwOgKxem96wRLFrhhrDbFHA0vr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E0C7B6C-E8B0-4840-9B5D-C40F0BA60CA5}">
  <a:tblStyle styleId="{2E0C7B6C-E8B0-4840-9B5D-C40F0BA60CA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2" name="Google Shape;44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B3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8778240" y="3291840"/>
            <a:ext cx="5669280" cy="5669280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9692640" y="4206240"/>
            <a:ext cx="3840480" cy="384048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10515600" y="5029200"/>
            <a:ext cx="2194560" cy="2194560"/>
          </a:xfrm>
          <a:prstGeom prst="ellipse">
            <a:avLst/>
          </a:prstGeom>
          <a:solidFill>
            <a:srgbClr val="2E43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640080" y="19659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9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993B"/>
                </a:solidFill>
                <a:latin typeface="Calibri"/>
                <a:ea typeface="Calibri"/>
                <a:cs typeface="Calibri"/>
                <a:sym typeface="Calibri"/>
              </a:rPr>
              <a:t>MILESTONE 2  ·  DATASET PREPARATION REPORT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94360" y="2331720"/>
            <a:ext cx="96012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AI-Powered Driver Wellness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and Safety Monitoring System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40080" y="434340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D0E2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6D0E2"/>
                </a:solidFill>
                <a:latin typeface="Calibri"/>
                <a:ea typeface="Calibri"/>
                <a:cs typeface="Calibri"/>
                <a:sym typeface="Calibri"/>
              </a:rPr>
              <a:t>Identifying, cleaning, and structuring model-ready datasets across five driver-monitoring modules ahead of Milestone 3.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640080" y="59893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0C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8FA0C2"/>
                </a:solidFill>
                <a:latin typeface="Calibri"/>
                <a:ea typeface="Calibri"/>
                <a:cs typeface="Calibri"/>
                <a:sym typeface="Calibri"/>
              </a:rPr>
              <a:t>Kushagra   ·   Shiwani   ·   Shubham   ·   Sohini   ·   Ravina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59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C7599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From Drowsiness Detection to Driver Wellness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548640" y="1600200"/>
            <a:ext cx="5943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In Milestone 1, project scope widened from a narrow drowsiness detector into a full driver wellness and safety monitoring system. 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Milestone 2 turns that direction into practice: it prepares the datasets each module needs so Milestone 3 can begin model development without delay.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548640" y="4114800"/>
            <a:ext cx="5943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599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5C7599"/>
                </a:solidFill>
                <a:latin typeface="Calibri"/>
                <a:ea typeface="Calibri"/>
                <a:cs typeface="Calibri"/>
                <a:sym typeface="Calibri"/>
              </a:rPr>
              <a:t>The goal here is not training — it's proof that every dataset is available, understood, cleaned, split without leakage, and structured for direct use next milestone.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6903720" y="1600200"/>
            <a:ext cx="4754880" cy="896112"/>
          </a:xfrm>
          <a:prstGeom prst="roundRect">
            <a:avLst>
              <a:gd fmla="val 8163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1B2A4A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7114032" y="1819656"/>
            <a:ext cx="457200" cy="4572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7114032" y="181965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7726680" y="1709928"/>
            <a:ext cx="3749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Continuous Video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7726680" y="2039112"/>
            <a:ext cx="3749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A94"/>
                </a:solidFill>
                <a:latin typeface="Calibri"/>
                <a:ea typeface="Calibri"/>
                <a:cs typeface="Calibri"/>
                <a:sym typeface="Calibri"/>
              </a:rPr>
              <a:t>Fatigue detection over time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6903720" y="2651760"/>
            <a:ext cx="4754880" cy="896112"/>
          </a:xfrm>
          <a:prstGeom prst="roundRect">
            <a:avLst>
              <a:gd fmla="val 8163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1B2A4A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7114032" y="2871216"/>
            <a:ext cx="457200" cy="457200"/>
          </a:xfrm>
          <a:prstGeom prst="ellipse">
            <a:avLst/>
          </a:prstGeom>
          <a:solidFill>
            <a:srgbClr val="E89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7114032" y="287121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7726680" y="2761488"/>
            <a:ext cx="3749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Facial Landmarks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7726680" y="3090672"/>
            <a:ext cx="3749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A94"/>
                </a:solidFill>
                <a:latin typeface="Calibri"/>
                <a:ea typeface="Calibri"/>
                <a:cs typeface="Calibri"/>
                <a:sym typeface="Calibri"/>
              </a:rPr>
              <a:t>Temporal head-pose &amp; eye features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6903720" y="3703320"/>
            <a:ext cx="4754880" cy="896112"/>
          </a:xfrm>
          <a:prstGeom prst="roundRect">
            <a:avLst>
              <a:gd fmla="val 8163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1B2A4A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7114032" y="3922776"/>
            <a:ext cx="457200" cy="457200"/>
          </a:xfrm>
          <a:prstGeom prst="ellipse">
            <a:avLst/>
          </a:prstGeom>
          <a:solidFill>
            <a:srgbClr val="3FA7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7114032" y="392277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7726680" y="3813048"/>
            <a:ext cx="3749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Activity Images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7726680" y="4142232"/>
            <a:ext cx="3749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A94"/>
                </a:solidFill>
                <a:latin typeface="Calibri"/>
                <a:ea typeface="Calibri"/>
                <a:cs typeface="Calibri"/>
                <a:sym typeface="Calibri"/>
              </a:rPr>
              <a:t>Distraction classification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6903720" y="4754880"/>
            <a:ext cx="4754880" cy="896112"/>
          </a:xfrm>
          <a:prstGeom prst="roundRect">
            <a:avLst>
              <a:gd fmla="val 8163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1B2A4A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7114032" y="4974336"/>
            <a:ext cx="457200" cy="457200"/>
          </a:xfrm>
          <a:prstGeom prst="ellipse">
            <a:avLst/>
          </a:prstGeom>
          <a:solidFill>
            <a:srgbClr val="5C7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7114032" y="497433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7726680" y="4864608"/>
            <a:ext cx="3749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Annotated Frames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7726680" y="5193792"/>
            <a:ext cx="3749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A94"/>
                </a:solidFill>
                <a:latin typeface="Calibri"/>
                <a:ea typeface="Calibri"/>
                <a:cs typeface="Calibri"/>
                <a:sym typeface="Calibri"/>
              </a:rPr>
              <a:t>YOLO object detection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4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— Milestone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4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59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C7599"/>
                </a:solidFill>
                <a:latin typeface="Calibri"/>
                <a:ea typeface="Calibri"/>
                <a:cs typeface="Calibri"/>
                <a:sym typeface="Calibri"/>
              </a:rPr>
              <a:t>SCOPE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Milestone 2 Objectives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548640" y="1691640"/>
            <a:ext cx="5394960" cy="731520"/>
          </a:xfrm>
          <a:prstGeom prst="roundRect">
            <a:avLst>
              <a:gd fmla="val 8750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1B2A4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731520" y="1911096"/>
            <a:ext cx="292608" cy="292608"/>
          </a:xfrm>
          <a:prstGeom prst="ellipse">
            <a:avLst/>
          </a:prstGeom>
          <a:solidFill>
            <a:srgbClr val="E89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731520" y="1911096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1170432" y="1746504"/>
            <a:ext cx="46177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Identify and verify dataset sources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6263640" y="1691640"/>
            <a:ext cx="5394960" cy="731520"/>
          </a:xfrm>
          <a:prstGeom prst="roundRect">
            <a:avLst>
              <a:gd fmla="val 8750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1B2A4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6446520" y="1911096"/>
            <a:ext cx="292608" cy="292608"/>
          </a:xfrm>
          <a:prstGeom prst="ellipse">
            <a:avLst/>
          </a:prstGeom>
          <a:solidFill>
            <a:srgbClr val="E89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6446520" y="1911096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6885432" y="1746504"/>
            <a:ext cx="46177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Document ownership, format, classes &amp; usage constraints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548640" y="2587752"/>
            <a:ext cx="5394960" cy="731520"/>
          </a:xfrm>
          <a:prstGeom prst="roundRect">
            <a:avLst>
              <a:gd fmla="val 8750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1B2A4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731520" y="2807208"/>
            <a:ext cx="292608" cy="292608"/>
          </a:xfrm>
          <a:prstGeom prst="ellipse">
            <a:avLst/>
          </a:prstGeom>
          <a:solidFill>
            <a:srgbClr val="E89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731520" y="280720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1170432" y="2642616"/>
            <a:ext cx="46177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Understand size, class distribution &amp; metadata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6263640" y="2587752"/>
            <a:ext cx="5394960" cy="731520"/>
          </a:xfrm>
          <a:prstGeom prst="roundRect">
            <a:avLst>
              <a:gd fmla="val 8750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1B2A4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6446520" y="2807208"/>
            <a:ext cx="292608" cy="292608"/>
          </a:xfrm>
          <a:prstGeom prst="ellipse">
            <a:avLst/>
          </a:prstGeom>
          <a:solidFill>
            <a:srgbClr val="E89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6446520" y="280720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6885432" y="2642616"/>
            <a:ext cx="46177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Perform EDA and quality checks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548640" y="3483864"/>
            <a:ext cx="5394960" cy="731520"/>
          </a:xfrm>
          <a:prstGeom prst="roundRect">
            <a:avLst>
              <a:gd fmla="val 8750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1B2A4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731520" y="3703320"/>
            <a:ext cx="292608" cy="292608"/>
          </a:xfrm>
          <a:prstGeom prst="ellipse">
            <a:avLst/>
          </a:prstGeom>
          <a:solidFill>
            <a:srgbClr val="E89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731520" y="370332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1170432" y="3538728"/>
            <a:ext cx="46177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Remove corrupted, duplicate or invalid samples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6263640" y="3483864"/>
            <a:ext cx="5394960" cy="731520"/>
          </a:xfrm>
          <a:prstGeom prst="roundRect">
            <a:avLst>
              <a:gd fmla="val 8750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1B2A4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6446520" y="3703320"/>
            <a:ext cx="292608" cy="292608"/>
          </a:xfrm>
          <a:prstGeom prst="ellipse">
            <a:avLst/>
          </a:prstGeom>
          <a:solidFill>
            <a:srgbClr val="E89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6446520" y="370332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6885432" y="3538728"/>
            <a:ext cx="46177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Build train / validation / test splits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548640" y="4379976"/>
            <a:ext cx="5394960" cy="731520"/>
          </a:xfrm>
          <a:prstGeom prst="roundRect">
            <a:avLst>
              <a:gd fmla="val 8750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1B2A4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731520" y="4599432"/>
            <a:ext cx="292608" cy="292608"/>
          </a:xfrm>
          <a:prstGeom prst="ellipse">
            <a:avLst/>
          </a:prstGeom>
          <a:solidFill>
            <a:srgbClr val="E89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731520" y="459943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1170432" y="4434840"/>
            <a:ext cx="46177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Prevent leakage across splits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6263640" y="4379976"/>
            <a:ext cx="5394960" cy="731520"/>
          </a:xfrm>
          <a:prstGeom prst="roundRect">
            <a:avLst>
              <a:gd fmla="val 8750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1B2A4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6446520" y="4599432"/>
            <a:ext cx="292608" cy="292608"/>
          </a:xfrm>
          <a:prstGeom prst="ellipse">
            <a:avLst/>
          </a:prstGeom>
          <a:solidFill>
            <a:srgbClr val="E89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6446520" y="459943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6885432" y="4434840"/>
            <a:ext cx="46177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Structure processed folders for direct reuse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548640" y="5276088"/>
            <a:ext cx="5394960" cy="731520"/>
          </a:xfrm>
          <a:prstGeom prst="roundRect">
            <a:avLst>
              <a:gd fmla="val 8750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1B2A4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731520" y="5495544"/>
            <a:ext cx="292608" cy="292608"/>
          </a:xfrm>
          <a:prstGeom prst="ellipse">
            <a:avLst/>
          </a:prstGeom>
          <a:solidFill>
            <a:srgbClr val="E89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731520" y="5495544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1170432" y="5330952"/>
            <a:ext cx="46177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Document preprocessing for reproducibility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6263640" y="5276088"/>
            <a:ext cx="5394960" cy="731520"/>
          </a:xfrm>
          <a:prstGeom prst="roundRect">
            <a:avLst>
              <a:gd fmla="val 8750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1B2A4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6446520" y="5495544"/>
            <a:ext cx="292608" cy="292608"/>
          </a:xfrm>
          <a:prstGeom prst="ellipse">
            <a:avLst/>
          </a:prstGeom>
          <a:solidFill>
            <a:srgbClr val="E89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6446520" y="5495544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6885432" y="5330952"/>
            <a:ext cx="46177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Confirm readiness for Milestone 3 experiments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4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— Milestone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4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59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C7599"/>
                </a:solidFill>
                <a:latin typeface="Calibri"/>
                <a:ea typeface="Calibri"/>
                <a:cs typeface="Calibri"/>
                <a:sym typeface="Calibri"/>
              </a:rPr>
              <a:t>OWNERSHIP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Five Modules, Five Owners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0" name="Google Shape;110;p4"/>
          <p:cNvGraphicFramePr/>
          <p:nvPr/>
        </p:nvGraphicFramePr>
        <p:xfrm>
          <a:off x="548640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{2E0C7B6C-E8B0-4840-9B5D-C40F0BA60CA5}</a:tableStyleId>
              </a:tblPr>
              <a:tblGrid>
                <a:gridCol w="1737350"/>
                <a:gridCol w="3291850"/>
                <a:gridCol w="2651750"/>
                <a:gridCol w="341070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Team Member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109725" marL="109725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Module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109725" marL="109725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Dataset / Source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109725" marL="109725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Target Task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109725" marL="109725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</a:tr>
              <a:tr h="71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Shiwani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109725" marL="109725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Landmark-Based Temporal Features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109725" marL="109725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YawDD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109725" marL="109725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EAR, MAR &amp; head-pose sequence modeling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109725" marL="109725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7"/>
                    </a:solidFill>
                  </a:tcPr>
                </a:tc>
              </a:tr>
              <a:tr h="71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Kushagra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109725" marL="109725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Video-Based Fatigue Detection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109725" marL="109725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UTA-RLDD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109725" marL="109725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Safe / Caution / High-Risk classification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109725" marL="109725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1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Shubham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109725" marL="109725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Driver Activity Classification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109725" marL="109725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AUC Distracted Driver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109725" marL="109725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Distraction image classification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109725" marL="109725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7"/>
                    </a:solidFill>
                  </a:tcPr>
                </a:tc>
              </a:tr>
              <a:tr h="71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Sohini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109725" marL="109725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Seat Belt &amp; Phone Detection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109725" marL="109725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DMS Dataset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109725" marL="109725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YOLO object detection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109725" marL="109725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1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Ravina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109725" marL="109725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Smoking &amp; Drinking Detection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109725" marL="109725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YOLO smoking/drinking set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109725" marL="109725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Object detection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109725" marL="109725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  <p:sp>
        <p:nvSpPr>
          <p:cNvPr id="111" name="Google Shape;111;p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4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— Milestone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4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59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C7599"/>
                </a:solidFill>
                <a:latin typeface="Calibri"/>
                <a:ea typeface="Calibri"/>
                <a:cs typeface="Calibri"/>
                <a:sym typeface="Calibri"/>
              </a:rPr>
              <a:t>DATASETS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Dataset Selection at a Glance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548640" y="1737360"/>
            <a:ext cx="2139696" cy="4114800"/>
          </a:xfrm>
          <a:prstGeom prst="roundRect">
            <a:avLst>
              <a:gd fmla="val 3419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1B2A4A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548640" y="1737360"/>
            <a:ext cx="2139696" cy="1097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713232" y="2011680"/>
            <a:ext cx="18105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SHIWANI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713232" y="2304288"/>
            <a:ext cx="181051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YawDD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713232" y="3017520"/>
            <a:ext cx="1810512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6B7A9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A94"/>
                </a:solidFill>
                <a:latin typeface="Calibri"/>
                <a:ea typeface="Calibri"/>
                <a:cs typeface="Calibri"/>
                <a:sym typeface="Calibri"/>
              </a:rPr>
              <a:t>Yawning &amp; face videos → EAR, MAR, pitch, yaw, roll. Output: 30-frame windows, 5 features/frame.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2852928" y="1737360"/>
            <a:ext cx="2139696" cy="4114800"/>
          </a:xfrm>
          <a:prstGeom prst="roundRect">
            <a:avLst>
              <a:gd fmla="val 3419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1B2A4A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2852928" y="1737360"/>
            <a:ext cx="2139696" cy="109728"/>
          </a:xfrm>
          <a:prstGeom prst="rect">
            <a:avLst/>
          </a:prstGeom>
          <a:solidFill>
            <a:srgbClr val="E89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3017520" y="2011680"/>
            <a:ext cx="18105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993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8993B"/>
                </a:solidFill>
                <a:latin typeface="Calibri"/>
                <a:ea typeface="Calibri"/>
                <a:cs typeface="Calibri"/>
                <a:sym typeface="Calibri"/>
              </a:rPr>
              <a:t>KUSHAGRA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3017520" y="2304288"/>
            <a:ext cx="181051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UTA-RLDD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3017520" y="3017520"/>
            <a:ext cx="1810512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6B7A9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A94"/>
                </a:solidFill>
                <a:latin typeface="Calibri"/>
                <a:ea typeface="Calibri"/>
                <a:cs typeface="Calibri"/>
                <a:sym typeface="Calibri"/>
              </a:rPr>
              <a:t>Fold1_part1 &amp; part2 — 12 subjects, 36 videos. Labels mapped to Safe / Caution / High-Risk.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5157216" y="1737360"/>
            <a:ext cx="2139696" cy="4114800"/>
          </a:xfrm>
          <a:prstGeom prst="roundRect">
            <a:avLst>
              <a:gd fmla="val 3419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1B2A4A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5157216" y="1737360"/>
            <a:ext cx="2139696" cy="109728"/>
          </a:xfrm>
          <a:prstGeom prst="rect">
            <a:avLst/>
          </a:prstGeom>
          <a:solidFill>
            <a:srgbClr val="3FA7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5321808" y="2011680"/>
            <a:ext cx="18105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A76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3FA76B"/>
                </a:solidFill>
                <a:latin typeface="Calibri"/>
                <a:ea typeface="Calibri"/>
                <a:cs typeface="Calibri"/>
                <a:sym typeface="Calibri"/>
              </a:rPr>
              <a:t>SHUBHAM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5321808" y="2304288"/>
            <a:ext cx="181051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AUC Distracted Driver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5321808" y="3017520"/>
            <a:ext cx="1810512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6B7A9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A94"/>
                </a:solidFill>
                <a:latin typeface="Calibri"/>
                <a:ea typeface="Calibri"/>
                <a:cs typeface="Calibri"/>
                <a:sym typeface="Calibri"/>
              </a:rPr>
              <a:t>5 activity classes incl. texting, talking on phone, turning, safe driving.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7461504" y="1737360"/>
            <a:ext cx="2139696" cy="4114800"/>
          </a:xfrm>
          <a:prstGeom prst="roundRect">
            <a:avLst>
              <a:gd fmla="val 3419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1B2A4A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7461504" y="1737360"/>
            <a:ext cx="2139696" cy="109728"/>
          </a:xfrm>
          <a:prstGeom prst="rect">
            <a:avLst/>
          </a:prstGeom>
          <a:solidFill>
            <a:srgbClr val="5C7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7626096" y="2011680"/>
            <a:ext cx="18105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599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5C7599"/>
                </a:solidFill>
                <a:latin typeface="Calibri"/>
                <a:ea typeface="Calibri"/>
                <a:cs typeface="Calibri"/>
                <a:sym typeface="Calibri"/>
              </a:rPr>
              <a:t>SOHINI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7626096" y="2304288"/>
            <a:ext cx="181051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DMS Dataset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7626096" y="3017520"/>
            <a:ext cx="1810512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6B7A9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A94"/>
                </a:solidFill>
                <a:latin typeface="Calibri"/>
                <a:ea typeface="Calibri"/>
                <a:cs typeface="Calibri"/>
                <a:sym typeface="Calibri"/>
              </a:rPr>
              <a:t>Filtered to a clean 2-class YOLO set: Phone, Seatbelt.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9765792" y="1737360"/>
            <a:ext cx="2139696" cy="4114800"/>
          </a:xfrm>
          <a:prstGeom prst="roundRect">
            <a:avLst>
              <a:gd fmla="val 3419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1B2A4A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9765792" y="1737360"/>
            <a:ext cx="2139696" cy="109728"/>
          </a:xfrm>
          <a:prstGeom prst="rect">
            <a:avLst/>
          </a:prstGeom>
          <a:solidFill>
            <a:srgbClr val="C85A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9930384" y="2011680"/>
            <a:ext cx="18105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5A5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C85A52"/>
                </a:solidFill>
                <a:latin typeface="Calibri"/>
                <a:ea typeface="Calibri"/>
                <a:cs typeface="Calibri"/>
                <a:sym typeface="Calibri"/>
              </a:rPr>
              <a:t>RAVINA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9930384" y="2304288"/>
            <a:ext cx="181051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Smoking / Drinking Set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9930384" y="3017520"/>
            <a:ext cx="1810512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6B7A9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A94"/>
                </a:solidFill>
                <a:latin typeface="Calibri"/>
                <a:ea typeface="Calibri"/>
                <a:cs typeface="Calibri"/>
                <a:sym typeface="Calibri"/>
              </a:rPr>
              <a:t>YOLO-format images, labels &amp; data.yaml, standard train/val/test layout.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4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— Milestone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4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59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C7599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A Common Inspection Process, Every Dataset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548640" y="1508760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4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6B7A94"/>
                </a:solidFill>
                <a:latin typeface="Calibri"/>
                <a:ea typeface="Calibri"/>
                <a:cs typeface="Calibri"/>
                <a:sym typeface="Calibri"/>
              </a:rPr>
              <a:t>Before any preprocessing began, all five datasets passed through the same verification pipeline — so quality issues were caught early and consistently.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548640" y="2286000"/>
            <a:ext cx="2606040" cy="164592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1B2A4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749808" y="2487168"/>
            <a:ext cx="457200" cy="4572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749808" y="248716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731520" y="3063240"/>
            <a:ext cx="2240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Verify folder structure &amp; class labels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3337560" y="2286000"/>
            <a:ext cx="2606040" cy="164592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1B2A4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3538728" y="2487168"/>
            <a:ext cx="457200" cy="4572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3538728" y="248716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3520440" y="3063240"/>
            <a:ext cx="2240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Count samples per class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6126480" y="2286000"/>
            <a:ext cx="2606040" cy="164592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1B2A4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6327648" y="2487168"/>
            <a:ext cx="457200" cy="4572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6327648" y="248716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6309360" y="3063240"/>
            <a:ext cx="2240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Check for missing or unreadable files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8915400" y="2286000"/>
            <a:ext cx="2606040" cy="164592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1B2A4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9116568" y="2487168"/>
            <a:ext cx="457200" cy="4572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9116568" y="248716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9098280" y="3063240"/>
            <a:ext cx="2240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Generate class-distribution charts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548640" y="4160520"/>
            <a:ext cx="2606040" cy="164592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1B2A4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749808" y="4361688"/>
            <a:ext cx="457200" cy="457200"/>
          </a:xfrm>
          <a:prstGeom prst="ellipse">
            <a:avLst/>
          </a:prstGeom>
          <a:solidFill>
            <a:srgbClr val="E89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"/>
          <p:cNvSpPr/>
          <p:nvPr/>
        </p:nvSpPr>
        <p:spPr>
          <a:xfrm>
            <a:off x="749808" y="436168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731520" y="4937760"/>
            <a:ext cx="2240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Visualize sample images / frames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3337560" y="4160520"/>
            <a:ext cx="2606040" cy="164592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1B2A4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"/>
          <p:cNvSpPr/>
          <p:nvPr/>
        </p:nvSpPr>
        <p:spPr>
          <a:xfrm>
            <a:off x="3538728" y="4361688"/>
            <a:ext cx="457200" cy="457200"/>
          </a:xfrm>
          <a:prstGeom prst="ellipse">
            <a:avLst/>
          </a:prstGeom>
          <a:solidFill>
            <a:srgbClr val="E89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"/>
          <p:cNvSpPr/>
          <p:nvPr/>
        </p:nvSpPr>
        <p:spPr>
          <a:xfrm>
            <a:off x="3538728" y="436168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3520440" y="4937760"/>
            <a:ext cx="2240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Review resolution, FPS, duration, brightness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6126480" y="4160520"/>
            <a:ext cx="2606040" cy="164592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1B2A4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"/>
          <p:cNvSpPr/>
          <p:nvPr/>
        </p:nvSpPr>
        <p:spPr>
          <a:xfrm>
            <a:off x="6327648" y="4361688"/>
            <a:ext cx="457200" cy="457200"/>
          </a:xfrm>
          <a:prstGeom prst="ellipse">
            <a:avLst/>
          </a:prstGeom>
          <a:solidFill>
            <a:srgbClr val="E89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6327648" y="436168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6309360" y="4937760"/>
            <a:ext cx="2240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Flag duplicates, corrupt files, bad annotations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8915400" y="4160520"/>
            <a:ext cx="2606040" cy="164592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1B2A4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6"/>
          <p:cNvSpPr/>
          <p:nvPr/>
        </p:nvSpPr>
        <p:spPr>
          <a:xfrm>
            <a:off x="9116568" y="4361688"/>
            <a:ext cx="457200" cy="457200"/>
          </a:xfrm>
          <a:prstGeom prst="ellipse">
            <a:avLst/>
          </a:prstGeom>
          <a:solidFill>
            <a:srgbClr val="E89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6"/>
          <p:cNvSpPr/>
          <p:nvPr/>
        </p:nvSpPr>
        <p:spPr>
          <a:xfrm>
            <a:off x="9116568" y="436168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9098280" y="4937760"/>
            <a:ext cx="2240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Confirm train / validation / test splits are feasible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4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— Milestone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4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B30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9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993B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Data Quality, By the Numbers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594360" y="1828800"/>
            <a:ext cx="2606040" cy="3566160"/>
          </a:xfrm>
          <a:prstGeom prst="roundRect">
            <a:avLst>
              <a:gd fmla="val 3509" name="adj"/>
            </a:avLst>
          </a:prstGeom>
          <a:solidFill>
            <a:srgbClr val="24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7"/>
          <p:cNvSpPr/>
          <p:nvPr/>
        </p:nvSpPr>
        <p:spPr>
          <a:xfrm>
            <a:off x="731520" y="2148840"/>
            <a:ext cx="2331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993B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E8993B"/>
                </a:solidFill>
                <a:latin typeface="Cambria"/>
                <a:ea typeface="Cambria"/>
                <a:cs typeface="Cambria"/>
                <a:sym typeface="Cambria"/>
              </a:rPr>
              <a:t>99.35%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731520" y="3108960"/>
            <a:ext cx="233172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6D0E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6D0E2"/>
                </a:solidFill>
                <a:latin typeface="Calibri"/>
                <a:ea typeface="Calibri"/>
                <a:cs typeface="Calibri"/>
                <a:sym typeface="Calibri"/>
              </a:rPr>
              <a:t>landmark extraction success across 349 videos / 288,174 frames (YawDD)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3419856" y="1828800"/>
            <a:ext cx="2606040" cy="3566160"/>
          </a:xfrm>
          <a:prstGeom prst="roundRect">
            <a:avLst>
              <a:gd fmla="val 3509" name="adj"/>
            </a:avLst>
          </a:prstGeom>
          <a:solidFill>
            <a:srgbClr val="24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"/>
          <p:cNvSpPr/>
          <p:nvPr/>
        </p:nvSpPr>
        <p:spPr>
          <a:xfrm>
            <a:off x="3557016" y="2148840"/>
            <a:ext cx="2331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A76B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3FA76B"/>
                </a:solidFill>
                <a:latin typeface="Cambria"/>
                <a:ea typeface="Cambria"/>
                <a:cs typeface="Cambria"/>
                <a:sym typeface="Cambria"/>
              </a:rPr>
              <a:t>36 / 36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3557016" y="3108960"/>
            <a:ext cx="233172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6D0E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6D0E2"/>
                </a:solidFill>
                <a:latin typeface="Calibri"/>
                <a:ea typeface="Calibri"/>
                <a:cs typeface="Calibri"/>
                <a:sym typeface="Calibri"/>
              </a:rPr>
              <a:t>UTA-RLDD videos verified present &amp; readable — zero corrupt files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6245352" y="1828800"/>
            <a:ext cx="2606040" cy="3566160"/>
          </a:xfrm>
          <a:prstGeom prst="roundRect">
            <a:avLst>
              <a:gd fmla="val 3509" name="adj"/>
            </a:avLst>
          </a:prstGeom>
          <a:solidFill>
            <a:srgbClr val="24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7"/>
          <p:cNvSpPr/>
          <p:nvPr/>
        </p:nvSpPr>
        <p:spPr>
          <a:xfrm>
            <a:off x="6382512" y="2148840"/>
            <a:ext cx="2331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B3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8FB3FF"/>
                </a:solidFill>
                <a:latin typeface="Cambria"/>
                <a:ea typeface="Cambria"/>
                <a:cs typeface="Cambria"/>
                <a:sym typeface="Cambria"/>
              </a:rPr>
              <a:t>4,307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6382512" y="3108960"/>
            <a:ext cx="233172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6D0E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6D0E2"/>
                </a:solidFill>
                <a:latin typeface="Calibri"/>
                <a:ea typeface="Calibri"/>
                <a:cs typeface="Calibri"/>
                <a:sym typeface="Calibri"/>
              </a:rPr>
              <a:t>clean activity images retained after removing 2,969 duplicates + 10 corrupt files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9070848" y="1828800"/>
            <a:ext cx="2606040" cy="3566160"/>
          </a:xfrm>
          <a:prstGeom prst="roundRect">
            <a:avLst>
              <a:gd fmla="val 3509" name="adj"/>
            </a:avLst>
          </a:prstGeom>
          <a:solidFill>
            <a:srgbClr val="24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7"/>
          <p:cNvSpPr/>
          <p:nvPr/>
        </p:nvSpPr>
        <p:spPr>
          <a:xfrm>
            <a:off x="9208008" y="2148840"/>
            <a:ext cx="2331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A0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2A9A0"/>
                </a:solidFill>
                <a:latin typeface="Cambria"/>
                <a:ea typeface="Cambria"/>
                <a:cs typeface="Cambria"/>
                <a:sym typeface="Cambria"/>
              </a:rPr>
              <a:t>6,701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9208008" y="3108960"/>
            <a:ext cx="233172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6D0E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6D0E2"/>
                </a:solidFill>
                <a:latin typeface="Calibri"/>
                <a:ea typeface="Calibri"/>
                <a:cs typeface="Calibri"/>
                <a:sym typeface="Calibri"/>
              </a:rPr>
              <a:t>bounding boxes validated across 6,140 seat-belt / phone images &amp; labels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594360" y="562356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0C2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8FA0C2"/>
                </a:solidFill>
                <a:latin typeface="Calibri"/>
                <a:ea typeface="Calibri"/>
                <a:cs typeface="Calibri"/>
                <a:sym typeface="Calibri"/>
              </a:rPr>
              <a:t>Duplicate detection used perceptual hashing; corruption checks used OpenCV load tests; blur was scored via Laplacian variance — blurry-but-valid frames were kept to preserve realistic driving conditions.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0A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A6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— Milestone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80A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A6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59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C7599"/>
                </a:solidFill>
                <a:latin typeface="Calibri"/>
                <a:ea typeface="Calibri"/>
                <a:cs typeface="Calibri"/>
                <a:sym typeface="Calibri"/>
              </a:rPr>
              <a:t>PREPROCESSING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What Happened to Each Dataset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8" name="Google Shape;218;p8"/>
          <p:cNvGraphicFramePr/>
          <p:nvPr/>
        </p:nvGraphicFramePr>
        <p:xfrm>
          <a:off x="548640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{2E0C7B6C-E8B0-4840-9B5D-C40F0BA60CA5}</a:tableStyleId>
              </a:tblPr>
              <a:tblGrid>
                <a:gridCol w="3200400"/>
                <a:gridCol w="789127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Module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50" marB="91450" marR="128025" marL="128025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 Preprocessing Steps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50" marB="91450" marR="128025" marL="128025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Driver Activity (images)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50" marB="91450" marR="128025" marL="128025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Resize to 224×224 · normalize · augment with flip, brightness/contrast, rotation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50" marB="91450" marR="128025" marL="128025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7"/>
                    </a:solidFill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Video Fatigue (UTA-RLDD)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50" marB="91450" marR="128025" marL="128025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Extract 5 frames/video at 10/30/50/70/90% timeline → 180 processed frames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50" marB="91450" marR="128025" marL="128025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Landmark Features (YawDD)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50" marB="91450" marR="128025" marL="128025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Extract EAR, MAR, pitch, yaw, roll · drop invalid frames · 30-frame windows, stride 15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50" marB="91450" marR="128025" marL="128025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7"/>
                    </a:solidFill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Seat Belt / Phone (YOLO)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50" marB="91450" marR="128025" marL="128025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Resize to 640×640 · validate boxes · remap classes to Phone / Seatbelt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50" marB="91450" marR="128025" marL="128025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Smoking / Drinking (YOLO)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50" marB="91450" marR="128025" marL="128025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Class harmonization · deduplication · augmentation · split verification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50" marB="91450" marR="128025" marL="128025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  <p:sp>
        <p:nvSpPr>
          <p:cNvPr id="219" name="Google Shape;219;p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4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— Milestone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4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9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59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C7599"/>
                </a:solidFill>
                <a:latin typeface="Calibri"/>
                <a:ea typeface="Calibri"/>
                <a:cs typeface="Calibri"/>
                <a:sym typeface="Calibri"/>
              </a:rPr>
              <a:t>DATA SPLITS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Train / Validation / Test Strategy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548640" y="150876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4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6B7A94"/>
                </a:solidFill>
                <a:latin typeface="Calibri"/>
                <a:ea typeface="Calibri"/>
                <a:cs typeface="Calibri"/>
                <a:sym typeface="Calibri"/>
              </a:rPr>
              <a:t>Split method follows the leakage risk of the data type — subject-wise where identity could leak, ratio-based where samples are independent.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548640" y="2148840"/>
            <a:ext cx="3291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Landmark Features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3977640" y="2148840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59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C7599"/>
                </a:solidFill>
                <a:latin typeface="Calibri"/>
                <a:ea typeface="Calibri"/>
                <a:cs typeface="Calibri"/>
                <a:sym typeface="Calibri"/>
              </a:rPr>
              <a:t>Subject-wise split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5989320" y="2185416"/>
            <a:ext cx="4937760" cy="310896"/>
          </a:xfrm>
          <a:prstGeom prst="roundRect">
            <a:avLst>
              <a:gd fmla="val 11765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"/>
          <p:cNvSpPr/>
          <p:nvPr/>
        </p:nvSpPr>
        <p:spPr>
          <a:xfrm>
            <a:off x="6126480" y="2185416"/>
            <a:ext cx="4663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subject identity kept whole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548640" y="2807208"/>
            <a:ext cx="3291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Video Fatigue Detection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3977640" y="2807208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59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C7599"/>
                </a:solidFill>
                <a:latin typeface="Calibri"/>
                <a:ea typeface="Calibri"/>
                <a:cs typeface="Calibri"/>
                <a:sym typeface="Calibri"/>
              </a:rPr>
              <a:t>Subject-wise split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5989320" y="2843784"/>
            <a:ext cx="4937760" cy="310896"/>
          </a:xfrm>
          <a:prstGeom prst="roundRect">
            <a:avLst>
              <a:gd fmla="val 11765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"/>
          <p:cNvSpPr/>
          <p:nvPr/>
        </p:nvSpPr>
        <p:spPr>
          <a:xfrm>
            <a:off x="6126480" y="2843784"/>
            <a:ext cx="4663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subject identity kept whole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548640" y="3465576"/>
            <a:ext cx="3291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Driver Activity Classification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3977640" y="3465576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59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C7599"/>
                </a:solidFill>
                <a:latin typeface="Calibri"/>
                <a:ea typeface="Calibri"/>
                <a:cs typeface="Calibri"/>
                <a:sym typeface="Calibri"/>
              </a:rPr>
              <a:t>70 / 15 / 15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5989320" y="3502152"/>
            <a:ext cx="3456432" cy="310896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9445752" y="3502152"/>
            <a:ext cx="740664" cy="310896"/>
          </a:xfrm>
          <a:prstGeom prst="rect">
            <a:avLst/>
          </a:prstGeom>
          <a:solidFill>
            <a:srgbClr val="E89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"/>
          <p:cNvSpPr/>
          <p:nvPr/>
        </p:nvSpPr>
        <p:spPr>
          <a:xfrm>
            <a:off x="10186416" y="3502152"/>
            <a:ext cx="740664" cy="310896"/>
          </a:xfrm>
          <a:prstGeom prst="rect">
            <a:avLst/>
          </a:prstGeom>
          <a:solidFill>
            <a:srgbClr val="5C7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"/>
          <p:cNvSpPr/>
          <p:nvPr/>
        </p:nvSpPr>
        <p:spPr>
          <a:xfrm>
            <a:off x="548640" y="4123944"/>
            <a:ext cx="3291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Seat Belt &amp; Phone Detection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3977640" y="4123944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59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C7599"/>
                </a:solidFill>
                <a:latin typeface="Calibri"/>
                <a:ea typeface="Calibri"/>
                <a:cs typeface="Calibri"/>
                <a:sym typeface="Calibri"/>
              </a:rPr>
              <a:t>70 / 20 / 10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5989320" y="4160520"/>
            <a:ext cx="3456432" cy="310896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9"/>
          <p:cNvSpPr/>
          <p:nvPr/>
        </p:nvSpPr>
        <p:spPr>
          <a:xfrm>
            <a:off x="9445752" y="4160520"/>
            <a:ext cx="987552" cy="310896"/>
          </a:xfrm>
          <a:prstGeom prst="rect">
            <a:avLst/>
          </a:prstGeom>
          <a:solidFill>
            <a:srgbClr val="E89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"/>
          <p:cNvSpPr/>
          <p:nvPr/>
        </p:nvSpPr>
        <p:spPr>
          <a:xfrm>
            <a:off x="10433304" y="4160520"/>
            <a:ext cx="493776" cy="310896"/>
          </a:xfrm>
          <a:prstGeom prst="rect">
            <a:avLst/>
          </a:prstGeom>
          <a:solidFill>
            <a:srgbClr val="5C7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9"/>
          <p:cNvSpPr/>
          <p:nvPr/>
        </p:nvSpPr>
        <p:spPr>
          <a:xfrm>
            <a:off x="548640" y="4782312"/>
            <a:ext cx="3291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Smoking &amp; Drinking Detection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3977640" y="4782312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59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C7599"/>
                </a:solidFill>
                <a:latin typeface="Calibri"/>
                <a:ea typeface="Calibri"/>
                <a:cs typeface="Calibri"/>
                <a:sym typeface="Calibri"/>
              </a:rPr>
              <a:t>80 / 10 / 10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5989320" y="4818888"/>
            <a:ext cx="3950208" cy="310896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9"/>
          <p:cNvSpPr/>
          <p:nvPr/>
        </p:nvSpPr>
        <p:spPr>
          <a:xfrm>
            <a:off x="9939528" y="4818888"/>
            <a:ext cx="493776" cy="310896"/>
          </a:xfrm>
          <a:prstGeom prst="rect">
            <a:avLst/>
          </a:prstGeom>
          <a:solidFill>
            <a:srgbClr val="E89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9"/>
          <p:cNvSpPr/>
          <p:nvPr/>
        </p:nvSpPr>
        <p:spPr>
          <a:xfrm>
            <a:off x="10433304" y="4818888"/>
            <a:ext cx="493776" cy="310896"/>
          </a:xfrm>
          <a:prstGeom prst="rect">
            <a:avLst/>
          </a:prstGeom>
          <a:solidFill>
            <a:srgbClr val="5C7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9"/>
          <p:cNvSpPr/>
          <p:nvPr/>
        </p:nvSpPr>
        <p:spPr>
          <a:xfrm>
            <a:off x="5989320" y="5989320"/>
            <a:ext cx="201168" cy="20116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9"/>
          <p:cNvSpPr/>
          <p:nvPr/>
        </p:nvSpPr>
        <p:spPr>
          <a:xfrm>
            <a:off x="6263640" y="5943600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A94"/>
                </a:solidFill>
                <a:latin typeface="Calibri"/>
                <a:ea typeface="Calibri"/>
                <a:cs typeface="Calibri"/>
                <a:sym typeface="Calibri"/>
              </a:rPr>
              <a:t>Train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7406640" y="5989320"/>
            <a:ext cx="201168" cy="201168"/>
          </a:xfrm>
          <a:prstGeom prst="rect">
            <a:avLst/>
          </a:prstGeom>
          <a:solidFill>
            <a:srgbClr val="E89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9"/>
          <p:cNvSpPr/>
          <p:nvPr/>
        </p:nvSpPr>
        <p:spPr>
          <a:xfrm>
            <a:off x="7680960" y="5943600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A94"/>
                </a:solidFill>
                <a:latin typeface="Calibri"/>
                <a:ea typeface="Calibri"/>
                <a:cs typeface="Calibri"/>
                <a:sym typeface="Calibri"/>
              </a:rPr>
              <a:t>Validation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8823960" y="5989320"/>
            <a:ext cx="201168" cy="201168"/>
          </a:xfrm>
          <a:prstGeom prst="rect">
            <a:avLst/>
          </a:prstGeom>
          <a:solidFill>
            <a:srgbClr val="5C7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9"/>
          <p:cNvSpPr/>
          <p:nvPr/>
        </p:nvSpPr>
        <p:spPr>
          <a:xfrm>
            <a:off x="9098280" y="5943600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A94"/>
                </a:solidFill>
                <a:latin typeface="Calibri"/>
                <a:ea typeface="Calibri"/>
                <a:cs typeface="Calibri"/>
                <a:sym typeface="Calibri"/>
              </a:rPr>
              <a:t>Test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4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— Milestone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4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59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C7599"/>
                </a:solidFill>
                <a:latin typeface="Calibri"/>
                <a:ea typeface="Calibri"/>
                <a:cs typeface="Calibri"/>
                <a:sym typeface="Calibri"/>
              </a:rPr>
              <a:t>DATA INTEGRITY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Preventing Leakage Across Splits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548640" y="1691640"/>
            <a:ext cx="3529584" cy="2121408"/>
          </a:xfrm>
          <a:prstGeom prst="roundRect">
            <a:avLst>
              <a:gd fmla="val 3448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1B2A4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0"/>
          <p:cNvSpPr/>
          <p:nvPr/>
        </p:nvSpPr>
        <p:spPr>
          <a:xfrm>
            <a:off x="749808" y="1856232"/>
            <a:ext cx="31272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Landmark Module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749808" y="2258568"/>
            <a:ext cx="3127248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6B7A9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A94"/>
                </a:solidFill>
                <a:latin typeface="Calibri"/>
                <a:ea typeface="Calibri"/>
                <a:cs typeface="Calibri"/>
                <a:sym typeface="Calibri"/>
              </a:rPr>
              <a:t>All videos from one subject stay in a single split; 30-frame windows never cross splits; normalization stats come from training data only.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4334256" y="1691640"/>
            <a:ext cx="3529584" cy="2121408"/>
          </a:xfrm>
          <a:prstGeom prst="roundRect">
            <a:avLst>
              <a:gd fmla="val 3448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1B2A4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0"/>
          <p:cNvSpPr/>
          <p:nvPr/>
        </p:nvSpPr>
        <p:spPr>
          <a:xfrm>
            <a:off x="4535424" y="1856232"/>
            <a:ext cx="31272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Fatigue Detection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4535424" y="2258568"/>
            <a:ext cx="3127248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6B7A9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A94"/>
                </a:solidFill>
                <a:latin typeface="Calibri"/>
                <a:ea typeface="Calibri"/>
                <a:cs typeface="Calibri"/>
                <a:sym typeface="Calibri"/>
              </a:rPr>
              <a:t>Strict subject-level split (01–08 train, 09–10 val, 11–12 test) — frames extracted only after the split was finalized.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8119872" y="1691640"/>
            <a:ext cx="3529584" cy="2121408"/>
          </a:xfrm>
          <a:prstGeom prst="roundRect">
            <a:avLst>
              <a:gd fmla="val 3448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1B2A4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0"/>
          <p:cNvSpPr/>
          <p:nvPr/>
        </p:nvSpPr>
        <p:spPr>
          <a:xfrm>
            <a:off x="8321040" y="1856232"/>
            <a:ext cx="31272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Driver Activity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8321040" y="2258568"/>
            <a:ext cx="3127248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6B7A9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A94"/>
                </a:solidFill>
                <a:latin typeface="Calibri"/>
                <a:ea typeface="Calibri"/>
                <a:cs typeface="Calibri"/>
                <a:sym typeface="Calibri"/>
              </a:rPr>
              <a:t>Duplicates removed pre-split; a post-split hash check flagged near-duplicate frames for future sequence-wise splitting.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548640" y="4023360"/>
            <a:ext cx="3529584" cy="2121408"/>
          </a:xfrm>
          <a:prstGeom prst="roundRect">
            <a:avLst>
              <a:gd fmla="val 3448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1B2A4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0"/>
          <p:cNvSpPr/>
          <p:nvPr/>
        </p:nvSpPr>
        <p:spPr>
          <a:xfrm>
            <a:off x="749808" y="4187952"/>
            <a:ext cx="31272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Seat Belt &amp; Phone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749808" y="4590288"/>
            <a:ext cx="3127248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6B7A9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A94"/>
                </a:solidFill>
                <a:latin typeface="Calibri"/>
                <a:ea typeface="Calibri"/>
                <a:cs typeface="Calibri"/>
                <a:sym typeface="Calibri"/>
              </a:rPr>
              <a:t>Original split boundaries preserved — no random frame migration between near-identical consecutive frames.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4334256" y="4023360"/>
            <a:ext cx="3529584" cy="2121408"/>
          </a:xfrm>
          <a:prstGeom prst="roundRect">
            <a:avLst>
              <a:gd fmla="val 3448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1B2A4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0"/>
          <p:cNvSpPr/>
          <p:nvPr/>
        </p:nvSpPr>
        <p:spPr>
          <a:xfrm>
            <a:off x="4535424" y="4187952"/>
            <a:ext cx="31272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Smoking &amp; Drinking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4535424" y="4590288"/>
            <a:ext cx="3127248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6B7A9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A94"/>
                </a:solidFill>
                <a:latin typeface="Calibri"/>
                <a:ea typeface="Calibri"/>
                <a:cs typeface="Calibri"/>
                <a:sym typeface="Calibri"/>
              </a:rPr>
              <a:t>Deduplication before splitting; augmentation applied to the training set only, so augmented copies never leak into val/test.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4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— Milestone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4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1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59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C7599"/>
                </a:solidFill>
                <a:latin typeface="Calibri"/>
                <a:ea typeface="Calibri"/>
                <a:cs typeface="Calibri"/>
                <a:sym typeface="Calibri"/>
              </a:rPr>
              <a:t>STRUCTURE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Processed Datasets, Ready to Load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548640" y="1691640"/>
            <a:ext cx="3529584" cy="4114800"/>
          </a:xfrm>
          <a:prstGeom prst="roundRect">
            <a:avLst>
              <a:gd fmla="val 1813" name="adj"/>
            </a:avLst>
          </a:prstGeom>
          <a:solidFill>
            <a:srgbClr val="121B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1"/>
          <p:cNvSpPr/>
          <p:nvPr/>
        </p:nvSpPr>
        <p:spPr>
          <a:xfrm>
            <a:off x="731520" y="1801368"/>
            <a:ext cx="31638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99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8993B"/>
                </a:solidFill>
                <a:latin typeface="Calibri"/>
                <a:ea typeface="Calibri"/>
                <a:cs typeface="Calibri"/>
                <a:sym typeface="Calibri"/>
              </a:rPr>
              <a:t>Landmark Features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731520" y="2112264"/>
            <a:ext cx="3163824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7DEEC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D7DEEC"/>
                </a:solidFill>
                <a:latin typeface="Courier New"/>
                <a:ea typeface="Courier New"/>
                <a:cs typeface="Courier New"/>
                <a:sym typeface="Courier New"/>
              </a:rPr>
              <a:t>processed_dataset/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7DEEC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D7DEEC"/>
                </a:solidFill>
                <a:latin typeface="Courier New"/>
                <a:ea typeface="Courier New"/>
                <a:cs typeface="Courier New"/>
                <a:sym typeface="Courier New"/>
              </a:rPr>
              <a:t>├─ raw_features_all_videos.csv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7DEEC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D7DEEC"/>
                </a:solidFill>
                <a:latin typeface="Courier New"/>
                <a:ea typeface="Courier New"/>
                <a:cs typeface="Courier New"/>
                <a:sym typeface="Courier New"/>
              </a:rPr>
              <a:t>├─ normalized_features_all_videos.csv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7DEEC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D7DEEC"/>
                </a:solidFill>
                <a:latin typeface="Courier New"/>
                <a:ea typeface="Courier New"/>
                <a:cs typeface="Courier New"/>
                <a:sym typeface="Courier New"/>
              </a:rPr>
              <a:t>├─ train_windows.npy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7DEEC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D7DEEC"/>
                </a:solidFill>
                <a:latin typeface="Courier New"/>
                <a:ea typeface="Courier New"/>
                <a:cs typeface="Courier New"/>
                <a:sym typeface="Courier New"/>
              </a:rPr>
              <a:t>├─ val_windows.npy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7DEEC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D7DEEC"/>
                </a:solidFill>
                <a:latin typeface="Courier New"/>
                <a:ea typeface="Courier New"/>
                <a:cs typeface="Courier New"/>
                <a:sym typeface="Courier New"/>
              </a:rPr>
              <a:t>├─ test_windows.npy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7DEEC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D7DEEC"/>
                </a:solidFill>
                <a:latin typeface="Courier New"/>
                <a:ea typeface="Courier New"/>
                <a:cs typeface="Courier New"/>
                <a:sym typeface="Courier New"/>
              </a:rPr>
              <a:t>├─ train_meta.csv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7DEEC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D7DEEC"/>
                </a:solidFill>
                <a:latin typeface="Courier New"/>
                <a:ea typeface="Courier New"/>
                <a:cs typeface="Courier New"/>
                <a:sym typeface="Courier New"/>
              </a:rPr>
              <a:t>├─ val_meta.csv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7DEEC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D7DEEC"/>
                </a:solidFill>
                <a:latin typeface="Courier New"/>
                <a:ea typeface="Courier New"/>
                <a:cs typeface="Courier New"/>
                <a:sym typeface="Courier New"/>
              </a:rPr>
              <a:t>└─ test_meta.csv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4334256" y="1691640"/>
            <a:ext cx="3529584" cy="4114800"/>
          </a:xfrm>
          <a:prstGeom prst="roundRect">
            <a:avLst>
              <a:gd fmla="val 1813" name="adj"/>
            </a:avLst>
          </a:prstGeom>
          <a:solidFill>
            <a:srgbClr val="121B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1"/>
          <p:cNvSpPr/>
          <p:nvPr/>
        </p:nvSpPr>
        <p:spPr>
          <a:xfrm>
            <a:off x="4517136" y="1801368"/>
            <a:ext cx="31638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99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8993B"/>
                </a:solidFill>
                <a:latin typeface="Calibri"/>
                <a:ea typeface="Calibri"/>
                <a:cs typeface="Calibri"/>
                <a:sym typeface="Calibri"/>
              </a:rPr>
              <a:t>Video Fatigue Detection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4517136" y="2112264"/>
            <a:ext cx="3163824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7DEEC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D7DEEC"/>
                </a:solidFill>
                <a:latin typeface="Courier New"/>
                <a:ea typeface="Courier New"/>
                <a:cs typeface="Courier New"/>
                <a:sym typeface="Courier New"/>
              </a:rPr>
              <a:t>data/processed/fatigue_detection/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7DEEC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D7DEEC"/>
                </a:solidFill>
                <a:latin typeface="Courier New"/>
                <a:ea typeface="Courier New"/>
                <a:cs typeface="Courier New"/>
                <a:sym typeface="Courier New"/>
              </a:rPr>
              <a:t>├─ train/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7DEEC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D7DEEC"/>
                </a:solidFill>
                <a:latin typeface="Courier New"/>
                <a:ea typeface="Courier New"/>
                <a:cs typeface="Courier New"/>
                <a:sym typeface="Courier New"/>
              </a:rPr>
              <a:t>│  ├─ Safe/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7DEEC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D7DEEC"/>
                </a:solidFill>
                <a:latin typeface="Courier New"/>
                <a:ea typeface="Courier New"/>
                <a:cs typeface="Courier New"/>
                <a:sym typeface="Courier New"/>
              </a:rPr>
              <a:t>│  ├─ Caution/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7DEEC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D7DEEC"/>
                </a:solidFill>
                <a:latin typeface="Courier New"/>
                <a:ea typeface="Courier New"/>
                <a:cs typeface="Courier New"/>
                <a:sym typeface="Courier New"/>
              </a:rPr>
              <a:t>│  └─ High_Risk/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7DEEC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D7DEEC"/>
                </a:solidFill>
                <a:latin typeface="Courier New"/>
                <a:ea typeface="Courier New"/>
                <a:cs typeface="Courier New"/>
                <a:sym typeface="Courier New"/>
              </a:rPr>
              <a:t>├─ val/  (same 3 classes)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7DEEC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D7DEEC"/>
                </a:solidFill>
                <a:latin typeface="Courier New"/>
                <a:ea typeface="Courier New"/>
                <a:cs typeface="Courier New"/>
                <a:sym typeface="Courier New"/>
              </a:rPr>
              <a:t>└─ test/ (same 3 classes)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8119872" y="1691640"/>
            <a:ext cx="3529584" cy="4114800"/>
          </a:xfrm>
          <a:prstGeom prst="roundRect">
            <a:avLst>
              <a:gd fmla="val 1813" name="adj"/>
            </a:avLst>
          </a:prstGeom>
          <a:solidFill>
            <a:srgbClr val="121B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1"/>
          <p:cNvSpPr/>
          <p:nvPr/>
        </p:nvSpPr>
        <p:spPr>
          <a:xfrm>
            <a:off x="8302752" y="1801368"/>
            <a:ext cx="31638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99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8993B"/>
                </a:solidFill>
                <a:latin typeface="Calibri"/>
                <a:ea typeface="Calibri"/>
                <a:cs typeface="Calibri"/>
                <a:sym typeface="Calibri"/>
              </a:rPr>
              <a:t>YOLO Detection Sets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8302752" y="2112264"/>
            <a:ext cx="3163824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7DEEC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D7DEEC"/>
                </a:solidFill>
                <a:latin typeface="Courier New"/>
                <a:ea typeface="Courier New"/>
                <a:cs typeface="Courier New"/>
                <a:sym typeface="Courier New"/>
              </a:rPr>
              <a:t>&lt;task&gt;_yolo/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7DEEC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D7DEEC"/>
                </a:solidFill>
                <a:latin typeface="Courier New"/>
                <a:ea typeface="Courier New"/>
                <a:cs typeface="Courier New"/>
                <a:sym typeface="Courier New"/>
              </a:rPr>
              <a:t>├─ data.yaml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7DEEC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D7DEEC"/>
                </a:solidFill>
                <a:latin typeface="Courier New"/>
                <a:ea typeface="Courier New"/>
                <a:cs typeface="Courier New"/>
                <a:sym typeface="Courier New"/>
              </a:rPr>
              <a:t>├─ train/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7DEEC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D7DEEC"/>
                </a:solidFill>
                <a:latin typeface="Courier New"/>
                <a:ea typeface="Courier New"/>
                <a:cs typeface="Courier New"/>
                <a:sym typeface="Courier New"/>
              </a:rPr>
              <a:t>│  ├─ images/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7DEEC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D7DEEC"/>
                </a:solidFill>
                <a:latin typeface="Courier New"/>
                <a:ea typeface="Courier New"/>
                <a:cs typeface="Courier New"/>
                <a:sym typeface="Courier New"/>
              </a:rPr>
              <a:t>│  └─ labels/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7DEEC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D7DEEC"/>
                </a:solidFill>
                <a:latin typeface="Courier New"/>
                <a:ea typeface="Courier New"/>
                <a:cs typeface="Courier New"/>
                <a:sym typeface="Courier New"/>
              </a:rPr>
              <a:t>├─ valid|val/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7DEEC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D7DEEC"/>
                </a:solidFill>
                <a:latin typeface="Courier New"/>
                <a:ea typeface="Courier New"/>
                <a:cs typeface="Courier New"/>
                <a:sym typeface="Courier New"/>
              </a:rPr>
              <a:t>│  ├─ images/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7DEEC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D7DEEC"/>
                </a:solidFill>
                <a:latin typeface="Courier New"/>
                <a:ea typeface="Courier New"/>
                <a:cs typeface="Courier New"/>
                <a:sym typeface="Courier New"/>
              </a:rPr>
              <a:t>│  └─ labels/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7DEEC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D7DEEC"/>
                </a:solidFill>
                <a:latin typeface="Courier New"/>
                <a:ea typeface="Courier New"/>
                <a:cs typeface="Courier New"/>
                <a:sym typeface="Courier New"/>
              </a:rPr>
              <a:t>└─ test/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7DEEC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D7DEEC"/>
                </a:solidFill>
                <a:latin typeface="Courier New"/>
                <a:ea typeface="Courier New"/>
                <a:cs typeface="Courier New"/>
                <a:sym typeface="Courier New"/>
              </a:rPr>
              <a:t>   ├─ images/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7DEEC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D7DEEC"/>
                </a:solidFill>
                <a:latin typeface="Courier New"/>
                <a:ea typeface="Courier New"/>
                <a:cs typeface="Courier New"/>
                <a:sym typeface="Courier New"/>
              </a:rPr>
              <a:t>   └─ labels/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4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6B7A94"/>
                </a:solidFill>
                <a:latin typeface="Calibri"/>
                <a:ea typeface="Calibri"/>
                <a:cs typeface="Calibri"/>
                <a:sym typeface="Calibri"/>
              </a:rPr>
              <a:t>Seat-belt/phone and smoking/drinking detection share this layout; activity classification mirrors it with class-named folders instead of images/labels.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4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— Milestone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4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2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59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C7599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2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Final Processed Dataset Summary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0" name="Google Shape;310;p12"/>
          <p:cNvGraphicFramePr/>
          <p:nvPr/>
        </p:nvGraphicFramePr>
        <p:xfrm>
          <a:off x="548640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{2E0C7B6C-E8B0-4840-9B5D-C40F0BA60CA5}</a:tableStyleId>
              </a:tblPr>
              <a:tblGrid>
                <a:gridCol w="1463050"/>
                <a:gridCol w="2194550"/>
                <a:gridCol w="2194550"/>
                <a:gridCol w="1508750"/>
                <a:gridCol w="373075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Owner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Feature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Final Format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Split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Leakage Control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</a:tr>
              <a:tr h="749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Shiwani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Landmark features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.npy + .csv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Subject-wise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shared windows; train-only normalization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7"/>
                    </a:solidFill>
                  </a:tcPr>
                </a:tc>
              </a:tr>
              <a:tr h="749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Kushagra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Video fatigue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Class-wise folders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Subject-wise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Subject split before frame extraction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49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Shubham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Activity classification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Image folders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70/15/15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Duplicates removed before split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7"/>
                    </a:solidFill>
                  </a:tcPr>
                </a:tc>
              </a:tr>
              <a:tr h="749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Sohini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Seat belt &amp; phone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YOLO + data.yaml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70/20/10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Sequence-based stratified split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49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Ravina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Smoking &amp; drinking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YOLO + data.yaml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80/10/10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Dedup + train-only augmentation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91450" marL="91450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  <p:sp>
        <p:nvSpPr>
          <p:cNvPr id="311" name="Google Shape;311;p1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4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— Milestone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2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4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3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59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C7599"/>
                </a:solidFill>
                <a:latin typeface="Calibri"/>
                <a:ea typeface="Calibri"/>
                <a:cs typeface="Calibri"/>
                <a:sym typeface="Calibri"/>
              </a:rPr>
              <a:t>MILESTONE 3 HANDOFF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3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Model Input Readiness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0" name="Google Shape;320;p13"/>
          <p:cNvGraphicFramePr/>
          <p:nvPr/>
        </p:nvGraphicFramePr>
        <p:xfrm>
          <a:off x="548640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{2E0C7B6C-E8B0-4840-9B5D-C40F0BA60CA5}</a:tableStyleId>
              </a:tblPr>
              <a:tblGrid>
                <a:gridCol w="2560325"/>
                <a:gridCol w="3657600"/>
                <a:gridCol w="2862075"/>
                <a:gridCol w="201167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Feature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50" marB="91450" marR="128025" marL="128025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Planned Model(s)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50" marB="91450" marR="128025" marL="128025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Input Shape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50" marB="91450" marR="128025" marL="128025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Status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50" marB="91450" marR="128025" marL="128025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Driver Activity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50" marB="91450" marR="128025" marL="128025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ResNet50, MobileNetV3, EfficientNet-B0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50" marB="91450" marR="128025" marL="128025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(3, 224, 224) RGB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50" marB="91450" marR="128025" marL="128025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A76B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3FA76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Ready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50" marB="91450" marR="128025" marL="128025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7"/>
                    </a:solidFill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Video Fatigue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50" marB="91450" marR="128025" marL="128025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CNN-LSTM, CNN-GRU, TCN, 3D CNN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50" marB="91450" marR="128025" marL="128025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(16, 224, 224, 3)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50" marB="91450" marR="128025" marL="128025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A76B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3FA76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Ready for sequencing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50" marB="91450" marR="128025" marL="128025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Landmark Features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50" marB="91450" marR="128025" marL="128025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LSTM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50" marB="91450" marR="128025" marL="128025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(30, 5)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50" marB="91450" marR="128025" marL="128025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A76B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3FA76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Ready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50" marB="91450" marR="128025" marL="128025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7"/>
                    </a:solidFill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Seat Belt / Phone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50" marB="91450" marR="128025" marL="128025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YOLOv8n, YOLO11n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50" marB="91450" marR="128025" marL="128025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(640, 640, 3) + labels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50" marB="91450" marR="128025" marL="128025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A76B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3FA76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Ready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50" marB="91450" marR="128025" marL="128025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Smoking / Drinking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50" marB="91450" marR="128025" marL="128025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YOLO-based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50" marB="91450" marR="128025" marL="128025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(640, 640, 3) + labels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50" marB="91450" marR="128025" marL="128025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A76B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3FA76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Ready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50" marB="91450" marR="128025" marL="128025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  <p:sp>
        <p:nvSpPr>
          <p:cNvPr id="321" name="Google Shape;321;p1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4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— Milestone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4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4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59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C7599"/>
                </a:solidFill>
                <a:latin typeface="Calibri"/>
                <a:ea typeface="Calibri"/>
                <a:cs typeface="Calibri"/>
                <a:sym typeface="Calibri"/>
              </a:rPr>
              <a:t>ACCESS &amp; REPEATABILITY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4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Reproducibility and Hosted Datasets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4"/>
          <p:cNvSpPr/>
          <p:nvPr/>
        </p:nvSpPr>
        <p:spPr>
          <a:xfrm>
            <a:off x="548640" y="155448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59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C7599"/>
                </a:solidFill>
                <a:latin typeface="Calibri"/>
                <a:ea typeface="Calibri"/>
                <a:cs typeface="Calibri"/>
                <a:sym typeface="Calibri"/>
              </a:rPr>
              <a:t>REPRODUCIBILITY PLAN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4"/>
          <p:cNvSpPr/>
          <p:nvPr/>
        </p:nvSpPr>
        <p:spPr>
          <a:xfrm>
            <a:off x="548640" y="1965960"/>
            <a:ext cx="310896" cy="310896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4"/>
          <p:cNvSpPr/>
          <p:nvPr/>
        </p:nvSpPr>
        <p:spPr>
          <a:xfrm>
            <a:off x="548640" y="196596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4"/>
          <p:cNvSpPr/>
          <p:nvPr/>
        </p:nvSpPr>
        <p:spPr>
          <a:xfrm>
            <a:off x="987552" y="1929384"/>
            <a:ext cx="4846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Download raw dataset from documented source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4"/>
          <p:cNvSpPr/>
          <p:nvPr/>
        </p:nvSpPr>
        <p:spPr>
          <a:xfrm>
            <a:off x="548640" y="2423160"/>
            <a:ext cx="310896" cy="310896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4"/>
          <p:cNvSpPr/>
          <p:nvPr/>
        </p:nvSpPr>
        <p:spPr>
          <a:xfrm>
            <a:off x="548640" y="242316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4"/>
          <p:cNvSpPr/>
          <p:nvPr/>
        </p:nvSpPr>
        <p:spPr>
          <a:xfrm>
            <a:off x="987552" y="2386584"/>
            <a:ext cx="4846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Run the dataset inventory script / notebook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4"/>
          <p:cNvSpPr/>
          <p:nvPr/>
        </p:nvSpPr>
        <p:spPr>
          <a:xfrm>
            <a:off x="548640" y="2880360"/>
            <a:ext cx="310896" cy="310896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4"/>
          <p:cNvSpPr/>
          <p:nvPr/>
        </p:nvSpPr>
        <p:spPr>
          <a:xfrm>
            <a:off x="548640" y="288036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4"/>
          <p:cNvSpPr/>
          <p:nvPr/>
        </p:nvSpPr>
        <p:spPr>
          <a:xfrm>
            <a:off x="987552" y="2843784"/>
            <a:ext cx="4846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Validate missing files, corrupt files, annotations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4"/>
          <p:cNvSpPr/>
          <p:nvPr/>
        </p:nvSpPr>
        <p:spPr>
          <a:xfrm>
            <a:off x="548640" y="3337560"/>
            <a:ext cx="310896" cy="310896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4"/>
          <p:cNvSpPr/>
          <p:nvPr/>
        </p:nvSpPr>
        <p:spPr>
          <a:xfrm>
            <a:off x="548640" y="333756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4"/>
          <p:cNvSpPr/>
          <p:nvPr/>
        </p:nvSpPr>
        <p:spPr>
          <a:xfrm>
            <a:off x="987552" y="3300984"/>
            <a:ext cx="4846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Generate metadata and EDA charts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4"/>
          <p:cNvSpPr/>
          <p:nvPr/>
        </p:nvSpPr>
        <p:spPr>
          <a:xfrm>
            <a:off x="548640" y="3794760"/>
            <a:ext cx="310896" cy="310896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4"/>
          <p:cNvSpPr/>
          <p:nvPr/>
        </p:nvSpPr>
        <p:spPr>
          <a:xfrm>
            <a:off x="548640" y="379476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4"/>
          <p:cNvSpPr/>
          <p:nvPr/>
        </p:nvSpPr>
        <p:spPr>
          <a:xfrm>
            <a:off x="987552" y="3758184"/>
            <a:ext cx="4846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Apply cleaning (dedup, invalid-frame removal)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4"/>
          <p:cNvSpPr/>
          <p:nvPr/>
        </p:nvSpPr>
        <p:spPr>
          <a:xfrm>
            <a:off x="548640" y="4251960"/>
            <a:ext cx="310896" cy="310896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4"/>
          <p:cNvSpPr/>
          <p:nvPr/>
        </p:nvSpPr>
        <p:spPr>
          <a:xfrm>
            <a:off x="548640" y="425196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4"/>
          <p:cNvSpPr/>
          <p:nvPr/>
        </p:nvSpPr>
        <p:spPr>
          <a:xfrm>
            <a:off x="987552" y="4215384"/>
            <a:ext cx="4846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Create train / validation / test splits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4"/>
          <p:cNvSpPr/>
          <p:nvPr/>
        </p:nvSpPr>
        <p:spPr>
          <a:xfrm>
            <a:off x="548640" y="4709160"/>
            <a:ext cx="310896" cy="310896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4"/>
          <p:cNvSpPr/>
          <p:nvPr/>
        </p:nvSpPr>
        <p:spPr>
          <a:xfrm>
            <a:off x="548640" y="470916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4"/>
          <p:cNvSpPr/>
          <p:nvPr/>
        </p:nvSpPr>
        <p:spPr>
          <a:xfrm>
            <a:off x="987552" y="4672584"/>
            <a:ext cx="4846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Save processed files into final folder structure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4"/>
          <p:cNvSpPr/>
          <p:nvPr/>
        </p:nvSpPr>
        <p:spPr>
          <a:xfrm>
            <a:off x="548640" y="5166360"/>
            <a:ext cx="310896" cy="310896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4"/>
          <p:cNvSpPr/>
          <p:nvPr/>
        </p:nvSpPr>
        <p:spPr>
          <a:xfrm>
            <a:off x="548640" y="516636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4"/>
          <p:cNvSpPr/>
          <p:nvPr/>
        </p:nvSpPr>
        <p:spPr>
          <a:xfrm>
            <a:off x="987552" y="5129784"/>
            <a:ext cx="4846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Use hosted processed dataset where available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4"/>
          <p:cNvSpPr/>
          <p:nvPr/>
        </p:nvSpPr>
        <p:spPr>
          <a:xfrm>
            <a:off x="6309360" y="155448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59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C7599"/>
                </a:solidFill>
                <a:latin typeface="Calibri"/>
                <a:ea typeface="Calibri"/>
                <a:cs typeface="Calibri"/>
                <a:sym typeface="Calibri"/>
              </a:rPr>
              <a:t>HOSTED DATASET STATUS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4"/>
          <p:cNvSpPr/>
          <p:nvPr/>
        </p:nvSpPr>
        <p:spPr>
          <a:xfrm>
            <a:off x="6309360" y="1965960"/>
            <a:ext cx="5349240" cy="566928"/>
          </a:xfrm>
          <a:prstGeom prst="roundRect">
            <a:avLst>
              <a:gd fmla="val 9677" name="adj"/>
            </a:avLst>
          </a:prstGeom>
          <a:solidFill>
            <a:srgbClr val="FFFFFF"/>
          </a:solidFill>
          <a:ln>
            <a:noFill/>
          </a:ln>
          <a:effectLst>
            <a:outerShdw blurRad="50800" rotWithShape="0" algn="bl" dir="5400000" dist="12700">
              <a:srgbClr val="1B2A4A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4"/>
          <p:cNvSpPr/>
          <p:nvPr/>
        </p:nvSpPr>
        <p:spPr>
          <a:xfrm>
            <a:off x="6492240" y="1965960"/>
            <a:ext cx="1371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Shiwani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4"/>
          <p:cNvSpPr/>
          <p:nvPr/>
        </p:nvSpPr>
        <p:spPr>
          <a:xfrm>
            <a:off x="7863840" y="1965960"/>
            <a:ext cx="2651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A94"/>
                </a:solidFill>
                <a:latin typeface="Calibri"/>
                <a:ea typeface="Calibri"/>
                <a:cs typeface="Calibri"/>
                <a:sym typeface="Calibri"/>
              </a:rPr>
              <a:t>Landmark Features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4"/>
          <p:cNvSpPr/>
          <p:nvPr/>
        </p:nvSpPr>
        <p:spPr>
          <a:xfrm>
            <a:off x="10561320" y="2084832"/>
            <a:ext cx="1005840" cy="329184"/>
          </a:xfrm>
          <a:prstGeom prst="roundRect">
            <a:avLst>
              <a:gd fmla="val 50000" name="adj"/>
            </a:avLst>
          </a:prstGeom>
          <a:solidFill>
            <a:srgbClr val="3FA7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4"/>
          <p:cNvSpPr/>
          <p:nvPr/>
        </p:nvSpPr>
        <p:spPr>
          <a:xfrm>
            <a:off x="10561320" y="2084832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Provided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6309360" y="2642616"/>
            <a:ext cx="5349240" cy="566928"/>
          </a:xfrm>
          <a:prstGeom prst="roundRect">
            <a:avLst>
              <a:gd fmla="val 9677" name="adj"/>
            </a:avLst>
          </a:prstGeom>
          <a:solidFill>
            <a:srgbClr val="FFFFFF"/>
          </a:solidFill>
          <a:ln>
            <a:noFill/>
          </a:ln>
          <a:effectLst>
            <a:outerShdw blurRad="50800" rotWithShape="0" algn="bl" dir="5400000" dist="12700">
              <a:srgbClr val="1B2A4A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4"/>
          <p:cNvSpPr/>
          <p:nvPr/>
        </p:nvSpPr>
        <p:spPr>
          <a:xfrm>
            <a:off x="6492240" y="2642616"/>
            <a:ext cx="1371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Kushagra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4"/>
          <p:cNvSpPr/>
          <p:nvPr/>
        </p:nvSpPr>
        <p:spPr>
          <a:xfrm>
            <a:off x="7863840" y="2642616"/>
            <a:ext cx="2651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A94"/>
                </a:solidFill>
                <a:latin typeface="Calibri"/>
                <a:ea typeface="Calibri"/>
                <a:cs typeface="Calibri"/>
                <a:sym typeface="Calibri"/>
              </a:rPr>
              <a:t>Video Fatigue Detection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4"/>
          <p:cNvSpPr/>
          <p:nvPr/>
        </p:nvSpPr>
        <p:spPr>
          <a:xfrm>
            <a:off x="10561320" y="2761488"/>
            <a:ext cx="1005840" cy="329184"/>
          </a:xfrm>
          <a:prstGeom prst="roundRect">
            <a:avLst>
              <a:gd fmla="val 50000" name="adj"/>
            </a:avLst>
          </a:prstGeom>
          <a:solidFill>
            <a:srgbClr val="3FA7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4"/>
          <p:cNvSpPr/>
          <p:nvPr/>
        </p:nvSpPr>
        <p:spPr>
          <a:xfrm>
            <a:off x="10561320" y="2761488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Provided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4"/>
          <p:cNvSpPr/>
          <p:nvPr/>
        </p:nvSpPr>
        <p:spPr>
          <a:xfrm>
            <a:off x="6309360" y="3319272"/>
            <a:ext cx="5349240" cy="566928"/>
          </a:xfrm>
          <a:prstGeom prst="roundRect">
            <a:avLst>
              <a:gd fmla="val 9677" name="adj"/>
            </a:avLst>
          </a:prstGeom>
          <a:solidFill>
            <a:srgbClr val="FFFFFF"/>
          </a:solidFill>
          <a:ln>
            <a:noFill/>
          </a:ln>
          <a:effectLst>
            <a:outerShdw blurRad="50800" rotWithShape="0" algn="bl" dir="5400000" dist="12700">
              <a:srgbClr val="1B2A4A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4"/>
          <p:cNvSpPr/>
          <p:nvPr/>
        </p:nvSpPr>
        <p:spPr>
          <a:xfrm>
            <a:off x="6492240" y="3319272"/>
            <a:ext cx="1371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Shubham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4"/>
          <p:cNvSpPr/>
          <p:nvPr/>
        </p:nvSpPr>
        <p:spPr>
          <a:xfrm>
            <a:off x="7863840" y="3319272"/>
            <a:ext cx="2651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A94"/>
                </a:solidFill>
                <a:latin typeface="Calibri"/>
                <a:ea typeface="Calibri"/>
                <a:cs typeface="Calibri"/>
                <a:sym typeface="Calibri"/>
              </a:rPr>
              <a:t>Activity Classification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4"/>
          <p:cNvSpPr/>
          <p:nvPr/>
        </p:nvSpPr>
        <p:spPr>
          <a:xfrm>
            <a:off x="10561320" y="3438144"/>
            <a:ext cx="1005840" cy="329184"/>
          </a:xfrm>
          <a:prstGeom prst="roundRect">
            <a:avLst>
              <a:gd fmla="val 50000" name="adj"/>
            </a:avLst>
          </a:prstGeom>
          <a:solidFill>
            <a:srgbClr val="3FA7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highlight>
                  <a:srgbClr val="3FA76B"/>
                </a:highlight>
              </a:rPr>
              <a:t>Provided</a:t>
            </a:r>
            <a:endParaRPr sz="1000">
              <a:solidFill>
                <a:schemeClr val="lt1"/>
              </a:solidFill>
              <a:highlight>
                <a:srgbClr val="3FA76B"/>
              </a:highlight>
            </a:endParaRPr>
          </a:p>
        </p:txBody>
      </p:sp>
      <p:sp>
        <p:nvSpPr>
          <p:cNvPr id="370" name="Google Shape;370;p14"/>
          <p:cNvSpPr/>
          <p:nvPr/>
        </p:nvSpPr>
        <p:spPr>
          <a:xfrm>
            <a:off x="6309360" y="3995928"/>
            <a:ext cx="5349240" cy="566928"/>
          </a:xfrm>
          <a:prstGeom prst="roundRect">
            <a:avLst>
              <a:gd fmla="val 9677" name="adj"/>
            </a:avLst>
          </a:prstGeom>
          <a:solidFill>
            <a:srgbClr val="FFFFFF"/>
          </a:solidFill>
          <a:ln>
            <a:noFill/>
          </a:ln>
          <a:effectLst>
            <a:outerShdw blurRad="50800" rotWithShape="0" algn="bl" dir="5400000" dist="12700">
              <a:srgbClr val="1B2A4A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4"/>
          <p:cNvSpPr/>
          <p:nvPr/>
        </p:nvSpPr>
        <p:spPr>
          <a:xfrm>
            <a:off x="6492240" y="3995928"/>
            <a:ext cx="1371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Sohini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4"/>
          <p:cNvSpPr/>
          <p:nvPr/>
        </p:nvSpPr>
        <p:spPr>
          <a:xfrm>
            <a:off x="7863840" y="3995928"/>
            <a:ext cx="2651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A94"/>
                </a:solidFill>
                <a:latin typeface="Calibri"/>
                <a:ea typeface="Calibri"/>
                <a:cs typeface="Calibri"/>
                <a:sym typeface="Calibri"/>
              </a:rPr>
              <a:t>Seat Belt &amp; Phone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4"/>
          <p:cNvSpPr/>
          <p:nvPr/>
        </p:nvSpPr>
        <p:spPr>
          <a:xfrm>
            <a:off x="10561320" y="4114800"/>
            <a:ext cx="1005840" cy="329184"/>
          </a:xfrm>
          <a:prstGeom prst="roundRect">
            <a:avLst>
              <a:gd fmla="val 50000" name="adj"/>
            </a:avLst>
          </a:prstGeom>
          <a:solidFill>
            <a:srgbClr val="3FA7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4"/>
          <p:cNvSpPr/>
          <p:nvPr/>
        </p:nvSpPr>
        <p:spPr>
          <a:xfrm>
            <a:off x="10561320" y="4114800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Provided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4"/>
          <p:cNvSpPr/>
          <p:nvPr/>
        </p:nvSpPr>
        <p:spPr>
          <a:xfrm>
            <a:off x="6309360" y="4672584"/>
            <a:ext cx="5349240" cy="566928"/>
          </a:xfrm>
          <a:prstGeom prst="roundRect">
            <a:avLst>
              <a:gd fmla="val 9677" name="adj"/>
            </a:avLst>
          </a:prstGeom>
          <a:solidFill>
            <a:srgbClr val="FFFFFF"/>
          </a:solidFill>
          <a:ln>
            <a:noFill/>
          </a:ln>
          <a:effectLst>
            <a:outerShdw blurRad="50800" rotWithShape="0" algn="bl" dir="5400000" dist="12700">
              <a:srgbClr val="1B2A4A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4"/>
          <p:cNvSpPr/>
          <p:nvPr/>
        </p:nvSpPr>
        <p:spPr>
          <a:xfrm>
            <a:off x="6492240" y="4672584"/>
            <a:ext cx="1371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Ravina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4"/>
          <p:cNvSpPr/>
          <p:nvPr/>
        </p:nvSpPr>
        <p:spPr>
          <a:xfrm>
            <a:off x="7863840" y="4672584"/>
            <a:ext cx="2651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A94"/>
                </a:solidFill>
                <a:latin typeface="Calibri"/>
                <a:ea typeface="Calibri"/>
                <a:cs typeface="Calibri"/>
                <a:sym typeface="Calibri"/>
              </a:rPr>
              <a:t>Smoking &amp; Drinking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4"/>
          <p:cNvSpPr/>
          <p:nvPr/>
        </p:nvSpPr>
        <p:spPr>
          <a:xfrm>
            <a:off x="10561320" y="4791456"/>
            <a:ext cx="1005840" cy="329184"/>
          </a:xfrm>
          <a:prstGeom prst="roundRect">
            <a:avLst>
              <a:gd fmla="val 50000" name="adj"/>
            </a:avLst>
          </a:prstGeom>
          <a:solidFill>
            <a:srgbClr val="3FA7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4"/>
          <p:cNvSpPr/>
          <p:nvPr/>
        </p:nvSpPr>
        <p:spPr>
          <a:xfrm>
            <a:off x="10561320" y="4791456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Provided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4"/>
          <p:cNvSpPr/>
          <p:nvPr/>
        </p:nvSpPr>
        <p:spPr>
          <a:xfrm>
            <a:off x="6309360" y="5486400"/>
            <a:ext cx="5349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4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6B7A94"/>
                </a:solidFill>
                <a:latin typeface="Calibri"/>
                <a:ea typeface="Calibri"/>
                <a:cs typeface="Calibri"/>
                <a:sym typeface="Calibri"/>
              </a:rPr>
              <a:t>Where a hosted link isn't ready yet, the dataset can be regenerated from the documented preprocessing scripts.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4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— Milestone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4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5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59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C7599"/>
                </a:solidFill>
                <a:latin typeface="Calibri"/>
                <a:ea typeface="Calibri"/>
                <a:cs typeface="Calibri"/>
                <a:sym typeface="Calibri"/>
              </a:rPr>
              <a:t>HONEST ASSESSMENT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5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Adequacy and Known Limitations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5"/>
          <p:cNvSpPr/>
          <p:nvPr/>
        </p:nvSpPr>
        <p:spPr>
          <a:xfrm>
            <a:off x="548640" y="1554480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Datasets are adequate for Milestone 3 — every planned model has a matching processed dataset. A few constraints remain to keep in mind during training and evaluation: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5"/>
          <p:cNvSpPr/>
          <p:nvPr/>
        </p:nvSpPr>
        <p:spPr>
          <a:xfrm>
            <a:off x="548640" y="2386584"/>
            <a:ext cx="128016" cy="128016"/>
          </a:xfrm>
          <a:prstGeom prst="roundRect">
            <a:avLst>
              <a:gd fmla="val 21429" name="adj"/>
            </a:avLst>
          </a:prstGeom>
          <a:solidFill>
            <a:srgbClr val="C85A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5"/>
          <p:cNvSpPr/>
          <p:nvPr/>
        </p:nvSpPr>
        <p:spPr>
          <a:xfrm>
            <a:off x="841248" y="2203704"/>
            <a:ext cx="5056632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Some datasets reflect controlled, not real-world, environments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5"/>
          <p:cNvSpPr/>
          <p:nvPr/>
        </p:nvSpPr>
        <p:spPr>
          <a:xfrm>
            <a:off x="6263640" y="2386584"/>
            <a:ext cx="128016" cy="128016"/>
          </a:xfrm>
          <a:prstGeom prst="roundRect">
            <a:avLst>
              <a:gd fmla="val 21429" name="adj"/>
            </a:avLst>
          </a:prstGeom>
          <a:solidFill>
            <a:srgbClr val="C85A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5"/>
          <p:cNvSpPr/>
          <p:nvPr/>
        </p:nvSpPr>
        <p:spPr>
          <a:xfrm>
            <a:off x="6556248" y="2203704"/>
            <a:ext cx="5056632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Night, rain, glare and occlusion cases may be underrepresented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5"/>
          <p:cNvSpPr/>
          <p:nvPr/>
        </p:nvSpPr>
        <p:spPr>
          <a:xfrm>
            <a:off x="548640" y="3255264"/>
            <a:ext cx="128016" cy="128016"/>
          </a:xfrm>
          <a:prstGeom prst="roundRect">
            <a:avLst>
              <a:gd fmla="val 21429" name="adj"/>
            </a:avLst>
          </a:prstGeom>
          <a:solidFill>
            <a:srgbClr val="C85A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5"/>
          <p:cNvSpPr/>
          <p:nvPr/>
        </p:nvSpPr>
        <p:spPr>
          <a:xfrm>
            <a:off x="841248" y="3072384"/>
            <a:ext cx="5056632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Fatigue detection uses a subset of UTA-RLDD (full set is large)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5"/>
          <p:cNvSpPr/>
          <p:nvPr/>
        </p:nvSpPr>
        <p:spPr>
          <a:xfrm>
            <a:off x="6263640" y="3255264"/>
            <a:ext cx="128016" cy="128016"/>
          </a:xfrm>
          <a:prstGeom prst="roundRect">
            <a:avLst>
              <a:gd fmla="val 21429" name="adj"/>
            </a:avLst>
          </a:prstGeom>
          <a:solidFill>
            <a:srgbClr val="C85A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5"/>
          <p:cNvSpPr/>
          <p:nvPr/>
        </p:nvSpPr>
        <p:spPr>
          <a:xfrm>
            <a:off x="6556248" y="3072384"/>
            <a:ext cx="5056632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Activity data may contain near-duplicate consecutive frames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5"/>
          <p:cNvSpPr/>
          <p:nvPr/>
        </p:nvSpPr>
        <p:spPr>
          <a:xfrm>
            <a:off x="548640" y="4123944"/>
            <a:ext cx="128016" cy="128016"/>
          </a:xfrm>
          <a:prstGeom prst="roundRect">
            <a:avLst>
              <a:gd fmla="val 21429" name="adj"/>
            </a:avLst>
          </a:prstGeom>
          <a:solidFill>
            <a:srgbClr val="C85A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5"/>
          <p:cNvSpPr/>
          <p:nvPr/>
        </p:nvSpPr>
        <p:spPr>
          <a:xfrm>
            <a:off x="841248" y="3941064"/>
            <a:ext cx="5056632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Some datasets lack subject IDs, limiting perfect leakage control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5"/>
          <p:cNvSpPr/>
          <p:nvPr/>
        </p:nvSpPr>
        <p:spPr>
          <a:xfrm>
            <a:off x="6263640" y="4123944"/>
            <a:ext cx="128016" cy="128016"/>
          </a:xfrm>
          <a:prstGeom prst="roundRect">
            <a:avLst>
              <a:gd fmla="val 21429" name="adj"/>
            </a:avLst>
          </a:prstGeom>
          <a:solidFill>
            <a:srgbClr val="C85A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5"/>
          <p:cNvSpPr/>
          <p:nvPr/>
        </p:nvSpPr>
        <p:spPr>
          <a:xfrm>
            <a:off x="6556248" y="3941064"/>
            <a:ext cx="5056632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Hosted links still need verification before final submission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5"/>
          <p:cNvSpPr/>
          <p:nvPr/>
        </p:nvSpPr>
        <p:spPr>
          <a:xfrm>
            <a:off x="548640" y="4992624"/>
            <a:ext cx="128016" cy="128016"/>
          </a:xfrm>
          <a:prstGeom prst="roundRect">
            <a:avLst>
              <a:gd fmla="val 21429" name="adj"/>
            </a:avLst>
          </a:prstGeom>
          <a:solidFill>
            <a:srgbClr val="C85A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5"/>
          <p:cNvSpPr/>
          <p:nvPr/>
        </p:nvSpPr>
        <p:spPr>
          <a:xfrm>
            <a:off x="841248" y="4809744"/>
            <a:ext cx="5056632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Smoking/drinking stats should expand as more data is analyzed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4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— Milestone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4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B30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6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9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993B"/>
                </a:solidFill>
                <a:latin typeface="Calibri"/>
                <a:ea typeface="Calibri"/>
                <a:cs typeface="Calibri"/>
                <a:sym typeface="Calibri"/>
              </a:rPr>
              <a:t>WHAT'S NEXT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6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Roadmap to Milestone 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6"/>
          <p:cNvSpPr/>
          <p:nvPr/>
        </p:nvSpPr>
        <p:spPr>
          <a:xfrm>
            <a:off x="548640" y="1874520"/>
            <a:ext cx="11064240" cy="658368"/>
          </a:xfrm>
          <a:prstGeom prst="roundRect">
            <a:avLst>
              <a:gd fmla="val 9722" name="adj"/>
            </a:avLst>
          </a:prstGeom>
          <a:solidFill>
            <a:srgbClr val="24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6"/>
          <p:cNvSpPr/>
          <p:nvPr/>
        </p:nvSpPr>
        <p:spPr>
          <a:xfrm>
            <a:off x="713232" y="1993392"/>
            <a:ext cx="420624" cy="420624"/>
          </a:xfrm>
          <a:prstGeom prst="ellipse">
            <a:avLst/>
          </a:prstGeom>
          <a:solidFill>
            <a:srgbClr val="E89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6"/>
          <p:cNvSpPr/>
          <p:nvPr/>
        </p:nvSpPr>
        <p:spPr>
          <a:xfrm>
            <a:off x="713232" y="1993392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6"/>
          <p:cNvSpPr/>
          <p:nvPr/>
        </p:nvSpPr>
        <p:spPr>
          <a:xfrm>
            <a:off x="1371600" y="1874520"/>
            <a:ext cx="99669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 image classifiers for driver distraction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6"/>
          <p:cNvSpPr/>
          <p:nvPr/>
        </p:nvSpPr>
        <p:spPr>
          <a:xfrm>
            <a:off x="548640" y="2670048"/>
            <a:ext cx="11064240" cy="658368"/>
          </a:xfrm>
          <a:prstGeom prst="roundRect">
            <a:avLst>
              <a:gd fmla="val 9722" name="adj"/>
            </a:avLst>
          </a:prstGeom>
          <a:solidFill>
            <a:srgbClr val="24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6"/>
          <p:cNvSpPr/>
          <p:nvPr/>
        </p:nvSpPr>
        <p:spPr>
          <a:xfrm>
            <a:off x="713232" y="2788920"/>
            <a:ext cx="420624" cy="420624"/>
          </a:xfrm>
          <a:prstGeom prst="ellipse">
            <a:avLst/>
          </a:prstGeom>
          <a:solidFill>
            <a:srgbClr val="E89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6"/>
          <p:cNvSpPr/>
          <p:nvPr/>
        </p:nvSpPr>
        <p:spPr>
          <a:xfrm>
            <a:off x="713232" y="278892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6"/>
          <p:cNvSpPr/>
          <p:nvPr/>
        </p:nvSpPr>
        <p:spPr>
          <a:xfrm>
            <a:off x="1371600" y="2670048"/>
            <a:ext cx="99669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 / fine-tune YOLO for seat-belt, phone, smoking &amp; drinking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6"/>
          <p:cNvSpPr/>
          <p:nvPr/>
        </p:nvSpPr>
        <p:spPr>
          <a:xfrm>
            <a:off x="548640" y="3465576"/>
            <a:ext cx="11064240" cy="658368"/>
          </a:xfrm>
          <a:prstGeom prst="roundRect">
            <a:avLst>
              <a:gd fmla="val 9722" name="adj"/>
            </a:avLst>
          </a:prstGeom>
          <a:solidFill>
            <a:srgbClr val="24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6"/>
          <p:cNvSpPr/>
          <p:nvPr/>
        </p:nvSpPr>
        <p:spPr>
          <a:xfrm>
            <a:off x="713232" y="3584448"/>
            <a:ext cx="420624" cy="420624"/>
          </a:xfrm>
          <a:prstGeom prst="ellipse">
            <a:avLst/>
          </a:prstGeom>
          <a:solidFill>
            <a:srgbClr val="E89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6"/>
          <p:cNvSpPr/>
          <p:nvPr/>
        </p:nvSpPr>
        <p:spPr>
          <a:xfrm>
            <a:off x="713232" y="358444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6"/>
          <p:cNvSpPr/>
          <p:nvPr/>
        </p:nvSpPr>
        <p:spPr>
          <a:xfrm>
            <a:off x="1371600" y="3465576"/>
            <a:ext cx="99669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 LSTM models on landmark temporal features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6"/>
          <p:cNvSpPr/>
          <p:nvPr/>
        </p:nvSpPr>
        <p:spPr>
          <a:xfrm>
            <a:off x="548640" y="4261104"/>
            <a:ext cx="11064240" cy="658368"/>
          </a:xfrm>
          <a:prstGeom prst="roundRect">
            <a:avLst>
              <a:gd fmla="val 9722" name="adj"/>
            </a:avLst>
          </a:prstGeom>
          <a:solidFill>
            <a:srgbClr val="24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6"/>
          <p:cNvSpPr/>
          <p:nvPr/>
        </p:nvSpPr>
        <p:spPr>
          <a:xfrm>
            <a:off x="713232" y="4379976"/>
            <a:ext cx="420624" cy="420624"/>
          </a:xfrm>
          <a:prstGeom prst="ellipse">
            <a:avLst/>
          </a:prstGeom>
          <a:solidFill>
            <a:srgbClr val="E89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6"/>
          <p:cNvSpPr/>
          <p:nvPr/>
        </p:nvSpPr>
        <p:spPr>
          <a:xfrm>
            <a:off x="713232" y="437997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6"/>
          <p:cNvSpPr/>
          <p:nvPr/>
        </p:nvSpPr>
        <p:spPr>
          <a:xfrm>
            <a:off x="1371600" y="4261104"/>
            <a:ext cx="99669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Sequence fatigue frames; test CNN-LSTM, CNN-GRU, TCN, 3D CNN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6"/>
          <p:cNvSpPr/>
          <p:nvPr/>
        </p:nvSpPr>
        <p:spPr>
          <a:xfrm>
            <a:off x="548640" y="5056632"/>
            <a:ext cx="11064240" cy="658368"/>
          </a:xfrm>
          <a:prstGeom prst="roundRect">
            <a:avLst>
              <a:gd fmla="val 9722" name="adj"/>
            </a:avLst>
          </a:prstGeom>
          <a:solidFill>
            <a:srgbClr val="24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6"/>
          <p:cNvSpPr/>
          <p:nvPr/>
        </p:nvSpPr>
        <p:spPr>
          <a:xfrm>
            <a:off x="713232" y="5175504"/>
            <a:ext cx="420624" cy="420624"/>
          </a:xfrm>
          <a:prstGeom prst="ellipse">
            <a:avLst/>
          </a:prstGeom>
          <a:solidFill>
            <a:srgbClr val="E89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6"/>
          <p:cNvSpPr/>
          <p:nvPr/>
        </p:nvSpPr>
        <p:spPr>
          <a:xfrm>
            <a:off x="713232" y="5175504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6"/>
          <p:cNvSpPr/>
          <p:nvPr/>
        </p:nvSpPr>
        <p:spPr>
          <a:xfrm>
            <a:off x="1371600" y="5056632"/>
            <a:ext cx="99669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Compare accuracy, precision, recall, F1, mAP, FPS &amp; false alarms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6"/>
          <p:cNvSpPr/>
          <p:nvPr/>
        </p:nvSpPr>
        <p:spPr>
          <a:xfrm>
            <a:off x="548640" y="5852160"/>
            <a:ext cx="11064240" cy="658368"/>
          </a:xfrm>
          <a:prstGeom prst="roundRect">
            <a:avLst>
              <a:gd fmla="val 9722" name="adj"/>
            </a:avLst>
          </a:prstGeom>
          <a:solidFill>
            <a:srgbClr val="24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6"/>
          <p:cNvSpPr/>
          <p:nvPr/>
        </p:nvSpPr>
        <p:spPr>
          <a:xfrm>
            <a:off x="713232" y="5971032"/>
            <a:ext cx="420624" cy="420624"/>
          </a:xfrm>
          <a:prstGeom prst="ellipse">
            <a:avLst/>
          </a:prstGeom>
          <a:solidFill>
            <a:srgbClr val="E89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6"/>
          <p:cNvSpPr/>
          <p:nvPr/>
        </p:nvSpPr>
        <p:spPr>
          <a:xfrm>
            <a:off x="713232" y="5971032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6"/>
          <p:cNvSpPr/>
          <p:nvPr/>
        </p:nvSpPr>
        <p:spPr>
          <a:xfrm>
            <a:off x="1371600" y="5852160"/>
            <a:ext cx="99669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Integrate module outputs into one driver wellness score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0A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A6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— Milestone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80A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A6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7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59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C7599"/>
                </a:solidFill>
                <a:latin typeface="Calibri"/>
                <a:ea typeface="Calibri"/>
                <a:cs typeface="Calibri"/>
                <a:sym typeface="Calibri"/>
              </a:rPr>
              <a:t>WRAP-UP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7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Team Contributions &amp; Conclusion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47" name="Google Shape;447;p17"/>
          <p:cNvGraphicFramePr/>
          <p:nvPr/>
        </p:nvGraphicFramePr>
        <p:xfrm>
          <a:off x="548640" y="16459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{2E0C7B6C-E8B0-4840-9B5D-C40F0BA60CA5}</a:tableStyleId>
              </a:tblPr>
              <a:tblGrid>
                <a:gridCol w="1828800"/>
                <a:gridCol w="926287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Member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50" marB="91450" marR="109725" marL="109725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Milestone 2 Contribution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50" marB="91450" marR="109725" marL="109725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Kushagra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50" marB="91450" marR="109725" marL="109725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UTA-RLDD dataset, EDA, split strategy, processed frames, report &amp; GitHub organization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50" marB="91450" marR="109725" marL="109725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7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Shiwani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50" marB="91450" marR="109725" marL="109725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Landmark feature dataset, processed sequence files, dataset hosting summary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50" marB="91450" marR="109725" marL="109725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Shubham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50" marB="91450" marR="109725" marL="109725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Driver activity preprocessing, model-readiness summary, input format details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50" marB="91450" marR="109725" marL="109725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7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Sohini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50" marB="91450" marR="109725" marL="109725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Seat belt / phone processing, quality checks, leakage prevention, YOLO structure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50" marB="91450" marR="109725" marL="109725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Ravina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50" marB="91450" marR="109725" marL="109725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Smoking / drinking dataset structure, hosting details, presentation &amp; final review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50" marB="91450" marR="109725" marL="109725" anchor="ctr">
                    <a:lnL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  <p:sp>
        <p:nvSpPr>
          <p:cNvPr id="448" name="Google Shape;448;p17"/>
          <p:cNvSpPr/>
          <p:nvPr/>
        </p:nvSpPr>
        <p:spPr>
          <a:xfrm>
            <a:off x="548640" y="5166360"/>
            <a:ext cx="11091672" cy="1051560"/>
          </a:xfrm>
          <a:prstGeom prst="roundRect">
            <a:avLst>
              <a:gd fmla="val 6957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7"/>
          <p:cNvSpPr/>
          <p:nvPr/>
        </p:nvSpPr>
        <p:spPr>
          <a:xfrm>
            <a:off x="822960" y="5166360"/>
            <a:ext cx="10543032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Milestone 2 sets the dataset foundation for the AI-Powered Driver Wellness and Safety Monitoring System — five modules, all EDA-checked, cleaned, split without leakage, and structured for direct use in Milestone 3 model training.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4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— Milestone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4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