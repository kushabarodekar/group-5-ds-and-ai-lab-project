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rgbClr val="8A4F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FD-459E-93EB-71E1008CD48E}"/>
              </c:ext>
            </c:extLst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FD-459E-93EB-71E1008CD4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Smoking</c:v>
                </c:pt>
                <c:pt idx="1">
                  <c:v>Drinking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15127</c:v>
                </c:pt>
                <c:pt idx="1">
                  <c:v>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FD-459E-93EB-71E1008CD4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65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237744" cy="237744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50976" y="1371600"/>
            <a:ext cx="237744" cy="237744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35024" y="1371600"/>
            <a:ext cx="237744" cy="237744"/>
          </a:xfrm>
          <a:prstGeom prst="ellipse">
            <a:avLst/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19072" y="1371600"/>
            <a:ext cx="237744" cy="237744"/>
          </a:xfrm>
          <a:prstGeom prst="ellipse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237744" cy="237744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DATASET PREPARATION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2860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Driver Wellness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Safety Monitoring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driver-monitoring modules — identified, cleaned, split without leakage, and structured model-ready for Milestone 3. Presented one member at a time.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5349240"/>
            <a:ext cx="3017520" cy="0"/>
          </a:xfrm>
          <a:prstGeom prst="line">
            <a:avLst/>
          </a:prstGeom>
          <a:noFill/>
          <a:ln w="254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   ·   Shiwani   ·   Shubham   ·   Sohini   ·   Ravina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Five Owners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819656"/>
            <a:ext cx="475488" cy="475488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746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Shiwani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Temporal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YawDD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/ MAR &amp; head-pose sequences → LSTM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2843784"/>
            <a:ext cx="475488" cy="475488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Kushagra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Video-Based Fatigue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6243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UTA-RLDD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26243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Caution / High-Risk over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648456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3867912"/>
            <a:ext cx="475488" cy="475488"/>
          </a:xfrm>
          <a:prstGeom prst="ellipse">
            <a:avLst/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Shubham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41056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Activity Classification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63440" y="36484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Distracted Driver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364845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distraction CNN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7258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8640" y="4672584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68680" y="4892040"/>
            <a:ext cx="475488" cy="475488"/>
          </a:xfrm>
          <a:prstGeom prst="ellipse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8680" y="4892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4818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Sohini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08760" y="51297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Belt &amp; Phone Detection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63440" y="467258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Dataset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80960" y="46725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2-class YOLO object detection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696712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48640" y="5696712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68680" y="5916168"/>
            <a:ext cx="475488" cy="475488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68680" y="5916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508760" y="5843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Ravina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508760" y="6153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&amp; Drinking Detection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663440" y="569671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smoking/drinking set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80960" y="56967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2-class YOLO object detection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LANDMARK TEMPORAL FEATURES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68680" cy="868680"/>
          </a:xfrm>
          <a:prstGeom prst="ellipse">
            <a:avLst/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Shiwani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3504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YawDD Dataset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Yawning and driver-face videos feed extraction of facial landmarks, eye, mouth and head-pose signals — the behavioural signals of fatigue over time.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" y="42428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" y="42428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(temporal sequence)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" y="49286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0664" y="49286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(30, 5)  temporal feature sequence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4919472" cy="4617720"/>
          </a:xfrm>
          <a:prstGeom prst="roundRect">
            <a:avLst>
              <a:gd name="adj" fmla="val 1584"/>
            </a:avLst>
          </a:prstGeom>
          <a:solidFill>
            <a:srgbClr val="16324F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343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EAR, MAR, head pitch, yaw and roll per frame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represent behavioural change across time, not single frames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format: 30-frame temporal window, 5 features/frame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 temporal LSTM model in Milestone 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 · QUALITY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Landmark Extraction with MediaPipe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04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extraction success rate across the full corpus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288,174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404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processed across 349 YawDD videos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286,289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0" y="2404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frames retained after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1,885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052560" y="2404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frames discarded (no landmark)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Head-pose stability validation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&amp; MAR range validation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jitter review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success &amp; failure frames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429000"/>
            <a:ext cx="5468112" cy="2514600"/>
          </a:xfrm>
          <a:prstGeom prst="roundRect">
            <a:avLst>
              <a:gd name="adj" fmla="val 290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977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frames removed before feature building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with statistics from the training split only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temporal windows of 30 frames, stride 15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reliable for temporal sequence modeling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 · SPLITS &amp;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Subject-Wise, Leakage-Free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videos from one subject assigned to a single split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30-frame window stays inside its native video's split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normalization computed only on training data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stats then applied to validation &amp;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22392" cy="2743200"/>
          </a:xfrm>
          <a:prstGeom prst="roundRect">
            <a:avLst>
              <a:gd name="adj" fmla="val 2667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processed_dataset/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raw_features_all_videos.csv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normalized_features_all_videos.csv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train_windows.npy · val · test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train_meta.csv · val · test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8E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· Subject-wise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8E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0" y="4754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.npy + .csv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0" y="475488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· Google Drive 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VIDEO-BASED FATIGUE DETECTION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68680" cy="868680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Kushagra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3504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UTA-RLDD Dataset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drowsiness videos (Fold1 part1 &amp; part2) — 12 subjects, 36 videos. Fatigue is a temporal condition, so behaviour is learned over time, not from single frames.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" y="42428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" y="42428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· CNN-GRU · TCN · 3D CNN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" y="49286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0664" y="49286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(16, 224, 224, 3)  video sequence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4919472" cy="4617720"/>
          </a:xfrm>
          <a:prstGeom prst="roundRect">
            <a:avLst>
              <a:gd name="adj" fmla="val 1584"/>
            </a:avLst>
          </a:prstGeom>
          <a:solidFill>
            <a:srgbClr val="16324F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343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labels remapped: 0 → Safe, 5 → Caution, 10 → High Risk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Safe · 12 Caution · 12 High-Risk videos — perfectly balanced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frame can't distinguish tired vs blinking vs talking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CNN-LSTM / CNN-GRU / TCN / 3D-CNN in Milestone 3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 · QUALITY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Clean, Frame-Sampled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processed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645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19272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19272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found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645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89904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89904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videos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0536" y="1645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860536" y="1737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5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860536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/ unreadable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091672" cy="2788920"/>
          </a:xfrm>
          <a:prstGeom prst="roundRect">
            <a:avLst>
              <a:gd name="adj" fmla="val 2623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  ·  5 FRAMES PER VIDEO → 180 PROCESSED FRAMES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60520"/>
            <a:ext cx="822960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371600" y="3931920"/>
            <a:ext cx="457200" cy="457200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160520"/>
            <a:ext cx="822960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29000" y="3931920"/>
            <a:ext cx="457200" cy="457200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718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71600" y="4160520"/>
            <a:ext cx="822960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86400" y="3931920"/>
            <a:ext cx="457200" cy="457200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371600" y="4160520"/>
            <a:ext cx="822960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543800" y="3931920"/>
            <a:ext cx="457200" cy="457200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0866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1600" y="4160520"/>
            <a:ext cx="822960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601200" y="3931920"/>
            <a:ext cx="457200" cy="457200"/>
          </a:xfrm>
          <a:prstGeom prst="ellipse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.mov and .mp4 supported.  </a:t>
            </a: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(FPS, duration, frame count, resolution, size) extracted with OpenCV. In M3, frames extend into 16 / 32 / 64-frame clips.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 · SPLITS &amp;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Subject-Level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08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27614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2761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– 10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761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328416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12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videos of a subject stay in the same split — frames are extracted only after the split is finalized, so no frame from one video ever crosses splits.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1691640"/>
            <a:ext cx="4462272" cy="3383280"/>
          </a:xfrm>
          <a:prstGeom prst="roundRect">
            <a:avLst>
              <a:gd name="adj" fmla="val 2162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45236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FOLDERS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228600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fatigue_detection/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Safe/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Caution/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High_Risk/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val/   (same 3)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test/  (same 3)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5349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· Subject-wise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794760" y="53492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94760" y="5349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Frame folders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78040" y="5349240"/>
            <a:ext cx="44622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78040" y="534924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· Google Drive ✓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DRIVER ACTIVITY CLASSIFICATION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68680" cy="868680"/>
          </a:xfrm>
          <a:prstGeom prst="ellipse">
            <a:avLst/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Shubham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3504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Distracted Driver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classification of what the driver is doing — a CNN activity classifier over five real-world driving activity classes.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" y="42428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" y="42428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· MobileNetV3 · EfficientNet-B0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" y="49286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0664" y="49286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224, 224)  RGB image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4919472" cy="4617720"/>
          </a:xfrm>
          <a:prstGeom prst="roundRect">
            <a:avLst>
              <a:gd name="adj" fmla="val 1584"/>
            </a:avLst>
          </a:prstGeom>
          <a:solidFill>
            <a:srgbClr val="16324F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343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safe_driving, texting_phone, talking_phone, turning, other_activities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ResNet50, MobileNetV3 and EfficientNet-B0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4,307 clean images retained after quality cleaning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to 224×224 and augmented for CNN training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· QUALITY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Augmentation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2,969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images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· perceptual hashing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19272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19272" y="2487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images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816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· OpenCV load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89904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89904" y="2487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images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1344" y="2816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· realistic conditions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0536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60536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4,307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860536" y="2487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images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51976" y="2816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retained dataset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images to 224 × 224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applied during model training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scored with Laplacian variance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468112" cy="2194560"/>
          </a:xfrm>
          <a:prstGeom prst="roundRect">
            <a:avLst>
              <a:gd name="adj" fmla="val 3333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251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brightness &amp; contrast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· SPLITS &amp;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15 / 15 by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763256" cy="777240"/>
          </a:xfrm>
          <a:prstGeom prst="roundRect">
            <a:avLst>
              <a:gd name="adj" fmla="val 5882"/>
            </a:avLst>
          </a:prstGeom>
          <a:solidFill>
            <a:srgbClr val="0E23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763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70%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2103120"/>
            <a:ext cx="1664208" cy="777240"/>
          </a:xfrm>
          <a:prstGeom prst="roundRect">
            <a:avLst>
              <a:gd name="adj" fmla="val 5882"/>
            </a:avLst>
          </a:prstGeom>
          <a:solidFill>
            <a:srgbClr val="5A6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66760" y="21031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15%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85832" y="2103120"/>
            <a:ext cx="1664208" cy="777240"/>
          </a:xfrm>
          <a:prstGeom prst="roundRect">
            <a:avLst>
              <a:gd name="adj" fmla="val 5882"/>
            </a:avLst>
          </a:prstGeom>
          <a:solidFill>
            <a:srgbClr val="0E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85832" y="21031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15%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images removed before splitting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splitting keeps class balance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Post-split hash check flagged near-duplicate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images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sequence-/subject-wise split once driver IDs exist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422392" cy="2651760"/>
          </a:xfrm>
          <a:prstGeom prst="roundRect">
            <a:avLst>
              <a:gd name="adj" fmla="val 2759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CLASS-NAMED FOLDERS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8404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processed_dataset/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train/  {5 class folders}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validation/  {5 class folders}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test/  {5 class folders}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5257800"/>
            <a:ext cx="54223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A6FB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6217920" y="5257800"/>
            <a:ext cx="5422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is updated.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SEAT BELT &amp; PHONE DETECTION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68680" cy="868680"/>
          </a:xfrm>
          <a:prstGeom prst="ellipse">
            <a:avLst/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Sohini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3504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DMS Dataset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filtered Driver Monitoring System set turned into a clean two-class YOLO detector for visible safety-compliance objects in the cabin.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" y="42428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" y="42428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· YOLO11n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" y="49286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0664" y="49286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(640, 640, 3)  RGB image + YOLO labels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4919472" cy="4617720"/>
          </a:xfrm>
          <a:prstGeom prst="roundRect">
            <a:avLst>
              <a:gd name="adj" fmla="val 1584"/>
            </a:avLst>
          </a:prstGeom>
          <a:solidFill>
            <a:srgbClr val="16324F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343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— 0: Phone, 1: Seatbelt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classes removed; remaining classes remapped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6,140 images with 6,140 matching label files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6,701 bounding boxes validated for correctness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SOHINI · QUALITY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Image–Label Parity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SOHINI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6,140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04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each with a matching label 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40480" y="2404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validated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B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132320" y="24048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target classes: Phone, Seatbelt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has a corresponding annotation file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bounding boxes follow the expected format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coordinates stay within valid bounds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classes removed; kept classes remapped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Unannotated background frames filtered 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246120"/>
            <a:ext cx="5422392" cy="2651760"/>
          </a:xfrm>
          <a:prstGeom prst="roundRect">
            <a:avLst>
              <a:gd name="adj" fmla="val 275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resized to 640 × 640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validated against YOLO schema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remapped to a clean 2-class layout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Compliance-relevant objects only retained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SOHINI · SPLITS &amp;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20 / 10, Sequence-Aware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SOHINI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763256" cy="777240"/>
          </a:xfrm>
          <a:prstGeom prst="roundRect">
            <a:avLst>
              <a:gd name="adj" fmla="val 5882"/>
            </a:avLst>
          </a:prstGeom>
          <a:solidFill>
            <a:srgbClr val="0E23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763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70%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2103120"/>
            <a:ext cx="2212848" cy="777240"/>
          </a:xfrm>
          <a:prstGeom prst="roundRect">
            <a:avLst>
              <a:gd name="adj" fmla="val 5882"/>
            </a:avLst>
          </a:prstGeom>
          <a:solidFill>
            <a:srgbClr val="B08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66760" y="21031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 20%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34472" y="2103120"/>
            <a:ext cx="1106424" cy="777240"/>
          </a:xfrm>
          <a:prstGeom prst="roundRect">
            <a:avLst>
              <a:gd name="adj" fmla="val 5882"/>
            </a:avLst>
          </a:prstGeom>
          <a:solidFill>
            <a:srgbClr val="0E8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634472" y="2103120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10%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Sequence-based stratified split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split boundaries preserved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frame-level migration between splits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memorizing scene-specific backgrounds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422392" cy="2651760"/>
          </a:xfrm>
          <a:prstGeom prst="roundRect">
            <a:avLst>
              <a:gd name="adj" fmla="val 2759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8404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dms_processed_yolo/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data.yaml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train/  images/ · labels/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valid/  images/ · labels/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test/   images/ · labels/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5394960"/>
            <a:ext cx="54223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5394960"/>
            <a:ext cx="5422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· Google Drive ✓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SMOKING &amp; DRINKING DETECTION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868680" cy="868680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Ravina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3504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 Detection Pipeline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independently-labelled YOLO datasets merged into one training-ready detector. Classes are harmonized by name — {smoking → 0, drinking → 1} — dropping every non-target class.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" y="42428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" y="42428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YOLOv8-based detector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" y="4928616"/>
            <a:ext cx="5806440" cy="420624"/>
          </a:xfrm>
          <a:prstGeom prst="roundRect">
            <a:avLst>
              <a:gd name="adj" fmla="val 21739"/>
            </a:avLst>
          </a:prstGeom>
          <a:solidFill>
            <a:srgbClr val="0A1B2C"/>
          </a:solidFill>
          <a:ln w="12700">
            <a:solidFill>
              <a:srgbClr val="0E8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0664" y="492861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(640, 640, 3)  RGB image + YOLO labels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4919472" cy="4617720"/>
          </a:xfrm>
          <a:prstGeom prst="roundRect">
            <a:avLst>
              <a:gd name="adj" fmla="val 1584"/>
            </a:avLst>
          </a:prstGeom>
          <a:solidFill>
            <a:srgbClr val="16324F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04088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343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18,932 source images across two datasets (A + B)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Name-based mapping prevents mislabelled boxes leaking in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7,159 non-target boxes (hands-on-wheel etc.) dropped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Albumentations 2.0.8 · OpenCV 4.13.0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 · INTEGRITY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but Sharply Imbalanced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A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 / 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134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· malformed · unmapped records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A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063240" y="23134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target instances across 12,909 images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A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66.6%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669280" y="23134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boxes cover &lt; 1% of the frame (small-object heavy)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A4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83880" y="23134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per image on average — sparse scenes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584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A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 ·  19.6× IMBALANCE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822960" y="3931920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217920" y="3429000"/>
            <a:ext cx="5422392" cy="2743200"/>
          </a:xfrm>
          <a:prstGeom prst="roundRect">
            <a:avLst>
              <a:gd name="adj" fmla="val 2667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9224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0" y="39776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15,127 smoking vs 773 drinking instances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objects dominate → recommend imgsz 832–960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cluster middle-upper frame (driver-facing camera)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is single-source (dataset B) — domain-shift risk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 · DEDUP, SPLIT, AUGMENT &amp; EXPORT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Leakage-Safe, Training-Ready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2212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5568" y="1892808"/>
            <a:ext cx="77724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65960" y="1645920"/>
            <a:ext cx="502920" cy="502920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65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212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32888" y="1892808"/>
            <a:ext cx="77724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502920" cy="502920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2212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50208" y="1892808"/>
            <a:ext cx="777240" cy="0"/>
          </a:xfrm>
          <a:prstGeom prst="line">
            <a:avLst/>
          </a:prstGeom>
          <a:noFill/>
          <a:ln w="254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00600" y="1645920"/>
            <a:ext cx="502920" cy="502920"/>
          </a:xfrm>
          <a:prstGeom prst="ellipse">
            <a:avLst/>
          </a:prstGeom>
          <a:solidFill>
            <a:srgbClr val="8A4F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22128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A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 / 10 / 10 SPLIT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200400"/>
            <a:ext cx="5029200" cy="411480"/>
          </a:xfrm>
          <a:prstGeom prst="roundRect">
            <a:avLst>
              <a:gd name="adj" fmla="val 8889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8600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3611880"/>
            <a:ext cx="50292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8680" y="36118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36118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9,910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6118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11,696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6118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4142232"/>
            <a:ext cx="50292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68680" y="41422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86000" y="41422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0" y="41422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41422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7240" y="4672584"/>
            <a:ext cx="50292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1EA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68680" y="46725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86000" y="46725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0" y="46725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37760" y="467258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(521 removed) before the split — val &amp; test stay augmentation-free.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2697480"/>
            <a:ext cx="5422392" cy="1508760"/>
          </a:xfrm>
          <a:prstGeom prst="roundRect">
            <a:avLst>
              <a:gd name="adj" fmla="val 4848"/>
            </a:avLst>
          </a:prstGeom>
          <a:solidFill>
            <a:srgbClr val="F3F7F9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922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· TRAIN ONLY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37960" y="3154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Bbox-aware Albumentations, 2 base variants/image. Minority class drinking gets +17 augmented copies per image to counter the 19.6× imbalance.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217920" y="4343400"/>
            <a:ext cx="5422392" cy="1508760"/>
          </a:xfrm>
          <a:prstGeom prst="roundRect">
            <a:avLst>
              <a:gd name="adj" fmla="val 4848"/>
            </a:avLst>
          </a:prstGeom>
          <a:solidFill>
            <a:srgbClr val="0E2338"/>
          </a:solidFill>
          <a:ln w="12700">
            <a:solidFill>
              <a:srgbClr val="E1EAEF"/>
            </a:solidFill>
            <a:prstDash val="solid"/>
          </a:ln>
          <a:effectLst>
            <a:outerShdw blurRad="101600" dist="38100" dir="5400000" algn="bl" rotWithShape="0">
              <a:srgbClr val="9AB0BE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92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37960" y="4800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12,388</a:t>
            </a:r>
            <a:r>
              <a:rPr lang="en-US" sz="1300" dirty="0">
                <a:solidFill>
                  <a:srgbClr val="CFE8EA"/>
                </a:solidFill>
              </a:rPr>
              <a:t>  originals  + 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24,538</a:t>
            </a:r>
            <a:r>
              <a:rPr lang="en-US" sz="1300" dirty="0">
                <a:solidFill>
                  <a:srgbClr val="CFE8EA"/>
                </a:solidFill>
              </a:rPr>
              <a:t>  augmented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537960" y="5349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Ultralytics-ready · data.yaml · 3,060 MB archive · Google Drive 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Wellness &amp; Safety Monitoring  ·  Milestone 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1635</Words>
  <Application>Microsoft Office PowerPoint</Application>
  <PresentationFormat>Widescreen</PresentationFormat>
  <Paragraphs>359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just ravina</cp:lastModifiedBy>
  <cp:revision>2</cp:revision>
  <dcterms:created xsi:type="dcterms:W3CDTF">2026-07-10T10:49:31Z</dcterms:created>
  <dcterms:modified xsi:type="dcterms:W3CDTF">2026-07-11T02:16:24Z</dcterms:modified>
</cp:coreProperties>
</file>