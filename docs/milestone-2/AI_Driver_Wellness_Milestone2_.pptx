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Instances</c:v>
                </c:pt>
              </c:strCache>
            </c:strRef>
          </c:tx>
          <c:spPr>
            <a:solidFill>
              <a:srgbClr val="8A4F9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9FD-459E-93EB-71E1008CD48E}"/>
              </c:ext>
            </c:extLst>
          </c:dPt>
          <c:dPt>
            <c:idx val="1"/>
            <c:invertIfNegative val="0"/>
            <c:bubble3D val="0"/>
            <c:spPr>
              <a:solidFill>
                <a:srgbClr val="2DD4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9FD-459E-93EB-71E1008CD48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B2A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Smoking</c:v>
                </c:pt>
                <c:pt idx="1">
                  <c:v>Drinking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15127</c:v>
                </c:pt>
                <c:pt idx="1">
                  <c:v>773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FD-459E-93EB-71E1008CD48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76542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3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371600"/>
            <a:ext cx="237744" cy="237744"/>
          </a:xfrm>
          <a:prstGeom prst="ellipse">
            <a:avLst/>
          </a:prstGeom>
          <a:solidFill>
            <a:srgbClr val="3E8E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950976" y="1371600"/>
            <a:ext cx="237744" cy="237744"/>
          </a:xfrm>
          <a:prstGeom prst="ellipse">
            <a:avLst/>
          </a:prstGeom>
          <a:solidFill>
            <a:srgbClr val="C0574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1335024" y="1371600"/>
            <a:ext cx="237744" cy="237744"/>
          </a:xfrm>
          <a:prstGeom prst="ellipse">
            <a:avLst/>
          </a:prstGeom>
          <a:solidFill>
            <a:srgbClr val="5A6FB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1719072" y="1371600"/>
            <a:ext cx="237744" cy="237744"/>
          </a:xfrm>
          <a:prstGeom prst="ellipse">
            <a:avLst/>
          </a:prstGeom>
          <a:solidFill>
            <a:srgbClr val="B08A3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103120" y="1371600"/>
            <a:ext cx="237744" cy="237744"/>
          </a:xfrm>
          <a:prstGeom prst="ellipse">
            <a:avLst/>
          </a:prstGeom>
          <a:solidFill>
            <a:srgbClr val="8A4F9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2  ·  DATASET PREPARATION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0352" y="228600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Driver Wellness</a:t>
            </a:r>
            <a:endParaRPr lang="en-US" sz="4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Safety Monitoring System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48640" y="42062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driver-monitoring modules — identified, cleaned, split without leakage, and structured model-ready for Milestone 3. Presented one member at a time.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5349240"/>
            <a:ext cx="3017520" cy="0"/>
          </a:xfrm>
          <a:prstGeom prst="line">
            <a:avLst/>
          </a:prstGeom>
          <a:noFill/>
          <a:ln w="25400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4864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Kushagra   ·   Shiwani   ·   Shubham   ·   Sohini   ·   Ravina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Modules, Five Owners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28016" cy="914400"/>
          </a:xfrm>
          <a:prstGeom prst="roundRect">
            <a:avLst>
              <a:gd name="adj" fmla="val 50000"/>
            </a:avLst>
          </a:prstGeom>
          <a:solidFill>
            <a:srgbClr val="3E8E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868680" y="1819656"/>
            <a:ext cx="475488" cy="475488"/>
          </a:xfrm>
          <a:prstGeom prst="ellipse">
            <a:avLst/>
          </a:prstGeom>
          <a:solidFill>
            <a:srgbClr val="3E8E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68680" y="18196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74650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Shiwani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0876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Temporal Features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66344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YawDD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80960" y="16002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 / MAR &amp; head-pose sequences → LSTM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48640" y="2624328"/>
            <a:ext cx="128016" cy="914400"/>
          </a:xfrm>
          <a:prstGeom prst="roundRect">
            <a:avLst>
              <a:gd name="adj" fmla="val 50000"/>
            </a:avLst>
          </a:prstGeom>
          <a:solidFill>
            <a:srgbClr val="C0574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868680" y="2843784"/>
            <a:ext cx="475488" cy="475488"/>
          </a:xfrm>
          <a:prstGeom prst="ellipse">
            <a:avLst/>
          </a:prstGeom>
          <a:solidFill>
            <a:srgbClr val="C0574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868680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508760" y="2770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Kushagra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0815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Video-Based Fatigue Detection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63440" y="26243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UTA-RLDD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0" y="262432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/ Caution / High-Risk over time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648456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548640" y="3648456"/>
            <a:ext cx="128016" cy="914400"/>
          </a:xfrm>
          <a:prstGeom prst="roundRect">
            <a:avLst>
              <a:gd name="adj" fmla="val 50000"/>
            </a:avLst>
          </a:prstGeom>
          <a:solidFill>
            <a:srgbClr val="5A6FB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868680" y="3867912"/>
            <a:ext cx="475488" cy="475488"/>
          </a:xfrm>
          <a:prstGeom prst="ellipse">
            <a:avLst/>
          </a:prstGeom>
          <a:solidFill>
            <a:srgbClr val="5A6FB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868680" y="3867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50876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Shubham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508760" y="41056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Activity Classification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63440" y="364845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Distracted Driver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680960" y="3648456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5-class distraction CNN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4672584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548640" y="4672584"/>
            <a:ext cx="128016" cy="914400"/>
          </a:xfrm>
          <a:prstGeom prst="roundRect">
            <a:avLst>
              <a:gd name="adj" fmla="val 50000"/>
            </a:avLst>
          </a:prstGeom>
          <a:solidFill>
            <a:srgbClr val="B08A3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868680" y="4892040"/>
            <a:ext cx="475488" cy="475488"/>
          </a:xfrm>
          <a:prstGeom prst="ellipse">
            <a:avLst/>
          </a:prstGeom>
          <a:solidFill>
            <a:srgbClr val="B08A3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868680" y="4892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508760" y="4818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Sohini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508760" y="51297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Belt &amp; Phone Detection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663440" y="467258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 Dataset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680960" y="4672584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2-class YOLO object detection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48640" y="5696712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548640" y="5696712"/>
            <a:ext cx="128016" cy="914400"/>
          </a:xfrm>
          <a:prstGeom prst="roundRect">
            <a:avLst>
              <a:gd name="adj" fmla="val 50000"/>
            </a:avLst>
          </a:prstGeom>
          <a:solidFill>
            <a:srgbClr val="8A4F9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868680" y="5916168"/>
            <a:ext cx="475488" cy="475488"/>
          </a:xfrm>
          <a:prstGeom prst="ellipse">
            <a:avLst/>
          </a:prstGeom>
          <a:solidFill>
            <a:srgbClr val="8A4F9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868680" y="59161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1508760" y="584301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Ravina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508760" y="61539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Smoking &amp; Drinking Detection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663440" y="569671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smoking/drinking set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680960" y="5696712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2-class YOLO object detection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Wellness &amp; Safety Monitoring  ·  Milestone 2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3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· LANDMARK TEMPORAL FEATURES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143000"/>
            <a:ext cx="868680" cy="868680"/>
          </a:xfrm>
          <a:prstGeom prst="ellipse">
            <a:avLst/>
          </a:prstGeom>
          <a:solidFill>
            <a:srgbClr val="3E8E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94360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45920" y="117043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Shiwani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3504" y="23317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YawDD Dataset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03504" y="28803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Yawning and driver-face videos feed extraction of facial landmarks, eye, mouth and head-pose signals — the behavioural signals of fatigue over time.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4005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3504" y="4242816"/>
            <a:ext cx="5806440" cy="420624"/>
          </a:xfrm>
          <a:prstGeom prst="roundRect">
            <a:avLst>
              <a:gd name="adj" fmla="val 21739"/>
            </a:avLst>
          </a:prstGeom>
          <a:solidFill>
            <a:srgbClr val="0A1B2C"/>
          </a:solidFill>
          <a:ln w="12700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40664" y="424281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(temporal sequence)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3504" y="4690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SHAPE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" y="4928616"/>
            <a:ext cx="5806440" cy="420624"/>
          </a:xfrm>
          <a:prstGeom prst="roundRect">
            <a:avLst>
              <a:gd name="adj" fmla="val 21739"/>
            </a:avLst>
          </a:prstGeom>
          <a:solidFill>
            <a:srgbClr val="0A1B2C"/>
          </a:solidFill>
          <a:ln w="12700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40664" y="492861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(30, 5)  temporal feature sequence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20840" y="1051560"/>
            <a:ext cx="4919472" cy="4617720"/>
          </a:xfrm>
          <a:prstGeom prst="roundRect">
            <a:avLst>
              <a:gd name="adj" fmla="val 1584"/>
            </a:avLst>
          </a:prstGeom>
          <a:solidFill>
            <a:srgbClr val="16324F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7040880" y="1280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86600" y="1691640"/>
            <a:ext cx="4343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EAR, MAR, head pitch, yaw and roll per frame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represent behavioural change across time, not single frames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feature format: 30-frame temporal window, 5 features/frame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a temporal LSTM model in Milestone 3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SHIWANI · QUALITY &amp;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Landmark Extraction with MediaPipe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E8E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SHIWANI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3E8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99.35%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4048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extraction success rate across the full corpus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916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3E8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288,174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383280" y="24048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processed across 349 YawDD videos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17920" y="16916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3E8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286,289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217920" y="24048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frames retained after cleaning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6916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3E8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1,885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9052560" y="2404872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frames discarded (no landmark)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82296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397764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Head-pose stability validation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 &amp; MAR range validation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jitter review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 of success &amp; failure frames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72200" y="3429000"/>
            <a:ext cx="5468112" cy="2514600"/>
          </a:xfrm>
          <a:prstGeom prst="roundRect">
            <a:avLst>
              <a:gd name="adj" fmla="val 2909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44652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3977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frames removed before feature building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with statistics from the training split only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Fixed-length temporal windows of 30 frames, stride 15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reliable for temporal sequence modeling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Wellness &amp; Safety Monitoring  ·  Milestone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SHIWANI · SPLITS &amp;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Subject-Wise, Leakage-Free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E8E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SHIWANI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E8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PREVENTION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videos from one subject assigned to a single split</a:t>
            </a:r>
            <a:endParaRPr lang="en-US" sz="14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30-frame window stays inside its native video's split</a:t>
            </a:r>
            <a:endParaRPr lang="en-US" sz="14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normalization computed only on training data</a:t>
            </a:r>
            <a:endParaRPr lang="en-US" sz="14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stats then applied to validation &amp; test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422392" cy="2743200"/>
          </a:xfrm>
          <a:prstGeom prst="roundRect">
            <a:avLst>
              <a:gd name="adj" fmla="val 2667"/>
            </a:avLst>
          </a:prstGeom>
          <a:solidFill>
            <a:srgbClr val="0E2338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49224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STRUCTURE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228600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processed_dataset/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raw_features_all_videos.csv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normalized_features_all_videos.csv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train_windows.npy · val · test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train_meta.csv · val · test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E8E7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4754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E8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· Subject-wise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474720" y="4754880"/>
            <a:ext cx="3200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E8E7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74720" y="47548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E8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· .npy + .csv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0" y="475488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858000" y="4754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· Google Drive ✓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Wellness &amp; Safety Monitoring  ·  Milestone 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3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· VIDEO-BASED FATIGUE DETECTION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143000"/>
            <a:ext cx="868680" cy="868680"/>
          </a:xfrm>
          <a:prstGeom prst="ellipse">
            <a:avLst/>
          </a:prstGeom>
          <a:solidFill>
            <a:srgbClr val="C0574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94360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45920" y="117043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Kushagra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3504" y="23317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UTA-RLDD Dataset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03504" y="28803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drowsiness videos (Fold1 part1 &amp; part2) — 12 subjects, 36 videos. Fatigue is a temporal condition, so behaviour is learned over time, not from single frames.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4005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3504" y="4242816"/>
            <a:ext cx="5806440" cy="420624"/>
          </a:xfrm>
          <a:prstGeom prst="roundRect">
            <a:avLst>
              <a:gd name="adj" fmla="val 21739"/>
            </a:avLst>
          </a:prstGeom>
          <a:solidFill>
            <a:srgbClr val="0A1B2C"/>
          </a:solidFill>
          <a:ln w="12700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40664" y="424281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CNN-LSTM · CNN-GRU · TCN · 3D CNN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3504" y="4690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SHAPE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" y="4928616"/>
            <a:ext cx="5806440" cy="420624"/>
          </a:xfrm>
          <a:prstGeom prst="roundRect">
            <a:avLst>
              <a:gd name="adj" fmla="val 21739"/>
            </a:avLst>
          </a:prstGeom>
          <a:solidFill>
            <a:srgbClr val="0A1B2C"/>
          </a:solidFill>
          <a:ln w="12700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40664" y="492861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(16, 224, 224, 3)  video sequence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20840" y="1051560"/>
            <a:ext cx="4919472" cy="4617720"/>
          </a:xfrm>
          <a:prstGeom prst="roundRect">
            <a:avLst>
              <a:gd name="adj" fmla="val 1584"/>
            </a:avLst>
          </a:prstGeom>
          <a:solidFill>
            <a:srgbClr val="16324F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7040880" y="1280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86600" y="1691640"/>
            <a:ext cx="4343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labels remapped: 0 → Safe, 5 → Caution, 10 → High Risk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Safe · 12 Caution · 12 High-Risk videos — perfectly balanced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frame can't distinguish tired vs blinking vs talking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CNN-LSTM / CNN-GRU / TCN / 3D-CNN in Milestone 3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KUSHAGRA · QUALITY &amp;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Clean, Frame-Sampled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C0574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KUSHAGRA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057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 processed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9272" y="164592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319272" y="17373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057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319272" y="2331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videos found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9904" y="164592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089904" y="17373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057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089904" y="2331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videos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860536" y="164592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860536" y="17373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057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860536" y="2331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/ unreadable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108960"/>
            <a:ext cx="11091672" cy="2788920"/>
          </a:xfrm>
          <a:prstGeom prst="roundRect">
            <a:avLst>
              <a:gd name="adj" fmla="val 2623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822960" y="32918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EXTRACTION  ·  5 FRAMES PER VIDEO → 180 PROCESSED FRAMES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371600" y="4160520"/>
            <a:ext cx="8229600" cy="0"/>
          </a:xfrm>
          <a:prstGeom prst="line">
            <a:avLst/>
          </a:prstGeom>
          <a:noFill/>
          <a:ln w="254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1371600" y="3931920"/>
            <a:ext cx="457200" cy="457200"/>
          </a:xfrm>
          <a:prstGeom prst="ellipse">
            <a:avLst/>
          </a:prstGeom>
          <a:solidFill>
            <a:srgbClr val="C0574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914400" y="4434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371600" y="4160520"/>
            <a:ext cx="8229600" cy="0"/>
          </a:xfrm>
          <a:prstGeom prst="line">
            <a:avLst/>
          </a:prstGeom>
          <a:noFill/>
          <a:ln w="254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429000" y="3931920"/>
            <a:ext cx="457200" cy="457200"/>
          </a:xfrm>
          <a:prstGeom prst="ellipse">
            <a:avLst/>
          </a:prstGeom>
          <a:solidFill>
            <a:srgbClr val="C0574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2971800" y="4434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371600" y="4160520"/>
            <a:ext cx="8229600" cy="0"/>
          </a:xfrm>
          <a:prstGeom prst="line">
            <a:avLst/>
          </a:prstGeom>
          <a:noFill/>
          <a:ln w="254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5486400" y="3931920"/>
            <a:ext cx="457200" cy="457200"/>
          </a:xfrm>
          <a:prstGeom prst="ellipse">
            <a:avLst/>
          </a:prstGeom>
          <a:solidFill>
            <a:srgbClr val="C0574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5029200" y="4434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371600" y="4160520"/>
            <a:ext cx="8229600" cy="0"/>
          </a:xfrm>
          <a:prstGeom prst="line">
            <a:avLst/>
          </a:prstGeom>
          <a:noFill/>
          <a:ln w="254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7543800" y="3931920"/>
            <a:ext cx="457200" cy="457200"/>
          </a:xfrm>
          <a:prstGeom prst="ellipse">
            <a:avLst/>
          </a:prstGeom>
          <a:solidFill>
            <a:srgbClr val="C0574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7086600" y="4434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371600" y="4160520"/>
            <a:ext cx="8229600" cy="0"/>
          </a:xfrm>
          <a:prstGeom prst="line">
            <a:avLst/>
          </a:prstGeom>
          <a:noFill/>
          <a:ln w="254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9601200" y="3931920"/>
            <a:ext cx="457200" cy="457200"/>
          </a:xfrm>
          <a:prstGeom prst="ellipse">
            <a:avLst/>
          </a:prstGeom>
          <a:solidFill>
            <a:srgbClr val="C0574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9144000" y="4434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22960" y="5074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.mov and .mp4 supported.  </a:t>
            </a:r>
            <a:r>
              <a:rPr lang="en-US" sz="13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(FPS, duration, frame count, resolution, size) extracted with OpenCV. In M3, frames extend into 16 / 32 / 64-frame clips.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Wellness &amp; Safety Monitoring  ·  Milestone 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KUSHAGRA · SPLITS &amp;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Strict Subject-Level Split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C0574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KUSHAGRA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6400800" cy="457200"/>
          </a:xfrm>
          <a:prstGeom prst="roundRect">
            <a:avLst>
              <a:gd name="adj" fmla="val 10000"/>
            </a:avLst>
          </a:prstGeom>
          <a:solidFill>
            <a:srgbClr val="0E2338"/>
          </a:solidFill>
          <a:ln w="127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08960" y="1737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0" y="1737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194560"/>
            <a:ext cx="6400800" cy="566928"/>
          </a:xfrm>
          <a:prstGeom prst="roundRect">
            <a:avLst>
              <a:gd name="adj" fmla="val 8065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22960" y="21945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08960" y="2194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– 08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194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194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2761488"/>
            <a:ext cx="6400800" cy="566928"/>
          </a:xfrm>
          <a:prstGeom prst="roundRect">
            <a:avLst>
              <a:gd name="adj" fmla="val 8065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22960" y="276148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108960" y="27614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– 10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27614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7614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328416"/>
            <a:ext cx="6400800" cy="566928"/>
          </a:xfrm>
          <a:prstGeom prst="roundRect">
            <a:avLst>
              <a:gd name="adj" fmla="val 8065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822960" y="332841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08960" y="332841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– 12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37760" y="332841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332841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41605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videos of a subject stay in the same split — frames are extracted only after the split is finalized, so no frame from one video ever crosses splits.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178040" y="1691640"/>
            <a:ext cx="4462272" cy="3383280"/>
          </a:xfrm>
          <a:prstGeom prst="roundRect">
            <a:avLst>
              <a:gd name="adj" fmla="val 2162"/>
            </a:avLst>
          </a:prstGeom>
          <a:solidFill>
            <a:srgbClr val="0E2338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7452360" y="1874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CLASS-WISE FOLDERS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498080" y="2286000"/>
            <a:ext cx="4114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fatigue_detection/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train/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Safe/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Caution/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High_Risk/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val/   (same 3)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test/  (same 3)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34924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057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48640" y="53492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· Subject-wise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794760" y="534924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057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794760" y="53492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· Frame folders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7178040" y="5349240"/>
            <a:ext cx="446227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7178040" y="5349240"/>
            <a:ext cx="4462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· Google Drive ✓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Wellness &amp; Safety Monitoring  ·  Milestone 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3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· DRIVER ACTIVITY CLASSIFICATION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143000"/>
            <a:ext cx="868680" cy="868680"/>
          </a:xfrm>
          <a:prstGeom prst="ellipse">
            <a:avLst/>
          </a:prstGeom>
          <a:solidFill>
            <a:srgbClr val="5A6FB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94360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45920" y="117043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Shubham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3504" y="23317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Distracted Driver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03504" y="28803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Image-based classification of what the driver is doing — a CNN activity classifier over five real-world driving activity classes.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4005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3504" y="4242816"/>
            <a:ext cx="5806440" cy="420624"/>
          </a:xfrm>
          <a:prstGeom prst="roundRect">
            <a:avLst>
              <a:gd name="adj" fmla="val 21739"/>
            </a:avLst>
          </a:prstGeom>
          <a:solidFill>
            <a:srgbClr val="0A1B2C"/>
          </a:solidFill>
          <a:ln w="12700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40664" y="424281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 · MobileNetV3 · EfficientNet-B0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3504" y="4690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SHAPE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" y="4928616"/>
            <a:ext cx="5806440" cy="420624"/>
          </a:xfrm>
          <a:prstGeom prst="roundRect">
            <a:avLst>
              <a:gd name="adj" fmla="val 21739"/>
            </a:avLst>
          </a:prstGeom>
          <a:solidFill>
            <a:srgbClr val="0A1B2C"/>
          </a:solidFill>
          <a:ln w="12700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40664" y="492861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(3, 224, 224)  RGB image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20840" y="1051560"/>
            <a:ext cx="4919472" cy="4617720"/>
          </a:xfrm>
          <a:prstGeom prst="roundRect">
            <a:avLst>
              <a:gd name="adj" fmla="val 1584"/>
            </a:avLst>
          </a:prstGeom>
          <a:solidFill>
            <a:srgbClr val="16324F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7040880" y="1280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86600" y="1691640"/>
            <a:ext cx="4343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 safe_driving, texting_phone, talking_phone, turning, other_activities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ResNet50, MobileNetV3 and EfficientNet-B0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4,307 clean images retained after quality cleaning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Resized to 224×224 and augmented for CNN training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SHUBHAM · QUALITY &amp;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&amp; Augmentation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5A6FB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SHUBHAM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A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2,969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24871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images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81635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· perceptual hashing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691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319272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A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319272" y="24871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corrupted images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10712" y="281635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· OpenCV load check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9904" y="1691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089904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A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089904" y="24871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blurry images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81344" y="281635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· realistic conditions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860536" y="1691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8860536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A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4,307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860536" y="24871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images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951976" y="281635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retained dataset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82296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42519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all images to 224 × 224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 applied during model training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 scored with Laplacian variance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172200" y="3703320"/>
            <a:ext cx="5468112" cy="2194560"/>
          </a:xfrm>
          <a:prstGeom prst="roundRect">
            <a:avLst>
              <a:gd name="adj" fmla="val 3333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44652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37960" y="42519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flip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brightness &amp; contrast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Wellness &amp; Safety Monitoring  ·  Milestone 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SHUBHAM · SPLITS &amp;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/ 15 / 15 by Class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5A6FB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/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7763256" cy="777240"/>
          </a:xfrm>
          <a:prstGeom prst="roundRect">
            <a:avLst>
              <a:gd name="adj" fmla="val 5882"/>
            </a:avLst>
          </a:prstGeom>
          <a:solidFill>
            <a:srgbClr val="0E233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77632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 70%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366760" y="2103120"/>
            <a:ext cx="1664208" cy="777240"/>
          </a:xfrm>
          <a:prstGeom prst="roundRect">
            <a:avLst>
              <a:gd name="adj" fmla="val 5882"/>
            </a:avLst>
          </a:prstGeom>
          <a:solidFill>
            <a:srgbClr val="5A6FB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366760" y="210312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 15%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85832" y="2103120"/>
            <a:ext cx="1664208" cy="777240"/>
          </a:xfrm>
          <a:prstGeom prst="roundRect">
            <a:avLst>
              <a:gd name="adj" fmla="val 5882"/>
            </a:avLst>
          </a:prstGeom>
          <a:solidFill>
            <a:srgbClr val="0E8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0085832" y="210312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15%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PREVENTION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84048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images removed before splitting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Class-wise splitting keeps class balance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Post-split hash check </a:t>
            </a:r>
            <a:r>
              <a:rPr lang="en-US" sz="135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near-duplicate images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sequence-/subject-wise split once driver IDs exist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3246120"/>
            <a:ext cx="5422392" cy="2651760"/>
          </a:xfrm>
          <a:prstGeom prst="roundRect">
            <a:avLst>
              <a:gd name="adj" fmla="val 2759"/>
            </a:avLst>
          </a:prstGeom>
          <a:solidFill>
            <a:srgbClr val="0E2338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49224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CLASS-NAMED FOLDERS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37960" y="38404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processed_dataset/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train/  {5 class folders}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validation/  {5 class folders}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test/  {5 class folders}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5257800"/>
            <a:ext cx="54223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A6FB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0" name="Text 18"/>
          <p:cNvSpPr/>
          <p:nvPr/>
        </p:nvSpPr>
        <p:spPr>
          <a:xfrm>
            <a:off x="6217920" y="5257800"/>
            <a:ext cx="5422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is updated.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Wellness &amp; Safety Monitoring  ·  Milestone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3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· SEAT BELT &amp; PHONE DETECTION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143000"/>
            <a:ext cx="868680" cy="868680"/>
          </a:xfrm>
          <a:prstGeom prst="ellipse">
            <a:avLst/>
          </a:prstGeom>
          <a:solidFill>
            <a:srgbClr val="B08A3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94360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45920" y="117043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Sohini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3504" y="23317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DMS Dataset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03504" y="28803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filtered Driver Monitoring System set turned into a clean two-class YOLO detector for visible safety-compliance objects in the cabin.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4005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3504" y="4242816"/>
            <a:ext cx="5806440" cy="420624"/>
          </a:xfrm>
          <a:prstGeom prst="roundRect">
            <a:avLst>
              <a:gd name="adj" fmla="val 21739"/>
            </a:avLst>
          </a:prstGeom>
          <a:solidFill>
            <a:srgbClr val="0A1B2C"/>
          </a:solidFill>
          <a:ln w="12700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40664" y="424281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· YOLO11n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3504" y="4690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SHAPE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" y="4928616"/>
            <a:ext cx="5806440" cy="420624"/>
          </a:xfrm>
          <a:prstGeom prst="roundRect">
            <a:avLst>
              <a:gd name="adj" fmla="val 21739"/>
            </a:avLst>
          </a:prstGeom>
          <a:solidFill>
            <a:srgbClr val="0A1B2C"/>
          </a:solidFill>
          <a:ln w="12700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40664" y="492861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(640, 640, 3)  RGB image + YOLO labels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20840" y="1051560"/>
            <a:ext cx="4919472" cy="4617720"/>
          </a:xfrm>
          <a:prstGeom prst="roundRect">
            <a:avLst>
              <a:gd name="adj" fmla="val 1584"/>
            </a:avLst>
          </a:prstGeom>
          <a:solidFill>
            <a:srgbClr val="16324F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7040880" y="1280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86600" y="1691640"/>
            <a:ext cx="4343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— 0: Phone, 1: Seatbelt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 classes removed; remaining classes remapped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6,140 images with 6,140 matching label files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6,701 bounding boxes validated for correctness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SOHINI · QUALITY &amp;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Image–Label Parity &amp; Validation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B08A3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SOHINI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B08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6,140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40487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images, each with a matching label file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691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B08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6,701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840480" y="240487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validated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0" y="1691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B08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132320" y="240487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target classes: Phone, Seatbelt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2296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CHECKS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384048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has a corresponding annotation file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bounding boxes follow the expected format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coordinates stay within valid bounds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 classes removed; kept classes remapped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Unannotated background frames filtered out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5422392" cy="2651760"/>
          </a:xfrm>
          <a:prstGeom prst="roundRect">
            <a:avLst>
              <a:gd name="adj" fmla="val 2759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49224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384048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resized to 640 × 640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 validated against YOLO schema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remapped to a clean 2-class layout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Compliance-relevant objects only retained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Wellness &amp; Safety Monitoring  ·  Milestone 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SOHINI · SPLITS &amp;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/ 20 / 10, Sequence-Aware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B08A3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SOHINI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08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/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7763256" cy="777240"/>
          </a:xfrm>
          <a:prstGeom prst="roundRect">
            <a:avLst>
              <a:gd name="adj" fmla="val 5882"/>
            </a:avLst>
          </a:prstGeom>
          <a:solidFill>
            <a:srgbClr val="0E233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77632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 70%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366760" y="2103120"/>
            <a:ext cx="2212848" cy="777240"/>
          </a:xfrm>
          <a:prstGeom prst="roundRect">
            <a:avLst>
              <a:gd name="adj" fmla="val 5882"/>
            </a:avLst>
          </a:prstGeom>
          <a:solidFill>
            <a:srgbClr val="B08A3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366760" y="2103120"/>
            <a:ext cx="2212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 20%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634472" y="2103120"/>
            <a:ext cx="1106424" cy="777240"/>
          </a:xfrm>
          <a:prstGeom prst="roundRect">
            <a:avLst>
              <a:gd name="adj" fmla="val 5882"/>
            </a:avLst>
          </a:prstGeom>
          <a:solidFill>
            <a:srgbClr val="0E8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0634472" y="2103120"/>
            <a:ext cx="110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10%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08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PREVENTION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84048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Sequence-based stratified split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split boundaries preserved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random frame-level migration between splits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memorizing scene-specific backgrounds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3246120"/>
            <a:ext cx="5422392" cy="2651760"/>
          </a:xfrm>
          <a:prstGeom prst="roundRect">
            <a:avLst>
              <a:gd name="adj" fmla="val 2759"/>
            </a:avLst>
          </a:prstGeom>
          <a:solidFill>
            <a:srgbClr val="0E2338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49224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STRUCTURE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37960" y="384048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dms_processed_yolo/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data.yaml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train/  images/ · labels/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valid/  images/ · labels/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FE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test/   images/ · labels/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5394960"/>
            <a:ext cx="54223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217920" y="5394960"/>
            <a:ext cx="5422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· Google Drive ✓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Wellness &amp; Safety Monitoring  ·  Milestone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23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· SMOKING &amp; DRINKING DETECTION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143000"/>
            <a:ext cx="868680" cy="868680"/>
          </a:xfrm>
          <a:prstGeom prst="ellipse">
            <a:avLst/>
          </a:prstGeom>
          <a:solidFill>
            <a:srgbClr val="8A4F9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94360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45920" y="117043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Ravina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3504" y="23317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YOLOv8 Detection Pipeline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03504" y="28803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independently-labelled YOLO datasets merged into one training-ready detector. Classes are harmonized by name — {smoking → 0, drinking → 1} — dropping every non-target class.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4005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3504" y="4242816"/>
            <a:ext cx="5806440" cy="420624"/>
          </a:xfrm>
          <a:prstGeom prst="roundRect">
            <a:avLst>
              <a:gd name="adj" fmla="val 21739"/>
            </a:avLst>
          </a:prstGeom>
          <a:solidFill>
            <a:srgbClr val="0A1B2C"/>
          </a:solidFill>
          <a:ln w="12700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40664" y="424281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YOLOv8-based detector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3504" y="4690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SHAPE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" y="4928616"/>
            <a:ext cx="5806440" cy="420624"/>
          </a:xfrm>
          <a:prstGeom prst="roundRect">
            <a:avLst>
              <a:gd name="adj" fmla="val 21739"/>
            </a:avLst>
          </a:prstGeom>
          <a:solidFill>
            <a:srgbClr val="0A1B2C"/>
          </a:solidFill>
          <a:ln w="12700">
            <a:solidFill>
              <a:srgbClr val="0E8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40664" y="492861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(640, 640, 3)  RGB image + YOLO labels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20840" y="1051560"/>
            <a:ext cx="4919472" cy="4617720"/>
          </a:xfrm>
          <a:prstGeom prst="roundRect">
            <a:avLst>
              <a:gd name="adj" fmla="val 1584"/>
            </a:avLst>
          </a:prstGeom>
          <a:solidFill>
            <a:srgbClr val="16324F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7040880" y="1280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86600" y="1691640"/>
            <a:ext cx="4343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18,932 source images across two datasets (A + B)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Name-based mapping prevents mislabelled boxes leaking in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7,159 non-target boxes (hands-on-wheel etc.) dropped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 Albumentations 2.0.8 · OpenCV 4.13.0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RAVINA · INTEGRITY &amp; EDA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Clean, but Sharply Imbalanced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8A4F9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RAVINA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8A4F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0 / 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313432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· malformed · unmapped records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63240" y="1600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8A4F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15,900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063240" y="231343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target instances across 12,909 images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8A4F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66.6%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5669280" y="2313432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boxes cover &lt; 1% of the frame (small-object heavy)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83880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8A4F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1.23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183880" y="2313432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per image on average — sparse scenes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822960" y="3584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8A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  ·  19.6× IMBALANCE</a:t>
            </a:r>
            <a:endParaRPr lang="en-US" sz="12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822960" y="3931920"/>
          <a:ext cx="50292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6217920" y="3429000"/>
            <a:ext cx="5422392" cy="2743200"/>
          </a:xfrm>
          <a:prstGeom prst="roundRect">
            <a:avLst>
              <a:gd name="adj" fmla="val 2667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/>
          <p:nvPr/>
        </p:nvSpPr>
        <p:spPr>
          <a:xfrm>
            <a:off x="649224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EDA FINDINGS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583680" y="397764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15,127 smoking vs 773 drinking instances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objects dominate → recommend imgsz 832–960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cluster middle-upper frame (driver-facing camera)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Drinking is single-source (dataset B) — domain-shift risk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Wellness &amp; Safety Monitoring  ·  Milestone 2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RAVINA · DEDUP, SPLIT, AUGMENT &amp; EXPORT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Leakage-Safe, Training-Ready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8A4F9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RAVINA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8A4F9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28600" y="22128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5568" y="1892808"/>
            <a:ext cx="777240" cy="0"/>
          </a:xfrm>
          <a:prstGeom prst="line">
            <a:avLst/>
          </a:prstGeom>
          <a:noFill/>
          <a:ln w="254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965960" y="1645920"/>
            <a:ext cx="502920" cy="502920"/>
          </a:xfrm>
          <a:prstGeom prst="ellipse">
            <a:avLst/>
          </a:prstGeom>
          <a:solidFill>
            <a:srgbClr val="8A4F9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1965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2128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32888" y="1892808"/>
            <a:ext cx="777240" cy="0"/>
          </a:xfrm>
          <a:prstGeom prst="line">
            <a:avLst/>
          </a:prstGeom>
          <a:noFill/>
          <a:ln w="254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383280" y="1645920"/>
            <a:ext cx="502920" cy="502920"/>
          </a:xfrm>
          <a:prstGeom prst="ellipse">
            <a:avLst/>
          </a:prstGeom>
          <a:solidFill>
            <a:srgbClr val="8A4F9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3832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063240" y="22128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950208" y="1892808"/>
            <a:ext cx="777240" cy="0"/>
          </a:xfrm>
          <a:prstGeom prst="line">
            <a:avLst/>
          </a:prstGeom>
          <a:noFill/>
          <a:ln w="254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4800600" y="1645920"/>
            <a:ext cx="502920" cy="502920"/>
          </a:xfrm>
          <a:prstGeom prst="ellipse">
            <a:avLst/>
          </a:prstGeom>
          <a:solidFill>
            <a:srgbClr val="8A4F9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80060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480560" y="22128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697480"/>
            <a:ext cx="5486400" cy="3154680"/>
          </a:xfrm>
          <a:prstGeom prst="roundRect">
            <a:avLst>
              <a:gd name="adj" fmla="val 2319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82296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8A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80 / 10 / 10 SPLIT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77240" y="3200400"/>
            <a:ext cx="5029200" cy="411480"/>
          </a:xfrm>
          <a:prstGeom prst="roundRect">
            <a:avLst>
              <a:gd name="adj" fmla="val 8889"/>
            </a:avLst>
          </a:prstGeom>
          <a:solidFill>
            <a:srgbClr val="0E2338"/>
          </a:solidFill>
          <a:ln w="127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86868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28600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65760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Smoking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377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Drinking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3611880"/>
            <a:ext cx="502920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868680" y="36118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286000" y="36118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9,910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0" y="36118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11,696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37760" y="36118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636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77240" y="4142232"/>
            <a:ext cx="502920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868680" y="414223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286000" y="414223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1,239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0" y="414223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937760" y="414223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77240" y="4672584"/>
            <a:ext cx="502920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1EA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868680" y="46725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286000" y="46725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1,239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0" y="46725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1,441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937760" y="46725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22960" y="5440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Deduplicated (521 removed) before the split — val &amp; test stay augmentation-free.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0" y="2697480"/>
            <a:ext cx="5422392" cy="1508760"/>
          </a:xfrm>
          <a:prstGeom prst="roundRect">
            <a:avLst>
              <a:gd name="adj" fmla="val 4848"/>
            </a:avLst>
          </a:prstGeom>
          <a:solidFill>
            <a:srgbClr val="F3F7F9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6492240" y="2834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 · TRAIN ONLY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37960" y="31546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Bbox-aware Albumentations, 2 base variants/image. Minority class drinking gets +17 augmented copies per image to counter the 19.6× imbalance.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217920" y="4343400"/>
            <a:ext cx="5422392" cy="1508760"/>
          </a:xfrm>
          <a:prstGeom prst="roundRect">
            <a:avLst>
              <a:gd name="adj" fmla="val 4848"/>
            </a:avLst>
          </a:prstGeom>
          <a:solidFill>
            <a:srgbClr val="0E2338"/>
          </a:solidFill>
          <a:ln w="12700">
            <a:solidFill>
              <a:srgbClr val="E1EAEF"/>
            </a:solidFill>
            <a:prstDash val="solid"/>
          </a:ln>
          <a:effectLst>
            <a:outerShdw blurRad="101600" dist="38100" dir="5400000" algn="bl" rotWithShape="0">
              <a:srgbClr val="9AB0BE">
                <a:alpha val="2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649224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537960" y="4800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12,388</a:t>
            </a:r>
            <a:r>
              <a:rPr lang="en-US" sz="1300" dirty="0">
                <a:solidFill>
                  <a:srgbClr val="CFE8EA"/>
                </a:solidFill>
              </a:rPr>
              <a:t>  originals  +  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24,538</a:t>
            </a:r>
            <a:r>
              <a:rPr lang="en-US" sz="1300" dirty="0">
                <a:solidFill>
                  <a:srgbClr val="CFE8EA"/>
                </a:solidFill>
              </a:rPr>
              <a:t>  augmented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6537960" y="5349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Ultralytics-ready · data.yaml · 3,060 MB archive · Google Drive ✓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Wellness &amp; Safety Monitoring  ·  Milestone 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1634</Words>
  <Application>Microsoft Office PowerPoint</Application>
  <PresentationFormat>Widescreen</PresentationFormat>
  <Paragraphs>359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Shubham Tiwari</cp:lastModifiedBy>
  <cp:revision>3</cp:revision>
  <dcterms:created xsi:type="dcterms:W3CDTF">2026-07-10T10:49:31Z</dcterms:created>
  <dcterms:modified xsi:type="dcterms:W3CDTF">2026-07-12T06:13:07Z</dcterms:modified>
</cp:coreProperties>
</file>