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1675"/>
  <p:notesSz cx="6858000" cy="12191675"/>
  <p:embeddedFontLst>
    <p:embeddedFont>
      <p:font typeface="Century Schoolbook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lsOXkRTcXgx3X5WPVyuSFkTr2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CenturySchoolbook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Schoolbook-italic.fntdata"/><Relationship Id="rId25" Type="http://schemas.openxmlformats.org/officeDocument/2006/relationships/font" Target="fonts/CenturySchoolbook-bold.fntdata"/><Relationship Id="rId28" Type="http://customschemas.google.com/relationships/presentationmetadata" Target="metadata"/><Relationship Id="rId27" Type="http://schemas.openxmlformats.org/officeDocument/2006/relationships/font" Target="fonts/CenturySchoolbook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2" name="Google Shape;7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noFill/>
          <a:ln cap="flat" cmpd="sng" w="27925">
            <a:solidFill>
              <a:srgbClr val="1C2C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195560" y="-411480"/>
            <a:ext cx="2468880" cy="2468880"/>
          </a:xfrm>
          <a:prstGeom prst="ellipse">
            <a:avLst/>
          </a:prstGeom>
          <a:solidFill>
            <a:srgbClr val="1323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6928" y="17373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MILESTONE 5  ·  EVALUATION &amp;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66928" y="224028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entury Schoolbook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AI-Powered Driver Wellness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entury Schoolbook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&amp; Safety Monitoring System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6928" y="4297680"/>
            <a:ext cx="8778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Five deep-learning modules — each benchmarked on a strictly held-out split, with error diagnosis, efficiency measurement and deployment-readiness assessment.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66928" y="5257800"/>
            <a:ext cx="1965960" cy="566928"/>
          </a:xfrm>
          <a:prstGeom prst="roundRect">
            <a:avLst>
              <a:gd fmla="val 50000" name="adj"/>
            </a:avLst>
          </a:prstGeom>
          <a:solidFill>
            <a:srgbClr val="16233D"/>
          </a:solidFill>
          <a:ln cap="flat" cmpd="sng" w="15875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94944" y="5404104"/>
            <a:ext cx="274320" cy="27432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42416" y="52578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679192" y="5257800"/>
            <a:ext cx="1965960" cy="566928"/>
          </a:xfrm>
          <a:prstGeom prst="roundRect">
            <a:avLst>
              <a:gd fmla="val 50000" name="adj"/>
            </a:avLst>
          </a:prstGeom>
          <a:solidFill>
            <a:srgbClr val="16233D"/>
          </a:solidFill>
          <a:ln cap="flat" cmpd="sng" w="15875">
            <a:solidFill>
              <a:srgbClr val="3E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807208" y="5404104"/>
            <a:ext cx="274320" cy="27432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154680" y="52578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791456" y="5257800"/>
            <a:ext cx="1965960" cy="566928"/>
          </a:xfrm>
          <a:prstGeom prst="roundRect">
            <a:avLst>
              <a:gd fmla="val 50000" name="adj"/>
            </a:avLst>
          </a:prstGeom>
          <a:solidFill>
            <a:srgbClr val="16233D"/>
          </a:solidFill>
          <a:ln cap="flat" cmpd="sng" w="15875">
            <a:solidFill>
              <a:srgbClr val="6C7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919472" y="5404104"/>
            <a:ext cx="274320" cy="27432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266944" y="52578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903720" y="5257800"/>
            <a:ext cx="1965960" cy="566928"/>
          </a:xfrm>
          <a:prstGeom prst="roundRect">
            <a:avLst>
              <a:gd fmla="val 50000" name="adj"/>
            </a:avLst>
          </a:prstGeom>
          <a:solidFill>
            <a:srgbClr val="16233D"/>
          </a:solidFill>
          <a:ln cap="flat" cmpd="sng" w="15875">
            <a:solidFill>
              <a:srgbClr val="C79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031736" y="5404104"/>
            <a:ext cx="274320" cy="27432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379208" y="52578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9015984" y="5257800"/>
            <a:ext cx="1965960" cy="566928"/>
          </a:xfrm>
          <a:prstGeom prst="roundRect">
            <a:avLst>
              <a:gd fmla="val 50000" name="adj"/>
            </a:avLst>
          </a:prstGeom>
          <a:solidFill>
            <a:srgbClr val="16233D"/>
          </a:solidFill>
          <a:ln cap="flat" cmpd="sng" w="15875">
            <a:solidFill>
              <a:srgbClr val="A855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9144000" y="5404104"/>
            <a:ext cx="274320" cy="27432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9491472" y="52578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566928" y="60533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BSDA4001  ·  DS/AI Lab Course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MILESTONE 5  ·  FOCUS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66928" y="868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From Trained Models to Held-Out Evaluation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66928" y="157276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Milestone 4 delivered five trained checkpoints. Milestone 5 measures each on data it never saw — impartially, then diagnostically.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66928" y="2148840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41248" y="2423160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" y="25511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841248" y="3081528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impartially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41248" y="3392424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Score every frozen checkpoint on a strictly held-out, subject- or driver-disjoint test split.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374794" y="2148840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649114" y="2423160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7130" y="25511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4649114" y="3081528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Diagnose failures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649114" y="3392424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Go beyond a single accuracy number — build confusion matrices and per-class breakdowns.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182661" y="2148840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456981" y="2423160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1" name="Google Shape;6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4997" y="25511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8456981" y="3081528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Root-cause each error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456981" y="3392424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Tie every failure mode to an interpretable cause: label noise, small objects, class collapse.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66928" y="4224528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41248" y="4498848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9264" y="46268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841248" y="5157216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efficiency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41248" y="5468112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Record parameters, FLOPs and per-frame latency on the shared Tesla T4 evaluation GPU.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374794" y="4224528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649114" y="4498848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" name="Google Shape;7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7130" y="46268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4649114" y="5157216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 readiness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649114" y="5468112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Judge each module against the accuracy / speed / memory trade-off for edge deployment.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182661" y="4224528"/>
            <a:ext cx="3442106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8456981" y="4498848"/>
            <a:ext cx="566928" cy="566928"/>
          </a:xfrm>
          <a:prstGeom prst="ellipse">
            <a:avLst/>
          </a:prstGeom>
          <a:solidFill>
            <a:srgbClr val="1B2A47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" name="Google Shape;7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84997" y="46268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/>
          <p:nvPr/>
        </p:nvSpPr>
        <p:spPr>
          <a:xfrm>
            <a:off x="8456981" y="5157216"/>
            <a:ext cx="289346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 improvements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8456981" y="5468112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Convert every diagnosed gap into a concrete, prioritised short- and long-term action.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RECAP · PROBLEM STATEMENT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Single Frames Cannot Explain Fatigue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640080" y="138988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Fatigue and distraction are leading causes of commercial-fleet accidents — yet fleet platforms have </a:t>
            </a:r>
            <a:r>
              <a:rPr b="1" i="0" lang="en-US" sz="11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no continuous, objective view of driver state</a:t>
            </a: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.  One cabin camera can observe it all.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640080" y="2148840"/>
            <a:ext cx="5257800" cy="397764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1005840" y="246888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WHY THE OLD APPROACH FAILS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1005840" y="3017520"/>
            <a:ext cx="452628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D7E0EE"/>
                </a:solidFill>
                <a:latin typeface="Calibri"/>
                <a:ea typeface="Calibri"/>
                <a:cs typeface="Calibri"/>
                <a:sym typeface="Calibri"/>
              </a:rPr>
              <a:t>A blink and drowsiness look identical in one frame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D7E0EE"/>
                </a:solidFill>
                <a:latin typeface="Calibri"/>
                <a:ea typeface="Calibri"/>
                <a:cs typeface="Calibri"/>
                <a:sym typeface="Calibri"/>
              </a:rPr>
              <a:t>Static frame counts and hardcoded thresholds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D7E0EE"/>
                </a:solidFill>
                <a:latin typeface="Calibri"/>
                <a:ea typeface="Calibri"/>
                <a:cs typeface="Calibri"/>
                <a:sym typeface="Calibri"/>
              </a:rPr>
              <a:t>Talking, singing or laughing trigger false alerts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D7E0EE"/>
                </a:solidFill>
                <a:latin typeface="Calibri"/>
                <a:ea typeface="Calibri"/>
                <a:cs typeface="Calibri"/>
                <a:sym typeface="Calibri"/>
              </a:rPr>
              <a:t>Frame-level YOLO has no sense of time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6263640" y="2148840"/>
            <a:ext cx="5257800" cy="397764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15875">
            <a:solidFill>
              <a:srgbClr val="3E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629400" y="246888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THE REVISED SYSTEM · MILESTONES 1–5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6629400" y="3017520"/>
            <a:ext cx="452628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D7E0EE"/>
                </a:solidFill>
                <a:latin typeface="Calibri"/>
                <a:ea typeface="Calibri"/>
                <a:cs typeface="Calibri"/>
                <a:sym typeface="Calibri"/>
              </a:rPr>
              <a:t>Learns fatigue as it develops across video sequences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D7E0EE"/>
                </a:solidFill>
                <a:latin typeface="Calibri"/>
                <a:ea typeface="Calibri"/>
                <a:cs typeface="Calibri"/>
                <a:sym typeface="Calibri"/>
              </a:rPr>
              <a:t>Temporal deep models: CNN-LSTM / BiLSTM, LSTM, TCN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D7E0EE"/>
                </a:solidFill>
                <a:latin typeface="Calibri"/>
                <a:ea typeface="Calibri"/>
                <a:cs typeface="Calibri"/>
                <a:sym typeface="Calibri"/>
              </a:rPr>
              <a:t>MediaPipe / OpenCV give auxiliary features, not decisions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D7E0EE"/>
                </a:solidFill>
                <a:latin typeface="Calibri"/>
                <a:ea typeface="Calibri"/>
                <a:cs typeface="Calibri"/>
                <a:sym typeface="Calibri"/>
              </a:rPr>
              <a:t>YOLO reserved for object-level safety compliance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D7E0EE"/>
                </a:solidFill>
                <a:latin typeface="Calibri"/>
                <a:ea typeface="Calibri"/>
                <a:cs typeface="Calibri"/>
                <a:sym typeface="Calibri"/>
              </a:rPr>
              <a:t>Fusion layer → one Wellness Score:  Safe / Caution / High Risk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10332720" y="6455664"/>
            <a:ext cx="1216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RECAP · DATA FOUNDATION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Five Datasets, One Wellness System</a:t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Each module was cleaned, validated and split leakage-free (subject- / sequence-wise) in Milestone 2.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1691640" y="1810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4617720" y="181051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7178040" y="181051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SCALE &amp; CLEANING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640080" y="2212848"/>
            <a:ext cx="10881360" cy="658368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9525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896112" y="2313432"/>
            <a:ext cx="457200" cy="45720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896112" y="233172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1691640" y="2212848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Video-Based Fatigue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4617720" y="2212848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UTA-RLDD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7178040" y="2212848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 subjects · </a:t>
            </a:r>
            <a:r>
              <a:rPr lang="en-US" sz="115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182</a:t>
            </a: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 drowsiness videos · 3 </a:t>
            </a:r>
            <a:r>
              <a:rPr lang="en-US" sz="115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fatigue</a:t>
            </a: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 classes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640080" y="2990088"/>
            <a:ext cx="10881360" cy="658368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9525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896112" y="3090672"/>
            <a:ext cx="457200" cy="45720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896112" y="310896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1691640" y="2990088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4617720" y="2990088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YawDD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7178040" y="2990088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349 videos → 286,289 valid frames · 99.35% extraction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640080" y="3767328"/>
            <a:ext cx="10881360" cy="658368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9525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896112" y="3867912"/>
            <a:ext cx="457200" cy="45720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896112" y="388620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1691640" y="3767328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4617720" y="3767328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AUC Distracted Driver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7178040" y="3767328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4,307 clean images · 5 activity classes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640080" y="4544568"/>
            <a:ext cx="10881360" cy="658368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9525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896112" y="4645152"/>
            <a:ext cx="457200" cy="45720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896112" y="466344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1691640" y="4544568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4617720" y="4544568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DMS Dataset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7178040" y="4544568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6,140 images · 6,701 boxes · 2 classes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640080" y="5321808"/>
            <a:ext cx="10881360" cy="658368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9525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896112" y="5422392"/>
            <a:ext cx="457200" cy="45720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96112" y="544068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691640" y="5321808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617720" y="5321808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Merged YOLO set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178040" y="5321808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12,909 images · 15,900 instances · 2 classes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0332720" y="6455664"/>
            <a:ext cx="1216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RECAP · MILESTONE 3–4</a:t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Model Architectures &amp; Experiments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Shared method: shortlist candidates → filter by edge latency &amp; memory → baseline on the module’s data → lock full spec.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914400" y="18836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3246120" y="18836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6446520" y="188366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SELECTED</a:t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8732520" y="18836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KEY EXPERIMENT</a:t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640080" y="2286000"/>
            <a:ext cx="10881360" cy="73152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9525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896112" y="2578608"/>
            <a:ext cx="146304" cy="146304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1188720" y="228600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3246120" y="228600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CNN-LSTM · GRU · TCN · 3D-CNN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6446520" y="22860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8732520" y="228600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16-frame clips; spatial + temporal</a:t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640080" y="3118104"/>
            <a:ext cx="10881360" cy="73152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9525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896112" y="3410712"/>
            <a:ext cx="146304" cy="146304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1188720" y="3118104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3246120" y="3118104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LSTM · GRU · TCN · MLP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6446520" y="311810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8732520" y="3118104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swept lr / bs / hidden / window (45×5)</a:t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640080" y="3950208"/>
            <a:ext cx="10881360" cy="73152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9525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896112" y="4242816"/>
            <a:ext cx="146304" cy="146304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1188720" y="3950208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3246120" y="3950208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MobileNetV3 · ResNet50 · EfficientNet-B0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446520" y="395020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8732520" y="3950208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EffNet 94% · chose edge · tuned lr 5e-4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640080" y="4782312"/>
            <a:ext cx="10881360" cy="73152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9525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896112" y="5074920"/>
            <a:ext cx="146304" cy="14630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188720" y="4782312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3246120" y="4782312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YOLOv8n · YOLO11n · YOLOv8s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6446520" y="4782312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8732520" y="4782312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nano fastest on Jetson / Pi @ 640²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640080" y="5614416"/>
            <a:ext cx="10881360" cy="73152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9525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896112" y="5907024"/>
            <a:ext cx="146304" cy="146304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188720" y="5614416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3246120" y="5614416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YOLOv8n · YOLO11n · YOLOv8s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6446520" y="561441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8732520" y="5614416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6-trial guided grid → lr .001 AdamW cos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0332720" y="6455664"/>
            <a:ext cx="1216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RECAP · MILESTONE 4 OUTCOME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Final Trained Models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Five trained checkpoints — the inputs Milestone 5 now benchmarks on strictly held-out data.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640080" y="1965960"/>
            <a:ext cx="2015338" cy="265176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658368" y="1965960"/>
            <a:ext cx="1978762" cy="128016"/>
          </a:xfrm>
          <a:prstGeom prst="roundRect">
            <a:avLst>
              <a:gd fmla="val 15000" name="adj"/>
            </a:avLst>
          </a:prstGeom>
          <a:solidFill>
            <a:srgbClr val="D953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391717" y="2331720"/>
            <a:ext cx="512064" cy="512064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1391717" y="23317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749808" y="2990088"/>
            <a:ext cx="179588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749808" y="3557016"/>
            <a:ext cx="179588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749808" y="3904488"/>
            <a:ext cx="17958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9534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Baseline val acc 31.8%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49808" y="4297680"/>
            <a:ext cx="17958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longer training flagged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2856586" y="1965960"/>
            <a:ext cx="2015338" cy="265176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874874" y="1965960"/>
            <a:ext cx="1978762" cy="128016"/>
          </a:xfrm>
          <a:prstGeom prst="roundRect">
            <a:avLst>
              <a:gd fmla="val 15000" name="adj"/>
            </a:avLst>
          </a:prstGeom>
          <a:solidFill>
            <a:srgbClr val="3EA9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608222" y="2331720"/>
            <a:ext cx="512064" cy="512064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608222" y="23317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2966314" y="2990088"/>
            <a:ext cx="179588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2966314" y="3557016"/>
            <a:ext cx="179588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2966314" y="3904488"/>
            <a:ext cx="17958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3-class risk mapping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2966314" y="4297680"/>
            <a:ext cx="17958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Normal / Talking / Yawning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073091" y="1965960"/>
            <a:ext cx="2015338" cy="265176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091379" y="1965960"/>
            <a:ext cx="1978762" cy="128016"/>
          </a:xfrm>
          <a:prstGeom prst="roundRect">
            <a:avLst>
              <a:gd fmla="val 15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824728" y="2331720"/>
            <a:ext cx="512064" cy="512064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824728" y="23317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182819" y="2990088"/>
            <a:ext cx="179588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182819" y="3557016"/>
            <a:ext cx="179588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182819" y="3904488"/>
            <a:ext cx="17958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C7CD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~94% val accuracy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182819" y="4297680"/>
            <a:ext cx="17958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12.5 ms/frame · edge-ready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7289597" y="1965960"/>
            <a:ext cx="2015338" cy="265176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7307885" y="1965960"/>
            <a:ext cx="1978762" cy="128016"/>
          </a:xfrm>
          <a:prstGeom prst="roundRect">
            <a:avLst>
              <a:gd fmla="val 15000" name="adj"/>
            </a:avLst>
          </a:prstGeom>
          <a:solidFill>
            <a:srgbClr val="C79A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8041234" y="2331720"/>
            <a:ext cx="512064" cy="51206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8041234" y="23317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399325" y="2990088"/>
            <a:ext cx="179588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7399325" y="3557016"/>
            <a:ext cx="179588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7399325" y="3904488"/>
            <a:ext cx="17958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79A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mAP@50  95.26%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399325" y="4297680"/>
            <a:ext cx="17958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P 92.9 · R 91.2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9506102" y="1965960"/>
            <a:ext cx="2015338" cy="2651760"/>
          </a:xfrm>
          <a:prstGeom prst="roundRect">
            <a:avLst>
              <a:gd fmla="val 5000" name="adj"/>
            </a:avLst>
          </a:prstGeom>
          <a:solidFill>
            <a:srgbClr val="16233D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9524390" y="1965960"/>
            <a:ext cx="1978762" cy="128016"/>
          </a:xfrm>
          <a:prstGeom prst="roundRect">
            <a:avLst>
              <a:gd fmla="val 15000" name="adj"/>
            </a:avLst>
          </a:prstGeom>
          <a:solidFill>
            <a:srgbClr val="A855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0257739" y="2331720"/>
            <a:ext cx="512064" cy="512064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0257739" y="23317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615830" y="2990088"/>
            <a:ext cx="179588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9615830" y="3557016"/>
            <a:ext cx="179588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615830" y="3904488"/>
            <a:ext cx="17958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A855C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mAP@50  0.818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615830" y="4297680"/>
            <a:ext cx="17958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mAP@50-95 0.451 · 3.01M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640080" y="4892040"/>
            <a:ext cx="10881360" cy="658368"/>
          </a:xfrm>
          <a:prstGeom prst="roundRect">
            <a:avLst>
              <a:gd fmla="val 5000" name="adj"/>
            </a:avLst>
          </a:prstGeom>
          <a:solidFill>
            <a:srgbClr val="12241C"/>
          </a:solidFill>
          <a:ln cap="flat" cmpd="sng" w="1587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40080" y="489204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Driver Risk Fusion Engine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→   weighted scoring   →   Driver Wellness Score (0–100)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0332720" y="6455664"/>
            <a:ext cx="1216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OVERALL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566928" y="868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Five Models, One Wellness Score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4267048" y="1965960"/>
            <a:ext cx="3657600" cy="566928"/>
          </a:xfrm>
          <a:prstGeom prst="roundRect">
            <a:avLst>
              <a:gd fmla="val 14516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"/>
          <p:cNvSpPr/>
          <p:nvPr/>
        </p:nvSpPr>
        <p:spPr>
          <a:xfrm>
            <a:off x="4267048" y="196596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220"/>
                </a:solidFill>
                <a:latin typeface="Calibri"/>
                <a:ea typeface="Calibri"/>
                <a:cs typeface="Calibri"/>
                <a:sym typeface="Calibri"/>
              </a:rPr>
              <a:t>Driver Camera  →  Video Stream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566928" y="2971800"/>
            <a:ext cx="1955536" cy="1234440"/>
          </a:xfrm>
          <a:prstGeom prst="roundRect">
            <a:avLst>
              <a:gd fmla="val 740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"/>
          <p:cNvSpPr/>
          <p:nvPr/>
        </p:nvSpPr>
        <p:spPr>
          <a:xfrm>
            <a:off x="1325240" y="3172968"/>
            <a:ext cx="438912" cy="438912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"/>
          <p:cNvSpPr/>
          <p:nvPr/>
        </p:nvSpPr>
        <p:spPr>
          <a:xfrm>
            <a:off x="612648" y="3657600"/>
            <a:ext cx="186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612648" y="3904488"/>
            <a:ext cx="186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"/>
          <p:cNvSpPr/>
          <p:nvPr/>
        </p:nvSpPr>
        <p:spPr>
          <a:xfrm>
            <a:off x="2842504" y="2971800"/>
            <a:ext cx="1955536" cy="1234440"/>
          </a:xfrm>
          <a:prstGeom prst="roundRect">
            <a:avLst>
              <a:gd fmla="val 740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/>
          <p:cNvSpPr/>
          <p:nvPr/>
        </p:nvSpPr>
        <p:spPr>
          <a:xfrm>
            <a:off x="3600816" y="3172968"/>
            <a:ext cx="438912" cy="438912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"/>
          <p:cNvSpPr/>
          <p:nvPr/>
        </p:nvSpPr>
        <p:spPr>
          <a:xfrm>
            <a:off x="2888224" y="3657600"/>
            <a:ext cx="186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"/>
          <p:cNvSpPr/>
          <p:nvPr/>
        </p:nvSpPr>
        <p:spPr>
          <a:xfrm>
            <a:off x="2888224" y="3904488"/>
            <a:ext cx="186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"/>
          <p:cNvSpPr/>
          <p:nvPr/>
        </p:nvSpPr>
        <p:spPr>
          <a:xfrm>
            <a:off x="5118080" y="2971800"/>
            <a:ext cx="1955536" cy="1234440"/>
          </a:xfrm>
          <a:prstGeom prst="roundRect">
            <a:avLst>
              <a:gd fmla="val 740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"/>
          <p:cNvSpPr/>
          <p:nvPr/>
        </p:nvSpPr>
        <p:spPr>
          <a:xfrm>
            <a:off x="5876392" y="3172968"/>
            <a:ext cx="438912" cy="438912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"/>
          <p:cNvSpPr/>
          <p:nvPr/>
        </p:nvSpPr>
        <p:spPr>
          <a:xfrm>
            <a:off x="5163800" y="3657600"/>
            <a:ext cx="186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"/>
          <p:cNvSpPr/>
          <p:nvPr/>
        </p:nvSpPr>
        <p:spPr>
          <a:xfrm>
            <a:off x="5163800" y="3904488"/>
            <a:ext cx="186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"/>
          <p:cNvSpPr/>
          <p:nvPr/>
        </p:nvSpPr>
        <p:spPr>
          <a:xfrm>
            <a:off x="7393656" y="2971800"/>
            <a:ext cx="1955536" cy="1234440"/>
          </a:xfrm>
          <a:prstGeom prst="roundRect">
            <a:avLst>
              <a:gd fmla="val 740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"/>
          <p:cNvSpPr/>
          <p:nvPr/>
        </p:nvSpPr>
        <p:spPr>
          <a:xfrm>
            <a:off x="8151967" y="3172968"/>
            <a:ext cx="438912" cy="438912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"/>
          <p:cNvSpPr/>
          <p:nvPr/>
        </p:nvSpPr>
        <p:spPr>
          <a:xfrm>
            <a:off x="7439376" y="3657600"/>
            <a:ext cx="186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"/>
          <p:cNvSpPr/>
          <p:nvPr/>
        </p:nvSpPr>
        <p:spPr>
          <a:xfrm>
            <a:off x="7439376" y="3904488"/>
            <a:ext cx="186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"/>
          <p:cNvSpPr/>
          <p:nvPr/>
        </p:nvSpPr>
        <p:spPr>
          <a:xfrm>
            <a:off x="9669231" y="2971800"/>
            <a:ext cx="1955536" cy="1234440"/>
          </a:xfrm>
          <a:prstGeom prst="roundRect">
            <a:avLst>
              <a:gd fmla="val 740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"/>
          <p:cNvSpPr/>
          <p:nvPr/>
        </p:nvSpPr>
        <p:spPr>
          <a:xfrm>
            <a:off x="10427543" y="3172968"/>
            <a:ext cx="438912" cy="438912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"/>
          <p:cNvSpPr/>
          <p:nvPr/>
        </p:nvSpPr>
        <p:spPr>
          <a:xfrm>
            <a:off x="9714951" y="3657600"/>
            <a:ext cx="186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"/>
          <p:cNvSpPr/>
          <p:nvPr/>
        </p:nvSpPr>
        <p:spPr>
          <a:xfrm>
            <a:off x="9714951" y="3904488"/>
            <a:ext cx="186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3"/>
          <p:cNvCxnSpPr/>
          <p:nvPr/>
        </p:nvCxnSpPr>
        <p:spPr>
          <a:xfrm>
            <a:off x="6095848" y="2532888"/>
            <a:ext cx="0" cy="438912"/>
          </a:xfrm>
          <a:prstGeom prst="straightConnector1">
            <a:avLst/>
          </a:prstGeom>
          <a:noFill/>
          <a:ln cap="flat" cmpd="sng" w="19050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3"/>
          <p:cNvCxnSpPr/>
          <p:nvPr/>
        </p:nvCxnSpPr>
        <p:spPr>
          <a:xfrm>
            <a:off x="1544696" y="42062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3"/>
          <p:cNvCxnSpPr/>
          <p:nvPr/>
        </p:nvCxnSpPr>
        <p:spPr>
          <a:xfrm>
            <a:off x="3820272" y="42062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" name="Google Shape;264;p3"/>
          <p:cNvCxnSpPr/>
          <p:nvPr/>
        </p:nvCxnSpPr>
        <p:spPr>
          <a:xfrm>
            <a:off x="6095848" y="42062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5" name="Google Shape;265;p3"/>
          <p:cNvCxnSpPr/>
          <p:nvPr/>
        </p:nvCxnSpPr>
        <p:spPr>
          <a:xfrm>
            <a:off x="8371423" y="42062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" name="Google Shape;266;p3"/>
          <p:cNvCxnSpPr/>
          <p:nvPr/>
        </p:nvCxnSpPr>
        <p:spPr>
          <a:xfrm>
            <a:off x="10646999" y="42062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" name="Google Shape;267;p3"/>
          <p:cNvSpPr/>
          <p:nvPr/>
        </p:nvSpPr>
        <p:spPr>
          <a:xfrm>
            <a:off x="566928" y="4617720"/>
            <a:ext cx="11057839" cy="658368"/>
          </a:xfrm>
          <a:prstGeom prst="roundRect">
            <a:avLst>
              <a:gd fmla="val 12500" name="adj"/>
            </a:avLst>
          </a:prstGeom>
          <a:solidFill>
            <a:srgbClr val="0A1220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"/>
          <p:cNvSpPr/>
          <p:nvPr/>
        </p:nvSpPr>
        <p:spPr>
          <a:xfrm>
            <a:off x="566928" y="4617720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000"/>
              <a:buFont typeface="Century Schoolbook"/>
              <a:buNone/>
            </a:pPr>
            <a:r>
              <a:rPr b="1" i="0" lang="en-US" sz="20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Driver Risk Fusion Engine   ·   weighted scoring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3"/>
          <p:cNvCxnSpPr/>
          <p:nvPr/>
        </p:nvCxnSpPr>
        <p:spPr>
          <a:xfrm>
            <a:off x="6095848" y="5276088"/>
            <a:ext cx="0" cy="292608"/>
          </a:xfrm>
          <a:prstGeom prst="straightConnector1">
            <a:avLst/>
          </a:prstGeom>
          <a:noFill/>
          <a:ln cap="flat" cmpd="sng" w="19050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3"/>
          <p:cNvSpPr/>
          <p:nvPr/>
        </p:nvSpPr>
        <p:spPr>
          <a:xfrm>
            <a:off x="4312768" y="5577840"/>
            <a:ext cx="3566160" cy="548640"/>
          </a:xfrm>
          <a:prstGeom prst="roundRect">
            <a:avLst>
              <a:gd fmla="val 15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"/>
          <p:cNvSpPr/>
          <p:nvPr/>
        </p:nvSpPr>
        <p:spPr>
          <a:xfrm>
            <a:off x="4312768" y="557784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220"/>
                </a:solidFill>
                <a:latin typeface="Calibri"/>
                <a:ea typeface="Calibri"/>
                <a:cs typeface="Calibri"/>
                <a:sym typeface="Calibri"/>
              </a:rPr>
              <a:t>Driver Wellness Assessment (0–100)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TEAM &amp;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566928" y="868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Five Modules, Five Held-Out Evaluations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566928" y="18745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2532888" y="187452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5184648" y="18745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7653528" y="18745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9573768" y="1874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HEADLINE 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566928" y="2286000"/>
            <a:ext cx="11057839" cy="676656"/>
          </a:xfrm>
          <a:prstGeom prst="roundRect">
            <a:avLst>
              <a:gd fmla="val 1351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612648" y="2432304"/>
            <a:ext cx="384048" cy="384048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612648" y="24323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Century Schoolbook"/>
              <a:buNone/>
            </a:pPr>
            <a:r>
              <a:rPr b="1" i="0" lang="en-US" sz="1428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1115568" y="22860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2532888" y="2286000"/>
            <a:ext cx="2606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Video-Based Fatigue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5184648" y="2286000"/>
            <a:ext cx="2423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7653528" y="2286000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7,117 seq · 6 subj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9573768" y="2286000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33.6%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"/>
          <p:cNvSpPr/>
          <p:nvPr/>
        </p:nvSpPr>
        <p:spPr>
          <a:xfrm>
            <a:off x="566928" y="3054096"/>
            <a:ext cx="11057839" cy="676656"/>
          </a:xfrm>
          <a:prstGeom prst="roundRect">
            <a:avLst>
              <a:gd fmla="val 1351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612648" y="3200400"/>
            <a:ext cx="384048" cy="384048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"/>
          <p:cNvSpPr/>
          <p:nvPr/>
        </p:nvSpPr>
        <p:spPr>
          <a:xfrm>
            <a:off x="612648" y="32004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Century Schoolbook"/>
              <a:buNone/>
            </a:pPr>
            <a:r>
              <a:rPr b="1" i="0" lang="en-US" sz="1428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1115568" y="3054096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2532888" y="3054096"/>
            <a:ext cx="2606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"/>
          <p:cNvSpPr/>
          <p:nvPr/>
        </p:nvSpPr>
        <p:spPr>
          <a:xfrm>
            <a:off x="5184648" y="3054096"/>
            <a:ext cx="2423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LSTM (EAR·MAR·pose)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"/>
          <p:cNvSpPr/>
          <p:nvPr/>
        </p:nvSpPr>
        <p:spPr>
          <a:xfrm>
            <a:off x="7653528" y="3054096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1,400 windows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9573768" y="3054096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64.1%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"/>
          <p:cNvSpPr/>
          <p:nvPr/>
        </p:nvSpPr>
        <p:spPr>
          <a:xfrm>
            <a:off x="566928" y="3822192"/>
            <a:ext cx="11057839" cy="676656"/>
          </a:xfrm>
          <a:prstGeom prst="roundRect">
            <a:avLst>
              <a:gd fmla="val 1351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"/>
          <p:cNvSpPr/>
          <p:nvPr/>
        </p:nvSpPr>
        <p:spPr>
          <a:xfrm>
            <a:off x="612648" y="3968496"/>
            <a:ext cx="384048" cy="384048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"/>
          <p:cNvSpPr/>
          <p:nvPr/>
        </p:nvSpPr>
        <p:spPr>
          <a:xfrm>
            <a:off x="612648" y="39684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Century Schoolbook"/>
              <a:buNone/>
            </a:pPr>
            <a:r>
              <a:rPr b="1" i="0" lang="en-US" sz="1428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"/>
          <p:cNvSpPr/>
          <p:nvPr/>
        </p:nvSpPr>
        <p:spPr>
          <a:xfrm>
            <a:off x="1115568" y="3822192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"/>
          <p:cNvSpPr/>
          <p:nvPr/>
        </p:nvSpPr>
        <p:spPr>
          <a:xfrm>
            <a:off x="2532888" y="3822192"/>
            <a:ext cx="2606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"/>
          <p:cNvSpPr/>
          <p:nvPr/>
        </p:nvSpPr>
        <p:spPr>
          <a:xfrm>
            <a:off x="5184648" y="3822192"/>
            <a:ext cx="2423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MobileNetV3-Large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"/>
          <p:cNvSpPr/>
          <p:nvPr/>
        </p:nvSpPr>
        <p:spPr>
          <a:xfrm>
            <a:off x="7653528" y="3822192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1,093 images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9573768" y="3822192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93.1%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"/>
          <p:cNvSpPr/>
          <p:nvPr/>
        </p:nvSpPr>
        <p:spPr>
          <a:xfrm>
            <a:off x="566928" y="4590288"/>
            <a:ext cx="11057839" cy="676656"/>
          </a:xfrm>
          <a:prstGeom prst="roundRect">
            <a:avLst>
              <a:gd fmla="val 1351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"/>
          <p:cNvSpPr/>
          <p:nvPr/>
        </p:nvSpPr>
        <p:spPr>
          <a:xfrm>
            <a:off x="612648" y="4736592"/>
            <a:ext cx="384048" cy="384048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"/>
          <p:cNvSpPr/>
          <p:nvPr/>
        </p:nvSpPr>
        <p:spPr>
          <a:xfrm>
            <a:off x="612648" y="4736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Century Schoolbook"/>
              <a:buNone/>
            </a:pPr>
            <a:r>
              <a:rPr b="1" i="0" lang="en-US" sz="1428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"/>
          <p:cNvSpPr/>
          <p:nvPr/>
        </p:nvSpPr>
        <p:spPr>
          <a:xfrm>
            <a:off x="1115568" y="4590288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"/>
          <p:cNvSpPr/>
          <p:nvPr/>
        </p:nvSpPr>
        <p:spPr>
          <a:xfrm>
            <a:off x="2532888" y="4590288"/>
            <a:ext cx="2606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"/>
          <p:cNvSpPr/>
          <p:nvPr/>
        </p:nvSpPr>
        <p:spPr>
          <a:xfrm>
            <a:off x="5184648" y="4590288"/>
            <a:ext cx="2423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7653528" y="4590288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cabin image set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9573768" y="4590288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mAP@50 0.95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"/>
          <p:cNvSpPr/>
          <p:nvPr/>
        </p:nvSpPr>
        <p:spPr>
          <a:xfrm>
            <a:off x="566928" y="5358384"/>
            <a:ext cx="11057839" cy="676656"/>
          </a:xfrm>
          <a:prstGeom prst="roundRect">
            <a:avLst>
              <a:gd fmla="val 1351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"/>
          <p:cNvSpPr/>
          <p:nvPr/>
        </p:nvSpPr>
        <p:spPr>
          <a:xfrm>
            <a:off x="612648" y="5504688"/>
            <a:ext cx="384048" cy="384048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"/>
          <p:cNvSpPr/>
          <p:nvPr/>
        </p:nvSpPr>
        <p:spPr>
          <a:xfrm>
            <a:off x="612648" y="55046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Century Schoolbook"/>
              <a:buNone/>
            </a:pPr>
            <a:r>
              <a:rPr b="1" i="0" lang="en-US" sz="1428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"/>
          <p:cNvSpPr/>
          <p:nvPr/>
        </p:nvSpPr>
        <p:spPr>
          <a:xfrm>
            <a:off x="1115568" y="5358384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"/>
          <p:cNvSpPr/>
          <p:nvPr/>
        </p:nvSpPr>
        <p:spPr>
          <a:xfrm>
            <a:off x="2532888" y="5358384"/>
            <a:ext cx="2606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"/>
          <p:cNvSpPr/>
          <p:nvPr/>
        </p:nvSpPr>
        <p:spPr>
          <a:xfrm>
            <a:off x="5184648" y="5358384"/>
            <a:ext cx="2423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"/>
          <p:cNvSpPr/>
          <p:nvPr/>
        </p:nvSpPr>
        <p:spPr>
          <a:xfrm>
            <a:off x="7653528" y="5358384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371 img · 445 box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"/>
          <p:cNvSpPr/>
          <p:nvPr/>
        </p:nvSpPr>
        <p:spPr>
          <a:xfrm>
            <a:off x="9573768" y="5358384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mAP@50 0.82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"/>
          <p:cNvSpPr/>
          <p:nvPr/>
        </p:nvSpPr>
        <p:spPr>
          <a:xfrm>
            <a:off x="566928" y="6172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Each module is evaluated inference-only on a frozen checkpoint against a strictly held-out split.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MODULE 1  ·  VIDEO-BASED FATIGUE DETECTION  · 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Kushagra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Subject-disjoint indexed test 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MODEL &amp;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"/>
          <p:cNvSpPr/>
          <p:nvPr/>
        </p:nvSpPr>
        <p:spPr>
          <a:xfrm>
            <a:off x="859536" y="2587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"/>
          <p:cNvSpPr/>
          <p:nvPr/>
        </p:nvSpPr>
        <p:spPr>
          <a:xfrm>
            <a:off x="2143354" y="2587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EfficientNet-B0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"/>
          <p:cNvSpPr/>
          <p:nvPr/>
        </p:nvSpPr>
        <p:spPr>
          <a:xfrm>
            <a:off x="859536" y="3044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Temporal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2143354" y="3044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Bidirectional LSTM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"/>
          <p:cNvSpPr/>
          <p:nvPr/>
        </p:nvSpPr>
        <p:spPr>
          <a:xfrm>
            <a:off x="859536" y="35021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Hidden size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5"/>
          <p:cNvSpPr/>
          <p:nvPr/>
        </p:nvSpPr>
        <p:spPr>
          <a:xfrm>
            <a:off x="2143354" y="35021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5"/>
          <p:cNvSpPr/>
          <p:nvPr/>
        </p:nvSpPr>
        <p:spPr>
          <a:xfrm>
            <a:off x="859536" y="39593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Sequence length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2143354" y="39593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 frames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5"/>
          <p:cNvSpPr/>
          <p:nvPr/>
        </p:nvSpPr>
        <p:spPr>
          <a:xfrm>
            <a:off x="859536" y="44165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5"/>
          <p:cNvSpPr/>
          <p:nvPr/>
        </p:nvSpPr>
        <p:spPr>
          <a:xfrm>
            <a:off x="2143354" y="44165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 · Caution · High-Risk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"/>
          <p:cNvSpPr/>
          <p:nvPr/>
        </p:nvSpPr>
        <p:spPr>
          <a:xfrm>
            <a:off x="859536" y="4873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"/>
          <p:cNvSpPr/>
          <p:nvPr/>
        </p:nvSpPr>
        <p:spPr>
          <a:xfrm>
            <a:off x="2143354" y="4873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7.16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5"/>
          <p:cNvSpPr/>
          <p:nvPr/>
        </p:nvSpPr>
        <p:spPr>
          <a:xfrm>
            <a:off x="859536" y="5330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Checkpoint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"/>
          <p:cNvSpPr/>
          <p:nvPr/>
        </p:nvSpPr>
        <p:spPr>
          <a:xfrm>
            <a:off x="2143354" y="5330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driver_wellness_epoch2.pth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HELD-OUT 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"/>
          <p:cNvSpPr/>
          <p:nvPr/>
        </p:nvSpPr>
        <p:spPr>
          <a:xfrm>
            <a:off x="5020056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7,117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5"/>
          <p:cNvSpPr/>
          <p:nvPr/>
        </p:nvSpPr>
        <p:spPr>
          <a:xfrm>
            <a:off x="5020056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indexed sequences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5"/>
          <p:cNvSpPr/>
          <p:nvPr/>
        </p:nvSpPr>
        <p:spPr>
          <a:xfrm>
            <a:off x="7124090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5"/>
          <p:cNvSpPr/>
          <p:nvPr/>
        </p:nvSpPr>
        <p:spPr>
          <a:xfrm>
            <a:off x="7124090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unseen subjects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5"/>
          <p:cNvSpPr/>
          <p:nvPr/>
        </p:nvSpPr>
        <p:spPr>
          <a:xfrm>
            <a:off x="9228125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≈balanced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"/>
          <p:cNvSpPr/>
          <p:nvPr/>
        </p:nvSpPr>
        <p:spPr>
          <a:xfrm>
            <a:off x="9228125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3-class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5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WHAT THIS EVALUATION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5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Whether a frozen 2-epoch checkpoint generalises to unseen drivers, and — critically — whether the three fatigue classes stay separable or collapse. The fixed-seed subject-disjoint split the indexed split preserved subject-disjoint separation across train/validation/test.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MODULE 1  ·  VIDEO-BASED FATIGUE  ·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6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Kushagra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6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Held-out test evaluation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6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PER-CLASS 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"/>
          <p:cNvSpPr/>
          <p:nvPr/>
        </p:nvSpPr>
        <p:spPr>
          <a:xfrm>
            <a:off x="859536" y="26517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Safe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"/>
          <p:cNvSpPr/>
          <p:nvPr/>
        </p:nvSpPr>
        <p:spPr>
          <a:xfrm>
            <a:off x="2304288" y="26060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74.1%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6"/>
          <p:cNvSpPr/>
          <p:nvPr/>
        </p:nvSpPr>
        <p:spPr>
          <a:xfrm>
            <a:off x="859536" y="3054096"/>
            <a:ext cx="3209544" cy="91440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"/>
          <p:cNvSpPr/>
          <p:nvPr/>
        </p:nvSpPr>
        <p:spPr>
          <a:xfrm>
            <a:off x="859536" y="3054096"/>
            <a:ext cx="2378272" cy="9144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859536" y="331012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Caution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6"/>
          <p:cNvSpPr/>
          <p:nvPr/>
        </p:nvSpPr>
        <p:spPr>
          <a:xfrm>
            <a:off x="2304288" y="326440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D9534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3.5%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6"/>
          <p:cNvSpPr/>
          <p:nvPr/>
        </p:nvSpPr>
        <p:spPr>
          <a:xfrm>
            <a:off x="859536" y="3712464"/>
            <a:ext cx="3209544" cy="91440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"/>
          <p:cNvSpPr/>
          <p:nvPr/>
        </p:nvSpPr>
        <p:spPr>
          <a:xfrm>
            <a:off x="859536" y="3712464"/>
            <a:ext cx="112334" cy="91440"/>
          </a:xfrm>
          <a:prstGeom prst="roundRect">
            <a:avLst>
              <a:gd fmla="val 50000" name="adj"/>
            </a:avLst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859536" y="396849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High_Risk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6"/>
          <p:cNvSpPr/>
          <p:nvPr/>
        </p:nvSpPr>
        <p:spPr>
          <a:xfrm>
            <a:off x="2304288" y="3922776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"/>
          <p:cNvSpPr/>
          <p:nvPr/>
        </p:nvSpPr>
        <p:spPr>
          <a:xfrm>
            <a:off x="859536" y="4370832"/>
            <a:ext cx="3209544" cy="91440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6"/>
          <p:cNvSpPr/>
          <p:nvPr/>
        </p:nvSpPr>
        <p:spPr>
          <a:xfrm>
            <a:off x="859536" y="4370832"/>
            <a:ext cx="821643" cy="9144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859536" y="55321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Baseline: random 33.3% · majority 36.2%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QUANTITATIVE RESULTS — HELD-OUT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"/>
          <p:cNvSpPr/>
          <p:nvPr/>
        </p:nvSpPr>
        <p:spPr>
          <a:xfrm>
            <a:off x="502005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33.6%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6"/>
          <p:cNvSpPr/>
          <p:nvPr/>
        </p:nvSpPr>
        <p:spPr>
          <a:xfrm>
            <a:off x="502005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"/>
          <p:cNvSpPr/>
          <p:nvPr/>
        </p:nvSpPr>
        <p:spPr>
          <a:xfrm>
            <a:off x="660722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27.4%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6"/>
          <p:cNvSpPr/>
          <p:nvPr/>
        </p:nvSpPr>
        <p:spPr>
          <a:xfrm>
            <a:off x="660722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819439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27.2%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6"/>
          <p:cNvSpPr/>
          <p:nvPr/>
        </p:nvSpPr>
        <p:spPr>
          <a:xfrm>
            <a:off x="819439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Weighted-F1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9781565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34.4%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/>
          <p:nvPr/>
        </p:nvSpPr>
        <p:spPr>
          <a:xfrm>
            <a:off x="9781565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Balanced Acc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6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6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READING &amp; NEXT 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6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The model barely exceeds uniform-random and stays below the majority-class baseline. The dominant failure is severe class collapse — Caution recall of 3.5% and two-thirds of High-Risk sequences predicted as Safe. It is therefore an experimental signal for the fusion engine, not a standalone safety trigger; longer temporal context and class-sensitive training are the next levers.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MODULE 2  ·  LANDMARK-BASED FATIGUE  · 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7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Shiwani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Interpretable landmark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MODEL &amp;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859536" y="2587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2143354" y="2587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2-layer LSTM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7"/>
          <p:cNvSpPr/>
          <p:nvPr/>
        </p:nvSpPr>
        <p:spPr>
          <a:xfrm>
            <a:off x="859536" y="3044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2143354" y="3044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 · MAR · Pitch·Yaw·Roll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859536" y="35021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Window size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2143354" y="35021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 frames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859536" y="39593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Extractor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2143354" y="39593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MediaPipe Face LandMarker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859536" y="44165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2143354" y="44165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 · Talking · Yawning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859536" y="4873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2143354" y="4873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 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859536" y="5330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Checkpoint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2143354" y="5330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m4_lstm_full_final.pt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HELD-OUT 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5020056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1,400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7"/>
          <p:cNvSpPr/>
          <p:nvPr/>
        </p:nvSpPr>
        <p:spPr>
          <a:xfrm>
            <a:off x="5020056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windows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7"/>
          <p:cNvSpPr/>
          <p:nvPr/>
        </p:nvSpPr>
        <p:spPr>
          <a:xfrm>
            <a:off x="7124090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11.3%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7"/>
          <p:cNvSpPr/>
          <p:nvPr/>
        </p:nvSpPr>
        <p:spPr>
          <a:xfrm>
            <a:off x="7124090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Yawning (minority)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7"/>
          <p:cNvSpPr/>
          <p:nvPr/>
        </p:nvSpPr>
        <p:spPr>
          <a:xfrm>
            <a:off x="9228125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subject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7"/>
          <p:cNvSpPr/>
          <p:nvPr/>
        </p:nvSpPr>
        <p:spPr>
          <a:xfrm>
            <a:off x="9228125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disjoint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WHAT THIS EVALUATION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Whether hand-engineered facial signals separate the three behaviours, and whether the fatigue-state decision threshold can be empirically justified rather than left as an unvalidated heuristic. Inputs are human-interpretable, so any prediction is cross-checkable against the raw MAR trace.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MODULE 2  ·  LANDMARK FATIGUE  ·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Shiwani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Held-out test + threshold tuning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LABEL CORRECTION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2167128" y="262432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3218688" y="2624328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859536" y="2971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Before fix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2029968" y="2953512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6E809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40.8%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3081528" y="2953512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6E809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38.4%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859536" y="3749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After fix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2029968" y="3730752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64.1%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3081528" y="3730752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61.8%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8"/>
          <p:cNvSpPr/>
          <p:nvPr/>
        </p:nvSpPr>
        <p:spPr>
          <a:xfrm>
            <a:off x="859536" y="5120640"/>
            <a:ext cx="3209544" cy="566928"/>
          </a:xfrm>
          <a:prstGeom prst="roundRect">
            <a:avLst>
              <a:gd fmla="val 1129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1024128" y="5120640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+23.3 pts</a:t>
            </a: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  accuracy from the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3-class label restructuring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CORRECTED 3-CLASS TEST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502005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64.1%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502005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660722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0.62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8"/>
          <p:cNvSpPr/>
          <p:nvPr/>
        </p:nvSpPr>
        <p:spPr>
          <a:xfrm>
            <a:off x="660722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819439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0.61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819439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Yawning 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9781565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94.4%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9781565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Sensitivity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READING &amp; THRESHOLD 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The dominant error (Talking→Normal, 53% of mistakes) is video-level label granularity, not model capacity. Cross-class Talking↔Yawning confusion is minor. Because a missed drowsy driver is the costly failure and this module is only one of five fused inputs, the Drowsy threshold is revised from 15% to 5% — lifting sensitivity to 94.4% at an acceptable false-alarm cost.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9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MODULE 3  ·  DRIVER ACTIVITY CLASSIFICATION  · 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9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9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Shubham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9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9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MODEL &amp;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9"/>
          <p:cNvSpPr/>
          <p:nvPr/>
        </p:nvSpPr>
        <p:spPr>
          <a:xfrm>
            <a:off x="859536" y="2587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2143354" y="2587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MobileNetV3-Large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859536" y="3044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2143354" y="3044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scratch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9"/>
          <p:cNvSpPr/>
          <p:nvPr/>
        </p:nvSpPr>
        <p:spPr>
          <a:xfrm>
            <a:off x="859536" y="35021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9"/>
          <p:cNvSpPr/>
          <p:nvPr/>
        </p:nvSpPr>
        <p:spPr>
          <a:xfrm>
            <a:off x="2143354" y="35021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224×224 RGB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859536" y="39593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2143354" y="39593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AdamW · lr 3e-4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859536" y="44165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9"/>
          <p:cNvSpPr/>
          <p:nvPr/>
        </p:nvSpPr>
        <p:spPr>
          <a:xfrm>
            <a:off x="2143354" y="44165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activities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859536" y="4873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9"/>
          <p:cNvSpPr/>
          <p:nvPr/>
        </p:nvSpPr>
        <p:spPr>
          <a:xfrm>
            <a:off x="2143354" y="4873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4.21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9"/>
          <p:cNvSpPr/>
          <p:nvPr/>
        </p:nvSpPr>
        <p:spPr>
          <a:xfrm>
            <a:off x="859536" y="5330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Best val acc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9"/>
          <p:cNvSpPr/>
          <p:nvPr/>
        </p:nvSpPr>
        <p:spPr>
          <a:xfrm>
            <a:off x="2143354" y="5330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94.4%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9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9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HELD-OUT 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/>
          <p:nvPr/>
        </p:nvSpPr>
        <p:spPr>
          <a:xfrm>
            <a:off x="5020056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1,093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"/>
          <p:cNvSpPr/>
          <p:nvPr/>
        </p:nvSpPr>
        <p:spPr>
          <a:xfrm>
            <a:off x="5020056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9"/>
          <p:cNvSpPr/>
          <p:nvPr/>
        </p:nvSpPr>
        <p:spPr>
          <a:xfrm>
            <a:off x="7124090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7124090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activity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9"/>
          <p:cNvSpPr/>
          <p:nvPr/>
        </p:nvSpPr>
        <p:spPr>
          <a:xfrm>
            <a:off x="9228125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driver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9"/>
          <p:cNvSpPr/>
          <p:nvPr/>
        </p:nvSpPr>
        <p:spPr>
          <a:xfrm>
            <a:off x="9228125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disjoint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WHAT THIS EVALUATION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Whether a lightweight, edge-oriented classifier can recognise five driving behaviours — safe driving, texting, talking on phone, turning, and a catch-all other — accurately enough for real-time deployment, and where the intra-class variance of the catch-all class costs accuracy.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0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MODULE 3  ·  DRIVER ACTIVITY  ·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0"/>
          <p:cNvSpPr/>
          <p:nvPr/>
        </p:nvSpPr>
        <p:spPr>
          <a:xfrm>
            <a:off x="566928" y="822960"/>
            <a:ext cx="777300" cy="77730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1" i="0" sz="2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0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Shubham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Held-out test + model comparison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0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PER-CLASS F1-SCORE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859536" y="262432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texting_phone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2898648" y="256946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0"/>
          <p:cNvSpPr/>
          <p:nvPr/>
        </p:nvSpPr>
        <p:spPr>
          <a:xfrm>
            <a:off x="859536" y="2916936"/>
            <a:ext cx="3209544" cy="8229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859536" y="2916936"/>
            <a:ext cx="3145353" cy="82296"/>
          </a:xfrm>
          <a:prstGeom prst="roundRect">
            <a:avLst>
              <a:gd fmla="val 50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0"/>
          <p:cNvSpPr/>
          <p:nvPr/>
        </p:nvSpPr>
        <p:spPr>
          <a:xfrm>
            <a:off x="859536" y="322783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talking_phone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0"/>
          <p:cNvSpPr/>
          <p:nvPr/>
        </p:nvSpPr>
        <p:spPr>
          <a:xfrm>
            <a:off x="2898648" y="317296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0"/>
          <p:cNvSpPr/>
          <p:nvPr/>
        </p:nvSpPr>
        <p:spPr>
          <a:xfrm>
            <a:off x="859536" y="3520440"/>
            <a:ext cx="3209544" cy="8229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859536" y="3520440"/>
            <a:ext cx="3049067" cy="82296"/>
          </a:xfrm>
          <a:prstGeom prst="roundRect">
            <a:avLst>
              <a:gd fmla="val 50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0"/>
          <p:cNvSpPr/>
          <p:nvPr/>
        </p:nvSpPr>
        <p:spPr>
          <a:xfrm>
            <a:off x="859536" y="383133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turning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2898648" y="377647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0"/>
          <p:cNvSpPr/>
          <p:nvPr/>
        </p:nvSpPr>
        <p:spPr>
          <a:xfrm>
            <a:off x="859536" y="4123944"/>
            <a:ext cx="3209544" cy="8229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859536" y="4123944"/>
            <a:ext cx="2952780" cy="82296"/>
          </a:xfrm>
          <a:prstGeom prst="roundRect">
            <a:avLst>
              <a:gd fmla="val 50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0"/>
          <p:cNvSpPr/>
          <p:nvPr/>
        </p:nvSpPr>
        <p:spPr>
          <a:xfrm>
            <a:off x="859536" y="44348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safe_driving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0"/>
          <p:cNvSpPr/>
          <p:nvPr/>
        </p:nvSpPr>
        <p:spPr>
          <a:xfrm>
            <a:off x="2898648" y="437997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859536" y="4727448"/>
            <a:ext cx="3209544" cy="8229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0"/>
          <p:cNvSpPr/>
          <p:nvPr/>
        </p:nvSpPr>
        <p:spPr>
          <a:xfrm>
            <a:off x="859536" y="4727448"/>
            <a:ext cx="2920685" cy="82296"/>
          </a:xfrm>
          <a:prstGeom prst="roundRect">
            <a:avLst>
              <a:gd fmla="val 50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0"/>
          <p:cNvSpPr/>
          <p:nvPr/>
        </p:nvSpPr>
        <p:spPr>
          <a:xfrm>
            <a:off x="859536" y="50383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other_activities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0"/>
          <p:cNvSpPr/>
          <p:nvPr/>
        </p:nvSpPr>
        <p:spPr>
          <a:xfrm>
            <a:off x="2898648" y="49834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0.89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0"/>
          <p:cNvSpPr/>
          <p:nvPr/>
        </p:nvSpPr>
        <p:spPr>
          <a:xfrm>
            <a:off x="859536" y="5330952"/>
            <a:ext cx="3209544" cy="8229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0"/>
          <p:cNvSpPr/>
          <p:nvPr/>
        </p:nvSpPr>
        <p:spPr>
          <a:xfrm>
            <a:off x="859536" y="5330952"/>
            <a:ext cx="2856494" cy="82296"/>
          </a:xfrm>
          <a:prstGeom prst="roundRect">
            <a:avLst>
              <a:gd fmla="val 50000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0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OVERALL HELD-OUT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0"/>
          <p:cNvSpPr/>
          <p:nvPr/>
        </p:nvSpPr>
        <p:spPr>
          <a:xfrm>
            <a:off x="502005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6C7CD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93.1%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502005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0"/>
          <p:cNvSpPr/>
          <p:nvPr/>
        </p:nvSpPr>
        <p:spPr>
          <a:xfrm>
            <a:off x="660722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660722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0"/>
          <p:cNvSpPr/>
          <p:nvPr/>
        </p:nvSpPr>
        <p:spPr>
          <a:xfrm>
            <a:off x="819439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&gt;0.95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819439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AUC (all classes)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0"/>
          <p:cNvSpPr/>
          <p:nvPr/>
        </p:nvSpPr>
        <p:spPr>
          <a:xfrm>
            <a:off x="9781565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12.5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9781565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ms / frame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5020056" y="4169664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WHY MOBILENETV3 — ACCURACY VS EFFICIENCY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5020056" y="453542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0"/>
          <p:cNvSpPr/>
          <p:nvPr/>
        </p:nvSpPr>
        <p:spPr>
          <a:xfrm>
            <a:off x="7653528" y="453542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ACC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0"/>
          <p:cNvSpPr/>
          <p:nvPr/>
        </p:nvSpPr>
        <p:spPr>
          <a:xfrm>
            <a:off x="8659368" y="453542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PARAMS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0"/>
          <p:cNvSpPr/>
          <p:nvPr/>
        </p:nvSpPr>
        <p:spPr>
          <a:xfrm>
            <a:off x="9848088" y="453542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0"/>
          <p:cNvSpPr/>
          <p:nvPr/>
        </p:nvSpPr>
        <p:spPr>
          <a:xfrm>
            <a:off x="5020056" y="48280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MobileNetV3 (ours)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0"/>
          <p:cNvSpPr/>
          <p:nvPr/>
        </p:nvSpPr>
        <p:spPr>
          <a:xfrm>
            <a:off x="7653528" y="4828032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93.1%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0"/>
          <p:cNvSpPr/>
          <p:nvPr/>
        </p:nvSpPr>
        <p:spPr>
          <a:xfrm>
            <a:off x="8659368" y="4828032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4.2 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0"/>
          <p:cNvSpPr/>
          <p:nvPr/>
        </p:nvSpPr>
        <p:spPr>
          <a:xfrm>
            <a:off x="9848088" y="4828032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12.5 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0"/>
          <p:cNvSpPr/>
          <p:nvPr/>
        </p:nvSpPr>
        <p:spPr>
          <a:xfrm>
            <a:off x="5020056" y="5212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EfficientNet-B0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0"/>
          <p:cNvSpPr/>
          <p:nvPr/>
        </p:nvSpPr>
        <p:spPr>
          <a:xfrm>
            <a:off x="7653528" y="521208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94.0%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0"/>
          <p:cNvSpPr/>
          <p:nvPr/>
        </p:nvSpPr>
        <p:spPr>
          <a:xfrm>
            <a:off x="8659368" y="521208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5.3 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0"/>
          <p:cNvSpPr/>
          <p:nvPr/>
        </p:nvSpPr>
        <p:spPr>
          <a:xfrm>
            <a:off x="9848088" y="521208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28.7 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0"/>
          <p:cNvSpPr/>
          <p:nvPr/>
        </p:nvSpPr>
        <p:spPr>
          <a:xfrm>
            <a:off x="5020056" y="5596128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ResNet50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0"/>
          <p:cNvSpPr/>
          <p:nvPr/>
        </p:nvSpPr>
        <p:spPr>
          <a:xfrm>
            <a:off x="7653528" y="5596128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92.1%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0"/>
          <p:cNvSpPr/>
          <p:nvPr/>
        </p:nvSpPr>
        <p:spPr>
          <a:xfrm>
            <a:off x="8659368" y="5596128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25.5 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0"/>
          <p:cNvSpPr/>
          <p:nvPr/>
        </p:nvSpPr>
        <p:spPr>
          <a:xfrm>
            <a:off x="9848088" y="5596128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45.2 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1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MODULE 4  ·  SEAT BELT &amp; PHONE DETECTION  · 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1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1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Sohini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1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YOLOv8n + inference safeguards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1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1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MODEL &amp;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1"/>
          <p:cNvSpPr/>
          <p:nvPr/>
        </p:nvSpPr>
        <p:spPr>
          <a:xfrm>
            <a:off x="859536" y="2587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Detector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1"/>
          <p:cNvSpPr/>
          <p:nvPr/>
        </p:nvSpPr>
        <p:spPr>
          <a:xfrm>
            <a:off x="2143354" y="2587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1"/>
          <p:cNvSpPr/>
          <p:nvPr/>
        </p:nvSpPr>
        <p:spPr>
          <a:xfrm>
            <a:off x="859536" y="3044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2143354" y="3044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Seatbelt · Phone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1"/>
          <p:cNvSpPr/>
          <p:nvPr/>
        </p:nvSpPr>
        <p:spPr>
          <a:xfrm>
            <a:off x="859536" y="35021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1"/>
          <p:cNvSpPr/>
          <p:nvPr/>
        </p:nvSpPr>
        <p:spPr>
          <a:xfrm>
            <a:off x="2143354" y="35021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1280×1280 letterbox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859536" y="39593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Gamma correction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2143354" y="39593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γ = 1.4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859536" y="44165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Temporal filter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2143354" y="44165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≈85% frame stability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859536" y="4873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NMS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2143354" y="4873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Class-agnostic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859536" y="5330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2143354" y="5330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6.8–10.4 ms/frame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EVALUATION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5020056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day+night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5020056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cabin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7124090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glare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7124090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&amp; heavy shadow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9228125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1"/>
          <p:cNvSpPr/>
          <p:nvPr/>
        </p:nvSpPr>
        <p:spPr>
          <a:xfrm>
            <a:off x="9228125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annotated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WHAT THIS EVALUATION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Whether a small detector plus a stateful temporal-consensus pipeline can hold up on continuous cabin video — beyond static-image accuracy — resisting flicker, arm/shadow confusion (the "seesaw" effect), and out-of-distribution lighting.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2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2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MODULE 4  ·  SEAT BELT &amp; PHONE  ·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2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2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2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Sohini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2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Validation metrics + mitigations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2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2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DEPLOYMENT SAFEGUARDS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"/>
          <p:cNvSpPr/>
          <p:nvPr/>
        </p:nvSpPr>
        <p:spPr>
          <a:xfrm>
            <a:off x="859536" y="2697480"/>
            <a:ext cx="146304" cy="14630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2"/>
          <p:cNvSpPr/>
          <p:nvPr/>
        </p:nvSpPr>
        <p:spPr>
          <a:xfrm>
            <a:off x="1115568" y="260604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Decoupled thresholds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2"/>
          <p:cNvSpPr/>
          <p:nvPr/>
        </p:nvSpPr>
        <p:spPr>
          <a:xfrm>
            <a:off x="1115568" y="289864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Seatbelt 0.40 · Phone 0.10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2"/>
          <p:cNvSpPr/>
          <p:nvPr/>
        </p:nvSpPr>
        <p:spPr>
          <a:xfrm>
            <a:off x="859536" y="3502152"/>
            <a:ext cx="146304" cy="14630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2"/>
          <p:cNvSpPr/>
          <p:nvPr/>
        </p:nvSpPr>
        <p:spPr>
          <a:xfrm>
            <a:off x="1115568" y="341071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Class-agnostic NMS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2"/>
          <p:cNvSpPr/>
          <p:nvPr/>
        </p:nvSpPr>
        <p:spPr>
          <a:xfrm>
            <a:off x="1115568" y="37033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removes overlapping arm/shadow boxes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859536" y="4306824"/>
            <a:ext cx="146304" cy="14630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2"/>
          <p:cNvSpPr/>
          <p:nvPr/>
        </p:nvSpPr>
        <p:spPr>
          <a:xfrm>
            <a:off x="1115568" y="421538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Spatial filtering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1115568" y="450799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rejects window-glass &amp; tiny boxes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859536" y="5111496"/>
            <a:ext cx="146304" cy="14630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1115568" y="5020056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 consensus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1115568" y="5312664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~85% stability before confirming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YOLOV8N DETECTION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502005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C79A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0.953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2"/>
          <p:cNvSpPr/>
          <p:nvPr/>
        </p:nvSpPr>
        <p:spPr>
          <a:xfrm>
            <a:off x="502005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660722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0.673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660722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mAP@50–95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819439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0.937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2"/>
          <p:cNvSpPr/>
          <p:nvPr/>
        </p:nvSpPr>
        <p:spPr>
          <a:xfrm>
            <a:off x="819439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9781565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0.903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9781565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2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READING &amp; LIMITATIONS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Static detection is strong (mAP@50 = 0.95), but continuous-stream deployment exposes flicker and lighting sensitivity that single-image scoring hides. Heavy shadow can hide the phone; strong glare washes out the belt. The inference safeguards resolve the arm-vs-belt "seesaw"; the metrics come from the notebook validation set rather than a fully separate held-out split — flagged as the key caveat.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3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3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MODULE 5  ·  SMOKING &amp; DRINKING DETECTION  · 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3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3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Ravina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3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Strictly held-out test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3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3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MODEL &amp;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3"/>
          <p:cNvSpPr/>
          <p:nvPr/>
        </p:nvSpPr>
        <p:spPr>
          <a:xfrm>
            <a:off x="859536" y="2587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Detector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3"/>
          <p:cNvSpPr/>
          <p:nvPr/>
        </p:nvSpPr>
        <p:spPr>
          <a:xfrm>
            <a:off x="2143354" y="2587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3"/>
          <p:cNvSpPr/>
          <p:nvPr/>
        </p:nvSpPr>
        <p:spPr>
          <a:xfrm>
            <a:off x="859536" y="3044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3"/>
          <p:cNvSpPr/>
          <p:nvPr/>
        </p:nvSpPr>
        <p:spPr>
          <a:xfrm>
            <a:off x="2143354" y="3044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· Drinking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3"/>
          <p:cNvSpPr/>
          <p:nvPr/>
        </p:nvSpPr>
        <p:spPr>
          <a:xfrm>
            <a:off x="859536" y="35021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3"/>
          <p:cNvSpPr/>
          <p:nvPr/>
        </p:nvSpPr>
        <p:spPr>
          <a:xfrm>
            <a:off x="2143354" y="35021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640×640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3"/>
          <p:cNvSpPr/>
          <p:nvPr/>
        </p:nvSpPr>
        <p:spPr>
          <a:xfrm>
            <a:off x="859536" y="39593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3"/>
          <p:cNvSpPr/>
          <p:nvPr/>
        </p:nvSpPr>
        <p:spPr>
          <a:xfrm>
            <a:off x="2143354" y="39593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 epochs · AdamW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3"/>
          <p:cNvSpPr/>
          <p:nvPr/>
        </p:nvSpPr>
        <p:spPr>
          <a:xfrm>
            <a:off x="859536" y="44165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LR schedule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3"/>
          <p:cNvSpPr/>
          <p:nvPr/>
        </p:nvSpPr>
        <p:spPr>
          <a:xfrm>
            <a:off x="2143354" y="44165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cosine · lr0 1e-3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3"/>
          <p:cNvSpPr/>
          <p:nvPr/>
        </p:nvSpPr>
        <p:spPr>
          <a:xfrm>
            <a:off x="859536" y="48737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3"/>
          <p:cNvSpPr/>
          <p:nvPr/>
        </p:nvSpPr>
        <p:spPr>
          <a:xfrm>
            <a:off x="2143354" y="48737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3.01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3"/>
          <p:cNvSpPr/>
          <p:nvPr/>
        </p:nvSpPr>
        <p:spPr>
          <a:xfrm>
            <a:off x="859536" y="5330952"/>
            <a:ext cx="19899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3"/>
          <p:cNvSpPr/>
          <p:nvPr/>
        </p:nvSpPr>
        <p:spPr>
          <a:xfrm>
            <a:off x="2143354" y="5330952"/>
            <a:ext cx="19257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8.1 GFLOPs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3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3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HELD-OUT TEST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3"/>
          <p:cNvSpPr/>
          <p:nvPr/>
        </p:nvSpPr>
        <p:spPr>
          <a:xfrm>
            <a:off x="5020056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371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3"/>
          <p:cNvSpPr/>
          <p:nvPr/>
        </p:nvSpPr>
        <p:spPr>
          <a:xfrm>
            <a:off x="5020056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3"/>
          <p:cNvSpPr/>
          <p:nvPr/>
        </p:nvSpPr>
        <p:spPr>
          <a:xfrm>
            <a:off x="7124090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445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3"/>
          <p:cNvSpPr/>
          <p:nvPr/>
        </p:nvSpPr>
        <p:spPr>
          <a:xfrm>
            <a:off x="7124090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labelled boxes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3"/>
          <p:cNvSpPr/>
          <p:nvPr/>
        </p:nvSpPr>
        <p:spPr>
          <a:xfrm>
            <a:off x="9228125" y="2532888"/>
            <a:ext cx="196687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frozen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3"/>
          <p:cNvSpPr/>
          <p:nvPr/>
        </p:nvSpPr>
        <p:spPr>
          <a:xfrm>
            <a:off x="9228125" y="3081528"/>
            <a:ext cx="1966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yolov8n_best.pt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3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3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WHAT THIS EVALUATION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3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Impartial benchmarking of a frozen checkpoint on a split that contributed nothing to training, plus root-cause diagnosis of every failure and a check that validation and test scores agree — the signature of clean splits and no leakage.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4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MODULE 5  ·  SMOKING &amp; DRINKING  ·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4"/>
          <p:cNvSpPr/>
          <p:nvPr/>
        </p:nvSpPr>
        <p:spPr>
          <a:xfrm>
            <a:off x="566928" y="822960"/>
            <a:ext cx="777240" cy="77724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4"/>
          <p:cNvSpPr/>
          <p:nvPr/>
        </p:nvSpPr>
        <p:spPr>
          <a:xfrm>
            <a:off x="566928" y="8229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90"/>
              <a:buFont typeface="Century Schoolbook"/>
              <a:buNone/>
            </a:pPr>
            <a:r>
              <a:rPr b="1" i="0" lang="en-US" sz="289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4"/>
          <p:cNvSpPr/>
          <p:nvPr/>
        </p:nvSpPr>
        <p:spPr>
          <a:xfrm>
            <a:off x="1527048" y="82296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Ravina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4"/>
          <p:cNvSpPr/>
          <p:nvPr/>
        </p:nvSpPr>
        <p:spPr>
          <a:xfrm>
            <a:off x="6858000" y="8229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entury Schoolbook"/>
              <a:buNone/>
            </a:pPr>
            <a:r>
              <a:rPr b="0" i="1" lang="en-US" sz="15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Held-out test + per-class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4"/>
          <p:cNvSpPr/>
          <p:nvPr/>
        </p:nvSpPr>
        <p:spPr>
          <a:xfrm>
            <a:off x="566928" y="1874520"/>
            <a:ext cx="3794760" cy="4114800"/>
          </a:xfrm>
          <a:prstGeom prst="roundRect">
            <a:avLst>
              <a:gd fmla="val 241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4"/>
          <p:cNvSpPr/>
          <p:nvPr/>
        </p:nvSpPr>
        <p:spPr>
          <a:xfrm>
            <a:off x="859536" y="214884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THE CLASS IMBALANCE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4"/>
          <p:cNvSpPr/>
          <p:nvPr/>
        </p:nvSpPr>
        <p:spPr>
          <a:xfrm>
            <a:off x="859536" y="24414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recall by class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4"/>
          <p:cNvSpPr/>
          <p:nvPr/>
        </p:nvSpPr>
        <p:spPr>
          <a:xfrm>
            <a:off x="859536" y="2880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2578608" y="278892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2400"/>
              <a:buFont typeface="Century Schoolbook"/>
              <a:buNone/>
            </a:pPr>
            <a:r>
              <a:rPr b="1" i="0" lang="en-US" sz="2400" u="none" cap="none" strike="noStrike">
                <a:solidFill>
                  <a:srgbClr val="A855C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0.93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859536" y="3337560"/>
            <a:ext cx="3209544" cy="12801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4"/>
          <p:cNvSpPr/>
          <p:nvPr/>
        </p:nvSpPr>
        <p:spPr>
          <a:xfrm>
            <a:off x="859536" y="3337560"/>
            <a:ext cx="2984876" cy="128016"/>
          </a:xfrm>
          <a:prstGeom prst="roundRect">
            <a:avLst>
              <a:gd fmla="val 50000" name="adj"/>
            </a:avLst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4"/>
          <p:cNvSpPr/>
          <p:nvPr/>
        </p:nvSpPr>
        <p:spPr>
          <a:xfrm>
            <a:off x="859536" y="39319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Drinking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4"/>
          <p:cNvSpPr/>
          <p:nvPr/>
        </p:nvSpPr>
        <p:spPr>
          <a:xfrm>
            <a:off x="2578608" y="384048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2400"/>
              <a:buFont typeface="Century Schoolbook"/>
              <a:buNone/>
            </a:pPr>
            <a:r>
              <a:rPr b="1" i="0" lang="en-US" sz="2400" u="none" cap="none" strike="noStrike">
                <a:solidFill>
                  <a:srgbClr val="9FB2C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0.67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4"/>
          <p:cNvSpPr/>
          <p:nvPr/>
        </p:nvSpPr>
        <p:spPr>
          <a:xfrm>
            <a:off x="859536" y="4389120"/>
            <a:ext cx="3209544" cy="128016"/>
          </a:xfrm>
          <a:prstGeom prst="roundRect">
            <a:avLst>
              <a:gd fmla="val 5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4"/>
          <p:cNvSpPr/>
          <p:nvPr/>
        </p:nvSpPr>
        <p:spPr>
          <a:xfrm>
            <a:off x="859536" y="4389120"/>
            <a:ext cx="2150394" cy="128016"/>
          </a:xfrm>
          <a:prstGeom prst="roundRect">
            <a:avLst>
              <a:gd fmla="val 50000" name="adj"/>
            </a:avLst>
          </a:prstGeom>
          <a:solidFill>
            <a:srgbClr val="5B6B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4"/>
          <p:cNvSpPr/>
          <p:nvPr/>
        </p:nvSpPr>
        <p:spPr>
          <a:xfrm>
            <a:off x="859536" y="534924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≈0.26 recall gap — drinking events are far more likely to be missed.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4"/>
          <p:cNvSpPr/>
          <p:nvPr/>
        </p:nvSpPr>
        <p:spPr>
          <a:xfrm>
            <a:off x="4727448" y="1874520"/>
            <a:ext cx="6897319" cy="1783080"/>
          </a:xfrm>
          <a:prstGeom prst="roundRect">
            <a:avLst>
              <a:gd fmla="val 512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4"/>
          <p:cNvSpPr/>
          <p:nvPr/>
        </p:nvSpPr>
        <p:spPr>
          <a:xfrm>
            <a:off x="5020056" y="21305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OVERALL HELD-OUT TEST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4"/>
          <p:cNvSpPr/>
          <p:nvPr/>
        </p:nvSpPr>
        <p:spPr>
          <a:xfrm>
            <a:off x="502005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A855C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0.85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4"/>
          <p:cNvSpPr/>
          <p:nvPr/>
        </p:nvSpPr>
        <p:spPr>
          <a:xfrm>
            <a:off x="502005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4"/>
          <p:cNvSpPr/>
          <p:nvPr/>
        </p:nvSpPr>
        <p:spPr>
          <a:xfrm>
            <a:off x="660722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0.80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4"/>
          <p:cNvSpPr/>
          <p:nvPr/>
        </p:nvSpPr>
        <p:spPr>
          <a:xfrm>
            <a:off x="660722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4"/>
          <p:cNvSpPr/>
          <p:nvPr/>
        </p:nvSpPr>
        <p:spPr>
          <a:xfrm>
            <a:off x="8194396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0.82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4"/>
          <p:cNvSpPr/>
          <p:nvPr/>
        </p:nvSpPr>
        <p:spPr>
          <a:xfrm>
            <a:off x="8194396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4"/>
          <p:cNvSpPr/>
          <p:nvPr/>
        </p:nvSpPr>
        <p:spPr>
          <a:xfrm>
            <a:off x="9781565" y="2532888"/>
            <a:ext cx="1495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Schoolboo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0.45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4"/>
          <p:cNvSpPr/>
          <p:nvPr/>
        </p:nvSpPr>
        <p:spPr>
          <a:xfrm>
            <a:off x="9781565" y="3191256"/>
            <a:ext cx="1495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mAP@50–95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4"/>
          <p:cNvSpPr/>
          <p:nvPr/>
        </p:nvSpPr>
        <p:spPr>
          <a:xfrm>
            <a:off x="4727448" y="3931920"/>
            <a:ext cx="6897319" cy="2057400"/>
          </a:xfrm>
          <a:prstGeom prst="roundRect">
            <a:avLst>
              <a:gd fmla="val 444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4"/>
          <p:cNvSpPr/>
          <p:nvPr/>
        </p:nvSpPr>
        <p:spPr>
          <a:xfrm>
            <a:off x="5020056" y="4187952"/>
            <a:ext cx="63486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READING — A SAFELY-DIRECTED FAILURE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4"/>
          <p:cNvSpPr/>
          <p:nvPr/>
        </p:nvSpPr>
        <p:spPr>
          <a:xfrm>
            <a:off x="5020056" y="4553712"/>
            <a:ext cx="634867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Val and test mAP@50–95 match within 0.005 — clean splits, genuine generalisation. Of 46 failures only 6 are true cross-class confusion; the rest are missed or low-confidence boxes. The model fails the safe way — it declines to fire rather than asserting a confident wrong class — which temporal smoothing can recover. Drinking recall and strict localisation are the gaps to close.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5"/>
          <p:cNvSpPr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 ·   Milestone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5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COMPARATIVE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5"/>
          <p:cNvSpPr/>
          <p:nvPr/>
        </p:nvSpPr>
        <p:spPr>
          <a:xfrm>
            <a:off x="566928" y="868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Five Evaluations, One Scorecard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5"/>
          <p:cNvSpPr/>
          <p:nvPr/>
        </p:nvSpPr>
        <p:spPr>
          <a:xfrm>
            <a:off x="1069848" y="1874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5"/>
          <p:cNvSpPr/>
          <p:nvPr/>
        </p:nvSpPr>
        <p:spPr>
          <a:xfrm>
            <a:off x="4270248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HEADLINE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5"/>
          <p:cNvSpPr/>
          <p:nvPr/>
        </p:nvSpPr>
        <p:spPr>
          <a:xfrm>
            <a:off x="6190488" y="18745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5"/>
          <p:cNvSpPr/>
          <p:nvPr/>
        </p:nvSpPr>
        <p:spPr>
          <a:xfrm>
            <a:off x="9116568" y="1874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PRIMARY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5"/>
          <p:cNvSpPr/>
          <p:nvPr/>
        </p:nvSpPr>
        <p:spPr>
          <a:xfrm>
            <a:off x="566928" y="2286000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5"/>
          <p:cNvSpPr/>
          <p:nvPr/>
        </p:nvSpPr>
        <p:spPr>
          <a:xfrm>
            <a:off x="822960" y="2523744"/>
            <a:ext cx="182880" cy="18288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5"/>
          <p:cNvSpPr/>
          <p:nvPr/>
        </p:nvSpPr>
        <p:spPr>
          <a:xfrm>
            <a:off x="1069848" y="2286000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5"/>
          <p:cNvSpPr/>
          <p:nvPr/>
        </p:nvSpPr>
        <p:spPr>
          <a:xfrm>
            <a:off x="4270248" y="228600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D9534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33.6%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5"/>
          <p:cNvSpPr/>
          <p:nvPr/>
        </p:nvSpPr>
        <p:spPr>
          <a:xfrm>
            <a:off x="6190488" y="2286000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Streaming pipeline built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5"/>
          <p:cNvSpPr/>
          <p:nvPr/>
        </p:nvSpPr>
        <p:spPr>
          <a:xfrm>
            <a:off x="9116568" y="2286000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Severe class collapse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5"/>
          <p:cNvSpPr/>
          <p:nvPr/>
        </p:nvSpPr>
        <p:spPr>
          <a:xfrm>
            <a:off x="566928" y="3035808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5"/>
          <p:cNvSpPr/>
          <p:nvPr/>
        </p:nvSpPr>
        <p:spPr>
          <a:xfrm>
            <a:off x="822960" y="3273552"/>
            <a:ext cx="182880" cy="18288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5"/>
          <p:cNvSpPr/>
          <p:nvPr/>
        </p:nvSpPr>
        <p:spPr>
          <a:xfrm>
            <a:off x="1069848" y="3035808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5"/>
          <p:cNvSpPr/>
          <p:nvPr/>
        </p:nvSpPr>
        <p:spPr>
          <a:xfrm>
            <a:off x="4270248" y="303580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64.1%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5"/>
          <p:cNvSpPr/>
          <p:nvPr/>
        </p:nvSpPr>
        <p:spPr>
          <a:xfrm>
            <a:off x="6190488" y="3035808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Interpretable + validated threshold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5"/>
          <p:cNvSpPr/>
          <p:nvPr/>
        </p:nvSpPr>
        <p:spPr>
          <a:xfrm>
            <a:off x="9116568" y="3035808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Talking label granularity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5"/>
          <p:cNvSpPr/>
          <p:nvPr/>
        </p:nvSpPr>
        <p:spPr>
          <a:xfrm>
            <a:off x="566928" y="3785616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5"/>
          <p:cNvSpPr/>
          <p:nvPr/>
        </p:nvSpPr>
        <p:spPr>
          <a:xfrm>
            <a:off x="822960" y="4023360"/>
            <a:ext cx="182880" cy="18288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5"/>
          <p:cNvSpPr/>
          <p:nvPr/>
        </p:nvSpPr>
        <p:spPr>
          <a:xfrm>
            <a:off x="1069848" y="3785616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5"/>
          <p:cNvSpPr/>
          <p:nvPr/>
        </p:nvSpPr>
        <p:spPr>
          <a:xfrm>
            <a:off x="4270248" y="378561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6C7CD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 93.1%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5"/>
          <p:cNvSpPr/>
          <p:nvPr/>
        </p:nvSpPr>
        <p:spPr>
          <a:xfrm>
            <a:off x="6190488" y="3785616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Fast, edge-ready, high AUC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5"/>
          <p:cNvSpPr/>
          <p:nvPr/>
        </p:nvSpPr>
        <p:spPr>
          <a:xfrm>
            <a:off x="9116568" y="3785616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Catch-all class variance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5"/>
          <p:cNvSpPr/>
          <p:nvPr/>
        </p:nvSpPr>
        <p:spPr>
          <a:xfrm>
            <a:off x="566928" y="4535424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822960" y="4773168"/>
            <a:ext cx="182880" cy="18288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1069848" y="4535424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4270248" y="4535424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C79A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 0.95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5"/>
          <p:cNvSpPr/>
          <p:nvPr/>
        </p:nvSpPr>
        <p:spPr>
          <a:xfrm>
            <a:off x="6190488" y="4535424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Robust inference safeguards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5"/>
          <p:cNvSpPr/>
          <p:nvPr/>
        </p:nvSpPr>
        <p:spPr>
          <a:xfrm>
            <a:off x="9116568" y="4535424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Lighting / temporal flicker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5"/>
          <p:cNvSpPr/>
          <p:nvPr/>
        </p:nvSpPr>
        <p:spPr>
          <a:xfrm>
            <a:off x="566928" y="5285232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5"/>
          <p:cNvSpPr/>
          <p:nvPr/>
        </p:nvSpPr>
        <p:spPr>
          <a:xfrm>
            <a:off x="822960" y="5522976"/>
            <a:ext cx="182880" cy="18288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5"/>
          <p:cNvSpPr/>
          <p:nvPr/>
        </p:nvSpPr>
        <p:spPr>
          <a:xfrm>
            <a:off x="1069848" y="5285232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5"/>
          <p:cNvSpPr/>
          <p:nvPr/>
        </p:nvSpPr>
        <p:spPr>
          <a:xfrm>
            <a:off x="4270248" y="5285232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A855C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 0.82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5"/>
          <p:cNvSpPr/>
          <p:nvPr/>
        </p:nvSpPr>
        <p:spPr>
          <a:xfrm>
            <a:off x="6190488" y="5285232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Safe failure, no leakage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5"/>
          <p:cNvSpPr/>
          <p:nvPr/>
        </p:nvSpPr>
        <p:spPr>
          <a:xfrm>
            <a:off x="9116568" y="5285232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Drinking recall (0.67)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5"/>
          <p:cNvSpPr/>
          <p:nvPr/>
        </p:nvSpPr>
        <p:spPr>
          <a:xfrm>
            <a:off x="566928" y="619963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Across the board, errors are diagnosed and mapped to concrete fixes — no gap is left unexplained.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2026-08-06T17:58:20Z</dcterms:created>
  <dc:creator>PptxGenJS</dc:creator>
</cp:coreProperties>
</file>