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1675"/>
  <p:notesSz cx="6858000" cy="12191675"/>
  <p:embeddedFontLst>
    <p:embeddedFont>
      <p:font typeface="Century Schoolbook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jEFVFhaQeD4cryYCd6+1oOZfYL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CenturySchoolbook-regular.fntdata"/><Relationship Id="rId21" Type="http://schemas.openxmlformats.org/officeDocument/2006/relationships/slide" Target="slides/slide17.xml"/><Relationship Id="rId24" Type="http://schemas.openxmlformats.org/officeDocument/2006/relationships/font" Target="fonts/CenturySchoolbook-italic.fntdata"/><Relationship Id="rId23" Type="http://schemas.openxmlformats.org/officeDocument/2006/relationships/font" Target="fonts/CenturySchoolbook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customschemas.google.com/relationships/presentationmetadata" Target="metadata"/><Relationship Id="rId25" Type="http://schemas.openxmlformats.org/officeDocument/2006/relationships/font" Target="fonts/CenturySchoolbook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3" name="Google Shape;43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1" name="Google Shape;51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0" name="Google Shape;55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7" name="Google Shape;58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1" name="Google Shape;63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6" name="Google Shape;66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9326880" y="-1280160"/>
            <a:ext cx="4206240" cy="4206240"/>
          </a:xfrm>
          <a:prstGeom prst="ellipse">
            <a:avLst/>
          </a:prstGeom>
          <a:noFill/>
          <a:ln cap="flat" cmpd="sng" w="27925">
            <a:solidFill>
              <a:srgbClr val="1C2C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10195560" y="-411480"/>
            <a:ext cx="2468880" cy="2468880"/>
          </a:xfrm>
          <a:prstGeom prst="ellipse">
            <a:avLst/>
          </a:prstGeom>
          <a:solidFill>
            <a:srgbClr val="1323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66928" y="173736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MILESTONE 5  ·  EVALUATION &amp; ANALYSIS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66928" y="2240280"/>
            <a:ext cx="10515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entury Schoolbook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AI-Powered Driver Wellness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entury Schoolbook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&amp; Safety Monitoring System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66928" y="4297680"/>
            <a:ext cx="8778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Five deep-learning modules — each benchmarked on a strictly held-out split, with error diagnosis, efficiency measurement and deployment-readiness assessment.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66928" y="5257800"/>
            <a:ext cx="1965960" cy="566928"/>
          </a:xfrm>
          <a:prstGeom prst="roundRect">
            <a:avLst>
              <a:gd fmla="val 50000" name="adj"/>
            </a:avLst>
          </a:prstGeom>
          <a:solidFill>
            <a:srgbClr val="16233D"/>
          </a:solidFill>
          <a:ln cap="flat" cmpd="sng" w="15875">
            <a:solidFill>
              <a:srgbClr val="D953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694944" y="5404104"/>
            <a:ext cx="274320" cy="274320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1042416" y="5257800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Kushagra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679192" y="5257800"/>
            <a:ext cx="1965960" cy="566928"/>
          </a:xfrm>
          <a:prstGeom prst="roundRect">
            <a:avLst>
              <a:gd fmla="val 50000" name="adj"/>
            </a:avLst>
          </a:prstGeom>
          <a:solidFill>
            <a:srgbClr val="16233D"/>
          </a:solidFill>
          <a:ln cap="flat" cmpd="sng" w="15875">
            <a:solidFill>
              <a:srgbClr val="3EA9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2807208" y="5404104"/>
            <a:ext cx="274320" cy="274320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3154680" y="5257800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Shiwani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791456" y="5257800"/>
            <a:ext cx="1965960" cy="566928"/>
          </a:xfrm>
          <a:prstGeom prst="roundRect">
            <a:avLst>
              <a:gd fmla="val 50000" name="adj"/>
            </a:avLst>
          </a:prstGeom>
          <a:solidFill>
            <a:srgbClr val="16233D"/>
          </a:solidFill>
          <a:ln cap="flat" cmpd="sng" w="15875">
            <a:solidFill>
              <a:srgbClr val="6C7C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4919472" y="5404104"/>
            <a:ext cx="274320" cy="274320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5266944" y="5257800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Shubham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903720" y="5257800"/>
            <a:ext cx="1965960" cy="566928"/>
          </a:xfrm>
          <a:prstGeom prst="roundRect">
            <a:avLst>
              <a:gd fmla="val 50000" name="adj"/>
            </a:avLst>
          </a:prstGeom>
          <a:solidFill>
            <a:srgbClr val="16233D"/>
          </a:solidFill>
          <a:ln cap="flat" cmpd="sng" w="15875">
            <a:solidFill>
              <a:srgbClr val="C79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7031736" y="5404104"/>
            <a:ext cx="274320" cy="274320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379208" y="5257800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Sohini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9015984" y="5257800"/>
            <a:ext cx="1965960" cy="566928"/>
          </a:xfrm>
          <a:prstGeom prst="roundRect">
            <a:avLst>
              <a:gd fmla="val 50000" name="adj"/>
            </a:avLst>
          </a:prstGeom>
          <a:solidFill>
            <a:srgbClr val="16233D"/>
          </a:solidFill>
          <a:ln cap="flat" cmpd="sng" w="15875">
            <a:solidFill>
              <a:srgbClr val="A855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9144000" y="5404104"/>
            <a:ext cx="274320" cy="274320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9491472" y="5257800"/>
            <a:ext cx="1417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Ravina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566928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BSDA4001  ·  DS/AI Lab Course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566928" y="5029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MILESTONE 5  ·  FOCUS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66928" y="86868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entury Schoolbook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From Trained Models to Held-Out Evaluation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66928" y="157276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Milestone 4 delivered five trained checkpoints. Milestone 5 measures each on data it never saw — impartially, then diagnostically.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66928" y="2148840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41248" y="2423160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" name="Google Shape;5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" y="255117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2"/>
          <p:cNvSpPr/>
          <p:nvPr/>
        </p:nvSpPr>
        <p:spPr>
          <a:xfrm>
            <a:off x="841248" y="308152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Benchmark impartially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841248" y="3392424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Score every frozen checkpoint on a strictly held-out, subject- or driver-disjoint test split.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4374794" y="2148840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4649114" y="2423160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" name="Google Shape;5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77130" y="255117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2"/>
          <p:cNvSpPr/>
          <p:nvPr/>
        </p:nvSpPr>
        <p:spPr>
          <a:xfrm>
            <a:off x="4649114" y="308152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Diagnose failures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4649114" y="3392424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Go beyond a single accuracy number — build confusion matrices and per-class breakdowns.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8182661" y="2148840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8456981" y="2423160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1" name="Google Shape;6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84997" y="255117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8456981" y="308152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Root-cause each error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8456981" y="3392424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Tie every failure mode to an interpretable cause: label noise, small objects, class collapse.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566928" y="4224528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841248" y="4498848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" name="Google Shape;66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9264" y="4626864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2"/>
          <p:cNvSpPr/>
          <p:nvPr/>
        </p:nvSpPr>
        <p:spPr>
          <a:xfrm>
            <a:off x="841248" y="5157216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Measure efficiency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841248" y="5468112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Record parameters, FLOPs and per-frame latency on the shared Tesla T4 evaluation GPU.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74794" y="4224528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4649114" y="4498848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77130" y="4626864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/>
          <p:nvPr/>
        </p:nvSpPr>
        <p:spPr>
          <a:xfrm>
            <a:off x="4649114" y="5157216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Assess readiness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4649114" y="5468112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Judge each module against the accuracy / speed / memory trade-off for edge deployment.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8182661" y="4224528"/>
            <a:ext cx="3442106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"/>
          <p:cNvSpPr/>
          <p:nvPr/>
        </p:nvSpPr>
        <p:spPr>
          <a:xfrm>
            <a:off x="8456981" y="4498848"/>
            <a:ext cx="566928" cy="566928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584997" y="4626864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"/>
          <p:cNvSpPr/>
          <p:nvPr/>
        </p:nvSpPr>
        <p:spPr>
          <a:xfrm>
            <a:off x="8456981" y="5157216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 improvements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8456981" y="5468112"/>
            <a:ext cx="293918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Convert every diagnosed gap into a concrete, prioritised short- and long-term action.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566928" y="5029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OVERALL SYSTEM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566928" y="86868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Five Models, One Wellness Score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4267048" y="1965960"/>
            <a:ext cx="3657600" cy="566928"/>
          </a:xfrm>
          <a:prstGeom prst="roundRect">
            <a:avLst>
              <a:gd fmla="val 14516" name="adj"/>
            </a:avLst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4267048" y="1965960"/>
            <a:ext cx="3657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22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1220"/>
                </a:solidFill>
                <a:latin typeface="Calibri"/>
                <a:ea typeface="Calibri"/>
                <a:cs typeface="Calibri"/>
                <a:sym typeface="Calibri"/>
              </a:rPr>
              <a:t>Driver Camera  →  Video Stream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566928" y="2971800"/>
            <a:ext cx="1955536" cy="1234440"/>
          </a:xfrm>
          <a:prstGeom prst="roundRect">
            <a:avLst>
              <a:gd fmla="val 740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325240" y="3172968"/>
            <a:ext cx="438912" cy="438912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612648" y="3657600"/>
            <a:ext cx="186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612648" y="3904488"/>
            <a:ext cx="186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EfficientNet-B0 + BiLSTM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2842504" y="2971800"/>
            <a:ext cx="1955536" cy="1234440"/>
          </a:xfrm>
          <a:prstGeom prst="roundRect">
            <a:avLst>
              <a:gd fmla="val 740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3600816" y="3172968"/>
            <a:ext cx="438912" cy="438912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"/>
          <p:cNvSpPr/>
          <p:nvPr/>
        </p:nvSpPr>
        <p:spPr>
          <a:xfrm>
            <a:off x="2888224" y="3657600"/>
            <a:ext cx="186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2888224" y="3904488"/>
            <a:ext cx="186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LSTM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5118080" y="2971800"/>
            <a:ext cx="1955536" cy="1234440"/>
          </a:xfrm>
          <a:prstGeom prst="roundRect">
            <a:avLst>
              <a:gd fmla="val 740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5876392" y="3172968"/>
            <a:ext cx="438912" cy="438912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5163800" y="3657600"/>
            <a:ext cx="186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5163800" y="3904488"/>
            <a:ext cx="186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MobileNetV3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7393656" y="2971800"/>
            <a:ext cx="1955536" cy="1234440"/>
          </a:xfrm>
          <a:prstGeom prst="roundRect">
            <a:avLst>
              <a:gd fmla="val 740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8151967" y="3172968"/>
            <a:ext cx="438912" cy="438912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7439376" y="3657600"/>
            <a:ext cx="186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Seat Belt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7439376" y="3904488"/>
            <a:ext cx="186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9669231" y="2971800"/>
            <a:ext cx="1955536" cy="1234440"/>
          </a:xfrm>
          <a:prstGeom prst="roundRect">
            <a:avLst>
              <a:gd fmla="val 740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"/>
          <p:cNvSpPr/>
          <p:nvPr/>
        </p:nvSpPr>
        <p:spPr>
          <a:xfrm>
            <a:off x="10427543" y="3172968"/>
            <a:ext cx="438912" cy="438912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9714951" y="3657600"/>
            <a:ext cx="186409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Smoking / Drinking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9714951" y="3904488"/>
            <a:ext cx="186409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6095848" y="2532888"/>
            <a:ext cx="0" cy="438912"/>
          </a:xfrm>
          <a:prstGeom prst="straightConnector1">
            <a:avLst/>
          </a:prstGeom>
          <a:noFill/>
          <a:ln cap="flat" cmpd="sng" w="19050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1" name="Google Shape;111;p3"/>
          <p:cNvCxnSpPr/>
          <p:nvPr/>
        </p:nvCxnSpPr>
        <p:spPr>
          <a:xfrm>
            <a:off x="1544696" y="4206240"/>
            <a:ext cx="0" cy="411480"/>
          </a:xfrm>
          <a:prstGeom prst="straightConnector1">
            <a:avLst/>
          </a:prstGeom>
          <a:noFill/>
          <a:ln cap="flat" cmpd="sng" w="15875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2" name="Google Shape;112;p3"/>
          <p:cNvCxnSpPr/>
          <p:nvPr/>
        </p:nvCxnSpPr>
        <p:spPr>
          <a:xfrm>
            <a:off x="3820272" y="4206240"/>
            <a:ext cx="0" cy="411480"/>
          </a:xfrm>
          <a:prstGeom prst="straightConnector1">
            <a:avLst/>
          </a:prstGeom>
          <a:noFill/>
          <a:ln cap="flat" cmpd="sng" w="15875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3" name="Google Shape;113;p3"/>
          <p:cNvCxnSpPr/>
          <p:nvPr/>
        </p:nvCxnSpPr>
        <p:spPr>
          <a:xfrm>
            <a:off x="6095848" y="4206240"/>
            <a:ext cx="0" cy="411480"/>
          </a:xfrm>
          <a:prstGeom prst="straightConnector1">
            <a:avLst/>
          </a:prstGeom>
          <a:noFill/>
          <a:ln cap="flat" cmpd="sng" w="15875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4" name="Google Shape;114;p3"/>
          <p:cNvCxnSpPr/>
          <p:nvPr/>
        </p:nvCxnSpPr>
        <p:spPr>
          <a:xfrm>
            <a:off x="8371423" y="4206240"/>
            <a:ext cx="0" cy="411480"/>
          </a:xfrm>
          <a:prstGeom prst="straightConnector1">
            <a:avLst/>
          </a:prstGeom>
          <a:noFill/>
          <a:ln cap="flat" cmpd="sng" w="15875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15" name="Google Shape;115;p3"/>
          <p:cNvCxnSpPr/>
          <p:nvPr/>
        </p:nvCxnSpPr>
        <p:spPr>
          <a:xfrm>
            <a:off x="10646999" y="4206240"/>
            <a:ext cx="0" cy="411480"/>
          </a:xfrm>
          <a:prstGeom prst="straightConnector1">
            <a:avLst/>
          </a:prstGeom>
          <a:noFill/>
          <a:ln cap="flat" cmpd="sng" w="15875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6" name="Google Shape;116;p3"/>
          <p:cNvSpPr/>
          <p:nvPr/>
        </p:nvSpPr>
        <p:spPr>
          <a:xfrm>
            <a:off x="566928" y="4617720"/>
            <a:ext cx="11057839" cy="658368"/>
          </a:xfrm>
          <a:prstGeom prst="roundRect">
            <a:avLst>
              <a:gd fmla="val 12500" name="adj"/>
            </a:avLst>
          </a:prstGeom>
          <a:solidFill>
            <a:srgbClr val="0A1220"/>
          </a:solidFill>
          <a:ln cap="flat" cmpd="sng" w="1905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566928" y="461772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2000"/>
              <a:buFont typeface="Century Schoolbook"/>
              <a:buNone/>
            </a:pPr>
            <a:r>
              <a:rPr b="1" i="0" lang="en-US" sz="20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Driver Risk Fusion Engine   ·   weighted scoring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8" name="Google Shape;118;p3"/>
          <p:cNvCxnSpPr/>
          <p:nvPr/>
        </p:nvCxnSpPr>
        <p:spPr>
          <a:xfrm>
            <a:off x="6095848" y="5276088"/>
            <a:ext cx="0" cy="292608"/>
          </a:xfrm>
          <a:prstGeom prst="straightConnector1">
            <a:avLst/>
          </a:prstGeom>
          <a:noFill/>
          <a:ln cap="flat" cmpd="sng" w="19050">
            <a:solidFill>
              <a:srgbClr val="6E809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9" name="Google Shape;119;p3"/>
          <p:cNvSpPr/>
          <p:nvPr/>
        </p:nvSpPr>
        <p:spPr>
          <a:xfrm>
            <a:off x="4312768" y="5577840"/>
            <a:ext cx="3566160" cy="548640"/>
          </a:xfrm>
          <a:prstGeom prst="roundRect">
            <a:avLst>
              <a:gd fmla="val 15000" name="adj"/>
            </a:avLst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4312768" y="55778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22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220"/>
                </a:solidFill>
                <a:latin typeface="Calibri"/>
                <a:ea typeface="Calibri"/>
                <a:cs typeface="Calibri"/>
                <a:sym typeface="Calibri"/>
              </a:rPr>
              <a:t>Driver Wellness Assessment (0–100)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566928" y="5029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TEAM &amp; SCOPE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566928" y="86868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entury Schoolbook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Five Modules, Five Held-Out Evaluations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66928" y="1874520"/>
            <a:ext cx="1874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OWNER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532888" y="1874520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5184648" y="1874520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7653528" y="1874520"/>
            <a:ext cx="1874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TEST SET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9573768" y="187452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HEADLINE RESULT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566928" y="2286000"/>
            <a:ext cx="11057839" cy="676656"/>
          </a:xfrm>
          <a:prstGeom prst="roundRect">
            <a:avLst>
              <a:gd fmla="val 135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612648" y="2432304"/>
            <a:ext cx="384048" cy="384048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612648" y="2432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8"/>
              <a:buFont typeface="Century Schoolbook"/>
              <a:buNone/>
            </a:pPr>
            <a:r>
              <a:rPr b="1" i="0" lang="en-US" sz="1428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</a:t>
            </a:r>
            <a:endParaRPr b="0" i="0" sz="14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1115568" y="22860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Kushagra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2532888" y="2286000"/>
            <a:ext cx="260604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Video-Based Fatigue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5184648" y="2286000"/>
            <a:ext cx="24231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EfficientNet-B0 + BiLSTM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7653528" y="2286000"/>
            <a:ext cx="18745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7,117 seq · 6 subj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9573768" y="2286000"/>
            <a:ext cx="20116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33.6%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66928" y="3054096"/>
            <a:ext cx="11057839" cy="676656"/>
          </a:xfrm>
          <a:prstGeom prst="roundRect">
            <a:avLst>
              <a:gd fmla="val 135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12648" y="3200400"/>
            <a:ext cx="384048" cy="384048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12648" y="320040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8"/>
              <a:buFont typeface="Century Schoolbook"/>
              <a:buNone/>
            </a:pPr>
            <a:r>
              <a:rPr b="1" lang="en-US" sz="1428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14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1115568" y="3054096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Shiwani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2532888" y="3054096"/>
            <a:ext cx="260604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5184648" y="3054096"/>
            <a:ext cx="24231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LSTM (EAR·MAR·pose)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653528" y="3054096"/>
            <a:ext cx="18745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1,400 windows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9573768" y="3054096"/>
            <a:ext cx="20116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64.1%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566928" y="3822192"/>
            <a:ext cx="11057839" cy="676656"/>
          </a:xfrm>
          <a:prstGeom prst="roundRect">
            <a:avLst>
              <a:gd fmla="val 135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4"/>
          <p:cNvSpPr/>
          <p:nvPr/>
        </p:nvSpPr>
        <p:spPr>
          <a:xfrm>
            <a:off x="612648" y="3968496"/>
            <a:ext cx="384048" cy="384048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"/>
          <p:cNvSpPr/>
          <p:nvPr/>
        </p:nvSpPr>
        <p:spPr>
          <a:xfrm>
            <a:off x="612648" y="39684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8"/>
              <a:buFont typeface="Century Schoolbook"/>
              <a:buNone/>
            </a:pPr>
            <a:r>
              <a:rPr b="1" lang="en-US" sz="1428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14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1115568" y="3822192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Shubham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2532888" y="3822192"/>
            <a:ext cx="260604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5184648" y="3822192"/>
            <a:ext cx="24231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MobileNetV3-Large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7653528" y="3822192"/>
            <a:ext cx="18745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1,093 images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9573768" y="3822192"/>
            <a:ext cx="20116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93.1%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66928" y="4590288"/>
            <a:ext cx="11057839" cy="676656"/>
          </a:xfrm>
          <a:prstGeom prst="roundRect">
            <a:avLst>
              <a:gd fmla="val 135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4"/>
          <p:cNvSpPr/>
          <p:nvPr/>
        </p:nvSpPr>
        <p:spPr>
          <a:xfrm>
            <a:off x="612648" y="4736592"/>
            <a:ext cx="384048" cy="384048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4"/>
          <p:cNvSpPr/>
          <p:nvPr/>
        </p:nvSpPr>
        <p:spPr>
          <a:xfrm>
            <a:off x="612648" y="47365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8"/>
              <a:buFont typeface="Century Schoolbook"/>
              <a:buNone/>
            </a:pPr>
            <a:r>
              <a:rPr b="1" i="0" lang="en-US" sz="1428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14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1115568" y="4590288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Sohini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2532888" y="4590288"/>
            <a:ext cx="260604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Seat Belt &amp; Phone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184648" y="4590288"/>
            <a:ext cx="24231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7653528" y="4590288"/>
            <a:ext cx="18745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cabin image set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9573768" y="4590288"/>
            <a:ext cx="20116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mAP@50 0.95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566928" y="5358384"/>
            <a:ext cx="11057839" cy="676656"/>
          </a:xfrm>
          <a:prstGeom prst="roundRect">
            <a:avLst>
              <a:gd fmla="val 135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612648" y="5504688"/>
            <a:ext cx="384048" cy="384048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4"/>
          <p:cNvSpPr/>
          <p:nvPr/>
        </p:nvSpPr>
        <p:spPr>
          <a:xfrm>
            <a:off x="612648" y="550468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28"/>
              <a:buFont typeface="Century Schoolbook"/>
              <a:buNone/>
            </a:pPr>
            <a:r>
              <a:rPr b="1" i="0" lang="en-US" sz="1428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R</a:t>
            </a:r>
            <a:endParaRPr b="0" i="0" sz="142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1115568" y="5358384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Ravina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2532888" y="5358384"/>
            <a:ext cx="260604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Smoking &amp; Drinking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5184648" y="5358384"/>
            <a:ext cx="24231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7653528" y="5358384"/>
            <a:ext cx="18745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371 img · 445 box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9573768" y="5358384"/>
            <a:ext cx="20116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mAP@50 0.82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566928" y="61722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Each module is evaluated inference-only on a frozen checkpoint against a strictly held-out split.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MODULE 1  ·  VIDEO-BASED FATIGUE DETECTION  · 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Kushagra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Subject-disjoint indexed test set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MODEL &amp; CONFIGURATION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859536" y="2587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Backbone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2143354" y="2587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EfficientNet-B0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859536" y="3044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Temporal layer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2143354" y="3044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Bidirectional LSTM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859536" y="35021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Hidden size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2143354" y="35021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256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859536" y="39593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Sequence length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2143354" y="39593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16 frames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859536" y="44165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2143354" y="44165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Safe · Caution · High-Risk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859536" y="4873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Parameters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2143354" y="4873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7.16 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859536" y="5330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Checkpoint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2143354" y="5330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driver_wellness_</a:t>
            </a: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epoch2.pth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HELD-OUT TEST SET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5020056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7,117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5020056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indexed sequences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7124090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6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7124090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unseen subjects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9228125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≈balanced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9228125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3-class support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5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WHAT THIS EVALUATION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Whether a frozen 2-epoch checkpoint generalises to unseen drivers, and — critically — whether the three fatigue classes stay separable or collapse. The fixed-seed subject-disjoint split </a:t>
            </a:r>
            <a:r>
              <a:rPr lang="en-US" sz="1250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the indexed split preserved subject-disjoint separation across train/validation/test</a:t>
            </a: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6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MODULE 1  ·  VIDEO-BASED FATIGUE  · 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Kushagra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Held-out test evaluation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PER-CLASS RECALL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859536" y="26517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Safe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2304288" y="2606040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74.1%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59536" y="3054096"/>
            <a:ext cx="3209544" cy="91440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59536" y="3054096"/>
            <a:ext cx="2378272" cy="91440"/>
          </a:xfrm>
          <a:prstGeom prst="roundRect">
            <a:avLst>
              <a:gd fmla="val 50000" name="adj"/>
            </a:avLst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859536" y="3310128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Caution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2304288" y="3264408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D9534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859536" y="3712464"/>
            <a:ext cx="3209544" cy="91440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859536" y="3712464"/>
            <a:ext cx="112334" cy="91440"/>
          </a:xfrm>
          <a:prstGeom prst="roundRect">
            <a:avLst>
              <a:gd fmla="val 50000" name="adj"/>
            </a:avLst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859536" y="3968496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1300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_</a:t>
            </a:r>
            <a:r>
              <a:rPr b="0" i="0" lang="en-US" sz="13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2304288" y="3922776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25.6%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859536" y="4370832"/>
            <a:ext cx="3209544" cy="91440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59536" y="4370832"/>
            <a:ext cx="821643" cy="91440"/>
          </a:xfrm>
          <a:prstGeom prst="roundRect">
            <a:avLst>
              <a:gd fmla="val 50000" name="adj"/>
            </a:avLst>
          </a:prstGeom>
          <a:solidFill>
            <a:srgbClr val="2DD4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859536" y="5532120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Baseline: random 33.3% · majority 36.2%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QUANTITATIVE RESULTS — HELD-OUT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502005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33.6%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502005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Test Accuracy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660722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27.4%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660722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Macro-F1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819439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27.2%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819439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Weighted-F1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9781565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34.4%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9781565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Balanced Acc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READING &amp; NEXT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The model barely exceeds uniform-random and stays below the majority-class baseline. The dominant failure is severe class collapse — Caution recall of 3.5% and two-thirds of High-Risk sequences predicted as Safe. It is therefore an experimental signal for the fusion engine, not a standalone safety trigger; longer temporal context and class-sensitive training are the next levers.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MODULE 2  ·  LANDMARK-BASED FATIGUE  · 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7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lang="en-US" sz="289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Shiwani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Interpretable landmark features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7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MODEL &amp; CONFIGURATION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859536" y="2587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/>
          <p:nvPr/>
        </p:nvSpPr>
        <p:spPr>
          <a:xfrm>
            <a:off x="2143354" y="2587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2-layer LSTM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859536" y="3044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2143354" y="3044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EAR · MAR · Pitch·Yaw·Roll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859536" y="35021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Window size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2143354" y="35021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45 frames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859536" y="39593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Extractor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2143354" y="39593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MediaPipe Fac</a:t>
            </a:r>
            <a:r>
              <a:rPr b="1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 LandMarker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859536" y="44165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2143354" y="44165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Normal · Talking · Yawning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859536" y="4873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Loss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2143354" y="4873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Weighted CE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859536" y="5330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Checkpoint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2143354" y="5330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m4_lstm_full_final.pt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HELD-OUT TEST SET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5020056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1,400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5020056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test windows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7124090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11.3%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7124090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Yawning (minority)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9228125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subject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7"/>
          <p:cNvSpPr/>
          <p:nvPr/>
        </p:nvSpPr>
        <p:spPr>
          <a:xfrm>
            <a:off x="9228125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disjoint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WHAT THIS EVALUATION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Whether hand-engineered facial signals separate the three behaviours, and whether the fatigue-state decision threshold can be empirically justified rather than left as an unvalidated heuristic. Inputs are human-interpretable, so any prediction is cross-checkable against the raw MAR trace.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8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MODULE 2  ·  LANDMARK FATIGUE  · 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8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lang="en-US" sz="289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Shiwani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Held-out test + threshold tuning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8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LABEL CORRECTION IMPACT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2167128" y="2624328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3218688" y="2624328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MACRO-F1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859536" y="29718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Before fix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2029968" y="2953512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6E809E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40.8%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081528" y="2953512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6E809E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38.4%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859536" y="37490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After fix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2029968" y="3730752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3EA98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64.1%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081528" y="3730752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2200"/>
              <a:buFont typeface="Century Schoolbook"/>
              <a:buNone/>
            </a:pPr>
            <a:r>
              <a:rPr b="1" i="0" lang="en-US" sz="2200" u="none" cap="none" strike="noStrike">
                <a:solidFill>
                  <a:srgbClr val="3EA98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61.8%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859536" y="5120640"/>
            <a:ext cx="3209544" cy="566928"/>
          </a:xfrm>
          <a:prstGeom prst="roundRect">
            <a:avLst>
              <a:gd fmla="val 1129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8"/>
          <p:cNvSpPr/>
          <p:nvPr/>
        </p:nvSpPr>
        <p:spPr>
          <a:xfrm>
            <a:off x="1024128" y="5120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+23.3 pts</a:t>
            </a: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  accuracy from the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3-class label restructuring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8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CORRECTED 3-CLASS TEST RESULTS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8"/>
          <p:cNvSpPr/>
          <p:nvPr/>
        </p:nvSpPr>
        <p:spPr>
          <a:xfrm>
            <a:off x="502005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3EA98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64.1%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8"/>
          <p:cNvSpPr/>
          <p:nvPr/>
        </p:nvSpPr>
        <p:spPr>
          <a:xfrm>
            <a:off x="502005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"/>
          <p:cNvSpPr/>
          <p:nvPr/>
        </p:nvSpPr>
        <p:spPr>
          <a:xfrm>
            <a:off x="660722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0.62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660722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Macro-F1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8"/>
          <p:cNvSpPr/>
          <p:nvPr/>
        </p:nvSpPr>
        <p:spPr>
          <a:xfrm>
            <a:off x="819439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0.61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8"/>
          <p:cNvSpPr/>
          <p:nvPr/>
        </p:nvSpPr>
        <p:spPr>
          <a:xfrm>
            <a:off x="819439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Yawning AP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8"/>
          <p:cNvSpPr/>
          <p:nvPr/>
        </p:nvSpPr>
        <p:spPr>
          <a:xfrm>
            <a:off x="9781565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94.4%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9781565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Sensitivity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A98C"/>
                </a:solidFill>
                <a:latin typeface="Calibri"/>
                <a:ea typeface="Calibri"/>
                <a:cs typeface="Calibri"/>
                <a:sym typeface="Calibri"/>
              </a:rPr>
              <a:t>READING &amp; THRESHOLD DECISION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8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The dominant error (Talking→Normal, 53% of mistakes) is video-level label granularity, not model capacity. Cross-class Talking↔Yawning confusion is minor. Because a missed drowsy driver is the costly failure and this module is only one of five fused inputs, the Drowsy threshold is revised from 15% to 5% — lifting sensitivity to 94.4% at an acceptable false-alarm cost.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9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MODULE 3  ·  DRIVER ACTIVITY CLASSIFICATION  · 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lang="en-US" sz="289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Shubham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MODEL &amp; CONFIGURATION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9"/>
          <p:cNvSpPr/>
          <p:nvPr/>
        </p:nvSpPr>
        <p:spPr>
          <a:xfrm>
            <a:off x="859536" y="2587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/>
          <p:nvPr/>
        </p:nvSpPr>
        <p:spPr>
          <a:xfrm>
            <a:off x="2143354" y="2587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MobileNetV3-Large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9"/>
          <p:cNvSpPr/>
          <p:nvPr/>
        </p:nvSpPr>
        <p:spPr>
          <a:xfrm>
            <a:off x="859536" y="3044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Training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/>
          <p:nvPr/>
        </p:nvSpPr>
        <p:spPr>
          <a:xfrm>
            <a:off x="2143354" y="3044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From scratch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9"/>
          <p:cNvSpPr/>
          <p:nvPr/>
        </p:nvSpPr>
        <p:spPr>
          <a:xfrm>
            <a:off x="859536" y="35021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2143354" y="35021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224×224 RGB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859536" y="39593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Optimizer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2143354" y="39593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AdamW · lr 3e-4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859536" y="44165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2143354" y="44165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activities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859536" y="4873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Parameters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2143354" y="4873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4.21 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859536" y="5330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Best val acc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2143354" y="5330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94.4%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9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HELD-OUT TEST SET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5020056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1,093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5020056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test images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7124090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5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7124090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activity classes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"/>
          <p:cNvSpPr/>
          <p:nvPr/>
        </p:nvSpPr>
        <p:spPr>
          <a:xfrm>
            <a:off x="9228125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driver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9"/>
          <p:cNvSpPr/>
          <p:nvPr/>
        </p:nvSpPr>
        <p:spPr>
          <a:xfrm>
            <a:off x="9228125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disjoint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WHAT THIS EVALUATION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9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Whether a lightweight, edge-oriented classifier can recognise five driving behaviours — safe driving, texting, talking on phone, turning, and a catch-all other — accurately enough for real-time deployment, and where the intra-class variance of the catch-all class costs accuracy.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0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MODULE 3  ·  DRIVER ACTIVITY  · 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566928" y="822960"/>
            <a:ext cx="777300" cy="777300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50"/>
              <a:t> </a:t>
            </a:r>
            <a:r>
              <a:rPr b="1" lang="en-US" sz="2850">
                <a:solidFill>
                  <a:schemeClr val="lt1"/>
                </a:solidFill>
              </a:rPr>
              <a:t>S</a:t>
            </a:r>
            <a:endParaRPr b="1" sz="2850">
              <a:solidFill>
                <a:schemeClr val="lt1"/>
              </a:solidFill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Shubham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Held-out test + model comparison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0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PER-CLASS F1-SCORE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859536" y="262432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texting_phone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0"/>
          <p:cNvSpPr/>
          <p:nvPr/>
        </p:nvSpPr>
        <p:spPr>
          <a:xfrm>
            <a:off x="2898648" y="2569464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entury Schoolbook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0.98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859536" y="2916936"/>
            <a:ext cx="3209544" cy="8229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0"/>
          <p:cNvSpPr/>
          <p:nvPr/>
        </p:nvSpPr>
        <p:spPr>
          <a:xfrm>
            <a:off x="859536" y="2916936"/>
            <a:ext cx="3145353" cy="82296"/>
          </a:xfrm>
          <a:prstGeom prst="roundRect">
            <a:avLst>
              <a:gd fmla="val 50000" name="adj"/>
            </a:avLst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859536" y="3227832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talking_phone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0"/>
          <p:cNvSpPr/>
          <p:nvPr/>
        </p:nvSpPr>
        <p:spPr>
          <a:xfrm>
            <a:off x="2898648" y="317296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entury Schoolbook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0.95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859536" y="3520440"/>
            <a:ext cx="3209544" cy="8229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0"/>
          <p:cNvSpPr/>
          <p:nvPr/>
        </p:nvSpPr>
        <p:spPr>
          <a:xfrm>
            <a:off x="859536" y="3520440"/>
            <a:ext cx="3049067" cy="82296"/>
          </a:xfrm>
          <a:prstGeom prst="roundRect">
            <a:avLst>
              <a:gd fmla="val 50000" name="adj"/>
            </a:avLst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0"/>
          <p:cNvSpPr/>
          <p:nvPr/>
        </p:nvSpPr>
        <p:spPr>
          <a:xfrm>
            <a:off x="859536" y="3831336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turning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0"/>
          <p:cNvSpPr/>
          <p:nvPr/>
        </p:nvSpPr>
        <p:spPr>
          <a:xfrm>
            <a:off x="2898648" y="377647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entury Schoolbook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0.92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/>
          <p:nvPr/>
        </p:nvSpPr>
        <p:spPr>
          <a:xfrm>
            <a:off x="859536" y="4123944"/>
            <a:ext cx="3209544" cy="8229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0"/>
          <p:cNvSpPr/>
          <p:nvPr/>
        </p:nvSpPr>
        <p:spPr>
          <a:xfrm>
            <a:off x="859536" y="4123944"/>
            <a:ext cx="2952780" cy="82296"/>
          </a:xfrm>
          <a:prstGeom prst="roundRect">
            <a:avLst>
              <a:gd fmla="val 50000" name="adj"/>
            </a:avLst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0"/>
          <p:cNvSpPr/>
          <p:nvPr/>
        </p:nvSpPr>
        <p:spPr>
          <a:xfrm>
            <a:off x="859536" y="443484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safe_driving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0"/>
          <p:cNvSpPr/>
          <p:nvPr/>
        </p:nvSpPr>
        <p:spPr>
          <a:xfrm>
            <a:off x="2898648" y="4379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entury Schoolbook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0"/>
          <p:cNvSpPr/>
          <p:nvPr/>
        </p:nvSpPr>
        <p:spPr>
          <a:xfrm>
            <a:off x="859536" y="4727448"/>
            <a:ext cx="3209544" cy="8229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0"/>
          <p:cNvSpPr/>
          <p:nvPr/>
        </p:nvSpPr>
        <p:spPr>
          <a:xfrm>
            <a:off x="859536" y="4727448"/>
            <a:ext cx="2920685" cy="82296"/>
          </a:xfrm>
          <a:prstGeom prst="roundRect">
            <a:avLst>
              <a:gd fmla="val 50000" name="adj"/>
            </a:avLst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859536" y="503834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other_activities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2898648" y="498348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entury Schoolbook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0.89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859536" y="5330952"/>
            <a:ext cx="3209544" cy="8229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0"/>
          <p:cNvSpPr/>
          <p:nvPr/>
        </p:nvSpPr>
        <p:spPr>
          <a:xfrm>
            <a:off x="859536" y="5330952"/>
            <a:ext cx="2856494" cy="82296"/>
          </a:xfrm>
          <a:prstGeom prst="roundRect">
            <a:avLst>
              <a:gd fmla="val 50000" name="adj"/>
            </a:avLst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0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OVERALL HELD-OUT PERFORMANCE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502005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6C7CD6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93.1%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502005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Test Accuracy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660722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0.93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660722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Macro-F1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819439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&gt;0.95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819439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AUC (all classes)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9781565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12.5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9781565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ms / frame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5020056" y="4169664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WHY MOBILENETV3 — ACCURACY VS EFFICIENCY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5020056" y="4535424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7653528" y="4535424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ACC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8659368" y="4535424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PARAMS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9848088" y="4535424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SPEED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5020056" y="4828032"/>
            <a:ext cx="2606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MobileNetV3 (ours)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7653528" y="482803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93.1%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8659368" y="482803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4.2 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9848088" y="482803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C7CD6"/>
                </a:solidFill>
                <a:latin typeface="Calibri"/>
                <a:ea typeface="Calibri"/>
                <a:cs typeface="Calibri"/>
                <a:sym typeface="Calibri"/>
              </a:rPr>
              <a:t>12.5 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0"/>
          <p:cNvSpPr/>
          <p:nvPr/>
        </p:nvSpPr>
        <p:spPr>
          <a:xfrm>
            <a:off x="5020056" y="5212080"/>
            <a:ext cx="2606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EfficientNet-B0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0"/>
          <p:cNvSpPr/>
          <p:nvPr/>
        </p:nvSpPr>
        <p:spPr>
          <a:xfrm>
            <a:off x="7653528" y="5212080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94.0%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8659368" y="5212080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5.3 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9848088" y="5212080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28.7 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0"/>
          <p:cNvSpPr/>
          <p:nvPr/>
        </p:nvSpPr>
        <p:spPr>
          <a:xfrm>
            <a:off x="5020056" y="5596128"/>
            <a:ext cx="2606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ResNet50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0"/>
          <p:cNvSpPr/>
          <p:nvPr/>
        </p:nvSpPr>
        <p:spPr>
          <a:xfrm>
            <a:off x="7653528" y="5596128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92.1%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8659368" y="5596128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25.5 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9848088" y="5596128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45.2 ms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1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1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MODULE 4  ·  SEAT BELT &amp; PHONE DETECTION  · 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1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1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Sohini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YOLOv8n + inference safeguards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1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MODEL &amp; CONFIGURATION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859536" y="2587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Detector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2143354" y="2587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859536" y="3044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2143354" y="3044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Seatbelt · Phone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859536" y="35021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2143354" y="35021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1280×1280 letterbox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859536" y="39593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Gamma correction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2143354" y="39593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γ = 1.4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859536" y="44165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Temporal filter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1"/>
          <p:cNvSpPr/>
          <p:nvPr/>
        </p:nvSpPr>
        <p:spPr>
          <a:xfrm>
            <a:off x="2143354" y="44165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≈85% frame stability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1"/>
          <p:cNvSpPr/>
          <p:nvPr/>
        </p:nvSpPr>
        <p:spPr>
          <a:xfrm>
            <a:off x="859536" y="4873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NMS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1"/>
          <p:cNvSpPr/>
          <p:nvPr/>
        </p:nvSpPr>
        <p:spPr>
          <a:xfrm>
            <a:off x="2143354" y="4873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Class-agnostic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859536" y="5330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Speed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1"/>
          <p:cNvSpPr/>
          <p:nvPr/>
        </p:nvSpPr>
        <p:spPr>
          <a:xfrm>
            <a:off x="2143354" y="5330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6.8–10.4 ms/frame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1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EVALUATION DATASET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5020056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day+night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1"/>
          <p:cNvSpPr/>
          <p:nvPr/>
        </p:nvSpPr>
        <p:spPr>
          <a:xfrm>
            <a:off x="5020056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cabin images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1"/>
          <p:cNvSpPr/>
          <p:nvPr/>
        </p:nvSpPr>
        <p:spPr>
          <a:xfrm>
            <a:off x="7124090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glare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7124090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&amp; heavy shadow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1"/>
          <p:cNvSpPr/>
          <p:nvPr/>
        </p:nvSpPr>
        <p:spPr>
          <a:xfrm>
            <a:off x="9228125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1"/>
          <p:cNvSpPr/>
          <p:nvPr/>
        </p:nvSpPr>
        <p:spPr>
          <a:xfrm>
            <a:off x="9228125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annotated classes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1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WHAT THIS EVALUATION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1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Whether a small detector plus a stateful temporal-consensus pipeline can hold up on continuous cabin video — beyond static-image accuracy — resisting flicker, arm/shadow confusion (the "seesaw" effect), and out-of-distribution lighting.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2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MODULE 4  ·  SEAT BELT &amp; PHONE  · 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2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2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Sohini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2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Validation metrics + mitigations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2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2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DEPLOYMENT SAFEGUARDS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/>
          <p:nvPr/>
        </p:nvSpPr>
        <p:spPr>
          <a:xfrm>
            <a:off x="859536" y="2697480"/>
            <a:ext cx="146304" cy="146304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2"/>
          <p:cNvSpPr/>
          <p:nvPr/>
        </p:nvSpPr>
        <p:spPr>
          <a:xfrm>
            <a:off x="1115568" y="2606040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Decoupled thresholds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1115568" y="2898648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Seatbelt 0.40 · Phone 0.10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859536" y="3502152"/>
            <a:ext cx="146304" cy="146304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2"/>
          <p:cNvSpPr/>
          <p:nvPr/>
        </p:nvSpPr>
        <p:spPr>
          <a:xfrm>
            <a:off x="1115568" y="341071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Class-agnostic NMS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115568" y="370332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removes overlapping arm/shadow boxes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859536" y="4306824"/>
            <a:ext cx="146304" cy="146304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2"/>
          <p:cNvSpPr/>
          <p:nvPr/>
        </p:nvSpPr>
        <p:spPr>
          <a:xfrm>
            <a:off x="1115568" y="4215384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Spatial filtering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1115568" y="4507992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rejects window-glass &amp; tiny boxes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859536" y="5111496"/>
            <a:ext cx="146304" cy="146304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2"/>
          <p:cNvSpPr/>
          <p:nvPr/>
        </p:nvSpPr>
        <p:spPr>
          <a:xfrm>
            <a:off x="1115568" y="5020056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Temporal consensus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1115568" y="5312664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~85% stability before confirming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2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YOLOV8N DETECTION METRICS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2"/>
          <p:cNvSpPr/>
          <p:nvPr/>
        </p:nvSpPr>
        <p:spPr>
          <a:xfrm>
            <a:off x="502005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C79A3B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0.953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2"/>
          <p:cNvSpPr/>
          <p:nvPr/>
        </p:nvSpPr>
        <p:spPr>
          <a:xfrm>
            <a:off x="502005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mAP@50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660722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0.673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660722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mAP@50–95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2"/>
          <p:cNvSpPr/>
          <p:nvPr/>
        </p:nvSpPr>
        <p:spPr>
          <a:xfrm>
            <a:off x="819439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0.937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2"/>
          <p:cNvSpPr/>
          <p:nvPr/>
        </p:nvSpPr>
        <p:spPr>
          <a:xfrm>
            <a:off x="819439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2"/>
          <p:cNvSpPr/>
          <p:nvPr/>
        </p:nvSpPr>
        <p:spPr>
          <a:xfrm>
            <a:off x="9781565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0.903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9781565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2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79A3B"/>
                </a:solidFill>
                <a:latin typeface="Calibri"/>
                <a:ea typeface="Calibri"/>
                <a:cs typeface="Calibri"/>
                <a:sym typeface="Calibri"/>
              </a:rPr>
              <a:t>READING &amp; LIMITATIONS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2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Static detection is strong (mAP@50 = 0.95), but continuous-stream deployment exposes flicker and lighting sensitivity that single-image scoring hides. Heavy shadow can hide the phone; strong glare washes out the belt. The inference safeguards resolve the arm-vs-belt "seesaw"; the metrics come from the notebook validation set rather than a fully separate held-out split — flagged as the key caveat.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13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3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MODULE 5  ·  SMOKING &amp; DRINKING DETECTION  · 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3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p13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R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3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Ravina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3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Strictly held-out test split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3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3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MODEL &amp; CONFIGURATION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3"/>
          <p:cNvSpPr/>
          <p:nvPr/>
        </p:nvSpPr>
        <p:spPr>
          <a:xfrm>
            <a:off x="859536" y="2587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Detector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3"/>
          <p:cNvSpPr/>
          <p:nvPr/>
        </p:nvSpPr>
        <p:spPr>
          <a:xfrm>
            <a:off x="2143354" y="2587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3"/>
          <p:cNvSpPr/>
          <p:nvPr/>
        </p:nvSpPr>
        <p:spPr>
          <a:xfrm>
            <a:off x="859536" y="3044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3"/>
          <p:cNvSpPr/>
          <p:nvPr/>
        </p:nvSpPr>
        <p:spPr>
          <a:xfrm>
            <a:off x="2143354" y="3044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Smoking · Drinking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3"/>
          <p:cNvSpPr/>
          <p:nvPr/>
        </p:nvSpPr>
        <p:spPr>
          <a:xfrm>
            <a:off x="859536" y="35021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3"/>
          <p:cNvSpPr/>
          <p:nvPr/>
        </p:nvSpPr>
        <p:spPr>
          <a:xfrm>
            <a:off x="2143354" y="35021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640×640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859536" y="39593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Training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2143354" y="39593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80 epochs · AdamW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859536" y="44165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LR schedule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2143354" y="44165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cosine · lr0 1e-3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859536" y="48737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Parameters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2143354" y="48737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3.01 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859536" y="5330952"/>
            <a:ext cx="1989917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Compute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2143354" y="5330952"/>
            <a:ext cx="19257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8.1 GFLOPs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3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HELD-OUT TEST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5020056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371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5020056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test images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3"/>
          <p:cNvSpPr/>
          <p:nvPr/>
        </p:nvSpPr>
        <p:spPr>
          <a:xfrm>
            <a:off x="7124090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445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3"/>
          <p:cNvSpPr/>
          <p:nvPr/>
        </p:nvSpPr>
        <p:spPr>
          <a:xfrm>
            <a:off x="7124090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labelled boxes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3"/>
          <p:cNvSpPr/>
          <p:nvPr/>
        </p:nvSpPr>
        <p:spPr>
          <a:xfrm>
            <a:off x="9228125" y="2532888"/>
            <a:ext cx="196687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entury Schoolbook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frozen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3"/>
          <p:cNvSpPr/>
          <p:nvPr/>
        </p:nvSpPr>
        <p:spPr>
          <a:xfrm>
            <a:off x="9228125" y="3081528"/>
            <a:ext cx="1966874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yolov8n_best.pt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3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3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WHAT THIS EVALUATION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3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Impartial benchmarking of a frozen checkpoint on a split that contributed nothing to training, plus root-cause diagnosis of every failure and a check that validation and test scores agree — the signature of clean splits and no leakage.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4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MODULE 5  ·  SMOKING &amp; DRINKING  ·  RESULTS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4"/>
          <p:cNvSpPr/>
          <p:nvPr/>
        </p:nvSpPr>
        <p:spPr>
          <a:xfrm>
            <a:off x="566928" y="822960"/>
            <a:ext cx="777240" cy="777240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14"/>
          <p:cNvSpPr/>
          <p:nvPr/>
        </p:nvSpPr>
        <p:spPr>
          <a:xfrm>
            <a:off x="566928" y="822960"/>
            <a:ext cx="777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90"/>
              <a:buFont typeface="Century Schoolbook"/>
              <a:buNone/>
            </a:pPr>
            <a:r>
              <a:rPr b="1" i="0" lang="en-US" sz="289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R</a:t>
            </a:r>
            <a:endParaRPr b="0" i="0" sz="2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4"/>
          <p:cNvSpPr/>
          <p:nvPr/>
        </p:nvSpPr>
        <p:spPr>
          <a:xfrm>
            <a:off x="1527048" y="822960"/>
            <a:ext cx="5943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entury Schoolbook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Ravina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4"/>
          <p:cNvSpPr/>
          <p:nvPr/>
        </p:nvSpPr>
        <p:spPr>
          <a:xfrm>
            <a:off x="6858000" y="822960"/>
            <a:ext cx="4754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500"/>
              <a:buFont typeface="Century Schoolbook"/>
              <a:buNone/>
            </a:pPr>
            <a:r>
              <a:rPr b="0" i="1" lang="en-US" sz="15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Held-out test + per-class split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4"/>
          <p:cNvSpPr/>
          <p:nvPr/>
        </p:nvSpPr>
        <p:spPr>
          <a:xfrm>
            <a:off x="566928" y="1874520"/>
            <a:ext cx="3794760" cy="4114800"/>
          </a:xfrm>
          <a:prstGeom prst="roundRect">
            <a:avLst>
              <a:gd fmla="val 2410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14"/>
          <p:cNvSpPr/>
          <p:nvPr/>
        </p:nvSpPr>
        <p:spPr>
          <a:xfrm>
            <a:off x="859536" y="2148840"/>
            <a:ext cx="3246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THE CLASS IMBALANCE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4"/>
          <p:cNvSpPr/>
          <p:nvPr/>
        </p:nvSpPr>
        <p:spPr>
          <a:xfrm>
            <a:off x="859536" y="2441448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recall by class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4"/>
          <p:cNvSpPr/>
          <p:nvPr/>
        </p:nvSpPr>
        <p:spPr>
          <a:xfrm>
            <a:off x="859536" y="288036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4"/>
          <p:cNvSpPr/>
          <p:nvPr/>
        </p:nvSpPr>
        <p:spPr>
          <a:xfrm>
            <a:off x="2578608" y="2788920"/>
            <a:ext cx="1508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2400"/>
              <a:buFont typeface="Century Schoolbook"/>
              <a:buNone/>
            </a:pPr>
            <a:r>
              <a:rPr b="1" i="0" lang="en-US" sz="2400" u="none" cap="none" strike="noStrike">
                <a:solidFill>
                  <a:srgbClr val="A855C7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0.93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4"/>
          <p:cNvSpPr/>
          <p:nvPr/>
        </p:nvSpPr>
        <p:spPr>
          <a:xfrm>
            <a:off x="859536" y="3337560"/>
            <a:ext cx="3209544" cy="12801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4"/>
          <p:cNvSpPr/>
          <p:nvPr/>
        </p:nvSpPr>
        <p:spPr>
          <a:xfrm>
            <a:off x="859536" y="3337560"/>
            <a:ext cx="2984876" cy="128016"/>
          </a:xfrm>
          <a:prstGeom prst="roundRect">
            <a:avLst>
              <a:gd fmla="val 50000" name="adj"/>
            </a:avLst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4"/>
          <p:cNvSpPr/>
          <p:nvPr/>
        </p:nvSpPr>
        <p:spPr>
          <a:xfrm>
            <a:off x="859536" y="39319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Drinking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4"/>
          <p:cNvSpPr/>
          <p:nvPr/>
        </p:nvSpPr>
        <p:spPr>
          <a:xfrm>
            <a:off x="2578608" y="3840480"/>
            <a:ext cx="1508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2400"/>
              <a:buFont typeface="Century Schoolbook"/>
              <a:buNone/>
            </a:pPr>
            <a:r>
              <a:rPr b="1" i="0" lang="en-US" sz="2400" u="none" cap="none" strike="noStrike">
                <a:solidFill>
                  <a:srgbClr val="9FB2C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0.67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859536" y="4389120"/>
            <a:ext cx="3209544" cy="128016"/>
          </a:xfrm>
          <a:prstGeom prst="roundRect">
            <a:avLst>
              <a:gd fmla="val 50000" name="adj"/>
            </a:avLst>
          </a:prstGeom>
          <a:solidFill>
            <a:srgbClr val="1B2A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4"/>
          <p:cNvSpPr/>
          <p:nvPr/>
        </p:nvSpPr>
        <p:spPr>
          <a:xfrm>
            <a:off x="859536" y="4389120"/>
            <a:ext cx="2150394" cy="128016"/>
          </a:xfrm>
          <a:prstGeom prst="roundRect">
            <a:avLst>
              <a:gd fmla="val 50000" name="adj"/>
            </a:avLst>
          </a:prstGeom>
          <a:solidFill>
            <a:srgbClr val="5B6B8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4"/>
          <p:cNvSpPr/>
          <p:nvPr/>
        </p:nvSpPr>
        <p:spPr>
          <a:xfrm>
            <a:off x="859536" y="534924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≈0.26 recall gap — drinking events are far more likely to be missed.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4727448" y="1874520"/>
            <a:ext cx="6897319" cy="1783080"/>
          </a:xfrm>
          <a:prstGeom prst="roundRect">
            <a:avLst>
              <a:gd fmla="val 5128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4"/>
          <p:cNvSpPr/>
          <p:nvPr/>
        </p:nvSpPr>
        <p:spPr>
          <a:xfrm>
            <a:off x="5020056" y="21305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OVERALL HELD-OUT TEST METRICS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502005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A855C7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0.85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502005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660722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0.80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660722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8194396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0.82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8194396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mAP@50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9781565" y="2532888"/>
            <a:ext cx="149573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300"/>
              <a:buFont typeface="Century Schoolbook"/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0.45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4"/>
          <p:cNvSpPr/>
          <p:nvPr/>
        </p:nvSpPr>
        <p:spPr>
          <a:xfrm>
            <a:off x="9781565" y="3191256"/>
            <a:ext cx="149573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mAP@50–95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4"/>
          <p:cNvSpPr/>
          <p:nvPr/>
        </p:nvSpPr>
        <p:spPr>
          <a:xfrm>
            <a:off x="4727448" y="3931920"/>
            <a:ext cx="6897319" cy="2057400"/>
          </a:xfrm>
          <a:prstGeom prst="roundRect">
            <a:avLst>
              <a:gd fmla="val 444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5020056" y="4187952"/>
            <a:ext cx="63486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55C7"/>
                </a:solidFill>
                <a:latin typeface="Calibri"/>
                <a:ea typeface="Calibri"/>
                <a:cs typeface="Calibri"/>
                <a:sym typeface="Calibri"/>
              </a:rPr>
              <a:t>READING — A SAFELY-DIRECTED FAILURE PROFILE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4"/>
          <p:cNvSpPr/>
          <p:nvPr/>
        </p:nvSpPr>
        <p:spPr>
          <a:xfrm>
            <a:off x="5020056" y="4553712"/>
            <a:ext cx="6348679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Val and test mAP@50–95 match within 0.005 — clean splits, genuine generalisation. Of 46 failures only 6 are true cross-class confusion; the rest are missed or low-confidence boxes. The model fails the safe way — it declines to fire rather than asserting a confident wrong class — which temporal smoothing can recover. Drinking recall and strict localisation are the gaps to close.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5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5"/>
          <p:cNvSpPr/>
          <p:nvPr/>
        </p:nvSpPr>
        <p:spPr>
          <a:xfrm>
            <a:off x="566928" y="5029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COMPARATIVE ANALYSIS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5"/>
          <p:cNvSpPr/>
          <p:nvPr/>
        </p:nvSpPr>
        <p:spPr>
          <a:xfrm>
            <a:off x="566928" y="86868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entury Schoolbook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Five Evaluations, One Scorecard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5"/>
          <p:cNvSpPr/>
          <p:nvPr/>
        </p:nvSpPr>
        <p:spPr>
          <a:xfrm>
            <a:off x="1069848" y="1874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5"/>
          <p:cNvSpPr/>
          <p:nvPr/>
        </p:nvSpPr>
        <p:spPr>
          <a:xfrm>
            <a:off x="4270248" y="1874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HEADLINE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5"/>
          <p:cNvSpPr/>
          <p:nvPr/>
        </p:nvSpPr>
        <p:spPr>
          <a:xfrm>
            <a:off x="6190488" y="187452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STRENGTH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5"/>
          <p:cNvSpPr/>
          <p:nvPr/>
        </p:nvSpPr>
        <p:spPr>
          <a:xfrm>
            <a:off x="9116568" y="187452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PRIMARY 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5"/>
          <p:cNvSpPr/>
          <p:nvPr/>
        </p:nvSpPr>
        <p:spPr>
          <a:xfrm>
            <a:off x="566928" y="2286000"/>
            <a:ext cx="11057839" cy="658368"/>
          </a:xfrm>
          <a:prstGeom prst="roundRect">
            <a:avLst>
              <a:gd fmla="val 13889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15"/>
          <p:cNvSpPr/>
          <p:nvPr/>
        </p:nvSpPr>
        <p:spPr>
          <a:xfrm>
            <a:off x="822960" y="2523744"/>
            <a:ext cx="182880" cy="182880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15"/>
          <p:cNvSpPr/>
          <p:nvPr/>
        </p:nvSpPr>
        <p:spPr>
          <a:xfrm>
            <a:off x="1069848" y="2286000"/>
            <a:ext cx="31089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5"/>
          <p:cNvSpPr/>
          <p:nvPr/>
        </p:nvSpPr>
        <p:spPr>
          <a:xfrm>
            <a:off x="4270248" y="2286000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D9534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33.6%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5"/>
          <p:cNvSpPr/>
          <p:nvPr/>
        </p:nvSpPr>
        <p:spPr>
          <a:xfrm>
            <a:off x="6190488" y="2286000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Streaming pipeline built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5"/>
          <p:cNvSpPr/>
          <p:nvPr/>
        </p:nvSpPr>
        <p:spPr>
          <a:xfrm>
            <a:off x="9116568" y="2286000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Severe class collapse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5"/>
          <p:cNvSpPr/>
          <p:nvPr/>
        </p:nvSpPr>
        <p:spPr>
          <a:xfrm>
            <a:off x="566928" y="3035808"/>
            <a:ext cx="11057839" cy="658368"/>
          </a:xfrm>
          <a:prstGeom prst="roundRect">
            <a:avLst>
              <a:gd fmla="val 13889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15"/>
          <p:cNvSpPr/>
          <p:nvPr/>
        </p:nvSpPr>
        <p:spPr>
          <a:xfrm>
            <a:off x="822960" y="3273552"/>
            <a:ext cx="182880" cy="182880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5"/>
          <p:cNvSpPr/>
          <p:nvPr/>
        </p:nvSpPr>
        <p:spPr>
          <a:xfrm>
            <a:off x="1069848" y="3035808"/>
            <a:ext cx="31089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4270248" y="3035808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A98C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3EA98C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64.1%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6190488" y="3035808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Interpretable + validated threshold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9116568" y="3035808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Talking label granularity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566928" y="3785616"/>
            <a:ext cx="11057839" cy="658368"/>
          </a:xfrm>
          <a:prstGeom prst="roundRect">
            <a:avLst>
              <a:gd fmla="val 13889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5"/>
          <p:cNvSpPr/>
          <p:nvPr/>
        </p:nvSpPr>
        <p:spPr>
          <a:xfrm>
            <a:off x="822960" y="4023360"/>
            <a:ext cx="182880" cy="182880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5"/>
          <p:cNvSpPr/>
          <p:nvPr/>
        </p:nvSpPr>
        <p:spPr>
          <a:xfrm>
            <a:off x="1069848" y="3785616"/>
            <a:ext cx="31089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4270248" y="37856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CD6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6C7CD6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Acc 93.1%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6190488" y="3785616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Fast, edge-ready, high AUC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9116568" y="3785616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Catch-all class variance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566928" y="4535424"/>
            <a:ext cx="11057839" cy="658368"/>
          </a:xfrm>
          <a:prstGeom prst="roundRect">
            <a:avLst>
              <a:gd fmla="val 13889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5"/>
          <p:cNvSpPr/>
          <p:nvPr/>
        </p:nvSpPr>
        <p:spPr>
          <a:xfrm>
            <a:off x="822960" y="4773168"/>
            <a:ext cx="182880" cy="182880"/>
          </a:xfrm>
          <a:prstGeom prst="ellipse">
            <a:avLst/>
          </a:prstGeom>
          <a:solidFill>
            <a:srgbClr val="C79A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15"/>
          <p:cNvSpPr/>
          <p:nvPr/>
        </p:nvSpPr>
        <p:spPr>
          <a:xfrm>
            <a:off x="1069848" y="4535424"/>
            <a:ext cx="31089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Seat Belt &amp; Phone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5"/>
          <p:cNvSpPr/>
          <p:nvPr/>
        </p:nvSpPr>
        <p:spPr>
          <a:xfrm>
            <a:off x="4270248" y="4535424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9A3B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C79A3B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mAP 0.95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5"/>
          <p:cNvSpPr/>
          <p:nvPr/>
        </p:nvSpPr>
        <p:spPr>
          <a:xfrm>
            <a:off x="6190488" y="4535424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Robust inference safeguards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5"/>
          <p:cNvSpPr/>
          <p:nvPr/>
        </p:nvSpPr>
        <p:spPr>
          <a:xfrm>
            <a:off x="9116568" y="4535424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Lighting / temporal flicker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5"/>
          <p:cNvSpPr/>
          <p:nvPr/>
        </p:nvSpPr>
        <p:spPr>
          <a:xfrm>
            <a:off x="566928" y="5285232"/>
            <a:ext cx="11057839" cy="658368"/>
          </a:xfrm>
          <a:prstGeom prst="roundRect">
            <a:avLst>
              <a:gd fmla="val 13889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5"/>
          <p:cNvSpPr/>
          <p:nvPr/>
        </p:nvSpPr>
        <p:spPr>
          <a:xfrm>
            <a:off x="822960" y="5522976"/>
            <a:ext cx="182880" cy="182880"/>
          </a:xfrm>
          <a:prstGeom prst="ellipse">
            <a:avLst/>
          </a:prstGeom>
          <a:solidFill>
            <a:srgbClr val="A855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1069848" y="5285232"/>
            <a:ext cx="31089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Smoking &amp; Drinking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5"/>
          <p:cNvSpPr/>
          <p:nvPr/>
        </p:nvSpPr>
        <p:spPr>
          <a:xfrm>
            <a:off x="4270248" y="5285232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55C7"/>
              </a:buClr>
              <a:buSzPts val="1600"/>
              <a:buFont typeface="Century Schoolbook"/>
              <a:buNone/>
            </a:pPr>
            <a:r>
              <a:rPr b="1" i="0" lang="en-US" sz="1600" u="none" cap="none" strike="noStrike">
                <a:solidFill>
                  <a:srgbClr val="A855C7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mAP 0.82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5"/>
          <p:cNvSpPr/>
          <p:nvPr/>
        </p:nvSpPr>
        <p:spPr>
          <a:xfrm>
            <a:off x="6190488" y="5285232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Safe failure, no leakage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5"/>
          <p:cNvSpPr/>
          <p:nvPr/>
        </p:nvSpPr>
        <p:spPr>
          <a:xfrm>
            <a:off x="9116568" y="5285232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Drinking recall (0.67)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5"/>
          <p:cNvSpPr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Across the board, errors are diagnosed and mapped to concrete fixes — no gap is left unexplained.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6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6"/>
          <p:cNvSpPr/>
          <p:nvPr/>
        </p:nvSpPr>
        <p:spPr>
          <a:xfrm>
            <a:off x="566928" y="50292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CROSS-CUTTING FINDINGS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16"/>
          <p:cNvSpPr/>
          <p:nvPr/>
        </p:nvSpPr>
        <p:spPr>
          <a:xfrm>
            <a:off x="566928" y="868680"/>
            <a:ext cx="111556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entury Schoolbook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Deployment Readiness &amp; the Safe-Failure Principle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6"/>
          <p:cNvSpPr/>
          <p:nvPr/>
        </p:nvSpPr>
        <p:spPr>
          <a:xfrm>
            <a:off x="566928" y="1965960"/>
            <a:ext cx="3442106" cy="1965960"/>
          </a:xfrm>
          <a:prstGeom prst="roundRect">
            <a:avLst>
              <a:gd fmla="val 4651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16"/>
          <p:cNvSpPr/>
          <p:nvPr/>
        </p:nvSpPr>
        <p:spPr>
          <a:xfrm>
            <a:off x="841248" y="2240280"/>
            <a:ext cx="548640" cy="548640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40" name="Google Shape;64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" y="23682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p16"/>
          <p:cNvSpPr/>
          <p:nvPr/>
        </p:nvSpPr>
        <p:spPr>
          <a:xfrm>
            <a:off x="841248" y="289864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Fail the safe way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6"/>
          <p:cNvSpPr/>
          <p:nvPr/>
        </p:nvSpPr>
        <p:spPr>
          <a:xfrm>
            <a:off x="841248" y="3246120"/>
            <a:ext cx="29391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The strongest detectors (Modules 4 &amp; 5) miss or fire weakly under stress rather than asserting a confident wrong class — a recoverable failure direction for a safety alert.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6"/>
          <p:cNvSpPr/>
          <p:nvPr/>
        </p:nvSpPr>
        <p:spPr>
          <a:xfrm>
            <a:off x="4374794" y="1965960"/>
            <a:ext cx="3442106" cy="1965960"/>
          </a:xfrm>
          <a:prstGeom prst="roundRect">
            <a:avLst>
              <a:gd fmla="val 4651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16"/>
          <p:cNvSpPr/>
          <p:nvPr/>
        </p:nvSpPr>
        <p:spPr>
          <a:xfrm>
            <a:off x="4649114" y="2240280"/>
            <a:ext cx="548640" cy="548640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45" name="Google Shape;64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77130" y="23682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16"/>
          <p:cNvSpPr/>
          <p:nvPr/>
        </p:nvSpPr>
        <p:spPr>
          <a:xfrm>
            <a:off x="4649114" y="289864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signal, not a verdict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6"/>
          <p:cNvSpPr/>
          <p:nvPr/>
        </p:nvSpPr>
        <p:spPr>
          <a:xfrm>
            <a:off x="4649114" y="3246120"/>
            <a:ext cx="29391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No module acts alone. Each feeds the weighted Risk Fusion Engine, so recall-biased operating points and even the weak fatigue module remain useful without triggering standalone alerts.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6"/>
          <p:cNvSpPr/>
          <p:nvPr/>
        </p:nvSpPr>
        <p:spPr>
          <a:xfrm>
            <a:off x="8182661" y="1965960"/>
            <a:ext cx="3442106" cy="1965960"/>
          </a:xfrm>
          <a:prstGeom prst="roundRect">
            <a:avLst>
              <a:gd fmla="val 4651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16"/>
          <p:cNvSpPr/>
          <p:nvPr/>
        </p:nvSpPr>
        <p:spPr>
          <a:xfrm>
            <a:off x="8456981" y="2240280"/>
            <a:ext cx="548640" cy="548640"/>
          </a:xfrm>
          <a:prstGeom prst="ellipse">
            <a:avLst/>
          </a:prstGeom>
          <a:solidFill>
            <a:srgbClr val="1B2A47"/>
          </a:solidFill>
          <a:ln cap="flat" cmpd="sng" w="12700">
            <a:solidFill>
              <a:srgbClr val="2DD4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0" name="Google Shape;65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84997" y="236829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6"/>
          <p:cNvSpPr/>
          <p:nvPr/>
        </p:nvSpPr>
        <p:spPr>
          <a:xfrm>
            <a:off x="8456981" y="2898648"/>
            <a:ext cx="289346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Edge-ready footprints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6"/>
          <p:cNvSpPr/>
          <p:nvPr/>
        </p:nvSpPr>
        <p:spPr>
          <a:xfrm>
            <a:off x="8456981" y="3246120"/>
            <a:ext cx="29391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Four of five models run real-time on a modest T4 — 3–7 M parameters and single-digit millisecond latency — comfortably inside edge-device budgets.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6"/>
          <p:cNvSpPr/>
          <p:nvPr/>
        </p:nvSpPr>
        <p:spPr>
          <a:xfrm>
            <a:off x="566928" y="4251960"/>
            <a:ext cx="11057839" cy="1691640"/>
          </a:xfrm>
          <a:prstGeom prst="roundRect">
            <a:avLst>
              <a:gd fmla="val 5405" name="adj"/>
            </a:avLst>
          </a:prstGeom>
          <a:solidFill>
            <a:srgbClr val="0A1220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16"/>
          <p:cNvSpPr/>
          <p:nvPr/>
        </p:nvSpPr>
        <p:spPr>
          <a:xfrm>
            <a:off x="886968" y="450799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READINESS SNAPSHOT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6"/>
          <p:cNvSpPr/>
          <p:nvPr/>
        </p:nvSpPr>
        <p:spPr>
          <a:xfrm>
            <a:off x="886968" y="4910328"/>
            <a:ext cx="164592" cy="164592"/>
          </a:xfrm>
          <a:prstGeom prst="ellipse">
            <a:avLst/>
          </a:prstGeom>
          <a:solidFill>
            <a:srgbClr val="6C7C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6"/>
          <p:cNvSpPr/>
          <p:nvPr/>
        </p:nvSpPr>
        <p:spPr>
          <a:xfrm>
            <a:off x="1143000" y="4837176"/>
            <a:ext cx="31068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Ready behind mitigations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16"/>
          <p:cNvSpPr/>
          <p:nvPr/>
        </p:nvSpPr>
        <p:spPr>
          <a:xfrm>
            <a:off x="1143000" y="5166360"/>
            <a:ext cx="30153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Driver Activity · Seat Belt · Smoking / Drinking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16"/>
          <p:cNvSpPr/>
          <p:nvPr/>
        </p:nvSpPr>
        <p:spPr>
          <a:xfrm>
            <a:off x="4359554" y="4910328"/>
            <a:ext cx="164592" cy="164592"/>
          </a:xfrm>
          <a:prstGeom prst="ellipse">
            <a:avLst/>
          </a:prstGeom>
          <a:solidFill>
            <a:srgbClr val="3EA9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16"/>
          <p:cNvSpPr/>
          <p:nvPr/>
        </p:nvSpPr>
        <p:spPr>
          <a:xfrm>
            <a:off x="4615586" y="4837176"/>
            <a:ext cx="31068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Ready as fused signal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6"/>
          <p:cNvSpPr/>
          <p:nvPr/>
        </p:nvSpPr>
        <p:spPr>
          <a:xfrm>
            <a:off x="4615586" y="5166360"/>
            <a:ext cx="30153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Landmark Fatigue — validated threshold, interpretable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6"/>
          <p:cNvSpPr/>
          <p:nvPr/>
        </p:nvSpPr>
        <p:spPr>
          <a:xfrm>
            <a:off x="7832141" y="4910328"/>
            <a:ext cx="164592" cy="164592"/>
          </a:xfrm>
          <a:prstGeom prst="ellipse">
            <a:avLst/>
          </a:prstGeom>
          <a:solidFill>
            <a:srgbClr val="D953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16"/>
          <p:cNvSpPr/>
          <p:nvPr/>
        </p:nvSpPr>
        <p:spPr>
          <a:xfrm>
            <a:off x="8088173" y="4837176"/>
            <a:ext cx="31068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Experimental only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6"/>
          <p:cNvSpPr/>
          <p:nvPr/>
        </p:nvSpPr>
        <p:spPr>
          <a:xfrm>
            <a:off x="8088173" y="5166360"/>
            <a:ext cx="3015386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Video Fatigue — class collapse, needs re-work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A2E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7"/>
          <p:cNvSpPr/>
          <p:nvPr/>
        </p:nvSpPr>
        <p:spPr>
          <a:xfrm>
            <a:off x="566928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 ·   Milestone 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7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09E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09E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7"/>
          <p:cNvSpPr/>
          <p:nvPr/>
        </p:nvSpPr>
        <p:spPr>
          <a:xfrm>
            <a:off x="9326880" y="-1280160"/>
            <a:ext cx="4206240" cy="4206240"/>
          </a:xfrm>
          <a:prstGeom prst="ellipse">
            <a:avLst/>
          </a:prstGeom>
          <a:noFill/>
          <a:ln cap="flat" cmpd="sng" w="27925">
            <a:solidFill>
              <a:srgbClr val="1C2C4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0195560" y="-411480"/>
            <a:ext cx="2468880" cy="2468880"/>
          </a:xfrm>
          <a:prstGeom prst="ellipse">
            <a:avLst/>
          </a:prstGeom>
          <a:solidFill>
            <a:srgbClr val="1323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566928" y="548640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MILESTONE 5  ·  CONCLUSION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7"/>
          <p:cNvSpPr/>
          <p:nvPr/>
        </p:nvSpPr>
        <p:spPr>
          <a:xfrm>
            <a:off x="566928" y="96012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entury Schoolbook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Five Modules Independently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entury Schoolbook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Evaluated &amp; Diagnosed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7"/>
          <p:cNvSpPr/>
          <p:nvPr/>
        </p:nvSpPr>
        <p:spPr>
          <a:xfrm>
            <a:off x="566928" y="2788920"/>
            <a:ext cx="2490140" cy="1325880"/>
          </a:xfrm>
          <a:prstGeom prst="roundRect">
            <a:avLst>
              <a:gd fmla="val 689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7"/>
          <p:cNvSpPr/>
          <p:nvPr/>
        </p:nvSpPr>
        <p:spPr>
          <a:xfrm>
            <a:off x="566928" y="2926080"/>
            <a:ext cx="24901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4400"/>
              <a:buFont typeface="Century Schoolbook"/>
              <a:buNone/>
            </a:pPr>
            <a:r>
              <a:rPr b="1" i="0" lang="en-US" sz="44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7"/>
          <p:cNvSpPr/>
          <p:nvPr/>
        </p:nvSpPr>
        <p:spPr>
          <a:xfrm>
            <a:off x="704088" y="3685032"/>
            <a:ext cx="22158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modules evaluated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7"/>
          <p:cNvSpPr/>
          <p:nvPr/>
        </p:nvSpPr>
        <p:spPr>
          <a:xfrm>
            <a:off x="3422828" y="2788920"/>
            <a:ext cx="2490140" cy="1325880"/>
          </a:xfrm>
          <a:prstGeom prst="roundRect">
            <a:avLst>
              <a:gd fmla="val 689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17"/>
          <p:cNvSpPr/>
          <p:nvPr/>
        </p:nvSpPr>
        <p:spPr>
          <a:xfrm>
            <a:off x="3422828" y="2926080"/>
            <a:ext cx="24901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4400"/>
              <a:buFont typeface="Century Schoolbook"/>
              <a:buNone/>
            </a:pPr>
            <a:r>
              <a:rPr b="1" i="0" lang="en-US" sz="44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7"/>
          <p:cNvSpPr/>
          <p:nvPr/>
        </p:nvSpPr>
        <p:spPr>
          <a:xfrm>
            <a:off x="3559988" y="3685032"/>
            <a:ext cx="22158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held-out splits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7"/>
          <p:cNvSpPr/>
          <p:nvPr/>
        </p:nvSpPr>
        <p:spPr>
          <a:xfrm>
            <a:off x="6278728" y="2788920"/>
            <a:ext cx="2490140" cy="1325880"/>
          </a:xfrm>
          <a:prstGeom prst="roundRect">
            <a:avLst>
              <a:gd fmla="val 689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17"/>
          <p:cNvSpPr/>
          <p:nvPr/>
        </p:nvSpPr>
        <p:spPr>
          <a:xfrm>
            <a:off x="6278728" y="2926080"/>
            <a:ext cx="24901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4400"/>
              <a:buFont typeface="Century Schoolbook"/>
              <a:buNone/>
            </a:pPr>
            <a:r>
              <a:rPr b="1" i="0" lang="en-US" sz="44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4 / 5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7"/>
          <p:cNvSpPr/>
          <p:nvPr/>
        </p:nvSpPr>
        <p:spPr>
          <a:xfrm>
            <a:off x="6415888" y="3685032"/>
            <a:ext cx="22158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real-time edge-ready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7"/>
          <p:cNvSpPr/>
          <p:nvPr/>
        </p:nvSpPr>
        <p:spPr>
          <a:xfrm>
            <a:off x="9134627" y="2788920"/>
            <a:ext cx="2490140" cy="1325880"/>
          </a:xfrm>
          <a:prstGeom prst="roundRect">
            <a:avLst>
              <a:gd fmla="val 6897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17"/>
          <p:cNvSpPr/>
          <p:nvPr/>
        </p:nvSpPr>
        <p:spPr>
          <a:xfrm>
            <a:off x="9134627" y="2926080"/>
            <a:ext cx="24901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4400"/>
              <a:buFont typeface="Century Schoolbook"/>
              <a:buNone/>
            </a:pPr>
            <a:r>
              <a:rPr b="1" i="0" lang="en-US" sz="44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7"/>
          <p:cNvSpPr/>
          <p:nvPr/>
        </p:nvSpPr>
        <p:spPr>
          <a:xfrm>
            <a:off x="9271787" y="3685032"/>
            <a:ext cx="22158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3043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module needs re-work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7"/>
          <p:cNvSpPr/>
          <p:nvPr/>
        </p:nvSpPr>
        <p:spPr>
          <a:xfrm>
            <a:off x="566928" y="4343400"/>
            <a:ext cx="5346040" cy="1600200"/>
          </a:xfrm>
          <a:prstGeom prst="roundRect">
            <a:avLst>
              <a:gd fmla="val 57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17"/>
          <p:cNvSpPr/>
          <p:nvPr/>
        </p:nvSpPr>
        <p:spPr>
          <a:xfrm>
            <a:off x="859536" y="4581144"/>
            <a:ext cx="479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7"/>
          <p:cNvSpPr/>
          <p:nvPr/>
        </p:nvSpPr>
        <p:spPr>
          <a:xfrm>
            <a:off x="859536" y="4910328"/>
            <a:ext cx="4797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21739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Held-out scores confirm genuine generalisation — val ≈ test where measured.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21739"/>
              </a:lnSpc>
              <a:spcBef>
                <a:spcPts val="60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Errors are diagnosed, not hidden: class collapse, label noise, small-object recall.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21739"/>
              </a:lnSpc>
              <a:spcBef>
                <a:spcPts val="60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Failures lean to the safe direction — missed or low-confidence, not confident-wrong.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7"/>
          <p:cNvSpPr/>
          <p:nvPr/>
        </p:nvSpPr>
        <p:spPr>
          <a:xfrm>
            <a:off x="6278728" y="4343400"/>
            <a:ext cx="5346040" cy="1600200"/>
          </a:xfrm>
          <a:prstGeom prst="roundRect">
            <a:avLst>
              <a:gd fmla="val 5714" name="adj"/>
            </a:avLst>
          </a:prstGeom>
          <a:solidFill>
            <a:srgbClr val="16233D"/>
          </a:solidFill>
          <a:ln>
            <a:noFill/>
          </a:ln>
          <a:effectLst>
            <a:outerShdw blurRad="114300" rotWithShape="0" algn="bl" dir="5400000" dist="38100">
              <a:srgbClr val="000000">
                <a:alpha val="2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17"/>
          <p:cNvSpPr/>
          <p:nvPr/>
        </p:nvSpPr>
        <p:spPr>
          <a:xfrm>
            <a:off x="6571336" y="4581144"/>
            <a:ext cx="479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DD4BF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7"/>
          <p:cNvSpPr/>
          <p:nvPr/>
        </p:nvSpPr>
        <p:spPr>
          <a:xfrm>
            <a:off x="6571336" y="4910328"/>
            <a:ext cx="4797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7800" lvl="0" marL="177800" marR="0" rtl="0" algn="l">
              <a:lnSpc>
                <a:spcPct val="121739"/>
              </a:lnSpc>
              <a:spcBef>
                <a:spcPts val="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Close drinking recall and fatigue class collapse with better labels &amp; temporal context.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21739"/>
              </a:lnSpc>
              <a:spcBef>
                <a:spcPts val="60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Add temporal smoothing and class-specific thresholds across the detectors.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21739"/>
              </a:lnSpc>
              <a:spcBef>
                <a:spcPts val="600"/>
              </a:spcBef>
              <a:spcAft>
                <a:spcPts val="0"/>
              </a:spcAft>
              <a:buClr>
                <a:srgbClr val="9FB2CC"/>
              </a:buClr>
              <a:buSzPts val="1150"/>
              <a:buFont typeface="Calibri"/>
              <a:buChar char="•"/>
            </a:pPr>
            <a:r>
              <a:rPr b="0" i="0" lang="en-US" sz="1150" u="none" cap="none" strike="noStrike">
                <a:solidFill>
                  <a:srgbClr val="9FB2CC"/>
                </a:solidFill>
                <a:latin typeface="Calibri"/>
                <a:ea typeface="Calibri"/>
                <a:cs typeface="Calibri"/>
                <a:sym typeface="Calibri"/>
              </a:rPr>
              <a:t>Wire all five into the Driver Risk Fusion Engine and a unified alert dashboard.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7"/>
          <p:cNvSpPr/>
          <p:nvPr/>
        </p:nvSpPr>
        <p:spPr>
          <a:xfrm>
            <a:off x="566928" y="6108192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BF"/>
              </a:buClr>
              <a:buSzPts val="1300"/>
              <a:buFont typeface="Century Schoolbook"/>
              <a:buNone/>
            </a:pPr>
            <a:r>
              <a:rPr b="1" i="1" lang="en-US" sz="1300" u="none" cap="none" strike="noStrike">
                <a:solidFill>
                  <a:srgbClr val="2DD4B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From training to a rigorously evaluated, deployment-aware driver wellness system.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2026-08-06T17:58:20Z</dcterms:created>
  <dc:creator>PptxGenJS</dc:creator>
</cp:coreProperties>
</file>