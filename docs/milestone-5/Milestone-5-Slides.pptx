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1675"/>
  <p:notesSz cx="6858000" cy="12191675"/>
  <p:embeddedFontLst>
    <p:embeddedFont>
      <p:font typeface="Century Schoolbook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OQGrc2eSs87OIfppYsyFb1Ryy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regular.fntdata"/><Relationship Id="rId11" Type="http://schemas.openxmlformats.org/officeDocument/2006/relationships/slide" Target="slides/slide7.xml"/><Relationship Id="rId22" Type="http://schemas.openxmlformats.org/officeDocument/2006/relationships/font" Target="fonts/CenturySchoolbook-italic.fntdata"/><Relationship Id="rId10" Type="http://schemas.openxmlformats.org/officeDocument/2006/relationships/slide" Target="slides/slide6.xml"/><Relationship Id="rId21" Type="http://schemas.openxmlformats.org/officeDocument/2006/relationships/font" Target="fonts/CenturySchoolbook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enturySchoolbook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noFill/>
          <a:ln cap="flat" cmpd="sng" w="27925">
            <a:solidFill>
              <a:srgbClr val="1C2C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195560" y="-411480"/>
            <a:ext cx="2468880" cy="2468880"/>
          </a:xfrm>
          <a:prstGeom prst="ellipse">
            <a:avLst/>
          </a:prstGeom>
          <a:solidFill>
            <a:srgbClr val="132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66928" y="17373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MILESTONE 5  ·  EVALUATION &amp;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22402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entury Schoolbook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AI-Powered Driver Wellness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entury Schoolbook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&amp; Safety Monitoring System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" y="4297680"/>
            <a:ext cx="8778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Five deep-learning modules — each benchmarked on a strictly held-out split, with error diagnosis, efficiency measurement and deployment-readiness assessment.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66928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94944" y="5404104"/>
            <a:ext cx="274320" cy="27432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042416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79192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07208" y="5404104"/>
            <a:ext cx="274320" cy="27432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154680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91456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6C7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919472" y="5404104"/>
            <a:ext cx="274320" cy="27432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266944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031736" y="5404104"/>
            <a:ext cx="274320" cy="27432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379208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015984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A855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9144000" y="5404104"/>
            <a:ext cx="274320" cy="27432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9491472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66928" y="60533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BSDA4001  ·  DS/AI Lab 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MILESTONE 5  · 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Trained Models to Held-Out Evaluation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66928" y="157276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Milestone 4 delivered five trained checkpoints. Milestone 5 measures each on data it never saw — impartially, then diagnostically.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66928" y="2148840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41248" y="2423160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25511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841248" y="3081528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impartially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41248" y="3392424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Score every frozen checkpoint on a strictly held-out, subject- or driver-disjoint test split.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74794" y="2148840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649114" y="2423160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7130" y="25511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4649114" y="3081528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Diagnose failures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649114" y="3392424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Go beyond a single accuracy number — build confusion matrices and per-class breakdowns.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182661" y="2148840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456981" y="2423160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4997" y="25511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8456981" y="3081528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Root-cause each error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456981" y="3392424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Tie every failure mode to an interpretable cause: label noise, small objects, class collapse.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66928" y="4224528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41248" y="4498848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264" y="46268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841248" y="5157216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efficiency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41248" y="5468112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Record parameters, FLOPs and per-frame latency on the shared Tesla T4 evaluation GPU.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74794" y="4224528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649114" y="4498848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7130" y="46268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4649114" y="5157216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 readiness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649114" y="5468112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Judge each module against the accuracy / speed / memory trade-off for edge deployment.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182661" y="4224528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8456981" y="4498848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84997" y="46268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8456981" y="5157216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 improvements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456981" y="5468112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Convert every diagnosed gap into a concrete, prioritised short- and long-term 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OVERALL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Models, One Wellness Score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267048" y="1965960"/>
            <a:ext cx="3657600" cy="566928"/>
          </a:xfrm>
          <a:prstGeom prst="roundRect">
            <a:avLst>
              <a:gd fmla="val 14516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267048" y="196596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2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220"/>
                </a:solidFill>
                <a:latin typeface="Calibri"/>
                <a:ea typeface="Calibri"/>
                <a:cs typeface="Calibri"/>
                <a:sym typeface="Calibri"/>
              </a:rPr>
              <a:t>Driver Camera  →  Video 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66928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325240" y="3172968"/>
            <a:ext cx="438912" cy="438912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12648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2648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842504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600816" y="3172968"/>
            <a:ext cx="438912" cy="438912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888224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888224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118080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876392" y="3172968"/>
            <a:ext cx="438912" cy="438912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163800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163800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393656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8151967" y="3172968"/>
            <a:ext cx="438912" cy="43891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439376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439376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669231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0427543" y="3172968"/>
            <a:ext cx="438912" cy="438912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714951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714951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6095848" y="2532888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1544696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3820272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6095848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3"/>
          <p:cNvCxnSpPr/>
          <p:nvPr/>
        </p:nvCxnSpPr>
        <p:spPr>
          <a:xfrm>
            <a:off x="8371423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46999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3"/>
          <p:cNvSpPr/>
          <p:nvPr/>
        </p:nvSpPr>
        <p:spPr>
          <a:xfrm>
            <a:off x="566928" y="4617720"/>
            <a:ext cx="11057839" cy="658368"/>
          </a:xfrm>
          <a:prstGeom prst="roundRect">
            <a:avLst>
              <a:gd fmla="val 12500" name="adj"/>
            </a:avLst>
          </a:prstGeom>
          <a:solidFill>
            <a:srgbClr val="0A1220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66928" y="4617720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000"/>
              <a:buFont typeface="Century Schoolbook"/>
              <a:buNone/>
            </a:pPr>
            <a:r>
              <a:rPr b="1" i="0" lang="en-US" sz="20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Driver Risk Fusion Engine   ·   weighted scoring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6095848" y="5276088"/>
            <a:ext cx="0" cy="292608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" name="Google Shape;119;p3"/>
          <p:cNvSpPr/>
          <p:nvPr/>
        </p:nvSpPr>
        <p:spPr>
          <a:xfrm>
            <a:off x="4312768" y="5577840"/>
            <a:ext cx="3566160" cy="548640"/>
          </a:xfrm>
          <a:prstGeom prst="roundRect">
            <a:avLst>
              <a:gd fmla="val 15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312768" y="557784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2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220"/>
                </a:solidFill>
                <a:latin typeface="Calibri"/>
                <a:ea typeface="Calibri"/>
                <a:cs typeface="Calibri"/>
                <a:sym typeface="Calibri"/>
              </a:rPr>
              <a:t>Driver Wellness Assessment (0–100)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TEAM &amp;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Modules, Five Held-Out Evaluations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66928" y="18745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532888" y="18745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184648" y="18745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653528" y="18745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573768" y="1874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HEADLINE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66928" y="2286000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12648" y="2432304"/>
            <a:ext cx="384048" cy="384048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12648" y="2432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115568" y="22860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532888" y="2286000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Video-Based Fatigue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184648" y="2286000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653528" y="2286000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7,117 seq · 6 subj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573768" y="2286000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33.6%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66928" y="3054096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12648" y="3200400"/>
            <a:ext cx="384048" cy="384048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12648" y="3200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lang="en-US" sz="1428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115568" y="3054096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532888" y="3054096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184648" y="3054096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LSTM (EAR·MAR·pose)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653528" y="3054096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1,400 windows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573768" y="3054096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64.1%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66928" y="3822192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12648" y="3968496"/>
            <a:ext cx="384048" cy="384048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12648" y="39684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lang="en-US" sz="1428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115568" y="3822192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532888" y="3822192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184648" y="3822192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MobileNetV3-Large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653528" y="3822192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1,093 images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9573768" y="3822192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93.1%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66928" y="4590288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12648" y="4736592"/>
            <a:ext cx="384048" cy="384048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612648" y="4736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115568" y="4590288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532888" y="4590288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184648" y="4590288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653528" y="4590288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cabin image 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9573768" y="4590288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mAP@50 0.95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66928" y="5358384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612648" y="5504688"/>
            <a:ext cx="384048" cy="384048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612648" y="5504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115568" y="5358384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532888" y="5358384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184648" y="5358384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7653528" y="5358384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371 img · 445 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9573768" y="5358384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mAP@50 0.82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66928" y="6172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Each module is evaluated inference-only on a frozen checkpoint against a strictly held-out split.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MODULE 1  ·  VIDEO-BASED FATIGUE DETECTION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Kushagra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Subject-disjoint indexed test 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Temporal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Bidirectional LSTM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Hidden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Sequence length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frames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 · Caution · High-Risk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7.16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driver_wellness_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epoch2.pth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7,117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indexed 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unseen subjects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≈balanced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3-class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a frozen 2-epoch checkpoint generalises to unseen drivers, and — critically — whether the three fatigue classes stay separable or collapse. The fixed-seed subject-disjoint split </a:t>
            </a:r>
            <a:r>
              <a:rPr lang="en-US" sz="12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indexed split preserved subject-disjoint separation across train/validation/test</a:t>
            </a: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MODULE 1  ·  VIDEO-BASED FATIGUE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Kushagra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evaluation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PER-CLASS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59536" y="26517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304288" y="26060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74.1%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59536" y="3054096"/>
            <a:ext cx="3209544" cy="91440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59536" y="3054096"/>
            <a:ext cx="2378272" cy="9144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859536" y="331012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304288" y="326440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859536" y="3712464"/>
            <a:ext cx="3209544" cy="91440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859536" y="3712464"/>
            <a:ext cx="112334" cy="91440"/>
          </a:xfrm>
          <a:prstGeom prst="roundRect">
            <a:avLst>
              <a:gd fmla="val 50000" name="adj"/>
            </a:avLst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859536" y="396849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130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2304288" y="392277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859536" y="4370832"/>
            <a:ext cx="3209544" cy="91440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59536" y="4370832"/>
            <a:ext cx="821643" cy="9144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859536" y="55321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Baseline: random 33.3% · majority 36.2%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QUANTITATIVE RESULTS — HELD-OUT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33.6%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27.4%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27.2%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Weighted-F1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34.4%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Balanced Acc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READING &amp; NEXT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model barely exceeds uniform-random and stays below the majority-class baseline. The dominant failure is severe class collapse — Caution recall of 3.5% and two-thirds of High-Risk sequences predicted as Safe. It is therefore an experimental signal for the fusion engine, not a standalone safety trigger; longer temporal context and class-sensitive training are the next levers.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MODULE 2  ·  LANDMARK-BASED FATIGUE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lang="en-US" sz="289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Shiwani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Interpretable landmark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2-layer LSTM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 · MAR · Pitch·Yaw·Roll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Window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 frames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Extractor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MediaPipe Fac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LandMarker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 · Talking · Yawning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m4_lstm_full_final.pt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1,400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windows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11.3%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Yawning (minority)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subject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disjoint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hand-engineered facial signals separate the three behaviours, and whether the fatigue-state decision threshold can be empirically justified rather than left as an unvalidated heuristic. Inputs are human-interpretable, so any prediction is cross-checkable against the raw MAR trace.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MODULE 2  ·  LANDMARK FATIGUE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lang="en-US" sz="289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Shiwani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+ threshold 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LABEL CORRECTION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167128" y="262432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218688" y="2624328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59536" y="2971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Before fix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029968" y="295351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6E809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40.8%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081528" y="295351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6E809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38.4%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59536" y="3749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After fix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029968" y="373075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64.1%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081528" y="373075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61.8%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59536" y="5120640"/>
            <a:ext cx="3209544" cy="566928"/>
          </a:xfrm>
          <a:prstGeom prst="roundRect">
            <a:avLst>
              <a:gd fmla="val 1129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1024128" y="512064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+23.3 pts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 accuracy from the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3-class label restructuring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CORRECTED 3-CLASS TEST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64.1%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Yawning 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94.4%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READING &amp; THRESHOLD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dominant error (Talking→Normal, 53% of mistakes) is video-level label granularity, not model capacity. Cross-class Talking↔Yawning confusion is minor. Because a missed drowsy driver is the costly failure and this module is only one of five fused inputs, the Drowsy threshold is revised from 15% to 5% — lifting sensitivity to 94.4% at an acceptable false-alarm cost.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MODULE 3  ·  DRIVER ACTIVITY CLASSIFICATION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lang="en-US" sz="289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Shubham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MobileNetV3-Large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scratch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224×224 RGB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AdamW · lr 3e-4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activities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4.21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Best val acc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94.4%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1,093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activity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driver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disjoint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a lightweight, edge-oriented classifier can recognise five driving behaviours — safe driving, texting, talking on phone, turning, and a catch-all other — accurately enough for real-time deployment, and where the intra-class variance of the catch-all class costs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MODULE 3  ·  DRIVER ACTIVITY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66928" y="822960"/>
            <a:ext cx="777300" cy="77730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/>
              <a:t> </a:t>
            </a:r>
            <a:r>
              <a:rPr b="1" lang="en-US" sz="2850">
                <a:solidFill>
                  <a:schemeClr val="lt1"/>
                </a:solidFill>
              </a:rPr>
              <a:t>S</a:t>
            </a:r>
            <a:endParaRPr b="1" sz="2850">
              <a:solidFill>
                <a:schemeClr val="lt1"/>
              </a:solidFill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Shubham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+ model comparison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PER-CLASS 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859536" y="262432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texting_phone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2898648" y="256946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859536" y="2916936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859536" y="2916936"/>
            <a:ext cx="3145353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859536" y="32278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talking_phone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2898648" y="317296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59536" y="3520440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859536" y="3520440"/>
            <a:ext cx="3049067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859536" y="383133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turning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2898648" y="37764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859536" y="4123944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59536" y="4123944"/>
            <a:ext cx="2952780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859536" y="4434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safe_driving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2898648" y="4379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859536" y="4727448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859536" y="4727448"/>
            <a:ext cx="2920685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859536" y="50383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other_activities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2898648" y="49834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859536" y="5330952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59536" y="5330952"/>
            <a:ext cx="2856494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OVERALL HELD-OUT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93.1%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&gt;0.95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AUC (all classes)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12.5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ms / frame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5020056" y="4169664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WHY MOBILENETV3 — ACCURACY VS EFFICIENCY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020056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7653528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ACC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8659368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9848088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5020056" y="48280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 (ours)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7653528" y="482803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93.1%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8659368" y="482803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4.2 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9848088" y="482803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12.5 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5020056" y="5212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7653528" y="52120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94.0%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8659368" y="52120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5.3 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9848088" y="52120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28.7 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5020056" y="559612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7653528" y="559612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92.1%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8659368" y="559612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25.5 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9848088" y="559612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45.2 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4  ·  SEAT BELT &amp; PHONE DETECTION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Sohini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YOLOv8n + inference safeguards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Detector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Seatbelt · Phone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1280×1280 letterbox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Gamma correction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γ = 1.4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Temporal filter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≈85% frame stability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NMS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Class-agnostic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6.8–10.4 ms/frame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EVALUATION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day+night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cabin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glare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&amp; heavy shadow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annotated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a small detector plus a stateful temporal-consensus pipeline can hold up on continuous cabin video — beyond static-image accuracy — resisting flicker, arm/shadow confusion (the "seesaw" effect), and out-of-distribution lighting.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4  ·  SEAT BELT &amp; PHONE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Sohini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Validation metrics + mitigations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DEPLOYMENT SAFEGUARDS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859536" y="2697480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1115568" y="26060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Decoupled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1115568" y="289864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Seatbelt 0.40 · Phone 0.10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859536" y="3502152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1115568" y="341071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Class-agnostic NMS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115568" y="37033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removes overlapping arm/shadow boxes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859536" y="4306824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1115568" y="42153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 filtering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115568" y="450799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rejects window-glass &amp; tiny boxes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859536" y="5111496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1115568" y="502005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consensus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1115568" y="531266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~85% stability before confirming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 DETECTION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C79A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0.953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0.673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mAP@50–95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0.937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READING &amp; LIMITATIONS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Static detection is strong (mAP@50 = 0.95), but continuous-stream deployment exposes flicker and lighting sensitivity that single-image scoring hides. Heavy shadow can hide the phone; strong glare washes out the belt. The inference safeguards resolve the arm-vs-belt "seesaw"; the metrics come from the notebook validation set rather than a fully separate held-out split — flagged as the key caveat.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MODULE 5  ·  SMOKING &amp; DRINKING DETECTION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Ravina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Strictly held-out test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Detector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· Drinking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640×640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 epochs · AdamW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schedule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· lr0 1e-3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3.01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8.1 GFLOPs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371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445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labelled boxes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frozen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yolov8n_best.pt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Impartial benchmarking of a frozen checkpoint on a split that contributed nothing to training, plus root-cause diagnosis of every failure and a check that validation and test scores agree — the signature of clean splits and no leakage.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MODULE 5  ·  SMOKING &amp; DRINKING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Ravina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+ per-class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THE CLASS IMBALANCE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859536" y="2441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recall by 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859536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2578608" y="27889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859536" y="3337560"/>
            <a:ext cx="3209544" cy="12801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859536" y="3337560"/>
            <a:ext cx="2984876" cy="128016"/>
          </a:xfrm>
          <a:prstGeom prst="roundRect">
            <a:avLst>
              <a:gd fmla="val 50000" name="adj"/>
            </a:avLst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859536" y="3931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2578608" y="384048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859536" y="4389120"/>
            <a:ext cx="3209544" cy="12801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859536" y="4389120"/>
            <a:ext cx="2150394" cy="128016"/>
          </a:xfrm>
          <a:prstGeom prst="roundRect">
            <a:avLst>
              <a:gd fmla="val 50000" name="adj"/>
            </a:avLst>
          </a:prstGeom>
          <a:solidFill>
            <a:srgbClr val="5B6B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859536" y="53492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≈0.26 recall gap — drinking events are far more likely to be missed.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OVERALL HELD-OUT TEST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0.45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mAP@50–95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READING — A SAFELY-DIRECTED FAILURE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 and test mAP@50–95 match within 0.005 — clean splits, genuine generalisation. Of 46 failures only 6 are true cross-class confusion; the rest are missed or low-confidence boxes. The model fails the safe way — it declines to fire rather than asserting a confident wrong class — which temporal smoothing can recover. Drinking recall and strict localisation are the gaps to close.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5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Evaluations, One Scorecard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1069848" y="1874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4270248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HEADLINE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6190488" y="18745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9116568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PRIMARY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566928" y="2286000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822960" y="2523744"/>
            <a:ext cx="182880" cy="18288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1069848" y="228600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4270248" y="228600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33.6%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6190488" y="2286000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Streaming pipeline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9116568" y="2286000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Severe class collapse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566928" y="3035808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822960" y="3273552"/>
            <a:ext cx="182880" cy="18288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1069848" y="3035808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4270248" y="30358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64.1%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6190488" y="303580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Interpretable + validated 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9116568" y="3035808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Talking label granularity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566928" y="3785616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822960" y="4023360"/>
            <a:ext cx="182880" cy="18288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1069848" y="378561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4270248" y="37856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93.1%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6190488" y="3785616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Fast, edge-ready, high AUC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9116568" y="3785616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Catch-all class variance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566928" y="4535424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822960" y="4773168"/>
            <a:ext cx="182880" cy="18288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1069848" y="4535424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4270248" y="4535424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C79A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 0.95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6190488" y="4535424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Robust inference safeguards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9116568" y="4535424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Lighting / temporal flicker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566928" y="5285232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822960" y="5522976"/>
            <a:ext cx="182880" cy="18288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1069848" y="528523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/>
          <p:nvPr/>
        </p:nvSpPr>
        <p:spPr>
          <a:xfrm>
            <a:off x="4270248" y="528523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 0.82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6190488" y="528523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Safe failure, no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9116568" y="5285232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Drinking recall (0.67)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Across the board, errors are diagnosed and mapped to concrete fixes — no gap is left unexplained.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2026-08-06T17:58:20Z</dcterms:created>
  <dc:creator>PptxGenJS</dc:creator>
</cp:coreProperties>
</file>