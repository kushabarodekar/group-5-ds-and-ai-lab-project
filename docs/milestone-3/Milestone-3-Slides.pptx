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Ejhmb9U15K3LLJVrG8h+2U1RW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7385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7385"/>
                </a:solidFill>
                <a:latin typeface="Calibri"/>
              </a:rPr>
              <a:t>MobileNetV3 hyperparameter sweep (accuracy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5F6B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228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Baseline
lr .001</c:v>
                  </c:pt>
                  <c:pt idx="1">
                    <c:v>Exp 2
lr .0005</c:v>
                  </c:pt>
                  <c:pt idx="2">
                    <c:v>Exp 3
lr .0001</c:v>
                  </c:pt>
                  <c:pt idx="3">
                    <c:v>Exp 4
bs 16</c:v>
                  </c:pt>
                  <c:pt idx="4">
                    <c:v>Exp 5
bs 64</c:v>
                  </c:pt>
                  <c:pt idx="5">
                    <c:v>Exp 6
SGD</c:v>
                  </c:pt>
                  <c:pt idx="6">
                    <c:v>Exp 7
AdamW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87.04</c:v>
                </c:pt>
                <c:pt idx="1">
                  <c:v>90.74</c:v>
                </c:pt>
                <c:pt idx="2">
                  <c:v>87.96</c:v>
                </c:pt>
                <c:pt idx="3">
                  <c:v>87.96</c:v>
                </c:pt>
                <c:pt idx="4">
                  <c:v>68.06</c:v>
                </c:pt>
                <c:pt idx="5">
                  <c:v>42.13</c:v>
                </c:pt>
                <c:pt idx="6">
                  <c:v>89.81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228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3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3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Milestone 3 moves from data to design. Every module now has a chosen architecture, input/output spec, loss function and compute budget. Nothing here is trained yet — that is Milestone 4.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Milestone 2 gave us clean, leakage-free datasets. Milestone 3 answers the next question: what model consumes each of them, and why that model rather than the alternatives.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five modules run in parallel on the same frame stream. None of them makes a safety decision alone — each emits a normalised risk contribution that the fusion engine weights into one score.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Ownership is per module, but the specification work was common: everyone produced the same six artefacts — candidate set, justification, I/O spec, loss, metrics, compute budget.</a:t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Deliberately identical process for all five modules, so the comparison table later is apples-to-apples. The recurring theme is that the lighter model wins unless the accuracy gap is large.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temporal architectures were compared. CNN-LSTM was retained for long-term feature learning at a reasonable cost; the 3D CNN was dropped as too heavy for in-vehicle hardware.</a:t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Spatial features are learnt per frame by the CNN encoder, then the 16-step sequence of 256-D vectors is read by the LSTM. Only the final hidden state is classified, so the model outputs one fatigue label per clip.</a:t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module is the interpretable counterpart to Kushagra's. It is cheap enough to run continuously and gives a second, independent opinion on drowsiness.</a:t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normalisation statistics come only from the training split, and windows never cross split boundaries — so the reported validation numbers in Milestone 4 will be honest.</a:t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clearest example of the project's design philosophy: the heaviest model won on accuracy and still lost, because the system has to run on in-vehicle hardware alongside four other models.</a:t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baseline and tuning runs on a 20% stratified subset, not final results. They exist to fix the hyperparameters we will train with in Milestone 4.</a:t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classes only — phone and seat belt — because the Milestone 2 relabelling dropped everything not relevant to compliance. Bounding boxes also make the output explainable to a fleet manager.</a:t>
            </a:r>
            <a:endParaRPr/>
          </a:p>
        </p:txBody>
      </p:sp>
      <p:sp>
        <p:nvSpPr>
          <p:cNvPr id="322" name="Google Shape;3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custom backbone: this is a well-posed two-class problem on a moderate, balanced dataset, where mature pretrained detectors transfer strongly and are far more sample-efficient than training from scratch.</a:t>
            </a:r>
            <a:endParaRPr/>
          </a:p>
        </p:txBody>
      </p:sp>
      <p:sp>
        <p:nvSpPr>
          <p:cNvPr id="346" name="Google Shape;3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three architectures were trained on the same representative subset under identical settings, so any difference in the table is attributable to the architecture and nothing else.</a:t>
            </a:r>
            <a:endParaRPr/>
          </a:p>
        </p:txBody>
      </p:sp>
      <p:sp>
        <p:nvSpPr>
          <p:cNvPr id="370" name="Google Shape;3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honest reading: detection itself is working at mAP@50 ~0.75, but precise localisation and small-object recall are the hard parts. Tuning grid and held-out test evaluation were written but not executed, so they are excluded here.</a:t>
            </a:r>
            <a:endParaRPr/>
          </a:p>
        </p:txBody>
      </p:sp>
      <p:sp>
        <p:nvSpPr>
          <p:cNvPr id="422" name="Google Shape;4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down the 'selected' column: the lightweight option wins in four of five modules. That is a system-level decision, not five independent ones.</a:t>
            </a:r>
            <a:endParaRPr/>
          </a:p>
        </p:txBody>
      </p:sp>
      <p:sp>
        <p:nvSpPr>
          <p:cNvPr id="457" name="Google Shape;45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Weighting reflects immediacy of danger: the three modules that predict an imminent accident carry three-quarters of the score between them. Weights are a design choice we expect to revisit after M4 training.</a:t>
            </a:r>
            <a:endParaRPr/>
          </a:p>
        </p:txBody>
      </p:sp>
      <p:sp>
        <p:nvSpPr>
          <p:cNvPr id="511" name="Google Shape;5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honest open questions are drinking-class recall, fusion weight calibration, and whether five models together still fit the latency budget on a Jetson-class device.</a:t>
            </a:r>
            <a:endParaRPr/>
          </a:p>
        </p:txBody>
      </p:sp>
      <p:sp>
        <p:nvSpPr>
          <p:cNvPr id="550" name="Google Shape;55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Summary: every module has a defended architecture, a full specification and a compute budget, and the fusion design ties them into a single deliverable score. Happy to take questions.</a:t>
            </a:r>
            <a:endParaRPr/>
          </a:p>
        </p:txBody>
      </p:sp>
      <p:sp>
        <p:nvSpPr>
          <p:cNvPr id="565" name="Google Shape;5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 I L E S T O N E  3  ·  M O D E L  A R C H I T E C T U R E  D E S I G 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94360" y="1600200"/>
            <a:ext cx="7955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Bookman Old Style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AI-Powered Driver Wellness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Bookman Old Style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&amp; Safety Monitoring System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301752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Five deep-learning modules — architectures selected, justified and specified end-to-end, converging on a single Risk Fusion Engine that scores driver wellness in real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886200"/>
            <a:ext cx="292608" cy="292608"/>
          </a:xfrm>
          <a:prstGeom prst="ellipse">
            <a:avLst/>
          </a:prstGeom>
          <a:solidFill>
            <a:srgbClr val="C0503E"/>
          </a:solidFill>
          <a:ln cap="flat" cmpd="sng" w="1905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24128" y="3886200"/>
            <a:ext cx="292608" cy="292608"/>
          </a:xfrm>
          <a:prstGeom prst="ellipse">
            <a:avLst/>
          </a:prstGeom>
          <a:solidFill>
            <a:srgbClr val="2E8B70"/>
          </a:solidFill>
          <a:ln cap="flat" cmpd="sng" w="1905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408176" y="3886200"/>
            <a:ext cx="292608" cy="292608"/>
          </a:xfrm>
          <a:prstGeom prst="ellipse">
            <a:avLst/>
          </a:prstGeom>
          <a:solidFill>
            <a:srgbClr val="5F6BB8"/>
          </a:solidFill>
          <a:ln cap="flat" cmpd="sng" w="1905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792224" y="3886200"/>
            <a:ext cx="292608" cy="292608"/>
          </a:xfrm>
          <a:prstGeom prst="ellipse">
            <a:avLst/>
          </a:prstGeom>
          <a:solidFill>
            <a:srgbClr val="A8842C"/>
          </a:solidFill>
          <a:ln cap="flat" cmpd="sng" w="1905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176272" y="3886200"/>
            <a:ext cx="292608" cy="292608"/>
          </a:xfrm>
          <a:prstGeom prst="ellipse">
            <a:avLst/>
          </a:prstGeom>
          <a:solidFill>
            <a:srgbClr val="8E4A9E"/>
          </a:solidFill>
          <a:ln cap="flat" cmpd="sng" w="1905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788920" y="3913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Kushagra · Shiwani · Shubham · Sohini · Ravina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Why Driver Monitoring, Why Now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1417320"/>
            <a:ext cx="3977640" cy="2834640"/>
          </a:xfrm>
          <a:prstGeom prst="roundRect">
            <a:avLst>
              <a:gd fmla="val 1935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77240" y="164592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7240" y="192024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Fatigue and distraction remain leading causes of commercial-fleet road accidents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Fleet platforms (Uber, Ola, Rapido) have no continuous, objective view of driver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A single cabin camera can observe all of it — if the models are cheap enough to run on the edge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703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400"/>
              <a:buFont typeface="Bookman Old Style"/>
              <a:buNone/>
            </a:pPr>
            <a:r>
              <a:rPr b="1" i="1" lang="en-US" sz="14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One camera. Five signals. One score.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09160" y="1417320"/>
            <a:ext cx="3931920" cy="2834640"/>
          </a:xfrm>
          <a:prstGeom prst="roundRect">
            <a:avLst>
              <a:gd fmla="val 1935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983480" y="164592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MILESTONE 3 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83480" y="192024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Select and justify an architecture per module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Fix input / output specifications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Choose loss functions and evaluation metrics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Plan hyperparameters and estimate compute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Design the end-to-end inference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Make the system implementation-ready for M4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OVERALL SYSTEM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Models, One Decision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383280" y="1371600"/>
            <a:ext cx="2377440" cy="384048"/>
          </a:xfrm>
          <a:prstGeom prst="roundRect">
            <a:avLst>
              <a:gd fmla="val 11905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383280" y="13716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Camera  →  Video 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3"/>
          <p:cNvCxnSpPr/>
          <p:nvPr/>
        </p:nvCxnSpPr>
        <p:spPr>
          <a:xfrm>
            <a:off x="4572000" y="1755648"/>
            <a:ext cx="0" cy="256032"/>
          </a:xfrm>
          <a:prstGeom prst="straightConnector1">
            <a:avLst/>
          </a:prstGeom>
          <a:noFill/>
          <a:ln cap="flat" cmpd="sng" w="15875">
            <a:solidFill>
              <a:srgbClr val="12A5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" name="Google Shape;53;p3"/>
          <p:cNvSpPr/>
          <p:nvPr/>
        </p:nvSpPr>
        <p:spPr>
          <a:xfrm>
            <a:off x="457200" y="2011680"/>
            <a:ext cx="1572768" cy="786384"/>
          </a:xfrm>
          <a:prstGeom prst="roundRect">
            <a:avLst>
              <a:gd fmla="val 5814" name="adj"/>
            </a:avLst>
          </a:prstGeom>
          <a:solidFill>
            <a:srgbClr val="16324A"/>
          </a:solidFill>
          <a:ln cap="flat" cmpd="sng" w="15875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30352" y="210312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30352" y="239572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B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F6BB8"/>
                </a:solidFill>
                <a:latin typeface="Courier New"/>
                <a:ea typeface="Courier New"/>
                <a:cs typeface="Courier New"/>
                <a:sym typeface="Courier New"/>
              </a:rPr>
              <a:t>MobileNetV3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157984" y="2011680"/>
            <a:ext cx="1572768" cy="786384"/>
          </a:xfrm>
          <a:prstGeom prst="roundRect">
            <a:avLst>
              <a:gd fmla="val 5814" name="adj"/>
            </a:avLst>
          </a:prstGeom>
          <a:solidFill>
            <a:srgbClr val="16324A"/>
          </a:solidFill>
          <a:ln cap="flat" cmpd="sng" w="15875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2231136" y="210312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231136" y="239572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842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842C"/>
                </a:solidFill>
                <a:latin typeface="Courier New"/>
                <a:ea typeface="Courier New"/>
                <a:cs typeface="Courier New"/>
                <a:sym typeface="Courier New"/>
              </a:rPr>
              <a:t>YOLOv8n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858768" y="2011680"/>
            <a:ext cx="1572768" cy="786384"/>
          </a:xfrm>
          <a:prstGeom prst="roundRect">
            <a:avLst>
              <a:gd fmla="val 5814" name="adj"/>
            </a:avLst>
          </a:prstGeom>
          <a:solidFill>
            <a:srgbClr val="16324A"/>
          </a:solidFill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931920" y="210312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931920" y="239572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E4A9E"/>
                </a:solidFill>
                <a:latin typeface="Courier New"/>
                <a:ea typeface="Courier New"/>
                <a:cs typeface="Courier New"/>
                <a:sym typeface="Courier New"/>
              </a:rPr>
              <a:t>YOLOv8n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559552" y="2011680"/>
            <a:ext cx="1572768" cy="786384"/>
          </a:xfrm>
          <a:prstGeom prst="roundRect">
            <a:avLst>
              <a:gd fmla="val 5814" name="adj"/>
            </a:avLst>
          </a:prstGeom>
          <a:solidFill>
            <a:srgbClr val="16324A"/>
          </a:solidFill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632704" y="210312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632704" y="239572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503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0503E"/>
                </a:solidFill>
                <a:latin typeface="Courier New"/>
                <a:ea typeface="Courier New"/>
                <a:cs typeface="Courier New"/>
                <a:sym typeface="Courier New"/>
              </a:rPr>
              <a:t>CNN-LSTM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260336" y="2011680"/>
            <a:ext cx="1572768" cy="786384"/>
          </a:xfrm>
          <a:prstGeom prst="roundRect">
            <a:avLst>
              <a:gd fmla="val 5814" name="adj"/>
            </a:avLst>
          </a:prstGeom>
          <a:solidFill>
            <a:srgbClr val="16324A"/>
          </a:solidFill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333488" y="210312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33488" y="239572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7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E8B70"/>
                </a:solidFill>
                <a:latin typeface="Courier New"/>
                <a:ea typeface="Courier New"/>
                <a:cs typeface="Courier New"/>
                <a:sym typeface="Courier New"/>
              </a:rPr>
              <a:t>LSTM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4572000" y="2798064"/>
            <a:ext cx="0" cy="274320"/>
          </a:xfrm>
          <a:prstGeom prst="straightConnector1">
            <a:avLst/>
          </a:prstGeom>
          <a:noFill/>
          <a:ln cap="flat" cmpd="sng" w="15875">
            <a:solidFill>
              <a:srgbClr val="12A5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3"/>
          <p:cNvSpPr/>
          <p:nvPr/>
        </p:nvSpPr>
        <p:spPr>
          <a:xfrm>
            <a:off x="3154680" y="3072384"/>
            <a:ext cx="2834640" cy="402336"/>
          </a:xfrm>
          <a:prstGeom prst="roundRect">
            <a:avLst>
              <a:gd fmla="val 11364" name="adj"/>
            </a:avLst>
          </a:prstGeom>
          <a:solidFill>
            <a:srgbClr val="12A594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154680" y="3072384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2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2233"/>
                </a:solidFill>
                <a:latin typeface="Calibri"/>
                <a:ea typeface="Calibri"/>
                <a:cs typeface="Calibri"/>
                <a:sym typeface="Calibri"/>
              </a:rPr>
              <a:t>Risk Fusion Engine  ·  weighted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4572000" y="3474720"/>
            <a:ext cx="0" cy="237744"/>
          </a:xfrm>
          <a:prstGeom prst="straightConnector1">
            <a:avLst/>
          </a:prstGeom>
          <a:noFill/>
          <a:ln cap="flat" cmpd="sng" w="15875">
            <a:solidFill>
              <a:srgbClr val="12A5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3"/>
          <p:cNvSpPr/>
          <p:nvPr/>
        </p:nvSpPr>
        <p:spPr>
          <a:xfrm>
            <a:off x="3383280" y="3712464"/>
            <a:ext cx="2377440" cy="365760"/>
          </a:xfrm>
          <a:prstGeom prst="roundRect">
            <a:avLst>
              <a:gd fmla="val 12500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383280" y="371246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Wellness Score  (0–100)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4572000" y="4078224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12A5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3"/>
          <p:cNvSpPr/>
          <p:nvPr/>
        </p:nvSpPr>
        <p:spPr>
          <a:xfrm>
            <a:off x="2468880" y="42976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Safety Report  →  Uber / Ola / Rapido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TEAM &amp;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Modules, One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234440" y="13716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377440" y="13716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709160" y="1371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126480" y="13716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SELECTED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452360" y="137160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02920" y="1664208"/>
            <a:ext cx="8138160" cy="530352"/>
          </a:xfrm>
          <a:prstGeom prst="roundRect">
            <a:avLst>
              <a:gd fmla="val 10345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58368" y="1764792"/>
            <a:ext cx="329184" cy="329184"/>
          </a:xfrm>
          <a:prstGeom prst="ellipse">
            <a:avLst/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58368" y="17647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234440" y="181051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377440" y="18105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Video-Based Fatigue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09160" y="18105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UTA-RLDD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26480" y="18105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503E"/>
                </a:solidFill>
                <a:latin typeface="Calibri"/>
                <a:ea typeface="Calibri"/>
                <a:cs typeface="Calibri"/>
                <a:sym typeface="Calibri"/>
              </a:rPr>
              <a:t>CNN-LSTM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452360" y="18105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ourier New"/>
                <a:ea typeface="Courier New"/>
                <a:cs typeface="Courier New"/>
                <a:sym typeface="Courier New"/>
              </a:rPr>
              <a:t>(16, 224, 224, 3)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58368" y="2359152"/>
            <a:ext cx="329184" cy="329184"/>
          </a:xfrm>
          <a:prstGeom prst="ellipse">
            <a:avLst/>
          </a:prstGeom>
          <a:solidFill>
            <a:srgbClr val="2E8B70"/>
          </a:solidFill>
          <a:ln cap="flat" cmpd="sng" w="12700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58368" y="23591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34440" y="240487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377440" y="240487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Landmark Temporal Fatigue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09160" y="24048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YawDD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26480" y="240487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7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B70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452360" y="240487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ourier New"/>
                <a:ea typeface="Courier New"/>
                <a:cs typeface="Courier New"/>
                <a:sym typeface="Courier New"/>
              </a:rPr>
              <a:t>(30, 5)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2852928"/>
            <a:ext cx="8138160" cy="530352"/>
          </a:xfrm>
          <a:prstGeom prst="roundRect">
            <a:avLst>
              <a:gd fmla="val 10345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58368" y="2953512"/>
            <a:ext cx="329184" cy="329184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58368" y="29535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234440" y="299923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377440" y="29992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Driver Activity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09160" y="29992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AUC Distracted Driver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126480" y="299923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6BB8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452360" y="299923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ourier New"/>
                <a:ea typeface="Courier New"/>
                <a:cs typeface="Courier New"/>
                <a:sym typeface="Courier New"/>
              </a:rPr>
              <a:t>(224, 224, 3)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8368" y="3547872"/>
            <a:ext cx="329184" cy="329184"/>
          </a:xfrm>
          <a:prstGeom prst="ellipse">
            <a:avLst/>
          </a:prstGeom>
          <a:solidFill>
            <a:srgbClr val="A8842C"/>
          </a:solidFill>
          <a:ln cap="flat" cmpd="sng" w="12700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58368" y="35478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234440" y="359359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377440" y="35935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Seat Belt &amp; Phone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09160" y="35935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DMS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26480" y="359359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4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842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452360" y="359359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ourier New"/>
                <a:ea typeface="Courier New"/>
                <a:cs typeface="Courier New"/>
                <a:sym typeface="Courier New"/>
              </a:rPr>
              <a:t>640 × 640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4041648"/>
            <a:ext cx="8138160" cy="530352"/>
          </a:xfrm>
          <a:prstGeom prst="roundRect">
            <a:avLst>
              <a:gd fmla="val 10345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58368" y="4142232"/>
            <a:ext cx="329184" cy="329184"/>
          </a:xfrm>
          <a:prstGeom prst="ellipse">
            <a:avLst/>
          </a:prstGeom>
          <a:solidFill>
            <a:srgbClr val="8E4A9E"/>
          </a:solidFill>
          <a:ln cap="flat" cmpd="sng" w="12700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58368" y="41422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234440" y="418795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377440" y="41879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Smoking &amp; Drinking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09160" y="41879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Merged YOLO 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26480" y="4187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E4A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452360" y="418795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ourier New"/>
                <a:ea typeface="Courier New"/>
                <a:cs typeface="Courier New"/>
                <a:sym typeface="Courier New"/>
              </a:rPr>
              <a:t>640 × 640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SHARED METHODOLOGY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How Every Architecture Was Chosen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54220" y="1421890"/>
            <a:ext cx="1518000" cy="2331600"/>
          </a:xfrm>
          <a:prstGeom prst="roundRect">
            <a:avLst>
              <a:gd fmla="val 36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18812" y="1586482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18812" y="2016250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Candidate 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18812" y="2519170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2–4 architectures shortlisted per task from current literature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786984" y="1421940"/>
            <a:ext cx="1518000" cy="2331600"/>
          </a:xfrm>
          <a:prstGeom prst="roundRect">
            <a:avLst>
              <a:gd fmla="val 36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951576" y="1645957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910588" y="2052825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Constraint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910576" y="2633320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Real-time latency, edge memory, and dataset size applied as hard filters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837547" y="1421940"/>
            <a:ext cx="1518000" cy="2331600"/>
          </a:xfrm>
          <a:prstGeom prst="roundRect">
            <a:avLst>
              <a:gd fmla="val 36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919827" y="1636832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964902" y="2052813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919814" y="2633320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Baseline runs or published behaviour compared on the module's own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723274" y="1421940"/>
            <a:ext cx="1518000" cy="2331600"/>
          </a:xfrm>
          <a:prstGeom prst="roundRect">
            <a:avLst>
              <a:gd fmla="val 36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6942841" y="1627682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b="1" lang="en-US" sz="2200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942841" y="2057450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Full spec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942841" y="2560370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I/O shape, loss, metrics, hyperparameters and compute recorded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2920" y="3950208"/>
            <a:ext cx="8138160" cy="566928"/>
          </a:xfrm>
          <a:prstGeom prst="roundRect">
            <a:avLst>
              <a:gd fmla="val 9677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731520" y="395020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Shared across all five modules(Except Fatigue Det</a:t>
            </a:r>
            <a:r>
              <a:rPr lang="en-US" sz="1100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ection)</a:t>
            </a: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:  PyTorch / Ultralytics  ·  Adam or AdamW  ·  LR 1e-4 – 1e-3  ·  30–50 epochs  ·  best-checkpoint saving  ·  early stopping (patience 5–10)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MODULE 1 · VIDEO-BASED FATIGUE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2920" y="1051560"/>
            <a:ext cx="658368" cy="658368"/>
          </a:xfrm>
          <a:prstGeom prst="ellipse">
            <a:avLst/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02920" y="105156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298448" y="107899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Kushagra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2920" y="1920240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Fatigue is a temporal condition — a single frame cannot separate a tired driver from one who is blinking or talking. The module therefore classifies 16-frame clips, not images.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02920" y="28803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02920" y="30906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CNN-LSTM  ·  CNN-GRU  ·  TCN  ·  Lightweight 3D CNN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" y="3474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" y="3675888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502920" y="367588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CNN-LSTM      ·      input (16, 224, 224, 3)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800600" y="735950"/>
            <a:ext cx="3840600" cy="3424500"/>
          </a:xfrm>
          <a:prstGeom prst="roundRect">
            <a:avLst>
              <a:gd fmla="val 1765" name="adj"/>
            </a:avLst>
          </a:prstGeom>
          <a:solidFill>
            <a:srgbClr val="16324A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074958" y="94196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WHY CNN-LSTM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074925" y="1205000"/>
            <a:ext cx="32919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Best long-range temporal learning of the three sequence models tried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Best overall performance among evaluated architectures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074920" y="288036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074920" y="310896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Classes  : Safe · Caution · High 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Loss     : CrossEntropyLoss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Metrics  : Acc · P · R · F1 · CM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Optim    : Adam · </a:t>
            </a:r>
            <a:r>
              <a:rPr lang="en-US" sz="950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1e-4</a:t>
            </a: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 · </a:t>
            </a:r>
            <a:r>
              <a:rPr lang="en-US" sz="950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 · </a:t>
            </a:r>
            <a:r>
              <a:rPr lang="en-US" sz="950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 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503E"/>
                </a:solidFill>
                <a:latin typeface="Calibri"/>
                <a:ea typeface="Calibri"/>
                <a:cs typeface="Calibri"/>
                <a:sym typeface="Calibri"/>
              </a:rPr>
              <a:t>MODULE 1 ·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CNN Encoder → LSTM → Softmax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2920" y="1463040"/>
            <a:ext cx="3108960" cy="438912"/>
          </a:xfrm>
          <a:prstGeom prst="roundRect">
            <a:avLst>
              <a:gd fmla="val 1041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02920" y="1463040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Input video → frame sampling @ 5 FPS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2057400" y="1901952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7"/>
          <p:cNvSpPr/>
          <p:nvPr/>
        </p:nvSpPr>
        <p:spPr>
          <a:xfrm>
            <a:off x="502920" y="2121408"/>
            <a:ext cx="3108960" cy="438912"/>
          </a:xfrm>
          <a:prstGeom prst="roundRect">
            <a:avLst>
              <a:gd fmla="val 1041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02920" y="212140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Sequence generation · 16 frames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>
            <a:off x="2057400" y="2560320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7"/>
          <p:cNvSpPr/>
          <p:nvPr/>
        </p:nvSpPr>
        <p:spPr>
          <a:xfrm>
            <a:off x="502920" y="2779776"/>
            <a:ext cx="3108960" cy="1417320"/>
          </a:xfrm>
          <a:prstGeom prst="roundRect">
            <a:avLst>
              <a:gd fmla="val 3871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13232" y="2926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CNN FEATURE ENCODER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13232" y="3154680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CE7EE"/>
                </a:solidFill>
                <a:latin typeface="Courier New"/>
                <a:ea typeface="Courier New"/>
                <a:cs typeface="Courier New"/>
                <a:sym typeface="Courier New"/>
              </a:rPr>
              <a:t>Conv2D 3→32   ReLU  MaxPool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CE7EE"/>
                </a:solidFill>
                <a:latin typeface="Courier New"/>
                <a:ea typeface="Courier New"/>
                <a:cs typeface="Courier New"/>
                <a:sym typeface="Courier New"/>
              </a:rPr>
              <a:t>Conv2D 32→64  ReLU  MaxPool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CE7EE"/>
                </a:solidFill>
                <a:latin typeface="Courier New"/>
                <a:ea typeface="Courier New"/>
                <a:cs typeface="Courier New"/>
                <a:sym typeface="Courier New"/>
              </a:rPr>
              <a:t>Conv2D 64→128 ReLU  MaxPool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CE7EE"/>
                </a:solidFill>
                <a:latin typeface="Courier New"/>
                <a:ea typeface="Courier New"/>
                <a:cs typeface="Courier New"/>
                <a:sym typeface="Courier New"/>
              </a:rPr>
              <a:t>Conv2D 128→256 AdaptiveAvgPool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7"/>
          <p:cNvCxnSpPr/>
          <p:nvPr/>
        </p:nvCxnSpPr>
        <p:spPr>
          <a:xfrm>
            <a:off x="3611880" y="3474720"/>
            <a:ext cx="502920" cy="0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7"/>
          <p:cNvSpPr/>
          <p:nvPr/>
        </p:nvSpPr>
        <p:spPr>
          <a:xfrm>
            <a:off x="4251960" y="1463040"/>
            <a:ext cx="4389120" cy="438912"/>
          </a:xfrm>
          <a:prstGeom prst="roundRect">
            <a:avLst>
              <a:gd fmla="val 1041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251960" y="1463040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256-D feature vector per frame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7"/>
          <p:cNvCxnSpPr/>
          <p:nvPr/>
        </p:nvCxnSpPr>
        <p:spPr>
          <a:xfrm>
            <a:off x="6446520" y="1901952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7"/>
          <p:cNvSpPr/>
          <p:nvPr/>
        </p:nvSpPr>
        <p:spPr>
          <a:xfrm>
            <a:off x="4251960" y="2121408"/>
            <a:ext cx="4389120" cy="438912"/>
          </a:xfrm>
          <a:prstGeom prst="roundRect">
            <a:avLst>
              <a:gd fmla="val 1041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251960" y="2121408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LSTM · hidden size 128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7"/>
          <p:cNvCxnSpPr/>
          <p:nvPr/>
        </p:nvCxnSpPr>
        <p:spPr>
          <a:xfrm>
            <a:off x="6446520" y="2560320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p7"/>
          <p:cNvSpPr/>
          <p:nvPr/>
        </p:nvSpPr>
        <p:spPr>
          <a:xfrm>
            <a:off x="4251960" y="2779776"/>
            <a:ext cx="4389120" cy="438912"/>
          </a:xfrm>
          <a:prstGeom prst="roundRect">
            <a:avLst>
              <a:gd fmla="val 1041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251960" y="2779776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Final hidden state → Dropout 0.30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6446520" y="3218688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7"/>
          <p:cNvSpPr/>
          <p:nvPr/>
        </p:nvSpPr>
        <p:spPr>
          <a:xfrm>
            <a:off x="4251960" y="3438144"/>
            <a:ext cx="4389120" cy="438912"/>
          </a:xfrm>
          <a:prstGeom prst="roundRect">
            <a:avLst>
              <a:gd fmla="val 1041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251960" y="3438144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Fully connected 128 →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7"/>
          <p:cNvCxnSpPr/>
          <p:nvPr/>
        </p:nvCxnSpPr>
        <p:spPr>
          <a:xfrm>
            <a:off x="6446520" y="3877056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C0503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7"/>
          <p:cNvSpPr/>
          <p:nvPr/>
        </p:nvSpPr>
        <p:spPr>
          <a:xfrm>
            <a:off x="4251960" y="4096512"/>
            <a:ext cx="1408176" cy="384048"/>
          </a:xfrm>
          <a:prstGeom prst="roundRect">
            <a:avLst>
              <a:gd fmla="val 11905" name="adj"/>
            </a:avLst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251960" y="4096512"/>
            <a:ext cx="14081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742432" y="4096512"/>
            <a:ext cx="1408176" cy="384048"/>
          </a:xfrm>
          <a:prstGeom prst="roundRect">
            <a:avLst>
              <a:gd fmla="val 11905" name="adj"/>
            </a:avLst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742432" y="4096512"/>
            <a:ext cx="14081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232904" y="4096512"/>
            <a:ext cx="1408176" cy="384048"/>
          </a:xfrm>
          <a:prstGeom prst="roundRect">
            <a:avLst>
              <a:gd fmla="val 11905" name="adj"/>
            </a:avLst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7232904" y="4096512"/>
            <a:ext cx="14081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MODULE 2 · LANDMARK-BASED FATIGUE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02920" y="1051560"/>
            <a:ext cx="658368" cy="658368"/>
          </a:xfrm>
          <a:prstGeom prst="ellipse">
            <a:avLst/>
          </a:prstGeom>
          <a:solidFill>
            <a:srgbClr val="2E8B70"/>
          </a:solidFill>
          <a:ln cap="flat" cmpd="sng" w="12700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02920" y="105156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298448" y="107899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Shiwani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02920" y="1920240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Instead of raw pixels, this module reads five interpretable geometric signals per frame — the same evidence a human observer would use to say someone looks drowsy.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28803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02920" y="30906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 ·  GRU  ·  TCN  ·  MLP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02920" y="3474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02920" y="3675888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02920" y="367588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     ·      input (30, 5)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800600" y="1051560"/>
            <a:ext cx="3840480" cy="3108960"/>
          </a:xfrm>
          <a:prstGeom prst="roundRect">
            <a:avLst>
              <a:gd fmla="val 1765" name="adj"/>
            </a:avLst>
          </a:prstGeom>
          <a:solidFill>
            <a:srgbClr val="16324A"/>
          </a:solidFill>
          <a:ln cap="flat" cmpd="sng" w="12700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074920" y="1170435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WHY LSTM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074925" y="1471875"/>
            <a:ext cx="32919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EAR, MAR and head pose evolve over seconds, not frames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Outperformed MLP, GRU and TCN on long-range dependency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Tiny input tensor — cheapest module in the whole 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074920" y="288036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074920" y="310896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Features : EAR MAR Pitch Yaw Roll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Classes  : Alert · Mild · Drowsy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Loss     : CrossEntropyLoss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Optim    : lr 0.001 · bs 32 · 30 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7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B70"/>
                </a:solidFill>
                <a:latin typeface="Calibri"/>
                <a:ea typeface="Calibri"/>
                <a:cs typeface="Calibri"/>
                <a:sym typeface="Calibri"/>
              </a:rPr>
              <a:t>MODULE 2 · FEATURE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From Face Landmarks to Fatigue Class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02920" y="1508760"/>
            <a:ext cx="1463040" cy="685800"/>
          </a:xfrm>
          <a:prstGeom prst="roundRect">
            <a:avLst>
              <a:gd fmla="val 666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02920" y="1508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YawDD videos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9"/>
          <p:cNvCxnSpPr/>
          <p:nvPr/>
        </p:nvCxnSpPr>
        <p:spPr>
          <a:xfrm>
            <a:off x="1965960" y="1847088"/>
            <a:ext cx="137160" cy="0"/>
          </a:xfrm>
          <a:prstGeom prst="straightConnector1">
            <a:avLst/>
          </a:prstGeom>
          <a:noFill/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9"/>
          <p:cNvSpPr/>
          <p:nvPr/>
        </p:nvSpPr>
        <p:spPr>
          <a:xfrm>
            <a:off x="2103120" y="1508760"/>
            <a:ext cx="1463040" cy="685800"/>
          </a:xfrm>
          <a:prstGeom prst="roundRect">
            <a:avLst>
              <a:gd fmla="val 666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2103120" y="1508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MediaPipe Face Landmarker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9"/>
          <p:cNvCxnSpPr/>
          <p:nvPr/>
        </p:nvCxnSpPr>
        <p:spPr>
          <a:xfrm>
            <a:off x="3566160" y="1847088"/>
            <a:ext cx="137160" cy="0"/>
          </a:xfrm>
          <a:prstGeom prst="straightConnector1">
            <a:avLst/>
          </a:prstGeom>
          <a:noFill/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9"/>
          <p:cNvSpPr/>
          <p:nvPr/>
        </p:nvSpPr>
        <p:spPr>
          <a:xfrm>
            <a:off x="3703320" y="1508760"/>
            <a:ext cx="1463040" cy="685800"/>
          </a:xfrm>
          <a:prstGeom prst="roundRect">
            <a:avLst>
              <a:gd fmla="val 6667" name="adj"/>
            </a:avLst>
          </a:prstGeom>
          <a:solidFill>
            <a:srgbClr val="2E8B70"/>
          </a:solidFill>
          <a:ln cap="flat" cmpd="sng" w="12700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3703320" y="1508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 · MAR · Pitch · Yaw · Roll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9"/>
          <p:cNvCxnSpPr/>
          <p:nvPr/>
        </p:nvCxnSpPr>
        <p:spPr>
          <a:xfrm>
            <a:off x="5166360" y="1847088"/>
            <a:ext cx="137160" cy="0"/>
          </a:xfrm>
          <a:prstGeom prst="straightConnector1">
            <a:avLst/>
          </a:prstGeom>
          <a:noFill/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" name="Google Shape;254;p9"/>
          <p:cNvSpPr/>
          <p:nvPr/>
        </p:nvSpPr>
        <p:spPr>
          <a:xfrm>
            <a:off x="5303520" y="1508760"/>
            <a:ext cx="1463040" cy="685800"/>
          </a:xfrm>
          <a:prstGeom prst="roundRect">
            <a:avLst>
              <a:gd fmla="val 666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5303520" y="1508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Cleaning &amp; normalization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9"/>
          <p:cNvCxnSpPr/>
          <p:nvPr/>
        </p:nvCxnSpPr>
        <p:spPr>
          <a:xfrm>
            <a:off x="6766560" y="1847088"/>
            <a:ext cx="137160" cy="0"/>
          </a:xfrm>
          <a:prstGeom prst="straightConnector1">
            <a:avLst/>
          </a:prstGeom>
          <a:noFill/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9"/>
          <p:cNvSpPr/>
          <p:nvPr/>
        </p:nvSpPr>
        <p:spPr>
          <a:xfrm>
            <a:off x="6903720" y="1508760"/>
            <a:ext cx="1463040" cy="685800"/>
          </a:xfrm>
          <a:prstGeom prst="roundRect">
            <a:avLst>
              <a:gd fmla="val 666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903720" y="1508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Sliding window · 30 frames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9"/>
          <p:cNvCxnSpPr/>
          <p:nvPr/>
        </p:nvCxnSpPr>
        <p:spPr>
          <a:xfrm>
            <a:off x="4572000" y="2194560"/>
            <a:ext cx="0" cy="274320"/>
          </a:xfrm>
          <a:prstGeom prst="straightConnector1">
            <a:avLst/>
          </a:prstGeom>
          <a:noFill/>
          <a:ln cap="flat" cmpd="sng" w="15875">
            <a:solidFill>
              <a:srgbClr val="2E8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9"/>
          <p:cNvSpPr/>
          <p:nvPr/>
        </p:nvSpPr>
        <p:spPr>
          <a:xfrm>
            <a:off x="502920" y="2487168"/>
            <a:ext cx="3977640" cy="1691640"/>
          </a:xfrm>
          <a:prstGeom prst="roundRect">
            <a:avLst>
              <a:gd fmla="val 3243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77240" y="267004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7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8B70"/>
                </a:solidFill>
                <a:latin typeface="Calibri"/>
                <a:ea typeface="Calibri"/>
                <a:cs typeface="Calibri"/>
                <a:sym typeface="Calibri"/>
              </a:rPr>
              <a:t>MODEL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77240" y="2907792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MLP · LSTM · GRU · TCN trained on identical windows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Hyperparameter tuning on the validation split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LSTM retained as the best temporal fit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709160" y="2487168"/>
            <a:ext cx="3931920" cy="1691640"/>
          </a:xfrm>
          <a:prstGeom prst="roundRect">
            <a:avLst>
              <a:gd fmla="val 3243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983480" y="267004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LEAKAGE CONTROL (CARRIED FROM M2)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983480" y="2907792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Subject-wise split — one subject never spans two splits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Every 30-frame window stays inside its native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Z-score statistics computed on training data alone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MODULE 3 · DRIVER ACTIVITY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02920" y="1051560"/>
            <a:ext cx="658368" cy="658368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502920" y="105156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298448" y="107899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Shubham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02920" y="1920240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Five-way image classification of what the driver's hands and gaze are doing: safe driving, texting, talking on the phone, turning, or other activity.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02920" y="28346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02920" y="304495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  ·  ResNet50  ·  EfficientNet-B0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02920" y="345643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02920" y="3657600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502920" y="365760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      ·      input 224 × 224 ×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800600" y="1051560"/>
            <a:ext cx="3840480" cy="3063240"/>
          </a:xfrm>
          <a:prstGeom prst="roundRect">
            <a:avLst>
              <a:gd fmla="val 1791" name="adj"/>
            </a:avLst>
          </a:prstGeom>
          <a:solidFill>
            <a:srgbClr val="16324A"/>
          </a:solidFill>
          <a:ln cap="flat" cmpd="sng" w="12700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5074920" y="1172897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THE DELIBERATE TRADE-OFF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074920" y="1374203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EfficientNet-B0 was the most accurate candidate at 93.98%. MobileNetV3 was still selected.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074920" y="205740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Depthwise-separable blocks, SE modules, NAS-tuned — far fewer 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Target hardware is Raspberry Pi / Jetson Nano, not a data-centre GPU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~12.5 ms per image keeps the whole five-model stack real-time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A ~4-point accuracy gap costs less than missing the latency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F6BB8"/>
                </a:solidFill>
                <a:latin typeface="Calibri"/>
                <a:ea typeface="Calibri"/>
                <a:cs typeface="Calibri"/>
                <a:sym typeface="Calibri"/>
              </a:rPr>
              <a:t>MODULE 3 · BASELINES &amp; 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Only Module With Numbers Yet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02920" y="14173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BASELINE · IMAGENET-PRETRAINED, CANDIDATE SUBSET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48640" y="16642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377440" y="16642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3383280" y="166420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02920" y="1901952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48640" y="19019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MobileNetV3 (15 ep)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2377440" y="190195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89.35%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383280" y="190195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89.39%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48640" y="232257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ResNet50 (10 ep)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2377440" y="2322576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92.13%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383280" y="2322576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92.14%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502920" y="2743200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48640" y="27432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EfficientNet-B0 (10 ep)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377440" y="274320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93.98%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383280" y="274320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93.98%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02920" y="324612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Adam · lr 0.001 · batch 32 · identical stratified subset (4,200 images) for every candidate.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p11"/>
          <p:cNvGraphicFramePr/>
          <p:nvPr/>
        </p:nvGraphicFramePr>
        <p:xfrm>
          <a:off x="4343400" y="1371600"/>
          <a:ext cx="4297680" cy="2468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13" name="Google Shape;313;p11"/>
          <p:cNvSpPr/>
          <p:nvPr/>
        </p:nvSpPr>
        <p:spPr>
          <a:xfrm>
            <a:off x="4343400" y="3950208"/>
            <a:ext cx="4297680" cy="566928"/>
          </a:xfrm>
          <a:prstGeom prst="roundRect">
            <a:avLst>
              <a:gd fmla="val 9677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526280" y="3950208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 M4 configuration:  Adam  ·  lr 0.0005  ·  batch 32  →  90.74%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02920" y="3950208"/>
            <a:ext cx="3611880" cy="566928"/>
          </a:xfrm>
          <a:prstGeom prst="roundRect">
            <a:avLst>
              <a:gd fmla="val 9677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85800" y="3950208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Large batches destabilised training; SGD converged far too slowly.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MODULE 4 · SEAT BELT &amp; PHONE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02920" y="1051560"/>
            <a:ext cx="658368" cy="658368"/>
          </a:xfrm>
          <a:prstGeom prst="ellipse">
            <a:avLst/>
          </a:prstGeom>
          <a:solidFill>
            <a:srgbClr val="A8842C"/>
          </a:solidFill>
          <a:ln cap="flat" cmpd="sng" w="12700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502920" y="105156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298448" y="107899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Sohini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02920" y="1920240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Compliance is a localisation problem, not a classification one — the system must say where the belt and the phone are, not merely whether the scene looks unsafe.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02920" y="28803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02920" y="30906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  ·  YOLO11n  ·  YOLOv8s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02920" y="3474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02920" y="3675888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502920" y="367588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      ·      640 × 640      ·      2 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800600" y="1051560"/>
            <a:ext cx="3840480" cy="1417320"/>
          </a:xfrm>
          <a:prstGeom prst="roundRect">
            <a:avLst>
              <a:gd fmla="val 3871" name="adj"/>
            </a:avLst>
          </a:prstGeom>
          <a:solidFill>
            <a:srgbClr val="16324A"/>
          </a:solidFill>
          <a:ln cap="flat" cmpd="sng" w="12700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5074920" y="12344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DETECTOR ANATOMY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074920" y="14813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CSP backbone  →  PAN-FPN neck  →  anchor-free 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074920" y="18105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Loss = Box loss + Classification loss + Distribution Focal Loss (DFL).  Metrics: mAP@50, mAP@50-95, Precision, Recall.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800600" y="2651760"/>
            <a:ext cx="3840480" cy="1508760"/>
          </a:xfrm>
          <a:prstGeom prst="roundRect">
            <a:avLst>
              <a:gd fmla="val 3636" name="adj"/>
            </a:avLst>
          </a:prstGeom>
          <a:solidFill>
            <a:srgbClr val="16324A"/>
          </a:solidFill>
          <a:ln cap="flat" cmpd="sng" w="12700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5074883" y="2665403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WHY THE NANO VARIANT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074925" y="2907775"/>
            <a:ext cx="343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Fastest of the three on Jetson / Raspberry Pi class hardware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~12.5 ms per image, 4 GB GPU minimum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Accuracy loss vs YOLOv8s is small on two large, well-separated classes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MODULE 5 · SMOKING &amp; DRINKING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02920" y="1051560"/>
            <a:ext cx="658368" cy="658368"/>
          </a:xfrm>
          <a:prstGeom prst="ellipse">
            <a:avLst/>
          </a:prstGeom>
          <a:solidFill>
            <a:srgbClr val="8E4A9E"/>
          </a:solidFill>
          <a:ln cap="flat" cmpd="sng" w="12700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502920" y="105156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298448" y="107899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Ravina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02920" y="1920240"/>
            <a:ext cx="3977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Localise and classify two unsafe behaviours live, so a downstream rule can raise a driver alert. Three Ultralytics detectors were fine-tuned under identical conditions to isolate two variables: generation and capacity.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02920" y="29260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02920" y="31363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  ·  YOLO11n  ·  YOLOv8s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02920" y="35204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02920" y="3721608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502920" y="372160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YOLOv8n      ·      640 × 640      ·      2 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800600" y="1051560"/>
            <a:ext cx="3840480" cy="1481328"/>
          </a:xfrm>
          <a:prstGeom prst="roundRect">
            <a:avLst>
              <a:gd fmla="val 3704" name="adj"/>
            </a:avLst>
          </a:prstGeom>
          <a:solidFill>
            <a:srgbClr val="16324A"/>
          </a:solidFill>
          <a:ln cap="flat" cmpd="sng" w="12700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5074920" y="112929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THREE DETECTORS, ONE TOOLCHAIN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074883" y="1197853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YOLOv8n   3.01 M par ·  8.2 GFLOPs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YOLO11n   2.59 M par ·  6.4 GFLOPs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4D3DC"/>
                </a:solidFill>
                <a:latin typeface="Courier New"/>
                <a:ea typeface="Courier New"/>
                <a:cs typeface="Courier New"/>
                <a:sym typeface="Courier New"/>
              </a:rPr>
              <a:t>YOLOv8s  11.13 M par · 28.4 GFLOPs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5074920" y="207350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Ultralytics ships v8 and v11 in one library — architecture effects are isolated from framework differences.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800600" y="2670048"/>
            <a:ext cx="3840480" cy="1508760"/>
          </a:xfrm>
          <a:prstGeom prst="roundRect">
            <a:avLst>
              <a:gd fmla="val 3636" name="adj"/>
            </a:avLst>
          </a:prstGeom>
          <a:solidFill>
            <a:srgbClr val="16324A"/>
          </a:solidFill>
          <a:ln cap="flat" cmpd="sng" w="12700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5074920" y="2697453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WHY THIS FAMILY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860850" y="2958250"/>
            <a:ext cx="38406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Single forward pass — real-time on edge GPUs, unlike Faster R-CNN or DETR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Anchor-free + DFL head copes with a thin cigarette and a tall bottle alike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COCO-pretrained backbone, head re-initialised to nc =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E4A9E"/>
                </a:solidFill>
                <a:latin typeface="Calibri"/>
                <a:ea typeface="Calibri"/>
                <a:cs typeface="Calibri"/>
                <a:sym typeface="Calibri"/>
              </a:rPr>
              <a:t>MODULE 5 · CANDIDATE SUBSET &amp; BASELINES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Fair Proxy, Then a Fair Fight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02920" y="137160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CANDIDATE SUBSET VS FULL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48640" y="16002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600200" y="160020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2468880" y="16002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BOXES / IMG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474720" y="160020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02920" y="1828800"/>
            <a:ext cx="3794760" cy="365760"/>
          </a:xfrm>
          <a:prstGeom prst="roundRect">
            <a:avLst>
              <a:gd fmla="val 15000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48640" y="182880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Full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600200" y="182880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9,625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2468880" y="18288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1.180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474720" y="18288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48.2%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48640" y="2231136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Candidate subset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600200" y="2231136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3,110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2468880" y="223113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1.175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3474720" y="2231136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47.9%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02920" y="2697480"/>
            <a:ext cx="3794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Stratified by dominant class; sampled inside existing train/val/test folders — no cross-split leakage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30% of train, 60% of val/test → 2,665 / 222 / 223 images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Mean boxes per image differ by 0.005; class proportions by under half a 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02920" y="3931920"/>
            <a:ext cx="3794760" cy="566928"/>
          </a:xfrm>
          <a:prstGeom prst="roundRect">
            <a:avLst>
              <a:gd fmla="val 9677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685800" y="393192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Colab · Tesla T4 · Ultralytics 8.4.96 · PyTorch 2.11 + CUDA 12.8 · seed 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572000" y="1371600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BASELINE · DEFAULT CONFIG, 30 EPOCHS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617720" y="16002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897880" y="160020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6537960" y="160020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mAP@50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7909560" y="160020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mAP@50-95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572000" y="1828800"/>
            <a:ext cx="4069080" cy="402336"/>
          </a:xfrm>
          <a:prstGeom prst="roundRect">
            <a:avLst>
              <a:gd fmla="val 13636" name="adj"/>
            </a:avLst>
          </a:prstGeom>
          <a:solidFill>
            <a:srgbClr val="EDE4F1"/>
          </a:solidFill>
          <a:ln cap="flat" cmpd="sng" w="12700">
            <a:solidFill>
              <a:srgbClr val="EDE4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4617720" y="1828800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E4A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897880" y="1828800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0.7678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6537960" y="1828800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0.7129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7178040" y="1828800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0.7476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7909560" y="1828800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0.3441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572000" y="2267712"/>
            <a:ext cx="4069080" cy="402336"/>
          </a:xfrm>
          <a:prstGeom prst="roundRect">
            <a:avLst>
              <a:gd fmla="val 13636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4617720" y="2267712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YOLO11n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897880" y="2267712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0.7208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537960" y="2267712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0.7143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7178040" y="226771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0.7606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7909560" y="2267712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0.3340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4572000" y="2706624"/>
            <a:ext cx="4069080" cy="402336"/>
          </a:xfrm>
          <a:prstGeom prst="roundRect">
            <a:avLst>
              <a:gd fmla="val 13636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4617720" y="270662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YOLOv8s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5897880" y="2706624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0.7393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537960" y="2706624"/>
            <a:ext cx="548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0.7118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7178040" y="2706624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0.7403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7909560" y="2706624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0.3346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572000" y="320040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E4A9E"/>
                </a:solidFill>
                <a:latin typeface="Calibri"/>
                <a:ea typeface="Calibri"/>
                <a:cs typeface="Calibri"/>
                <a:sym typeface="Calibri"/>
              </a:rPr>
              <a:t>Selected on the strict metric: YOLOv8n at 0.3441 mAP@50-95.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572000" y="3493008"/>
            <a:ext cx="4069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AdamW auto-selected (lr ≈ 0.001667); mosaic closed for the final 10 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COCO has no smoking or drinking class, so default-config fine-tuning — not the raw pretrained model — is the correct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MODULE 5 · WHAT THE BASELINE SAYS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Capacity Did Not Buy Accuracy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502920" y="1371600"/>
            <a:ext cx="2560320" cy="1417320"/>
          </a:xfrm>
          <a:prstGeom prst="roundRect">
            <a:avLst>
              <a:gd fmla="val 3871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704088" y="150876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8E4A9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704088" y="1993392"/>
            <a:ext cx="21579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the parameters and compute in YOLOv8s bought no accuracy — it ties YOLO11n and trails YOLOv8n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3246120" y="1371600"/>
            <a:ext cx="2560320" cy="1417320"/>
          </a:xfrm>
          <a:prstGeom prst="roundRect">
            <a:avLst>
              <a:gd fmla="val 3871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3447288" y="150876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8E4A9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0.76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3447288" y="1993392"/>
            <a:ext cx="21579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mAP@50 for YOLO11n, the best on the loose metric, while YOLOv8n leads on Precision and mAP@50-95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989320" y="1371600"/>
            <a:ext cx="2560320" cy="1417320"/>
          </a:xfrm>
          <a:prstGeom prst="roundRect">
            <a:avLst>
              <a:gd fmla="val 3871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6190488" y="150876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2600"/>
              <a:buFont typeface="Bookman Old Style"/>
              <a:buNone/>
            </a:pPr>
            <a:r>
              <a:rPr b="1" i="0" lang="en-US" sz="2600" u="none" cap="none" strike="noStrike">
                <a:solidFill>
                  <a:srgbClr val="8E4A9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~0.05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6190488" y="1993392"/>
            <a:ext cx="21579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the gap by which Recall trails Precision across all three models — small cigarettes are occasionally missed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02920" y="29718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END-TO-END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02920" y="3200400"/>
            <a:ext cx="155448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502920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Letterbox 640²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15"/>
          <p:cNvCxnSpPr/>
          <p:nvPr/>
        </p:nvCxnSpPr>
        <p:spPr>
          <a:xfrm>
            <a:off x="2057400" y="3429000"/>
            <a:ext cx="91440" cy="0"/>
          </a:xfrm>
          <a:prstGeom prst="straightConnector1">
            <a:avLst/>
          </a:prstGeom>
          <a:noFill/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9" name="Google Shape;439;p15"/>
          <p:cNvSpPr/>
          <p:nvPr/>
        </p:nvSpPr>
        <p:spPr>
          <a:xfrm>
            <a:off x="2148840" y="3200400"/>
            <a:ext cx="155448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2148840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CSP backbone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15"/>
          <p:cNvCxnSpPr/>
          <p:nvPr/>
        </p:nvCxnSpPr>
        <p:spPr>
          <a:xfrm>
            <a:off x="3703320" y="3429000"/>
            <a:ext cx="91440" cy="0"/>
          </a:xfrm>
          <a:prstGeom prst="straightConnector1">
            <a:avLst/>
          </a:prstGeom>
          <a:noFill/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5"/>
          <p:cNvSpPr/>
          <p:nvPr/>
        </p:nvSpPr>
        <p:spPr>
          <a:xfrm>
            <a:off x="3794760" y="3200400"/>
            <a:ext cx="155448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3794760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PAN-FPN neck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15"/>
          <p:cNvCxnSpPr/>
          <p:nvPr/>
        </p:nvCxnSpPr>
        <p:spPr>
          <a:xfrm>
            <a:off x="5349240" y="3429000"/>
            <a:ext cx="91440" cy="0"/>
          </a:xfrm>
          <a:prstGeom prst="straightConnector1">
            <a:avLst/>
          </a:prstGeom>
          <a:noFill/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5" name="Google Shape;445;p15"/>
          <p:cNvSpPr/>
          <p:nvPr/>
        </p:nvSpPr>
        <p:spPr>
          <a:xfrm>
            <a:off x="5440680" y="3200400"/>
            <a:ext cx="155448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5440680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Anchor-free DFL head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15"/>
          <p:cNvCxnSpPr/>
          <p:nvPr/>
        </p:nvCxnSpPr>
        <p:spPr>
          <a:xfrm>
            <a:off x="6995160" y="3429000"/>
            <a:ext cx="91440" cy="0"/>
          </a:xfrm>
          <a:prstGeom prst="straightConnector1">
            <a:avLst/>
          </a:prstGeom>
          <a:noFill/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8" name="Google Shape;448;p15"/>
          <p:cNvSpPr/>
          <p:nvPr/>
        </p:nvSpPr>
        <p:spPr>
          <a:xfrm>
            <a:off x="7086600" y="3200400"/>
            <a:ext cx="1554480" cy="457200"/>
          </a:xfrm>
          <a:prstGeom prst="roundRect">
            <a:avLst>
              <a:gd fmla="val 10000" name="adj"/>
            </a:avLst>
          </a:prstGeom>
          <a:solidFill>
            <a:srgbClr val="16324A"/>
          </a:solidFill>
          <a:ln cap="flat" cmpd="sng" w="15875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7086600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NMS → alert rule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502920" y="37673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Loss = CIoU (box) + BCE (class) + DFL (distribution).  Val fold drives selection; the test fold stays held out.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Open for M4:  retrain YOLOv8n on the full 9,625-image set with a longer schedule, target the Recall gap on small objects, and re-check the YOLOv8s accuracy-vs-latency trade-off against the real deployment hardware.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MODEL COMPARISON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Was Chosen, and Why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48640" y="1371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1965960" y="137160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4160520" y="137160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SELECTED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5394960" y="137160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6492240" y="13716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7360920" y="13716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PRIMARY REASON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502920" y="1645920"/>
            <a:ext cx="8138160" cy="512064"/>
          </a:xfrm>
          <a:prstGeom prst="roundRect">
            <a:avLst>
              <a:gd fmla="val 107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502920" y="1773936"/>
            <a:ext cx="36576" cy="256032"/>
          </a:xfrm>
          <a:prstGeom prst="rect">
            <a:avLst/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658368" y="1645920"/>
            <a:ext cx="1325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1965960" y="1645920"/>
            <a:ext cx="2148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CNN-LSTM, CNN-GRU, TCN, 3D CNN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160520" y="164592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3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503E"/>
                </a:solidFill>
                <a:latin typeface="Calibri"/>
                <a:ea typeface="Calibri"/>
                <a:cs typeface="Calibri"/>
                <a:sym typeface="Calibri"/>
              </a:rPr>
              <a:t>CNN-LSTM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5394960" y="1645920"/>
            <a:ext cx="1143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2283A"/>
                </a:solidFill>
                <a:latin typeface="Courier New"/>
                <a:ea typeface="Courier New"/>
                <a:cs typeface="Courier New"/>
                <a:sym typeface="Courier New"/>
              </a:rPr>
              <a:t>(16,224,224,3)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6492240" y="1645920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3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7360920" y="1645920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Temporal sequence modeling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02920" y="2340864"/>
            <a:ext cx="36576" cy="256032"/>
          </a:xfrm>
          <a:prstGeom prst="rect">
            <a:avLst/>
          </a:prstGeom>
          <a:solidFill>
            <a:srgbClr val="2E8B70"/>
          </a:solidFill>
          <a:ln cap="flat" cmpd="sng" w="12700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658368" y="2212848"/>
            <a:ext cx="1325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1965960" y="2212848"/>
            <a:ext cx="2148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LSTM, GRU, TCN, MLP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4160520" y="2212848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B70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5394960" y="2212848"/>
            <a:ext cx="1143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2283A"/>
                </a:solidFill>
                <a:latin typeface="Courier New"/>
                <a:ea typeface="Courier New"/>
                <a:cs typeface="Courier New"/>
                <a:sym typeface="Courier New"/>
              </a:rPr>
              <a:t>(30,5)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6492240" y="2212848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3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7360920" y="2212848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Sequential facial feature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502920" y="2779776"/>
            <a:ext cx="8138160" cy="512064"/>
          </a:xfrm>
          <a:prstGeom prst="roundRect">
            <a:avLst>
              <a:gd fmla="val 107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502920" y="2907792"/>
            <a:ext cx="36576" cy="256032"/>
          </a:xfrm>
          <a:prstGeom prst="rect">
            <a:avLst/>
          </a:prstGeom>
          <a:solidFill>
            <a:srgbClr val="5F6BB8"/>
          </a:solidFill>
          <a:ln cap="flat" cmpd="sng" w="12700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658368" y="2779776"/>
            <a:ext cx="1325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1965960" y="2779776"/>
            <a:ext cx="2148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MobileNetV3, ResNet50, EfficientNet-B0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4160520" y="2779776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F6BB8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5394960" y="2779776"/>
            <a:ext cx="1143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2283A"/>
                </a:solidFill>
                <a:latin typeface="Courier New"/>
                <a:ea typeface="Courier New"/>
                <a:cs typeface="Courier New"/>
                <a:sym typeface="Courier New"/>
              </a:rPr>
              <a:t>(224,224,3)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6492240" y="2779776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5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7360920" y="2779776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Lightweight edge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502920" y="3474720"/>
            <a:ext cx="36576" cy="256032"/>
          </a:xfrm>
          <a:prstGeom prst="rect">
            <a:avLst/>
          </a:prstGeom>
          <a:solidFill>
            <a:srgbClr val="A8842C"/>
          </a:solidFill>
          <a:ln cap="flat" cmpd="sng" w="12700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658368" y="3346704"/>
            <a:ext cx="1325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1965960" y="3346704"/>
            <a:ext cx="2148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YOLOv8n, YOLO11n, YOLOv8s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160520" y="3346704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84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8842C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5394960" y="3346704"/>
            <a:ext cx="1143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2283A"/>
                </a:solidFill>
                <a:latin typeface="Courier New"/>
                <a:ea typeface="Courier New"/>
                <a:cs typeface="Courier New"/>
                <a:sym typeface="Courier New"/>
              </a:rPr>
              <a:t>640 × 640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6492240" y="3346704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2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7360920" y="3346704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Fast, explainable localisation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502920" y="3913632"/>
            <a:ext cx="8138160" cy="512064"/>
          </a:xfrm>
          <a:prstGeom prst="roundRect">
            <a:avLst>
              <a:gd fmla="val 10714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502920" y="4041648"/>
            <a:ext cx="36576" cy="256032"/>
          </a:xfrm>
          <a:prstGeom prst="rect">
            <a:avLst/>
          </a:prstGeom>
          <a:solidFill>
            <a:srgbClr val="8E4A9E"/>
          </a:solidFill>
          <a:ln cap="flat" cmpd="sng" w="12700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658368" y="3913632"/>
            <a:ext cx="1325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1965960" y="3913632"/>
            <a:ext cx="2148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YOLOv8n, YOLO11n, YOLOv8s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4160520" y="3913632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E4A9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5394960" y="3913632"/>
            <a:ext cx="1143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2283A"/>
                </a:solidFill>
                <a:latin typeface="Courier New"/>
                <a:ea typeface="Courier New"/>
                <a:cs typeface="Courier New"/>
                <a:sym typeface="Courier New"/>
              </a:rPr>
              <a:t>640 × 640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6492240" y="3913632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2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7360920" y="3913632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Efficient real-time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Every module(Except V</a:t>
            </a:r>
            <a:r>
              <a:rPr i="1" lang="en-US" sz="1050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ideo Fatigue)</a:t>
            </a:r>
            <a:r>
              <a:rPr b="0" i="1" lang="en-US" sz="105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 runs on PyTorch or Ultralytics against an NVIDIA T4, in 4–16 GB of memory.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INTEGRATED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How Five Outputs Become One Score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502920" y="1417320"/>
            <a:ext cx="4160520" cy="475488"/>
          </a:xfrm>
          <a:prstGeom prst="roundRect">
            <a:avLst>
              <a:gd fmla="val 9615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658368" y="1572768"/>
            <a:ext cx="164592" cy="164592"/>
          </a:xfrm>
          <a:prstGeom prst="ellipse">
            <a:avLst/>
          </a:prstGeom>
          <a:solidFill>
            <a:srgbClr val="5F6BB8"/>
          </a:solidFill>
          <a:ln cap="flat" cmpd="sng" w="12700">
            <a:solidFill>
              <a:srgbClr val="5F6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932688" y="141732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2395728" y="1417320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Safe / Distracted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069080" y="1417320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B8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5F6BB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502920" y="1984248"/>
            <a:ext cx="4160520" cy="475488"/>
          </a:xfrm>
          <a:prstGeom prst="roundRect">
            <a:avLst>
              <a:gd fmla="val 9615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658368" y="2139696"/>
            <a:ext cx="164592" cy="164592"/>
          </a:xfrm>
          <a:prstGeom prst="ellipse">
            <a:avLst/>
          </a:prstGeom>
          <a:solidFill>
            <a:srgbClr val="C0503E"/>
          </a:solidFill>
          <a:ln cap="flat" cmpd="sng" w="12700">
            <a:solidFill>
              <a:srgbClr val="C050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932688" y="19842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2395728" y="1984248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Safe / Caution / High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4069080" y="1984248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503E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C0503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502920" y="2551176"/>
            <a:ext cx="4160520" cy="475488"/>
          </a:xfrm>
          <a:prstGeom prst="roundRect">
            <a:avLst>
              <a:gd fmla="val 9615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658368" y="2706624"/>
            <a:ext cx="164592" cy="164592"/>
          </a:xfrm>
          <a:prstGeom prst="ellipse">
            <a:avLst/>
          </a:prstGeom>
          <a:solidFill>
            <a:srgbClr val="2E8B70"/>
          </a:solidFill>
          <a:ln cap="flat" cmpd="sng" w="12700">
            <a:solidFill>
              <a:srgbClr val="2E8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932688" y="255117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2395728" y="2551176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Alert / Mild / Drowsy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4069080" y="2551176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8B70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2E8B7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502920" y="3118104"/>
            <a:ext cx="4160520" cy="475488"/>
          </a:xfrm>
          <a:prstGeom prst="roundRect">
            <a:avLst>
              <a:gd fmla="val 9615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658368" y="3273552"/>
            <a:ext cx="164592" cy="164592"/>
          </a:xfrm>
          <a:prstGeom prst="ellipse">
            <a:avLst/>
          </a:prstGeom>
          <a:solidFill>
            <a:srgbClr val="A8842C"/>
          </a:solidFill>
          <a:ln cap="flat" cmpd="sng" w="12700">
            <a:solidFill>
              <a:srgbClr val="A884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932688" y="311810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2395728" y="3118104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On / 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4069080" y="3118104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842C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A8842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502920" y="3685032"/>
            <a:ext cx="4160520" cy="475488"/>
          </a:xfrm>
          <a:prstGeom prst="roundRect">
            <a:avLst>
              <a:gd fmla="val 9615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658368" y="3840480"/>
            <a:ext cx="164592" cy="164592"/>
          </a:xfrm>
          <a:prstGeom prst="ellipse">
            <a:avLst/>
          </a:prstGeom>
          <a:solidFill>
            <a:srgbClr val="8E4A9E"/>
          </a:solidFill>
          <a:ln cap="flat" cmpd="sng" w="12700">
            <a:solidFill>
              <a:srgbClr val="8E4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932688" y="36850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2395728" y="3685032"/>
            <a:ext cx="1691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Detected / Not detected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4069080" y="3685032"/>
            <a:ext cx="457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4A9E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8E4A9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17"/>
          <p:cNvCxnSpPr/>
          <p:nvPr/>
        </p:nvCxnSpPr>
        <p:spPr>
          <a:xfrm>
            <a:off x="4800600" y="265176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12A5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1" name="Google Shape;541;p17"/>
          <p:cNvSpPr/>
          <p:nvPr/>
        </p:nvSpPr>
        <p:spPr>
          <a:xfrm>
            <a:off x="5303520" y="1417320"/>
            <a:ext cx="3337560" cy="2834640"/>
          </a:xfrm>
          <a:prstGeom prst="roundRect">
            <a:avLst>
              <a:gd fmla="val 1935" name="adj"/>
            </a:avLst>
          </a:prstGeom>
          <a:solidFill>
            <a:srgbClr val="16324A"/>
          </a:solidFill>
          <a:ln cap="flat" cmpd="sng" w="12700">
            <a:solidFill>
              <a:srgbClr val="12A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5577840" y="162763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RISK FUSION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5577840" y="18745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Wellness Score  =  Σ ( Weight × Module Risk 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5577840" y="2286000"/>
            <a:ext cx="2834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Each module risk normalised to 0–1 before weighting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Score reported on a 0–100 scale per trip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Report carries per-module predictions, risk flags, trend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2380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Delivered to the fleet dashboard (Uber / Ola / Rapido)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8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CHALLENGES &amp;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3000"/>
              <a:buFont typeface="Bookman Old Style"/>
              <a:buNone/>
            </a:pPr>
            <a:r>
              <a:rPr b="1" i="0" lang="en-US" sz="3000" u="none" cap="none" strike="noStrike">
                <a:solidFill>
                  <a:srgbClr val="12283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Was Hard, and What Comes Next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502925" y="1417326"/>
            <a:ext cx="3977700" cy="3143700"/>
          </a:xfrm>
          <a:prstGeom prst="roundRect">
            <a:avLst>
              <a:gd fmla="val 2000" name="adj"/>
            </a:avLst>
          </a:prstGeom>
          <a:solidFill>
            <a:srgbClr val="F1F5F7"/>
          </a:solidFill>
          <a:ln cap="flat" cmpd="sng" w="12700">
            <a:solidFill>
              <a:srgbClr val="F1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754415" y="1571032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CHALLENGES &amp; LEARNINGS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777251" y="2312950"/>
            <a:ext cx="36465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Accuracy alone is a misleading criterion once edge latency is a constraint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Class imbalance and single-source classes limit what mAP can tell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Temporal modules need window-level, not frame-level, discipline to avoid leakage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Five heterogeneous outputs must be normalised before they can be fused at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Keeping terminology and I/O contracts identical across five owners took real coordination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4709150" y="1417326"/>
            <a:ext cx="3931800" cy="3103200"/>
          </a:xfrm>
          <a:prstGeom prst="roundRect">
            <a:avLst>
              <a:gd fmla="val 2000" name="adj"/>
            </a:avLst>
          </a:prstGeom>
          <a:solidFill>
            <a:srgbClr val="0E2233"/>
          </a:solidFill>
          <a:ln cap="flat" cmpd="sng" w="12700">
            <a:solidFill>
              <a:srgbClr val="0E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4983480" y="162763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MILESTONE 4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4983475" y="1908600"/>
            <a:ext cx="3612000" cy="20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Train all five modules on their prepared datasets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Refine hyperparameters from the planned configurations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Evaluate with per-module metrics and confusion matrices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Implement and calibrate the Risk Fusion Engine weights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Benchmark end-to-end latency on edge 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600"/>
              </a:spcBef>
              <a:spcAft>
                <a:spcPts val="0"/>
              </a:spcAft>
              <a:buClr>
                <a:srgbClr val="DCE7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DCE7EE"/>
                </a:solidFill>
                <a:latin typeface="Calibri"/>
                <a:ea typeface="Calibri"/>
                <a:cs typeface="Calibri"/>
                <a:sym typeface="Calibri"/>
              </a:rPr>
              <a:t>Generate the first full Driver Wellness &amp; Safety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3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385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233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9"/>
          <p:cNvSpPr/>
          <p:nvPr/>
        </p:nvSpPr>
        <p:spPr>
          <a:xfrm>
            <a:off x="548640" y="3840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A59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502920" y="1005840"/>
            <a:ext cx="8138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Architecture Is Settled.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Milestone 4 Is Implementation.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502920" y="2331720"/>
            <a:ext cx="1920240" cy="1234440"/>
          </a:xfrm>
          <a:prstGeom prst="roundRect">
            <a:avLst>
              <a:gd fmla="val 4444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704088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800"/>
              <a:buFont typeface="Bookman Old Style"/>
              <a:buNone/>
            </a:pPr>
            <a:r>
              <a:rPr b="1" i="0" lang="en-US" sz="28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704088" y="29443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architectures selected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and justified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2587752" y="2331720"/>
            <a:ext cx="1920240" cy="1234440"/>
          </a:xfrm>
          <a:prstGeom prst="roundRect">
            <a:avLst>
              <a:gd fmla="val 4444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9"/>
          <p:cNvSpPr/>
          <p:nvPr/>
        </p:nvSpPr>
        <p:spPr>
          <a:xfrm>
            <a:off x="2788920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800"/>
              <a:buFont typeface="Bookman Old Style"/>
              <a:buNone/>
            </a:pPr>
            <a:r>
              <a:rPr b="1" i="0" lang="en-US" sz="28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2788920" y="29443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complete I/O, loss 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metric specifications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4672584" y="2331720"/>
            <a:ext cx="1920240" cy="1234440"/>
          </a:xfrm>
          <a:prstGeom prst="roundRect">
            <a:avLst>
              <a:gd fmla="val 4444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9"/>
          <p:cNvSpPr/>
          <p:nvPr/>
        </p:nvSpPr>
        <p:spPr>
          <a:xfrm>
            <a:off x="4873752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800"/>
              <a:buFont typeface="Bookman Old Style"/>
              <a:buNone/>
            </a:pPr>
            <a:r>
              <a:rPr b="1" i="0" lang="en-US" sz="28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4873752" y="29443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risk fusion design with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weights defined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6757416" y="2331720"/>
            <a:ext cx="1920240" cy="1234440"/>
          </a:xfrm>
          <a:prstGeom prst="roundRect">
            <a:avLst>
              <a:gd fmla="val 4444" name="adj"/>
            </a:avLst>
          </a:prstGeom>
          <a:solidFill>
            <a:srgbClr val="16324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9"/>
          <p:cNvSpPr/>
          <p:nvPr/>
        </p:nvSpPr>
        <p:spPr>
          <a:xfrm>
            <a:off x="6958584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594"/>
              </a:buClr>
              <a:buSzPts val="2800"/>
              <a:buFont typeface="Bookman Old Style"/>
              <a:buNone/>
            </a:pPr>
            <a:r>
              <a:rPr b="1" i="0" lang="en-US" sz="2800" u="none" cap="none" strike="noStrike">
                <a:solidFill>
                  <a:srgbClr val="12A594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6958584" y="29443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modules left without 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4D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D3DC"/>
                </a:solidFill>
                <a:latin typeface="Calibri"/>
                <a:ea typeface="Calibri"/>
                <a:cs typeface="Calibri"/>
                <a:sym typeface="Calibri"/>
              </a:rPr>
              <a:t>compute budget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502920" y="3840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Questions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4572000" y="395020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Kushagra · Shiwani · Shubham · Sohini · Ravina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548640" y="4736592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8138160" y="473659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3C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2026-07-23T17:44:37Z</dcterms:created>
  <dc:creator>PptxGenJS</dc:creator>
</cp:coreProperties>
</file>